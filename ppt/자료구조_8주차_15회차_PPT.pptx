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1" r:id="rId1"/>
  </p:sldMasterIdLst>
  <p:notesMasterIdLst>
    <p:notesMasterId r:id="rId4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82" r:id="rId13"/>
    <p:sldId id="267" r:id="rId14"/>
    <p:sldId id="268" r:id="rId15"/>
    <p:sldId id="269" r:id="rId16"/>
    <p:sldId id="283" r:id="rId17"/>
    <p:sldId id="270" r:id="rId18"/>
    <p:sldId id="284" r:id="rId19"/>
    <p:sldId id="271" r:id="rId20"/>
    <p:sldId id="285" r:id="rId21"/>
    <p:sldId id="272" r:id="rId22"/>
    <p:sldId id="286" r:id="rId23"/>
    <p:sldId id="273" r:id="rId24"/>
    <p:sldId id="287" r:id="rId25"/>
    <p:sldId id="274" r:id="rId26"/>
    <p:sldId id="288" r:id="rId27"/>
    <p:sldId id="275" r:id="rId28"/>
    <p:sldId id="289" r:id="rId29"/>
    <p:sldId id="276" r:id="rId30"/>
    <p:sldId id="277" r:id="rId31"/>
    <p:sldId id="290" r:id="rId32"/>
    <p:sldId id="278" r:id="rId33"/>
    <p:sldId id="279" r:id="rId34"/>
    <p:sldId id="280" r:id="rId35"/>
    <p:sldId id="291" r:id="rId36"/>
    <p:sldId id="292" r:id="rId37"/>
    <p:sldId id="281" r:id="rId38"/>
    <p:sldId id="293" r:id="rId3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72E5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3" d="100"/>
          <a:sy n="73" d="100"/>
        </p:scale>
        <p:origin x="60" y="8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5" d="100"/>
          <a:sy n="85" d="100"/>
        </p:scale>
        <p:origin x="3240" y="6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62DE6C-AA0F-425F-A4E6-018C05453644}" type="datetimeFigureOut">
              <a:rPr lang="ko-KR" altLang="en-US" smtClean="0"/>
              <a:t>2025-11-04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3F3005-54B2-4F13-8D6E-05C92289A98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49403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6431" y="4043369"/>
            <a:ext cx="8771138" cy="607653"/>
          </a:xfrm>
        </p:spPr>
        <p:txBody>
          <a:bodyPr wrap="square" anchor="b"/>
          <a:lstStyle>
            <a:lvl1pPr algn="ctr">
              <a:defRPr sz="36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96868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35975" y="262442"/>
            <a:ext cx="5976500" cy="607653"/>
          </a:xfrm>
        </p:spPr>
        <p:txBody>
          <a:bodyPr/>
          <a:lstStyle>
            <a:lvl1pPr>
              <a:defRPr sz="36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85153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18105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944852" y="200299"/>
            <a:ext cx="5976500" cy="60765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vert="horz" wrap="none" lIns="540000" tIns="108000" rIns="540000" bIns="0" rtlCol="0" anchor="ctr">
            <a:sp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851535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08889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</p:sldLayoutIdLst>
  <p:txStyles>
    <p:titleStyle>
      <a:lvl1pPr algn="r" defTabSz="914400" rtl="0" eaLnBrk="1" latinLnBrk="1" hangingPunct="1">
        <a:lnSpc>
          <a:spcPct val="90000"/>
        </a:lnSpc>
        <a:spcBef>
          <a:spcPct val="0"/>
        </a:spcBef>
        <a:buNone/>
        <a:defRPr sz="3600" b="1" kern="1200">
          <a:solidFill>
            <a:srgbClr val="002060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6431" y="3544771"/>
            <a:ext cx="8771138" cy="1106251"/>
          </a:xfrm>
        </p:spPr>
        <p:txBody>
          <a:bodyPr/>
          <a:lstStyle/>
          <a:p>
            <a:r>
              <a:t>자료구조 (Data Structure</a:t>
            </a:r>
          </a:p>
          <a:p>
            <a:r>
              <a:t>8주차: 그래프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3328" y="262442"/>
            <a:ext cx="6749147" cy="607653"/>
          </a:xfrm>
        </p:spPr>
        <p:txBody>
          <a:bodyPr>
            <a:spAutoFit/>
          </a:bodyPr>
          <a:lstStyle/>
          <a:p>
            <a:r>
              <a:t>선형 (일차원) 자료구조 정리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리스트: 데이터를 추가하면 순서가 유지되는 구조</a:t>
            </a:r>
          </a:p>
          <a:p>
            <a:endParaRPr/>
          </a:p>
          <a:p>
            <a:r>
              <a:t>스택: 가장 최신 데이터만 꺼낼 수 있는 구조</a:t>
            </a:r>
          </a:p>
          <a:p>
            <a:endParaRPr/>
          </a:p>
          <a:p>
            <a:r>
              <a:t>큐: 가장 오래된 데이터만 꺼낼 수 있는 구조</a:t>
            </a:r>
          </a:p>
          <a:p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87408" y="262442"/>
            <a:ext cx="5425067" cy="607653"/>
          </a:xfrm>
        </p:spPr>
        <p:txBody>
          <a:bodyPr>
            <a:spAutoFit/>
          </a:bodyPr>
          <a:lstStyle/>
          <a:p>
            <a:r>
              <a:t>계층적 자료구조 정리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트리: 루트로부터 부모 자식 관계로 연결된 구조</a:t>
            </a:r>
          </a:p>
          <a:p>
            <a:endParaRPr/>
          </a:p>
          <a:p>
            <a:r>
              <a:t>이진 트리: 모든 노드의 자식 노드 숫자가 두개 이하인 트리</a:t>
            </a:r>
          </a:p>
          <a:p>
            <a:endParaRPr/>
          </a:p>
          <a:p>
            <a:r>
              <a:t>최대힙: 모든 노드의 데이터가 자식 노드 데이터들보다 큰 이진 트리</a:t>
            </a:r>
          </a:p>
          <a:p>
            <a:endParaRPr/>
          </a:p>
          <a:p>
            <a:r>
              <a:t>힙 정렬: 최대힙으로 정렬되지 않은 구간의 최대값을 반복적으로 꺼내서 정렬하는 방법</a:t>
            </a:r>
          </a:p>
          <a:p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72403" y="262442"/>
            <a:ext cx="4040072" cy="607653"/>
          </a:xfrm>
        </p:spPr>
        <p:txBody>
          <a:bodyPr>
            <a:spAutoFit/>
          </a:bodyPr>
          <a:lstStyle/>
          <a:p>
            <a:r>
              <a:t>이번 시간 목차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트리보다 더 일반적인 자료구조 소개</a:t>
            </a:r>
          </a:p>
          <a:p>
            <a:endParaRPr/>
          </a:p>
          <a:p>
            <a:r>
              <a:t>트리보다 더 일반적인 자료구조에서 반복하는 방법</a:t>
            </a:r>
          </a:p>
          <a:p>
            <a:endParaRPr/>
          </a:p>
          <a:p>
            <a:r>
              <a:t>트리보다 더 일반적인 자료구조 예제</a:t>
            </a:r>
          </a:p>
          <a:p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1212" y="262442"/>
            <a:ext cx="7451263" cy="607653"/>
          </a:xfrm>
        </p:spPr>
        <p:txBody>
          <a:bodyPr>
            <a:spAutoFit/>
          </a:bodyPr>
          <a:lstStyle/>
          <a:p>
            <a:r>
              <a:t>트리보다 더 일반적인 자료 구조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리스트의 노드마다 리스트를 가지고 있다면?</a:t>
            </a:r>
          </a:p>
          <a:p>
            <a:endParaRPr/>
          </a:p>
          <a:p>
            <a:r>
              <a:t>노드 사이에 계층이 없이 자유롭게 연결되어 있다면?</a:t>
            </a:r>
          </a:p>
          <a:p>
            <a:endParaRPr/>
          </a:p>
          <a:p>
            <a:r>
              <a:t>예시) 인터넷, 도</a:t>
            </a:r>
            <a:r>
              <a:rPr lang="ko-KR" altLang="en-US"/>
              <a:t>로</a:t>
            </a:r>
            <a:endParaRPr/>
          </a:p>
          <a:p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1212" y="262442"/>
            <a:ext cx="7451263" cy="607653"/>
          </a:xfrm>
        </p:spPr>
        <p:txBody>
          <a:bodyPr>
            <a:spAutoFit/>
          </a:bodyPr>
          <a:lstStyle/>
          <a:p>
            <a:r>
              <a:t>트리보다 더 일반적인 자료 구조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노드</a:t>
            </a:r>
            <a:r>
              <a:t>들은 선으로 연결. 다대다 관계</a:t>
            </a:r>
          </a:p>
          <a:p>
            <a:endParaRPr lang="ko-KR" altLang="en-US"/>
          </a:p>
          <a:p>
            <a:r>
              <a:rPr lang="ko-KR" altLang="en-US"/>
              <a:t>루트가 없기 때문에 노드 리스트 저장</a:t>
            </a:r>
          </a:p>
          <a:p>
            <a:endParaRPr lang="ko-KR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42834" y="262442"/>
            <a:ext cx="3169641" cy="607653"/>
          </a:xfrm>
        </p:spPr>
        <p:txBody>
          <a:bodyPr>
            <a:spAutoFit/>
          </a:bodyPr>
          <a:lstStyle/>
          <a:p>
            <a:r>
              <a:t>그래프란?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그래프 정의: 각 노드</a:t>
            </a:r>
            <a:r>
              <a:rPr lang="ko-KR" altLang="en-US"/>
              <a:t>에</a:t>
            </a:r>
            <a:r>
              <a:t> 다른 노드들이 연결된 구조</a:t>
            </a:r>
          </a:p>
          <a:p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6934" y="262442"/>
            <a:ext cx="2475541" cy="607653"/>
          </a:xfrm>
        </p:spPr>
        <p:txBody>
          <a:bodyPr>
            <a:spAutoFit/>
          </a:bodyPr>
          <a:lstStyle/>
          <a:p>
            <a:r>
              <a:t>그래프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그래프는 노드와 연결선을 모은 것이다</a:t>
            </a:r>
          </a:p>
          <a:p>
            <a:endParaRPr/>
          </a:p>
          <a:p>
            <a:pPr marL="0" indent="0">
              <a:buNone/>
            </a:pPr>
            <a:r>
              <a:t>	 - vertexes: 전체 노드 리스트 (타입: 그래프 노드)</a:t>
            </a:r>
          </a:p>
          <a:p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10738" y="262442"/>
            <a:ext cx="4501737" cy="607653"/>
          </a:xfrm>
        </p:spPr>
        <p:txBody>
          <a:bodyPr>
            <a:spAutoFit/>
          </a:bodyPr>
          <a:lstStyle/>
          <a:p>
            <a:r>
              <a:t>그래프 노드 타입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데이터와 이웃 노드 정보의 묶음</a:t>
            </a:r>
          </a:p>
          <a:p>
            <a:endParaRPr/>
          </a:p>
          <a:p>
            <a:pPr marL="0" indent="0">
              <a:buNone/>
            </a:pPr>
            <a:r>
              <a:t>	 - adj: 이웃 노드 리스트</a:t>
            </a:r>
          </a:p>
          <a:p>
            <a:endParaRPr/>
          </a:p>
          <a:p>
            <a:pPr marL="0" indent="0">
              <a:buNone/>
            </a:pPr>
            <a:r>
              <a:t>	 - value: 저장된 데이터</a:t>
            </a:r>
          </a:p>
          <a:p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23836" y="262442"/>
            <a:ext cx="3488639" cy="607653"/>
          </a:xfrm>
        </p:spPr>
        <p:txBody>
          <a:bodyPr>
            <a:spAutoFit/>
          </a:bodyPr>
          <a:lstStyle/>
          <a:p>
            <a:r>
              <a:t>그래프 예시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다음과 같은 그래프를 만들어보자</a:t>
            </a:r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7F3BC258-1800-4459-4E79-A29EB097441A}"/>
              </a:ext>
            </a:extLst>
          </p:cNvPr>
          <p:cNvSpPr/>
          <p:nvPr/>
        </p:nvSpPr>
        <p:spPr>
          <a:xfrm>
            <a:off x="7204364" y="1825625"/>
            <a:ext cx="498763" cy="49876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/>
              <a:t>A</a:t>
            </a:r>
            <a:endParaRPr lang="ko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42A5DB0C-203F-2A72-476B-12A4CC8F8761}"/>
              </a:ext>
            </a:extLst>
          </p:cNvPr>
          <p:cNvSpPr/>
          <p:nvPr/>
        </p:nvSpPr>
        <p:spPr>
          <a:xfrm>
            <a:off x="6631709" y="2758498"/>
            <a:ext cx="498763" cy="49876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/>
              <a:t>B</a:t>
            </a:r>
            <a:endParaRPr lang="ko-KR" altLang="en-US"/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5EBB8BC4-9E3B-5C12-747E-5CDB49075B7B}"/>
              </a:ext>
            </a:extLst>
          </p:cNvPr>
          <p:cNvSpPr/>
          <p:nvPr/>
        </p:nvSpPr>
        <p:spPr>
          <a:xfrm>
            <a:off x="7887854" y="2758498"/>
            <a:ext cx="498763" cy="49876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/>
              <a:t>C</a:t>
            </a:r>
            <a:endParaRPr lang="ko-KR" altLang="en-US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7E54045D-EA7A-5AF9-5EF4-2C5D146EA95E}"/>
              </a:ext>
            </a:extLst>
          </p:cNvPr>
          <p:cNvCxnSpPr>
            <a:cxnSpLocks/>
            <a:stCxn id="5" idx="0"/>
            <a:endCxn id="4" idx="3"/>
          </p:cNvCxnSpPr>
          <p:nvPr/>
        </p:nvCxnSpPr>
        <p:spPr>
          <a:xfrm flipV="1">
            <a:off x="6881091" y="2251346"/>
            <a:ext cx="396315" cy="50715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4AF2B0C6-9705-D863-2928-50EF041C2912}"/>
              </a:ext>
            </a:extLst>
          </p:cNvPr>
          <p:cNvCxnSpPr>
            <a:cxnSpLocks/>
            <a:stCxn id="6" idx="0"/>
            <a:endCxn id="4" idx="5"/>
          </p:cNvCxnSpPr>
          <p:nvPr/>
        </p:nvCxnSpPr>
        <p:spPr>
          <a:xfrm flipH="1" flipV="1">
            <a:off x="7630085" y="2251346"/>
            <a:ext cx="507151" cy="50715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타원 8">
            <a:extLst>
              <a:ext uri="{FF2B5EF4-FFF2-40B4-BE49-F238E27FC236}">
                <a16:creationId xmlns:a16="http://schemas.microsoft.com/office/drawing/2014/main" id="{8CAF8A8D-A602-D979-3C75-CA1E71BC79C2}"/>
              </a:ext>
            </a:extLst>
          </p:cNvPr>
          <p:cNvSpPr/>
          <p:nvPr/>
        </p:nvSpPr>
        <p:spPr>
          <a:xfrm>
            <a:off x="6034909" y="3691371"/>
            <a:ext cx="498763" cy="49876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/>
              <a:t>D</a:t>
            </a:r>
            <a:endParaRPr lang="ko-KR" altLang="en-US"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59A2D981-7C01-4A7D-BBF9-2179F1B450D6}"/>
              </a:ext>
            </a:extLst>
          </p:cNvPr>
          <p:cNvSpPr/>
          <p:nvPr/>
        </p:nvSpPr>
        <p:spPr>
          <a:xfrm>
            <a:off x="7291054" y="3691371"/>
            <a:ext cx="498763" cy="49876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/>
              <a:t>E</a:t>
            </a:r>
            <a:endParaRPr lang="ko-KR" altLang="en-US"/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4D385E29-51FE-9064-3EA3-B695D4B340AF}"/>
              </a:ext>
            </a:extLst>
          </p:cNvPr>
          <p:cNvCxnSpPr>
            <a:cxnSpLocks/>
            <a:stCxn id="9" idx="0"/>
            <a:endCxn id="5" idx="3"/>
          </p:cNvCxnSpPr>
          <p:nvPr/>
        </p:nvCxnSpPr>
        <p:spPr>
          <a:xfrm flipV="1">
            <a:off x="6284291" y="3184219"/>
            <a:ext cx="420460" cy="50715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CF42DE91-6AE4-D557-BF8D-4B7D06A3955F}"/>
              </a:ext>
            </a:extLst>
          </p:cNvPr>
          <p:cNvCxnSpPr>
            <a:cxnSpLocks/>
            <a:stCxn id="10" idx="2"/>
            <a:endCxn id="9" idx="6"/>
          </p:cNvCxnSpPr>
          <p:nvPr/>
        </p:nvCxnSpPr>
        <p:spPr>
          <a:xfrm flipH="1">
            <a:off x="6533672" y="3940753"/>
            <a:ext cx="75738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F081C3F0-5226-9740-2A29-CC174127C56C}"/>
              </a:ext>
            </a:extLst>
          </p:cNvPr>
          <p:cNvCxnSpPr>
            <a:cxnSpLocks/>
            <a:stCxn id="5" idx="6"/>
            <a:endCxn id="6" idx="2"/>
          </p:cNvCxnSpPr>
          <p:nvPr/>
        </p:nvCxnSpPr>
        <p:spPr>
          <a:xfrm>
            <a:off x="7130472" y="3007880"/>
            <a:ext cx="75738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10738" y="262442"/>
            <a:ext cx="4501737" cy="607653"/>
          </a:xfrm>
        </p:spPr>
        <p:txBody>
          <a:bodyPr>
            <a:spAutoFit/>
          </a:bodyPr>
          <a:lstStyle/>
          <a:p>
            <a:r>
              <a:t>그래프 노드 방문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목적: 특정 노드와 연결된 모든 노드에 대해 반복하기</a:t>
            </a:r>
          </a:p>
          <a:p>
            <a:endParaRPr/>
          </a:p>
          <a:p>
            <a:r>
              <a:t>깊이 우선: 한 이웃의 </a:t>
            </a:r>
            <a:r>
              <a:rPr lang="ko-KR" altLang="en-US"/>
              <a:t>모든 </a:t>
            </a:r>
            <a:r>
              <a:t>이웃들을 </a:t>
            </a:r>
            <a:r>
              <a:rPr lang="ko-KR" altLang="en-US"/>
              <a:t>먼저 </a:t>
            </a:r>
            <a:r>
              <a:t>방문</a:t>
            </a:r>
          </a:p>
          <a:p>
            <a:pPr marL="0" indent="0">
              <a:buNone/>
            </a:pPr>
            <a:r>
              <a:t>	 데이터 처리 타이밍:</a:t>
            </a:r>
          </a:p>
          <a:p>
            <a:pPr marL="0" indent="0">
              <a:buNone/>
            </a:pPr>
            <a:r>
              <a:t>	 - Preorder: 방문전 처리할 작업</a:t>
            </a:r>
          </a:p>
          <a:p>
            <a:pPr marL="0" indent="0">
              <a:buNone/>
            </a:pPr>
            <a:r>
              <a:t>	 - Postorder: 방문 후 처리할 작업</a:t>
            </a:r>
          </a:p>
          <a:p>
            <a:endParaRPr lang="en-US"/>
          </a:p>
          <a:p>
            <a:r>
              <a:t>너비 우선: 모든 이웃</a:t>
            </a:r>
            <a:r>
              <a:rPr lang="ko-KR" altLang="en-US"/>
              <a:t>을 먼저 방문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786586-4088-8F65-E8A7-0FF8C91156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17E3A4-385A-E213-0B49-6F9B9A6B63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7640" y="262442"/>
            <a:ext cx="5514835" cy="607653"/>
          </a:xfrm>
        </p:spPr>
        <p:txBody>
          <a:bodyPr>
            <a:spAutoFit/>
          </a:bodyPr>
          <a:lstStyle/>
          <a:p>
            <a:r>
              <a:t>그래프 노드 방문</a:t>
            </a:r>
            <a:r>
              <a:rPr lang="en-US"/>
              <a:t> </a:t>
            </a:r>
            <a:r>
              <a:rPr lang="ko-KR" altLang="en-US"/>
              <a:t>예시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5E753F-8FF6-0565-90CC-227FE8FD44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다음 그래프에서 깊이 우선 방문 순서는</a:t>
            </a:r>
            <a:r>
              <a:rPr lang="en-US" altLang="ko-KR"/>
              <a:t>?</a:t>
            </a:r>
          </a:p>
          <a:p>
            <a:endParaRPr lang="en-US"/>
          </a:p>
          <a:p>
            <a:r>
              <a:rPr lang="ko-KR" altLang="en-US"/>
              <a:t>너비 우선 방문 순서는</a:t>
            </a:r>
            <a:r>
              <a:rPr lang="en-US" altLang="ko-KR"/>
              <a:t>?</a:t>
            </a:r>
            <a:endParaRPr/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6B0C0DAB-03C0-7E45-D643-7ACAB8346D8C}"/>
              </a:ext>
            </a:extLst>
          </p:cNvPr>
          <p:cNvSpPr/>
          <p:nvPr/>
        </p:nvSpPr>
        <p:spPr>
          <a:xfrm>
            <a:off x="7204364" y="2705191"/>
            <a:ext cx="498763" cy="49876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/>
              <a:t>A</a:t>
            </a:r>
            <a:endParaRPr lang="ko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B27B627B-9CF3-EFC1-8F63-B6A30254069C}"/>
              </a:ext>
            </a:extLst>
          </p:cNvPr>
          <p:cNvSpPr/>
          <p:nvPr/>
        </p:nvSpPr>
        <p:spPr>
          <a:xfrm>
            <a:off x="6631709" y="3638064"/>
            <a:ext cx="498763" cy="49876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/>
              <a:t>B</a:t>
            </a:r>
            <a:endParaRPr lang="ko-KR" altLang="en-US"/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05B5EA5F-2D6E-1180-C6B8-3E0F8F781DCB}"/>
              </a:ext>
            </a:extLst>
          </p:cNvPr>
          <p:cNvSpPr/>
          <p:nvPr/>
        </p:nvSpPr>
        <p:spPr>
          <a:xfrm>
            <a:off x="7887854" y="3638064"/>
            <a:ext cx="498763" cy="49876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/>
              <a:t>C</a:t>
            </a:r>
            <a:endParaRPr lang="ko-KR" altLang="en-US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7D715F51-DEBF-6BD6-EC28-36D6439988BC}"/>
              </a:ext>
            </a:extLst>
          </p:cNvPr>
          <p:cNvCxnSpPr>
            <a:cxnSpLocks/>
            <a:stCxn id="5" idx="0"/>
            <a:endCxn id="4" idx="3"/>
          </p:cNvCxnSpPr>
          <p:nvPr/>
        </p:nvCxnSpPr>
        <p:spPr>
          <a:xfrm flipV="1">
            <a:off x="6881091" y="3130912"/>
            <a:ext cx="396315" cy="50715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907AF672-90EB-83A2-EE32-07E7DFCE22B1}"/>
              </a:ext>
            </a:extLst>
          </p:cNvPr>
          <p:cNvCxnSpPr>
            <a:cxnSpLocks/>
            <a:stCxn id="6" idx="0"/>
            <a:endCxn id="4" idx="5"/>
          </p:cNvCxnSpPr>
          <p:nvPr/>
        </p:nvCxnSpPr>
        <p:spPr>
          <a:xfrm flipH="1" flipV="1">
            <a:off x="7630085" y="3130912"/>
            <a:ext cx="507151" cy="50715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타원 8">
            <a:extLst>
              <a:ext uri="{FF2B5EF4-FFF2-40B4-BE49-F238E27FC236}">
                <a16:creationId xmlns:a16="http://schemas.microsoft.com/office/drawing/2014/main" id="{5C6AB04A-1DB7-B545-A6DB-11D8636357F7}"/>
              </a:ext>
            </a:extLst>
          </p:cNvPr>
          <p:cNvSpPr/>
          <p:nvPr/>
        </p:nvSpPr>
        <p:spPr>
          <a:xfrm>
            <a:off x="6034909" y="4570937"/>
            <a:ext cx="498763" cy="49876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/>
              <a:t>D</a:t>
            </a:r>
            <a:endParaRPr lang="ko-KR" altLang="en-US"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0992E386-7F89-FDE9-E5F6-3435B4B7A0A7}"/>
              </a:ext>
            </a:extLst>
          </p:cNvPr>
          <p:cNvSpPr/>
          <p:nvPr/>
        </p:nvSpPr>
        <p:spPr>
          <a:xfrm>
            <a:off x="7291054" y="4570937"/>
            <a:ext cx="498763" cy="49876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/>
              <a:t>E</a:t>
            </a:r>
            <a:endParaRPr lang="ko-KR" altLang="en-US"/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EF9379FF-1A01-F24C-2A83-E85383BF8DF3}"/>
              </a:ext>
            </a:extLst>
          </p:cNvPr>
          <p:cNvCxnSpPr>
            <a:cxnSpLocks/>
            <a:stCxn id="9" idx="0"/>
            <a:endCxn id="5" idx="3"/>
          </p:cNvCxnSpPr>
          <p:nvPr/>
        </p:nvCxnSpPr>
        <p:spPr>
          <a:xfrm flipV="1">
            <a:off x="6284291" y="4063785"/>
            <a:ext cx="420460" cy="50715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7870C354-88BF-7272-B958-BF3A6529C272}"/>
              </a:ext>
            </a:extLst>
          </p:cNvPr>
          <p:cNvCxnSpPr>
            <a:cxnSpLocks/>
            <a:stCxn id="10" idx="2"/>
            <a:endCxn id="9" idx="6"/>
          </p:cNvCxnSpPr>
          <p:nvPr/>
        </p:nvCxnSpPr>
        <p:spPr>
          <a:xfrm flipH="1">
            <a:off x="6533672" y="4820319"/>
            <a:ext cx="75738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77E0CBE9-EB97-1DEF-6B0C-6F0D4D2AE944}"/>
              </a:ext>
            </a:extLst>
          </p:cNvPr>
          <p:cNvCxnSpPr>
            <a:cxnSpLocks/>
            <a:stCxn id="5" idx="6"/>
            <a:endCxn id="6" idx="2"/>
          </p:cNvCxnSpPr>
          <p:nvPr/>
        </p:nvCxnSpPr>
        <p:spPr>
          <a:xfrm>
            <a:off x="7130472" y="3887446"/>
            <a:ext cx="75738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87659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59305" y="262442"/>
            <a:ext cx="5053170" cy="607653"/>
          </a:xfrm>
        </p:spPr>
        <p:txBody>
          <a:bodyPr>
            <a:spAutoFit/>
          </a:bodyPr>
          <a:lstStyle/>
          <a:p>
            <a:r>
              <a:t>깊이 우선 방문 구현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그래프 노드 타입에 추가할 정보:</a:t>
            </a:r>
          </a:p>
          <a:p>
            <a:endParaRPr/>
          </a:p>
          <a:p>
            <a:pPr marL="0" indent="0">
              <a:buNone/>
            </a:pPr>
            <a:r>
              <a:t>	 - status : 방문 상태 (방문 전, 중, 후)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5025" y="262442"/>
            <a:ext cx="7337450" cy="607653"/>
          </a:xfrm>
        </p:spPr>
        <p:txBody>
          <a:bodyPr>
            <a:spAutoFit/>
          </a:bodyPr>
          <a:lstStyle/>
          <a:p>
            <a:r>
              <a:t>깊이 우선 방문 구현 - 사전 작업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함수 DFS_PREP(그래프 G):</a:t>
            </a:r>
          </a:p>
          <a:p>
            <a:r>
              <a:t>반복: G-&gt;vertexes의 모든 노드들 u에 대해,</a:t>
            </a:r>
          </a:p>
          <a:p>
            <a:pPr marL="0" indent="0">
              <a:buNone/>
            </a:pPr>
            <a:r>
              <a:t>	u-&gt;status = 방문전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5025" y="262442"/>
            <a:ext cx="7337450" cy="607653"/>
          </a:xfrm>
        </p:spPr>
        <p:txBody>
          <a:bodyPr>
            <a:spAutoFit/>
          </a:bodyPr>
          <a:lstStyle/>
          <a:p>
            <a:r>
              <a:t>깊이 우선 방문 구현 - 방문 함수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함수 DFS_VISIT(시작 노드 u):</a:t>
            </a:r>
          </a:p>
          <a:p>
            <a:r>
              <a:t>u-&gt;status = 방문중</a:t>
            </a:r>
          </a:p>
          <a:p>
            <a:r>
              <a:t>pre_task(u)</a:t>
            </a:r>
          </a:p>
          <a:p>
            <a:r>
              <a:t>반복: u-&gt;adj의 모든 노드들 v에 대해,</a:t>
            </a:r>
          </a:p>
          <a:p>
            <a:pPr marL="0" indent="0">
              <a:buNone/>
            </a:pPr>
            <a:r>
              <a:t>	만약: v-&gt;status가 방문전이면,</a:t>
            </a:r>
          </a:p>
          <a:p>
            <a:pPr marL="0" indent="0">
              <a:buNone/>
            </a:pPr>
            <a:r>
              <a:t>		DFS_VISIT(v)</a:t>
            </a:r>
          </a:p>
          <a:p>
            <a:r>
              <a:t>u-&gt;status = 방문후</a:t>
            </a:r>
          </a:p>
          <a:p>
            <a:r>
              <a:t>post_task(u)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985A9A-36A1-3BD2-13BA-BE8B44B1F1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0D69BE-C389-8F32-6064-92A14FF793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8123" y="262442"/>
            <a:ext cx="6324352" cy="607653"/>
          </a:xfrm>
        </p:spPr>
        <p:txBody>
          <a:bodyPr>
            <a:spAutoFit/>
          </a:bodyPr>
          <a:lstStyle/>
          <a:p>
            <a:r>
              <a:rPr lang="ko-KR" altLang="en-US"/>
              <a:t>깊이 우선 방문 구현 </a:t>
            </a:r>
            <a:r>
              <a:rPr lang="en-US" altLang="ko-KR"/>
              <a:t>- </a:t>
            </a:r>
            <a:r>
              <a:rPr lang="ko-KR" altLang="en-US"/>
              <a:t>예시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594FAF-31BC-7E44-F49E-94F848A83B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DFS_PREP(G)</a:t>
            </a:r>
            <a:r>
              <a:rPr lang="ko-KR" altLang="en-US"/>
              <a:t>를 한 후</a:t>
            </a:r>
            <a:r>
              <a:rPr lang="en-US" altLang="ko-KR"/>
              <a:t>, DFS(A)</a:t>
            </a:r>
            <a:r>
              <a:rPr lang="ko-KR" altLang="en-US"/>
              <a:t>를 했을때</a:t>
            </a:r>
            <a:r>
              <a:rPr lang="en-US" altLang="ko-KR"/>
              <a:t>, pre_task, </a:t>
            </a:r>
          </a:p>
          <a:p>
            <a:pPr marL="0" indent="0">
              <a:buNone/>
            </a:pPr>
            <a:r>
              <a:rPr lang="en-US" altLang="ko-KR"/>
              <a:t>   post_task</a:t>
            </a:r>
            <a:r>
              <a:rPr lang="ko-KR" altLang="en-US"/>
              <a:t>의 실행 순서는</a:t>
            </a:r>
            <a:r>
              <a:rPr lang="en-US" altLang="ko-KR"/>
              <a:t>?</a:t>
            </a:r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581635DA-CD0E-DDAF-3E64-66621CDBCDB3}"/>
              </a:ext>
            </a:extLst>
          </p:cNvPr>
          <p:cNvSpPr/>
          <p:nvPr/>
        </p:nvSpPr>
        <p:spPr>
          <a:xfrm>
            <a:off x="7204364" y="2705191"/>
            <a:ext cx="498763" cy="49876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/>
              <a:t>A</a:t>
            </a:r>
            <a:endParaRPr lang="ko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A0BBA5FA-5514-FE06-6384-9A92A4D8C8D2}"/>
              </a:ext>
            </a:extLst>
          </p:cNvPr>
          <p:cNvSpPr/>
          <p:nvPr/>
        </p:nvSpPr>
        <p:spPr>
          <a:xfrm>
            <a:off x="6631709" y="3638064"/>
            <a:ext cx="498763" cy="49876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/>
              <a:t>B</a:t>
            </a:r>
            <a:endParaRPr lang="ko-KR" altLang="en-US"/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BF04F656-3BBC-053C-F44B-8260374B6818}"/>
              </a:ext>
            </a:extLst>
          </p:cNvPr>
          <p:cNvSpPr/>
          <p:nvPr/>
        </p:nvSpPr>
        <p:spPr>
          <a:xfrm>
            <a:off x="7887854" y="3638064"/>
            <a:ext cx="498763" cy="49876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/>
              <a:t>C</a:t>
            </a:r>
            <a:endParaRPr lang="ko-KR" altLang="en-US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3AB288DD-DC85-E804-DEFD-206A9450BA6E}"/>
              </a:ext>
            </a:extLst>
          </p:cNvPr>
          <p:cNvCxnSpPr>
            <a:cxnSpLocks/>
            <a:stCxn id="5" idx="0"/>
            <a:endCxn id="4" idx="3"/>
          </p:cNvCxnSpPr>
          <p:nvPr/>
        </p:nvCxnSpPr>
        <p:spPr>
          <a:xfrm flipV="1">
            <a:off x="6881091" y="3130912"/>
            <a:ext cx="396315" cy="50715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005FB628-2BFF-1A0B-B7BB-4361188E404E}"/>
              </a:ext>
            </a:extLst>
          </p:cNvPr>
          <p:cNvCxnSpPr>
            <a:cxnSpLocks/>
            <a:stCxn id="6" idx="0"/>
            <a:endCxn id="4" idx="5"/>
          </p:cNvCxnSpPr>
          <p:nvPr/>
        </p:nvCxnSpPr>
        <p:spPr>
          <a:xfrm flipH="1" flipV="1">
            <a:off x="7630085" y="3130912"/>
            <a:ext cx="507151" cy="50715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타원 8">
            <a:extLst>
              <a:ext uri="{FF2B5EF4-FFF2-40B4-BE49-F238E27FC236}">
                <a16:creationId xmlns:a16="http://schemas.microsoft.com/office/drawing/2014/main" id="{5DA414F9-8BA9-6BC5-C763-F267A36846A7}"/>
              </a:ext>
            </a:extLst>
          </p:cNvPr>
          <p:cNvSpPr/>
          <p:nvPr/>
        </p:nvSpPr>
        <p:spPr>
          <a:xfrm>
            <a:off x="6034909" y="4570937"/>
            <a:ext cx="498763" cy="49876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/>
              <a:t>D</a:t>
            </a:r>
            <a:endParaRPr lang="ko-KR" altLang="en-US"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FB4363AB-681F-DB08-8054-DCBE155D3BDB}"/>
              </a:ext>
            </a:extLst>
          </p:cNvPr>
          <p:cNvSpPr/>
          <p:nvPr/>
        </p:nvSpPr>
        <p:spPr>
          <a:xfrm>
            <a:off x="7291054" y="4570937"/>
            <a:ext cx="498763" cy="49876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/>
              <a:t>E</a:t>
            </a:r>
            <a:endParaRPr lang="ko-KR" altLang="en-US"/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BF894BC6-79F6-252F-D66D-632007BD1A23}"/>
              </a:ext>
            </a:extLst>
          </p:cNvPr>
          <p:cNvCxnSpPr>
            <a:cxnSpLocks/>
            <a:stCxn id="9" idx="0"/>
            <a:endCxn id="5" idx="3"/>
          </p:cNvCxnSpPr>
          <p:nvPr/>
        </p:nvCxnSpPr>
        <p:spPr>
          <a:xfrm flipV="1">
            <a:off x="6284291" y="4063785"/>
            <a:ext cx="420460" cy="50715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82C94B7B-AED1-5A59-6C81-3A345D3F8282}"/>
              </a:ext>
            </a:extLst>
          </p:cNvPr>
          <p:cNvCxnSpPr>
            <a:cxnSpLocks/>
            <a:stCxn id="10" idx="2"/>
            <a:endCxn id="9" idx="6"/>
          </p:cNvCxnSpPr>
          <p:nvPr/>
        </p:nvCxnSpPr>
        <p:spPr>
          <a:xfrm flipH="1">
            <a:off x="6533672" y="4820319"/>
            <a:ext cx="75738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A8E91603-810C-6A10-2737-30B3445A4762}"/>
              </a:ext>
            </a:extLst>
          </p:cNvPr>
          <p:cNvCxnSpPr>
            <a:cxnSpLocks/>
            <a:stCxn id="5" idx="6"/>
            <a:endCxn id="6" idx="2"/>
          </p:cNvCxnSpPr>
          <p:nvPr/>
        </p:nvCxnSpPr>
        <p:spPr>
          <a:xfrm>
            <a:off x="7130472" y="3887446"/>
            <a:ext cx="75738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7101A3BA-C4C7-7559-3971-492B69E15824}"/>
              </a:ext>
            </a:extLst>
          </p:cNvPr>
          <p:cNvSpPr txBox="1"/>
          <p:nvPr/>
        </p:nvSpPr>
        <p:spPr>
          <a:xfrm>
            <a:off x="6272896" y="3013615"/>
            <a:ext cx="348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G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81416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360" y="262442"/>
            <a:ext cx="7799115" cy="607653"/>
          </a:xfrm>
        </p:spPr>
        <p:txBody>
          <a:bodyPr>
            <a:spAutoFit/>
          </a:bodyPr>
          <a:lstStyle/>
          <a:p>
            <a:r>
              <a:t>깊이 우선 방문 구현 예제 - 그룹핑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다음 그래프를 연결된 노드들로 그룹핑하면</a:t>
            </a:r>
            <a:r>
              <a:rPr lang="en-US" altLang="ko-KR"/>
              <a:t>?</a:t>
            </a:r>
            <a:endParaRPr/>
          </a:p>
          <a:p>
            <a:endParaRPr/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5B675745-7BF2-CCE7-0186-A0F9FFCF1D98}"/>
              </a:ext>
            </a:extLst>
          </p:cNvPr>
          <p:cNvSpPr/>
          <p:nvPr/>
        </p:nvSpPr>
        <p:spPr>
          <a:xfrm>
            <a:off x="7204364" y="2705191"/>
            <a:ext cx="498763" cy="49876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/>
              <a:t>A</a:t>
            </a:r>
            <a:endParaRPr lang="ko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27E285E3-C8F3-AB07-7C9F-E70E9ED77CF3}"/>
              </a:ext>
            </a:extLst>
          </p:cNvPr>
          <p:cNvSpPr/>
          <p:nvPr/>
        </p:nvSpPr>
        <p:spPr>
          <a:xfrm>
            <a:off x="6631709" y="3638064"/>
            <a:ext cx="498763" cy="49876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/>
              <a:t>B</a:t>
            </a:r>
            <a:endParaRPr lang="ko-KR" altLang="en-US"/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0A607C96-3445-8EE6-0E2F-2BB06A3302A0}"/>
              </a:ext>
            </a:extLst>
          </p:cNvPr>
          <p:cNvSpPr/>
          <p:nvPr/>
        </p:nvSpPr>
        <p:spPr>
          <a:xfrm>
            <a:off x="7887854" y="3638064"/>
            <a:ext cx="498763" cy="49876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/>
              <a:t>C</a:t>
            </a:r>
            <a:endParaRPr lang="ko-KR" altLang="en-US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25FE5010-4778-7D80-E11F-DDA13041C674}"/>
              </a:ext>
            </a:extLst>
          </p:cNvPr>
          <p:cNvCxnSpPr>
            <a:cxnSpLocks/>
            <a:stCxn id="5" idx="0"/>
            <a:endCxn id="4" idx="3"/>
          </p:cNvCxnSpPr>
          <p:nvPr/>
        </p:nvCxnSpPr>
        <p:spPr>
          <a:xfrm flipV="1">
            <a:off x="6881091" y="3130912"/>
            <a:ext cx="396315" cy="50715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4ADB48E4-773D-1695-68B5-A3F01AAA8936}"/>
              </a:ext>
            </a:extLst>
          </p:cNvPr>
          <p:cNvCxnSpPr>
            <a:cxnSpLocks/>
            <a:stCxn id="6" idx="0"/>
            <a:endCxn id="4" idx="5"/>
          </p:cNvCxnSpPr>
          <p:nvPr/>
        </p:nvCxnSpPr>
        <p:spPr>
          <a:xfrm flipH="1" flipV="1">
            <a:off x="7630085" y="3130912"/>
            <a:ext cx="507151" cy="50715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타원 8">
            <a:extLst>
              <a:ext uri="{FF2B5EF4-FFF2-40B4-BE49-F238E27FC236}">
                <a16:creationId xmlns:a16="http://schemas.microsoft.com/office/drawing/2014/main" id="{30A20B6B-CAF5-04EB-7322-E821A8E5815B}"/>
              </a:ext>
            </a:extLst>
          </p:cNvPr>
          <p:cNvSpPr/>
          <p:nvPr/>
        </p:nvSpPr>
        <p:spPr>
          <a:xfrm>
            <a:off x="6034909" y="4570937"/>
            <a:ext cx="498763" cy="49876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/>
              <a:t>D</a:t>
            </a:r>
            <a:endParaRPr lang="ko-KR" altLang="en-US"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AB788B58-AD46-FC9F-C9CE-FEEB6C73B4B4}"/>
              </a:ext>
            </a:extLst>
          </p:cNvPr>
          <p:cNvSpPr/>
          <p:nvPr/>
        </p:nvSpPr>
        <p:spPr>
          <a:xfrm>
            <a:off x="7291054" y="4570937"/>
            <a:ext cx="498763" cy="49876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/>
              <a:t>E</a:t>
            </a:r>
            <a:endParaRPr lang="ko-KR" altLang="en-US"/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25AB5048-C8DE-3C51-D6AD-BC5FB14A8DC2}"/>
              </a:ext>
            </a:extLst>
          </p:cNvPr>
          <p:cNvCxnSpPr>
            <a:cxnSpLocks/>
            <a:stCxn id="10" idx="2"/>
            <a:endCxn id="9" idx="6"/>
          </p:cNvCxnSpPr>
          <p:nvPr/>
        </p:nvCxnSpPr>
        <p:spPr>
          <a:xfrm flipH="1">
            <a:off x="6533672" y="4820319"/>
            <a:ext cx="75738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CFA90CBD-4B42-4C5D-B255-CB5536EB337B}"/>
              </a:ext>
            </a:extLst>
          </p:cNvPr>
          <p:cNvCxnSpPr>
            <a:cxnSpLocks/>
            <a:stCxn id="5" idx="6"/>
            <a:endCxn id="6" idx="2"/>
          </p:cNvCxnSpPr>
          <p:nvPr/>
        </p:nvCxnSpPr>
        <p:spPr>
          <a:xfrm>
            <a:off x="7130472" y="3887446"/>
            <a:ext cx="75738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4F2AEA05-4BD8-1443-2625-5D784217C960}"/>
              </a:ext>
            </a:extLst>
          </p:cNvPr>
          <p:cNvSpPr txBox="1"/>
          <p:nvPr/>
        </p:nvSpPr>
        <p:spPr>
          <a:xfrm>
            <a:off x="6272896" y="3013615"/>
            <a:ext cx="348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G</a:t>
            </a:r>
            <a:endParaRPr lang="ko-KR" alt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9078DC-F3DD-BA8E-4CEE-6C86B05735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7B8EA5-7D46-AA22-67B0-AFA452BD52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3360" y="262442"/>
            <a:ext cx="7799115" cy="607653"/>
          </a:xfrm>
        </p:spPr>
        <p:txBody>
          <a:bodyPr>
            <a:spAutoFit/>
          </a:bodyPr>
          <a:lstStyle/>
          <a:p>
            <a:r>
              <a:t>깊이 우선 방문 구현 예제 - 그룹핑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833269-38EA-2421-27BF-F56D19BF74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그래프 노드 타입에 group 항목 추가 (초기값 0)</a:t>
            </a:r>
          </a:p>
          <a:p>
            <a:endParaRPr/>
          </a:p>
          <a:p>
            <a:r>
              <a:t>전역 변수: n (초기값 0)</a:t>
            </a:r>
          </a:p>
          <a:p>
            <a:endParaRPr/>
          </a:p>
          <a:p>
            <a:r>
              <a:t>pre_task(u): u-&gt;group = n</a:t>
            </a:r>
          </a:p>
          <a:p>
            <a:endParaRPr/>
          </a:p>
          <a:p>
            <a:r>
              <a:t>post_task(u): 없음</a:t>
            </a:r>
          </a:p>
        </p:txBody>
      </p:sp>
    </p:spTree>
    <p:extLst>
      <p:ext uri="{BB962C8B-B14F-4D97-AF65-F5344CB8AC3E}">
        <p14:creationId xmlns:p14="http://schemas.microsoft.com/office/powerpoint/2010/main" val="41027663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360" y="262442"/>
            <a:ext cx="7799115" cy="607653"/>
          </a:xfrm>
        </p:spPr>
        <p:txBody>
          <a:bodyPr>
            <a:spAutoFit/>
          </a:bodyPr>
          <a:lstStyle/>
          <a:p>
            <a:r>
              <a:t>깊이 우선 방문 구현 예제 - 그룹핑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함수 GROUPING_CONNECTED(그래프 G):</a:t>
            </a:r>
          </a:p>
          <a:p>
            <a:r>
              <a:t>DFS_PREP(G)</a:t>
            </a:r>
          </a:p>
          <a:p>
            <a:r>
              <a:t>n = 0</a:t>
            </a:r>
          </a:p>
          <a:p>
            <a:r>
              <a:t>반복: G의 모든 노드 u에 대해,</a:t>
            </a:r>
          </a:p>
          <a:p>
            <a:pPr marL="0" indent="0">
              <a:buNone/>
            </a:pPr>
            <a:r>
              <a:t>	만약: u-&gt;status가 방문전이면,</a:t>
            </a:r>
          </a:p>
          <a:p>
            <a:pPr marL="0" indent="0">
              <a:buNone/>
            </a:pPr>
            <a:r>
              <a:t>		n += 1</a:t>
            </a:r>
          </a:p>
          <a:p>
            <a:pPr marL="0" indent="0">
              <a:buNone/>
            </a:pPr>
            <a:r>
              <a:t>		DFS_VISIT(G, u)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131BA6-D09F-92CA-6486-09BF9B7BEA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1B3068-F682-C517-B15B-41557B4B1A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3360" y="262442"/>
            <a:ext cx="7799115" cy="607653"/>
          </a:xfrm>
        </p:spPr>
        <p:txBody>
          <a:bodyPr>
            <a:spAutoFit/>
          </a:bodyPr>
          <a:lstStyle/>
          <a:p>
            <a:r>
              <a:t>깊이 우선 방문 구현 예제 - 그룹핑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08CF64-CA3F-BC1B-568B-ADCCE9F8BC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다음 그래프에서 </a:t>
            </a:r>
            <a:r>
              <a:rPr lang="en-US" altLang="ko-KR"/>
              <a:t>GROUPING_CONNECTED()</a:t>
            </a:r>
            <a:r>
              <a:rPr lang="ko-KR" altLang="en-US"/>
              <a:t>의 </a:t>
            </a:r>
            <a:endParaRPr lang="en-US" altLang="ko-KR"/>
          </a:p>
          <a:p>
            <a:pPr marL="0" indent="0">
              <a:buNone/>
            </a:pPr>
            <a:r>
              <a:rPr lang="ko-KR" altLang="en-US"/>
              <a:t>   실행 과정은</a:t>
            </a:r>
            <a:r>
              <a:rPr lang="en-US" altLang="ko-KR"/>
              <a:t>?</a:t>
            </a:r>
            <a:endParaRPr/>
          </a:p>
          <a:p>
            <a:endParaRPr/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280233EC-DF67-4679-6D08-305593260EA5}"/>
              </a:ext>
            </a:extLst>
          </p:cNvPr>
          <p:cNvSpPr/>
          <p:nvPr/>
        </p:nvSpPr>
        <p:spPr>
          <a:xfrm>
            <a:off x="7204364" y="2705191"/>
            <a:ext cx="498763" cy="49876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/>
              <a:t>A</a:t>
            </a:r>
            <a:endParaRPr lang="ko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5A1E4BF6-216E-47BB-5D3C-1889ACB12882}"/>
              </a:ext>
            </a:extLst>
          </p:cNvPr>
          <p:cNvSpPr/>
          <p:nvPr/>
        </p:nvSpPr>
        <p:spPr>
          <a:xfrm>
            <a:off x="6631709" y="3638064"/>
            <a:ext cx="498763" cy="49876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/>
              <a:t>B</a:t>
            </a:r>
            <a:endParaRPr lang="ko-KR" altLang="en-US"/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CE5170CD-021D-EF17-0786-8D43B2AF3D3E}"/>
              </a:ext>
            </a:extLst>
          </p:cNvPr>
          <p:cNvSpPr/>
          <p:nvPr/>
        </p:nvSpPr>
        <p:spPr>
          <a:xfrm>
            <a:off x="7887854" y="3638064"/>
            <a:ext cx="498763" cy="49876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/>
              <a:t>C</a:t>
            </a:r>
            <a:endParaRPr lang="ko-KR" altLang="en-US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42BAC6D9-CCB7-726C-4A7D-73645FB61749}"/>
              </a:ext>
            </a:extLst>
          </p:cNvPr>
          <p:cNvCxnSpPr>
            <a:cxnSpLocks/>
            <a:stCxn id="5" idx="0"/>
            <a:endCxn id="4" idx="3"/>
          </p:cNvCxnSpPr>
          <p:nvPr/>
        </p:nvCxnSpPr>
        <p:spPr>
          <a:xfrm flipV="1">
            <a:off x="6881091" y="3130912"/>
            <a:ext cx="396315" cy="50715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008A2DA1-B7F0-EA3F-3F9D-414212D7749F}"/>
              </a:ext>
            </a:extLst>
          </p:cNvPr>
          <p:cNvCxnSpPr>
            <a:cxnSpLocks/>
            <a:stCxn id="6" idx="0"/>
            <a:endCxn id="4" idx="5"/>
          </p:cNvCxnSpPr>
          <p:nvPr/>
        </p:nvCxnSpPr>
        <p:spPr>
          <a:xfrm flipH="1" flipV="1">
            <a:off x="7630085" y="3130912"/>
            <a:ext cx="507151" cy="50715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타원 8">
            <a:extLst>
              <a:ext uri="{FF2B5EF4-FFF2-40B4-BE49-F238E27FC236}">
                <a16:creationId xmlns:a16="http://schemas.microsoft.com/office/drawing/2014/main" id="{0667CAE0-935F-62D2-52AB-5837272DAA9C}"/>
              </a:ext>
            </a:extLst>
          </p:cNvPr>
          <p:cNvSpPr/>
          <p:nvPr/>
        </p:nvSpPr>
        <p:spPr>
          <a:xfrm>
            <a:off x="6034909" y="4570937"/>
            <a:ext cx="498763" cy="49876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/>
              <a:t>D</a:t>
            </a:r>
            <a:endParaRPr lang="ko-KR" altLang="en-US"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721967FB-F31F-371B-20F9-960ACB72F658}"/>
              </a:ext>
            </a:extLst>
          </p:cNvPr>
          <p:cNvSpPr/>
          <p:nvPr/>
        </p:nvSpPr>
        <p:spPr>
          <a:xfrm>
            <a:off x="7291054" y="4570937"/>
            <a:ext cx="498763" cy="49876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/>
              <a:t>E</a:t>
            </a:r>
            <a:endParaRPr lang="ko-KR" altLang="en-US"/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BEBE8273-A19A-2658-09D9-BC58DCAAF2CC}"/>
              </a:ext>
            </a:extLst>
          </p:cNvPr>
          <p:cNvCxnSpPr>
            <a:cxnSpLocks/>
            <a:stCxn id="10" idx="2"/>
            <a:endCxn id="9" idx="6"/>
          </p:cNvCxnSpPr>
          <p:nvPr/>
        </p:nvCxnSpPr>
        <p:spPr>
          <a:xfrm flipH="1">
            <a:off x="6533672" y="4820319"/>
            <a:ext cx="75738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8355F650-6837-4799-791F-6CE685836916}"/>
              </a:ext>
            </a:extLst>
          </p:cNvPr>
          <p:cNvCxnSpPr>
            <a:cxnSpLocks/>
            <a:stCxn id="5" idx="6"/>
            <a:endCxn id="6" idx="2"/>
          </p:cNvCxnSpPr>
          <p:nvPr/>
        </p:nvCxnSpPr>
        <p:spPr>
          <a:xfrm>
            <a:off x="7130472" y="3887446"/>
            <a:ext cx="75738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56F0AFE7-3956-E513-BD55-D328CBC05537}"/>
              </a:ext>
            </a:extLst>
          </p:cNvPr>
          <p:cNvSpPr txBox="1"/>
          <p:nvPr/>
        </p:nvSpPr>
        <p:spPr>
          <a:xfrm>
            <a:off x="6272896" y="3013615"/>
            <a:ext cx="348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G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867450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444" y="262442"/>
            <a:ext cx="7541031" cy="607653"/>
          </a:xfrm>
        </p:spPr>
        <p:txBody>
          <a:bodyPr>
            <a:spAutoFit/>
          </a:bodyPr>
          <a:lstStyle/>
          <a:p>
            <a:r>
              <a:t>깊이 우선 방문시 연결 선의 분류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트리 선: 이웃이 방문전</a:t>
            </a:r>
            <a:r>
              <a:rPr lang="ko-KR" altLang="en-US"/>
              <a:t>으로</a:t>
            </a:r>
            <a:r>
              <a:t> DFS_VISIT이 실행</a:t>
            </a:r>
            <a:r>
              <a:rPr lang="ko-KR" altLang="en-US"/>
              <a:t>된다</a:t>
            </a:r>
            <a:endParaRPr/>
          </a:p>
          <a:p>
            <a:r>
              <a:t>역방향 선: 이웃이 방문중이어서 건너뛰는 선</a:t>
            </a:r>
            <a:endParaRPr lang="en-US"/>
          </a:p>
          <a:p>
            <a:endParaRPr/>
          </a:p>
          <a:p>
            <a:r>
              <a:t>무방향 그래프에서는 이웃이 방문 후인 경우가 없다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07E754-CBCE-20BC-F7E0-97DD7422BE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F859A3-0C17-8DE1-42DC-8612B55636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444" y="262442"/>
            <a:ext cx="7541031" cy="607653"/>
          </a:xfrm>
        </p:spPr>
        <p:txBody>
          <a:bodyPr>
            <a:spAutoFit/>
          </a:bodyPr>
          <a:lstStyle/>
          <a:p>
            <a:r>
              <a:t>깊이 우선 방문시 연결 선의 분류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856A84-0AB5-22A0-CB4D-1272D62E91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다음 그래프의 선들을 </a:t>
            </a:r>
            <a:r>
              <a:rPr lang="en-US" altLang="ko-KR"/>
              <a:t>A</a:t>
            </a:r>
            <a:r>
              <a:rPr lang="ko-KR" altLang="en-US"/>
              <a:t>에서 깊이 우선 탐색시 </a:t>
            </a:r>
            <a:endParaRPr lang="en-US" altLang="ko-KR"/>
          </a:p>
          <a:p>
            <a:pPr marL="0" indent="0">
              <a:buNone/>
            </a:pPr>
            <a:r>
              <a:rPr lang="en-US" altLang="ko-KR"/>
              <a:t>   </a:t>
            </a:r>
            <a:r>
              <a:rPr lang="ko-KR" altLang="en-US"/>
              <a:t>트리 선과 역방향 선으로 구분하면</a:t>
            </a:r>
            <a:r>
              <a:rPr lang="en-US" altLang="ko-KR"/>
              <a:t>?</a:t>
            </a:r>
            <a:endParaRPr/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E10ECBB4-E21B-254B-2475-DA05D2C9701F}"/>
              </a:ext>
            </a:extLst>
          </p:cNvPr>
          <p:cNvSpPr/>
          <p:nvPr/>
        </p:nvSpPr>
        <p:spPr>
          <a:xfrm>
            <a:off x="7204364" y="2705191"/>
            <a:ext cx="498763" cy="49876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/>
              <a:t>A</a:t>
            </a:r>
            <a:endParaRPr lang="ko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BB7563D5-7A69-D756-C073-FBFCF6535ACE}"/>
              </a:ext>
            </a:extLst>
          </p:cNvPr>
          <p:cNvSpPr/>
          <p:nvPr/>
        </p:nvSpPr>
        <p:spPr>
          <a:xfrm>
            <a:off x="6631709" y="3638064"/>
            <a:ext cx="498763" cy="49876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/>
              <a:t>B</a:t>
            </a:r>
            <a:endParaRPr lang="ko-KR" altLang="en-US"/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F977239B-552F-AC7D-FF5C-40CBFA3BE6D6}"/>
              </a:ext>
            </a:extLst>
          </p:cNvPr>
          <p:cNvSpPr/>
          <p:nvPr/>
        </p:nvSpPr>
        <p:spPr>
          <a:xfrm>
            <a:off x="7887854" y="3638064"/>
            <a:ext cx="498763" cy="49876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/>
              <a:t>C</a:t>
            </a:r>
            <a:endParaRPr lang="ko-KR" altLang="en-US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73CC7E97-3B02-6D8B-821D-4816578ED2B9}"/>
              </a:ext>
            </a:extLst>
          </p:cNvPr>
          <p:cNvCxnSpPr>
            <a:cxnSpLocks/>
            <a:stCxn id="5" idx="0"/>
            <a:endCxn id="4" idx="3"/>
          </p:cNvCxnSpPr>
          <p:nvPr/>
        </p:nvCxnSpPr>
        <p:spPr>
          <a:xfrm flipV="1">
            <a:off x="6881091" y="3130912"/>
            <a:ext cx="396315" cy="50715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47292A52-3E80-D367-009F-96250B3C883C}"/>
              </a:ext>
            </a:extLst>
          </p:cNvPr>
          <p:cNvCxnSpPr>
            <a:cxnSpLocks/>
            <a:stCxn id="6" idx="0"/>
            <a:endCxn id="4" idx="5"/>
          </p:cNvCxnSpPr>
          <p:nvPr/>
        </p:nvCxnSpPr>
        <p:spPr>
          <a:xfrm flipH="1" flipV="1">
            <a:off x="7630085" y="3130912"/>
            <a:ext cx="507151" cy="50715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타원 8">
            <a:extLst>
              <a:ext uri="{FF2B5EF4-FFF2-40B4-BE49-F238E27FC236}">
                <a16:creationId xmlns:a16="http://schemas.microsoft.com/office/drawing/2014/main" id="{62048A5C-3B72-8FB1-4AD8-3F8450BA8BE6}"/>
              </a:ext>
            </a:extLst>
          </p:cNvPr>
          <p:cNvSpPr/>
          <p:nvPr/>
        </p:nvSpPr>
        <p:spPr>
          <a:xfrm>
            <a:off x="6034909" y="4570937"/>
            <a:ext cx="498763" cy="49876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/>
              <a:t>D</a:t>
            </a:r>
            <a:endParaRPr lang="ko-KR" altLang="en-US"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986886CD-E338-9675-CA3E-29A101D0C12E}"/>
              </a:ext>
            </a:extLst>
          </p:cNvPr>
          <p:cNvSpPr/>
          <p:nvPr/>
        </p:nvSpPr>
        <p:spPr>
          <a:xfrm>
            <a:off x="7291054" y="4570937"/>
            <a:ext cx="498763" cy="49876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/>
              <a:t>E</a:t>
            </a:r>
            <a:endParaRPr lang="ko-KR" altLang="en-US"/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F80EADE4-70EF-9F29-3A5E-2EA5C484CE25}"/>
              </a:ext>
            </a:extLst>
          </p:cNvPr>
          <p:cNvCxnSpPr>
            <a:cxnSpLocks/>
            <a:stCxn id="9" idx="0"/>
            <a:endCxn id="5" idx="3"/>
          </p:cNvCxnSpPr>
          <p:nvPr/>
        </p:nvCxnSpPr>
        <p:spPr>
          <a:xfrm flipV="1">
            <a:off x="6284291" y="4063785"/>
            <a:ext cx="420460" cy="50715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A5AD68AD-0191-06B3-D29A-B43162524FD6}"/>
              </a:ext>
            </a:extLst>
          </p:cNvPr>
          <p:cNvCxnSpPr>
            <a:cxnSpLocks/>
            <a:stCxn id="10" idx="2"/>
            <a:endCxn id="9" idx="6"/>
          </p:cNvCxnSpPr>
          <p:nvPr/>
        </p:nvCxnSpPr>
        <p:spPr>
          <a:xfrm flipH="1">
            <a:off x="6533672" y="4820319"/>
            <a:ext cx="75738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E7B7A0DA-4FAA-2E4A-1E3C-535D49646AAA}"/>
              </a:ext>
            </a:extLst>
          </p:cNvPr>
          <p:cNvCxnSpPr>
            <a:cxnSpLocks/>
            <a:stCxn id="5" idx="6"/>
            <a:endCxn id="6" idx="2"/>
          </p:cNvCxnSpPr>
          <p:nvPr/>
        </p:nvCxnSpPr>
        <p:spPr>
          <a:xfrm>
            <a:off x="7130472" y="3887446"/>
            <a:ext cx="75738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27047FFD-70C8-A6E7-5102-D2D58F88A874}"/>
              </a:ext>
            </a:extLst>
          </p:cNvPr>
          <p:cNvSpPr txBox="1"/>
          <p:nvPr/>
        </p:nvSpPr>
        <p:spPr>
          <a:xfrm>
            <a:off x="6549017" y="3059668"/>
            <a:ext cx="348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G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658937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0513" y="262442"/>
            <a:ext cx="4621962" cy="607653"/>
          </a:xfrm>
        </p:spPr>
        <p:txBody>
          <a:bodyPr>
            <a:spAutoFit/>
          </a:bodyPr>
          <a:lstStyle/>
          <a:p>
            <a:r>
              <a:t>예제: 단절점 찾기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단절점: 제거하면 그래프가 둘로 나눠지는 노드</a:t>
            </a:r>
          </a:p>
          <a:p>
            <a:r>
              <a:t>예시) 네트워크에서 모든 트래픽이 거쳐가는 서버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9834F0-580A-BBF3-4CDF-A4D4774A4D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FA3576-5E5F-A098-CDE7-67D51A835F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0513" y="262442"/>
            <a:ext cx="4621962" cy="607653"/>
          </a:xfrm>
        </p:spPr>
        <p:txBody>
          <a:bodyPr>
            <a:spAutoFit/>
          </a:bodyPr>
          <a:lstStyle/>
          <a:p>
            <a:r>
              <a:t>예제: 단절점 찾기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F7A35E-48F2-AE29-8277-4255FE2B53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다음 그래프에서 단절점은</a:t>
            </a:r>
            <a:r>
              <a:rPr lang="en-US" altLang="ko-KR"/>
              <a:t>?</a:t>
            </a:r>
            <a:endParaRPr/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B5CCDC99-02F9-D6B1-97AB-21DA08A378F8}"/>
              </a:ext>
            </a:extLst>
          </p:cNvPr>
          <p:cNvSpPr/>
          <p:nvPr/>
        </p:nvSpPr>
        <p:spPr>
          <a:xfrm>
            <a:off x="6638307" y="2487477"/>
            <a:ext cx="498763" cy="49876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/>
              <a:t>A</a:t>
            </a:r>
            <a:endParaRPr lang="ko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791D489E-D03B-5149-336D-C6667A38B659}"/>
              </a:ext>
            </a:extLst>
          </p:cNvPr>
          <p:cNvSpPr/>
          <p:nvPr/>
        </p:nvSpPr>
        <p:spPr>
          <a:xfrm>
            <a:off x="6065652" y="3420350"/>
            <a:ext cx="498763" cy="49876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/>
              <a:t>B</a:t>
            </a:r>
            <a:endParaRPr lang="ko-KR" altLang="en-US"/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83384158-6590-A2E0-5FDC-BC482545F558}"/>
              </a:ext>
            </a:extLst>
          </p:cNvPr>
          <p:cNvSpPr/>
          <p:nvPr/>
        </p:nvSpPr>
        <p:spPr>
          <a:xfrm>
            <a:off x="7321797" y="3420350"/>
            <a:ext cx="498763" cy="49876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/>
              <a:t>C</a:t>
            </a:r>
            <a:endParaRPr lang="ko-KR" altLang="en-US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6B808237-A732-2CA8-0010-118FAEE232F1}"/>
              </a:ext>
            </a:extLst>
          </p:cNvPr>
          <p:cNvCxnSpPr>
            <a:cxnSpLocks/>
            <a:stCxn id="5" idx="0"/>
            <a:endCxn id="4" idx="3"/>
          </p:cNvCxnSpPr>
          <p:nvPr/>
        </p:nvCxnSpPr>
        <p:spPr>
          <a:xfrm flipV="1">
            <a:off x="6315034" y="2913198"/>
            <a:ext cx="396315" cy="50715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28748089-726C-4E85-D4C1-F8F63871B0DB}"/>
              </a:ext>
            </a:extLst>
          </p:cNvPr>
          <p:cNvCxnSpPr>
            <a:cxnSpLocks/>
            <a:stCxn id="6" idx="0"/>
            <a:endCxn id="4" idx="5"/>
          </p:cNvCxnSpPr>
          <p:nvPr/>
        </p:nvCxnSpPr>
        <p:spPr>
          <a:xfrm flipH="1" flipV="1">
            <a:off x="7064028" y="2913198"/>
            <a:ext cx="507151" cy="50715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타원 8">
            <a:extLst>
              <a:ext uri="{FF2B5EF4-FFF2-40B4-BE49-F238E27FC236}">
                <a16:creationId xmlns:a16="http://schemas.microsoft.com/office/drawing/2014/main" id="{6247119E-0D39-2B7E-B32E-B7E05629D6BB}"/>
              </a:ext>
            </a:extLst>
          </p:cNvPr>
          <p:cNvSpPr/>
          <p:nvPr/>
        </p:nvSpPr>
        <p:spPr>
          <a:xfrm>
            <a:off x="5468852" y="4353223"/>
            <a:ext cx="498763" cy="49876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/>
              <a:t>D</a:t>
            </a:r>
            <a:endParaRPr lang="ko-KR" altLang="en-US"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07C2B359-6376-3E2A-9274-99DBA0960FE3}"/>
              </a:ext>
            </a:extLst>
          </p:cNvPr>
          <p:cNvSpPr/>
          <p:nvPr/>
        </p:nvSpPr>
        <p:spPr>
          <a:xfrm>
            <a:off x="6724997" y="4353223"/>
            <a:ext cx="498763" cy="49876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/>
              <a:t>E</a:t>
            </a:r>
            <a:endParaRPr lang="ko-KR" altLang="en-US"/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2A4F3FC1-D292-ABCA-1A9F-E8721A818710}"/>
              </a:ext>
            </a:extLst>
          </p:cNvPr>
          <p:cNvCxnSpPr>
            <a:cxnSpLocks/>
            <a:stCxn id="9" idx="0"/>
            <a:endCxn id="5" idx="3"/>
          </p:cNvCxnSpPr>
          <p:nvPr/>
        </p:nvCxnSpPr>
        <p:spPr>
          <a:xfrm flipV="1">
            <a:off x="5718234" y="3846071"/>
            <a:ext cx="420460" cy="50715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DC8E6B59-429B-28E6-34A7-E87AEB44CD2C}"/>
              </a:ext>
            </a:extLst>
          </p:cNvPr>
          <p:cNvCxnSpPr>
            <a:cxnSpLocks/>
            <a:stCxn id="10" idx="2"/>
            <a:endCxn id="9" idx="6"/>
          </p:cNvCxnSpPr>
          <p:nvPr/>
        </p:nvCxnSpPr>
        <p:spPr>
          <a:xfrm flipH="1">
            <a:off x="5967615" y="4602605"/>
            <a:ext cx="75738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16A3A44B-4B26-8D9B-147D-86567E86A810}"/>
              </a:ext>
            </a:extLst>
          </p:cNvPr>
          <p:cNvCxnSpPr>
            <a:cxnSpLocks/>
            <a:stCxn id="5" idx="6"/>
            <a:endCxn id="6" idx="2"/>
          </p:cNvCxnSpPr>
          <p:nvPr/>
        </p:nvCxnSpPr>
        <p:spPr>
          <a:xfrm>
            <a:off x="6564415" y="3669732"/>
            <a:ext cx="75738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04518BC1-1112-8B89-353E-8EB8B903DA39}"/>
              </a:ext>
            </a:extLst>
          </p:cNvPr>
          <p:cNvSpPr txBox="1"/>
          <p:nvPr/>
        </p:nvSpPr>
        <p:spPr>
          <a:xfrm>
            <a:off x="5982960" y="2841954"/>
            <a:ext cx="348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G</a:t>
            </a:r>
            <a:endParaRPr lang="ko-KR" altLang="en-US"/>
          </a:p>
        </p:txBody>
      </p: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1F5554E2-46A1-1D2C-039D-1F17D3E9AC7B}"/>
              </a:ext>
            </a:extLst>
          </p:cNvPr>
          <p:cNvCxnSpPr>
            <a:cxnSpLocks/>
            <a:stCxn id="10" idx="0"/>
            <a:endCxn id="5" idx="5"/>
          </p:cNvCxnSpPr>
          <p:nvPr/>
        </p:nvCxnSpPr>
        <p:spPr>
          <a:xfrm flipH="1" flipV="1">
            <a:off x="6491373" y="3846071"/>
            <a:ext cx="483006" cy="50715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570626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0513" y="262442"/>
            <a:ext cx="4621962" cy="607653"/>
          </a:xfrm>
        </p:spPr>
        <p:txBody>
          <a:bodyPr>
            <a:spAutoFit/>
          </a:bodyPr>
          <a:lstStyle/>
          <a:p>
            <a:r>
              <a:t>예제: 단절점 찾기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어떤 노드에서 깊이 우선 탐색을 시작했는데, 트리 선이 두개 이상이면 그 노드는 단절점이다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F8C3D0-406C-2C50-557B-04B544E51A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87E265-92C7-83C6-0B06-4EB3F0701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0513" y="262442"/>
            <a:ext cx="4621962" cy="607653"/>
          </a:xfrm>
        </p:spPr>
        <p:txBody>
          <a:bodyPr>
            <a:spAutoFit/>
          </a:bodyPr>
          <a:lstStyle/>
          <a:p>
            <a:r>
              <a:t>예제: 단절점 찾기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E7642B-263F-A28B-C9EE-137192DF58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다음 그래프에서 </a:t>
            </a:r>
            <a:r>
              <a:t>깊이 우선 탐색을 시작했</a:t>
            </a:r>
            <a:r>
              <a:rPr lang="ko-KR" altLang="en-US"/>
              <a:t>을 때</a:t>
            </a:r>
            <a:r>
              <a:t> </a:t>
            </a:r>
            <a:endParaRPr lang="en-US"/>
          </a:p>
          <a:p>
            <a:pPr marL="0" indent="0">
              <a:buNone/>
            </a:pPr>
            <a:r>
              <a:rPr lang="en-US"/>
              <a:t>   </a:t>
            </a:r>
            <a:r>
              <a:t>트리 선이 두개 이상</a:t>
            </a:r>
            <a:r>
              <a:rPr lang="ko-KR" altLang="en-US"/>
              <a:t>인 노드는</a:t>
            </a:r>
            <a:r>
              <a:rPr lang="en-US" altLang="ko-KR"/>
              <a:t>?</a:t>
            </a:r>
            <a:endParaRPr/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15A37AB4-4082-53BF-7117-08F4673EEB35}"/>
              </a:ext>
            </a:extLst>
          </p:cNvPr>
          <p:cNvSpPr/>
          <p:nvPr/>
        </p:nvSpPr>
        <p:spPr>
          <a:xfrm>
            <a:off x="6638307" y="2957740"/>
            <a:ext cx="498763" cy="49876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/>
              <a:t>A</a:t>
            </a:r>
            <a:endParaRPr lang="ko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362547DC-3179-D4CE-5CEC-645718115E14}"/>
              </a:ext>
            </a:extLst>
          </p:cNvPr>
          <p:cNvSpPr/>
          <p:nvPr/>
        </p:nvSpPr>
        <p:spPr>
          <a:xfrm>
            <a:off x="6065652" y="3890613"/>
            <a:ext cx="498763" cy="49876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/>
              <a:t>B</a:t>
            </a:r>
            <a:endParaRPr lang="ko-KR" altLang="en-US"/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047FB01F-B06D-0991-32D8-8EE6D5B2B264}"/>
              </a:ext>
            </a:extLst>
          </p:cNvPr>
          <p:cNvSpPr/>
          <p:nvPr/>
        </p:nvSpPr>
        <p:spPr>
          <a:xfrm>
            <a:off x="7321797" y="3890613"/>
            <a:ext cx="498763" cy="49876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/>
              <a:t>C</a:t>
            </a:r>
            <a:endParaRPr lang="ko-KR" altLang="en-US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28732C1C-036B-A2DE-48FC-DA322889C27D}"/>
              </a:ext>
            </a:extLst>
          </p:cNvPr>
          <p:cNvCxnSpPr>
            <a:cxnSpLocks/>
            <a:stCxn id="5" idx="0"/>
            <a:endCxn id="4" idx="3"/>
          </p:cNvCxnSpPr>
          <p:nvPr/>
        </p:nvCxnSpPr>
        <p:spPr>
          <a:xfrm flipV="1">
            <a:off x="6315034" y="3383461"/>
            <a:ext cx="396315" cy="50715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1E8CC428-60D1-E278-A424-8FC6D3C29C9D}"/>
              </a:ext>
            </a:extLst>
          </p:cNvPr>
          <p:cNvCxnSpPr>
            <a:cxnSpLocks/>
            <a:stCxn id="6" idx="0"/>
            <a:endCxn id="4" idx="5"/>
          </p:cNvCxnSpPr>
          <p:nvPr/>
        </p:nvCxnSpPr>
        <p:spPr>
          <a:xfrm flipH="1" flipV="1">
            <a:off x="7064028" y="3383461"/>
            <a:ext cx="507151" cy="50715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타원 8">
            <a:extLst>
              <a:ext uri="{FF2B5EF4-FFF2-40B4-BE49-F238E27FC236}">
                <a16:creationId xmlns:a16="http://schemas.microsoft.com/office/drawing/2014/main" id="{C3D8C0C0-E4F1-B467-A18E-D9C73062A418}"/>
              </a:ext>
            </a:extLst>
          </p:cNvPr>
          <p:cNvSpPr/>
          <p:nvPr/>
        </p:nvSpPr>
        <p:spPr>
          <a:xfrm>
            <a:off x="5468852" y="4823486"/>
            <a:ext cx="498763" cy="49876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/>
              <a:t>D</a:t>
            </a:r>
            <a:endParaRPr lang="ko-KR" altLang="en-US"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FE232DA0-003D-B155-18CA-60FD59C0DCEA}"/>
              </a:ext>
            </a:extLst>
          </p:cNvPr>
          <p:cNvSpPr/>
          <p:nvPr/>
        </p:nvSpPr>
        <p:spPr>
          <a:xfrm>
            <a:off x="6724997" y="4823486"/>
            <a:ext cx="498763" cy="49876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/>
              <a:t>E</a:t>
            </a:r>
            <a:endParaRPr lang="ko-KR" altLang="en-US"/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AC07B57F-2F52-8934-175A-2C9D758FA4AC}"/>
              </a:ext>
            </a:extLst>
          </p:cNvPr>
          <p:cNvCxnSpPr>
            <a:cxnSpLocks/>
            <a:stCxn id="9" idx="0"/>
            <a:endCxn id="5" idx="3"/>
          </p:cNvCxnSpPr>
          <p:nvPr/>
        </p:nvCxnSpPr>
        <p:spPr>
          <a:xfrm flipV="1">
            <a:off x="5718234" y="4316334"/>
            <a:ext cx="420460" cy="50715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076E5B8B-85D8-67CD-CA4F-AE3A187BAC96}"/>
              </a:ext>
            </a:extLst>
          </p:cNvPr>
          <p:cNvCxnSpPr>
            <a:cxnSpLocks/>
            <a:stCxn id="10" idx="2"/>
            <a:endCxn id="9" idx="6"/>
          </p:cNvCxnSpPr>
          <p:nvPr/>
        </p:nvCxnSpPr>
        <p:spPr>
          <a:xfrm flipH="1">
            <a:off x="5967615" y="5072868"/>
            <a:ext cx="75738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8E4C8965-2C4E-79D4-C033-C9C5DD7770A5}"/>
              </a:ext>
            </a:extLst>
          </p:cNvPr>
          <p:cNvCxnSpPr>
            <a:cxnSpLocks/>
            <a:stCxn id="5" idx="6"/>
            <a:endCxn id="6" idx="2"/>
          </p:cNvCxnSpPr>
          <p:nvPr/>
        </p:nvCxnSpPr>
        <p:spPr>
          <a:xfrm>
            <a:off x="6564415" y="4139995"/>
            <a:ext cx="75738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E57BBFB8-4C82-0426-79CD-D790EC28B080}"/>
              </a:ext>
            </a:extLst>
          </p:cNvPr>
          <p:cNvSpPr txBox="1"/>
          <p:nvPr/>
        </p:nvSpPr>
        <p:spPr>
          <a:xfrm>
            <a:off x="5982960" y="3312217"/>
            <a:ext cx="348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G</a:t>
            </a:r>
            <a:endParaRPr lang="ko-KR" altLang="en-US"/>
          </a:p>
        </p:txBody>
      </p: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18B99945-1F48-0D96-4841-FBAA4D13D7BF}"/>
              </a:ext>
            </a:extLst>
          </p:cNvPr>
          <p:cNvCxnSpPr>
            <a:cxnSpLocks/>
            <a:stCxn id="10" idx="0"/>
            <a:endCxn id="5" idx="5"/>
          </p:cNvCxnSpPr>
          <p:nvPr/>
        </p:nvCxnSpPr>
        <p:spPr>
          <a:xfrm flipH="1" flipV="1">
            <a:off x="6491373" y="4316334"/>
            <a:ext cx="483006" cy="50715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2710277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0513" y="262442"/>
            <a:ext cx="4621962" cy="607653"/>
          </a:xfrm>
        </p:spPr>
        <p:txBody>
          <a:bodyPr>
            <a:spAutoFit/>
          </a:bodyPr>
          <a:lstStyle/>
          <a:p>
            <a:r>
              <a:t>예제: 단절점 찾기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깊이 우선 탐색 중에, 노드</a:t>
            </a:r>
            <a:r>
              <a:rPr lang="en-US"/>
              <a:t> X</a:t>
            </a:r>
            <a:r>
              <a:t>의 </a:t>
            </a:r>
            <a:r>
              <a:rPr lang="ko-KR" altLang="en-US"/>
              <a:t>이웃 노드가 </a:t>
            </a:r>
            <a:endParaRPr lang="en-US" altLang="ko-KR"/>
          </a:p>
          <a:p>
            <a:pPr marL="0" indent="0">
              <a:buNone/>
            </a:pPr>
            <a:r>
              <a:rPr lang="en-US"/>
              <a:t>   </a:t>
            </a:r>
            <a:r>
              <a:rPr lang="ko-KR" altLang="en-US"/>
              <a:t>주변에</a:t>
            </a:r>
            <a:r>
              <a:t> </a:t>
            </a:r>
            <a:r>
              <a:rPr lang="en-US"/>
              <a:t>X</a:t>
            </a:r>
            <a:r>
              <a:t>의 조상으로 가는 역방향 선이 없으면</a:t>
            </a:r>
            <a:endParaRPr lang="en-US"/>
          </a:p>
          <a:p>
            <a:pPr marL="0" indent="0">
              <a:buNone/>
            </a:pPr>
            <a:r>
              <a:rPr lang="en-US"/>
              <a:t>   X</a:t>
            </a:r>
            <a:r>
              <a:t>는 단절점이다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9A76D2-AA41-C829-4BB9-2787C8934D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90E629-5AED-A461-53BC-674AD39313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0513" y="262442"/>
            <a:ext cx="4621962" cy="607653"/>
          </a:xfrm>
        </p:spPr>
        <p:txBody>
          <a:bodyPr>
            <a:spAutoFit/>
          </a:bodyPr>
          <a:lstStyle/>
          <a:p>
            <a:r>
              <a:t>예제: 단절점 찾기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5DE373-D50F-3A7F-F535-87C84127D8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다음 그래프에서 </a:t>
            </a:r>
            <a:r>
              <a:t>깊이 우선 탐색 중에, </a:t>
            </a:r>
            <a:r>
              <a:rPr lang="ko-KR" altLang="en-US"/>
              <a:t>자신</a:t>
            </a:r>
            <a:r>
              <a:t>의 </a:t>
            </a:r>
            <a:endParaRPr lang="en-US"/>
          </a:p>
          <a:p>
            <a:pPr marL="0" indent="0">
              <a:buNone/>
            </a:pPr>
            <a:r>
              <a:rPr lang="en-US"/>
              <a:t>   </a:t>
            </a:r>
            <a:r>
              <a:t>조상으로 가는 역방향 선이 </a:t>
            </a:r>
            <a:r>
              <a:rPr lang="ko-KR" altLang="en-US"/>
              <a:t>하나도 </a:t>
            </a:r>
            <a:r>
              <a:t>없</a:t>
            </a:r>
            <a:r>
              <a:rPr lang="ko-KR" altLang="en-US"/>
              <a:t>는 이웃 노드가</a:t>
            </a:r>
            <a:endParaRPr lang="en-US" altLang="ko-KR"/>
          </a:p>
          <a:p>
            <a:pPr marL="0" indent="0">
              <a:buNone/>
            </a:pPr>
            <a:r>
              <a:rPr lang="en-US"/>
              <a:t>   </a:t>
            </a:r>
            <a:r>
              <a:rPr lang="ko-KR" altLang="en-US"/>
              <a:t>존재하는 노드는</a:t>
            </a:r>
            <a:r>
              <a:rPr lang="en-US" altLang="ko-KR"/>
              <a:t>?</a:t>
            </a:r>
            <a:endParaRPr/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0A0C40B6-8B21-7945-7FCD-3317246034E0}"/>
              </a:ext>
            </a:extLst>
          </p:cNvPr>
          <p:cNvSpPr/>
          <p:nvPr/>
        </p:nvSpPr>
        <p:spPr>
          <a:xfrm>
            <a:off x="6638307" y="3429000"/>
            <a:ext cx="498763" cy="49876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/>
              <a:t>A</a:t>
            </a:r>
            <a:endParaRPr lang="ko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1ED70FA0-7908-D434-4D0F-ADA17BB04A52}"/>
              </a:ext>
            </a:extLst>
          </p:cNvPr>
          <p:cNvSpPr/>
          <p:nvPr/>
        </p:nvSpPr>
        <p:spPr>
          <a:xfrm>
            <a:off x="6065652" y="4361873"/>
            <a:ext cx="498763" cy="49876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/>
              <a:t>B</a:t>
            </a:r>
            <a:endParaRPr lang="ko-KR" altLang="en-US"/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802364AA-3A79-2828-79F6-A083F4051D08}"/>
              </a:ext>
            </a:extLst>
          </p:cNvPr>
          <p:cNvSpPr/>
          <p:nvPr/>
        </p:nvSpPr>
        <p:spPr>
          <a:xfrm>
            <a:off x="7321797" y="4361873"/>
            <a:ext cx="498763" cy="49876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/>
              <a:t>C</a:t>
            </a:r>
            <a:endParaRPr lang="ko-KR" altLang="en-US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2AAF3855-4749-8561-00D7-69C841F7DC8B}"/>
              </a:ext>
            </a:extLst>
          </p:cNvPr>
          <p:cNvCxnSpPr>
            <a:cxnSpLocks/>
            <a:stCxn id="5" idx="0"/>
            <a:endCxn id="4" idx="3"/>
          </p:cNvCxnSpPr>
          <p:nvPr/>
        </p:nvCxnSpPr>
        <p:spPr>
          <a:xfrm flipV="1">
            <a:off x="6315034" y="3854721"/>
            <a:ext cx="396315" cy="50715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AFCDB027-3C74-9559-0198-22B945DDE277}"/>
              </a:ext>
            </a:extLst>
          </p:cNvPr>
          <p:cNvCxnSpPr>
            <a:cxnSpLocks/>
            <a:stCxn id="6" idx="0"/>
            <a:endCxn id="4" idx="5"/>
          </p:cNvCxnSpPr>
          <p:nvPr/>
        </p:nvCxnSpPr>
        <p:spPr>
          <a:xfrm flipH="1" flipV="1">
            <a:off x="7064028" y="3854721"/>
            <a:ext cx="507151" cy="50715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타원 8">
            <a:extLst>
              <a:ext uri="{FF2B5EF4-FFF2-40B4-BE49-F238E27FC236}">
                <a16:creationId xmlns:a16="http://schemas.microsoft.com/office/drawing/2014/main" id="{5AF7C2B7-16D2-C411-4971-DACE8C64DE5B}"/>
              </a:ext>
            </a:extLst>
          </p:cNvPr>
          <p:cNvSpPr/>
          <p:nvPr/>
        </p:nvSpPr>
        <p:spPr>
          <a:xfrm>
            <a:off x="5468852" y="5294746"/>
            <a:ext cx="498763" cy="49876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/>
              <a:t>D</a:t>
            </a:r>
            <a:endParaRPr lang="ko-KR" altLang="en-US"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90A4010D-54CF-5C99-1D51-A7917C84E2D7}"/>
              </a:ext>
            </a:extLst>
          </p:cNvPr>
          <p:cNvSpPr/>
          <p:nvPr/>
        </p:nvSpPr>
        <p:spPr>
          <a:xfrm>
            <a:off x="6724997" y="5294746"/>
            <a:ext cx="498763" cy="49876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/>
              <a:t>E</a:t>
            </a:r>
            <a:endParaRPr lang="ko-KR" altLang="en-US"/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EF345A48-75B4-DFE4-71C5-FB273AB0CB83}"/>
              </a:ext>
            </a:extLst>
          </p:cNvPr>
          <p:cNvCxnSpPr>
            <a:cxnSpLocks/>
            <a:stCxn id="9" idx="0"/>
            <a:endCxn id="5" idx="3"/>
          </p:cNvCxnSpPr>
          <p:nvPr/>
        </p:nvCxnSpPr>
        <p:spPr>
          <a:xfrm flipV="1">
            <a:off x="5718234" y="4787594"/>
            <a:ext cx="420460" cy="50715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3A0D412E-0EE0-B6CE-3C2E-0CAFB73FAD09}"/>
              </a:ext>
            </a:extLst>
          </p:cNvPr>
          <p:cNvCxnSpPr>
            <a:cxnSpLocks/>
            <a:stCxn id="10" idx="2"/>
            <a:endCxn id="9" idx="6"/>
          </p:cNvCxnSpPr>
          <p:nvPr/>
        </p:nvCxnSpPr>
        <p:spPr>
          <a:xfrm flipH="1">
            <a:off x="5967615" y="5544128"/>
            <a:ext cx="75738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6C2FE1DF-2E13-AEA1-9761-A443ACA622FD}"/>
              </a:ext>
            </a:extLst>
          </p:cNvPr>
          <p:cNvCxnSpPr>
            <a:cxnSpLocks/>
            <a:stCxn id="5" idx="6"/>
            <a:endCxn id="6" idx="2"/>
          </p:cNvCxnSpPr>
          <p:nvPr/>
        </p:nvCxnSpPr>
        <p:spPr>
          <a:xfrm>
            <a:off x="6564415" y="4611255"/>
            <a:ext cx="75738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6A1D6A6C-2AC5-3224-726A-D96EA8081DD9}"/>
              </a:ext>
            </a:extLst>
          </p:cNvPr>
          <p:cNvSpPr txBox="1"/>
          <p:nvPr/>
        </p:nvSpPr>
        <p:spPr>
          <a:xfrm>
            <a:off x="5982960" y="3783477"/>
            <a:ext cx="348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G</a:t>
            </a:r>
            <a:endParaRPr lang="ko-KR" altLang="en-US"/>
          </a:p>
        </p:txBody>
      </p: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5F552FA2-FFF5-7E3A-6A81-AB9AF684509D}"/>
              </a:ext>
            </a:extLst>
          </p:cNvPr>
          <p:cNvCxnSpPr>
            <a:cxnSpLocks/>
            <a:stCxn id="10" idx="0"/>
            <a:endCxn id="5" idx="5"/>
          </p:cNvCxnSpPr>
          <p:nvPr/>
        </p:nvCxnSpPr>
        <p:spPr>
          <a:xfrm flipH="1" flipV="1">
            <a:off x="6491373" y="4787594"/>
            <a:ext cx="483006" cy="50715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601452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0513" y="262442"/>
            <a:ext cx="4621962" cy="607653"/>
          </a:xfrm>
        </p:spPr>
        <p:txBody>
          <a:bodyPr>
            <a:spAutoFit/>
          </a:bodyPr>
          <a:lstStyle/>
          <a:p>
            <a:r>
              <a:t>예제: 단절점 찾기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그 외의 노드들은 모두 단절점이 아니다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0513" y="262442"/>
            <a:ext cx="4621962" cy="607653"/>
          </a:xfrm>
        </p:spPr>
        <p:txBody>
          <a:bodyPr>
            <a:spAutoFit/>
          </a:bodyPr>
          <a:lstStyle/>
          <a:p>
            <a:r>
              <a:t>예제: 단절점 찾기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그래프 노드 타입에 추가할 항목:</a:t>
            </a:r>
          </a:p>
          <a:p>
            <a:pPr marL="0" indent="0">
              <a:buNone/>
            </a:pPr>
            <a:r>
              <a:t>	is_ap: 단절점인지 여부 (초기값 0)</a:t>
            </a:r>
          </a:p>
          <a:p>
            <a:pPr marL="0" indent="0">
              <a:buNone/>
            </a:pPr>
            <a:r>
              <a:t>	visited_time: 방문된 순서 (초기값 0)</a:t>
            </a:r>
          </a:p>
          <a:p>
            <a:pPr marL="0" indent="0">
              <a:buNone/>
            </a:pPr>
            <a:r>
              <a:t>	lowest_back: </a:t>
            </a:r>
            <a:r>
              <a:rPr lang="ko-KR" altLang="en-US"/>
              <a:t>트리 선 </a:t>
            </a:r>
            <a:r>
              <a:rPr lang="en-US" altLang="ko-KR"/>
              <a:t>+ </a:t>
            </a:r>
            <a:r>
              <a:rPr lang="ko-KR" altLang="en-US"/>
              <a:t>한개의 </a:t>
            </a:r>
            <a:r>
              <a:t>역방향 선으로 </a:t>
            </a:r>
            <a:endParaRPr lang="en-US"/>
          </a:p>
          <a:p>
            <a:pPr marL="0" indent="0">
              <a:buNone/>
            </a:pPr>
            <a:r>
              <a:rPr lang="en-US"/>
              <a:t>			    </a:t>
            </a:r>
            <a:r>
              <a:t>연결된 가장 먼 조상</a:t>
            </a:r>
          </a:p>
          <a:p>
            <a:endParaRPr lang="en-US"/>
          </a:p>
          <a:p>
            <a:r>
              <a:t>전역 변수:</a:t>
            </a:r>
          </a:p>
          <a:p>
            <a:pPr marL="0" indent="0">
              <a:buNone/>
            </a:pPr>
            <a:r>
              <a:t>	time: 방문 순서를 위한 전역 시간 (초기값 0)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FC354C-2942-01FC-3982-22D3E04896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B65C7A-55EB-0E31-F392-25590022A5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0513" y="262442"/>
            <a:ext cx="4621962" cy="607653"/>
          </a:xfrm>
        </p:spPr>
        <p:txBody>
          <a:bodyPr>
            <a:spAutoFit/>
          </a:bodyPr>
          <a:lstStyle/>
          <a:p>
            <a:r>
              <a:t>예제: 단절점 찾기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EF271C-1359-10DD-541D-77B443C054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다음 그래프에서 </a:t>
            </a:r>
            <a:r>
              <a:rPr lang="en-US" altLang="ko-KR"/>
              <a:t>A</a:t>
            </a:r>
            <a:r>
              <a:rPr lang="ko-KR" altLang="en-US"/>
              <a:t>에서 </a:t>
            </a:r>
            <a:r>
              <a:t>깊이 우선 탐색</a:t>
            </a:r>
            <a:r>
              <a:rPr lang="ko-KR" altLang="en-US"/>
              <a:t>을 시작할 때</a:t>
            </a:r>
            <a:r>
              <a:rPr lang="en-US" altLang="ko-KR"/>
              <a:t>,</a:t>
            </a:r>
          </a:p>
          <a:p>
            <a:pPr marL="0" indent="0">
              <a:buNone/>
            </a:pPr>
            <a:r>
              <a:rPr lang="en-US" altLang="ko-KR"/>
              <a:t>   </a:t>
            </a:r>
            <a:r>
              <a:rPr lang="ko-KR" altLang="en-US"/>
              <a:t>각 노드의 </a:t>
            </a:r>
            <a:r>
              <a:rPr lang="en-US" altLang="ko-KR"/>
              <a:t>is_ap, visited_time,</a:t>
            </a:r>
            <a:r>
              <a:rPr lang="ko-KR" altLang="en-US"/>
              <a:t> </a:t>
            </a:r>
            <a:r>
              <a:rPr lang="en-US" altLang="ko-KR"/>
              <a:t>lowest_back</a:t>
            </a:r>
            <a:r>
              <a:rPr lang="ko-KR" altLang="en-US"/>
              <a:t>은</a:t>
            </a:r>
            <a:r>
              <a:rPr lang="en-US" altLang="ko-KR"/>
              <a:t>?</a:t>
            </a:r>
            <a:endParaRPr/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0B4BE550-79F0-14A7-FD20-A9BE387E38D7}"/>
              </a:ext>
            </a:extLst>
          </p:cNvPr>
          <p:cNvSpPr/>
          <p:nvPr/>
        </p:nvSpPr>
        <p:spPr>
          <a:xfrm>
            <a:off x="6638307" y="3429000"/>
            <a:ext cx="498763" cy="49876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/>
              <a:t>A</a:t>
            </a:r>
            <a:endParaRPr lang="ko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09AA8BFC-B209-2B29-2D90-190B63496027}"/>
              </a:ext>
            </a:extLst>
          </p:cNvPr>
          <p:cNvSpPr/>
          <p:nvPr/>
        </p:nvSpPr>
        <p:spPr>
          <a:xfrm>
            <a:off x="6065652" y="4361873"/>
            <a:ext cx="498763" cy="49876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/>
              <a:t>B</a:t>
            </a:r>
            <a:endParaRPr lang="ko-KR" altLang="en-US"/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15B7E8D1-F9CF-B533-D8BE-EDF1988E04BC}"/>
              </a:ext>
            </a:extLst>
          </p:cNvPr>
          <p:cNvSpPr/>
          <p:nvPr/>
        </p:nvSpPr>
        <p:spPr>
          <a:xfrm>
            <a:off x="7321797" y="4361873"/>
            <a:ext cx="498763" cy="49876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/>
              <a:t>C</a:t>
            </a:r>
            <a:endParaRPr lang="ko-KR" altLang="en-US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B9E89547-2D54-F8FF-42A0-BF64920C0941}"/>
              </a:ext>
            </a:extLst>
          </p:cNvPr>
          <p:cNvCxnSpPr>
            <a:cxnSpLocks/>
            <a:stCxn id="5" idx="0"/>
            <a:endCxn id="4" idx="3"/>
          </p:cNvCxnSpPr>
          <p:nvPr/>
        </p:nvCxnSpPr>
        <p:spPr>
          <a:xfrm flipV="1">
            <a:off x="6315034" y="3854721"/>
            <a:ext cx="396315" cy="50715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F33BC4F0-AF28-98DC-559B-874183DF4C02}"/>
              </a:ext>
            </a:extLst>
          </p:cNvPr>
          <p:cNvCxnSpPr>
            <a:cxnSpLocks/>
            <a:stCxn id="6" idx="0"/>
            <a:endCxn id="4" idx="5"/>
          </p:cNvCxnSpPr>
          <p:nvPr/>
        </p:nvCxnSpPr>
        <p:spPr>
          <a:xfrm flipH="1" flipV="1">
            <a:off x="7064028" y="3854721"/>
            <a:ext cx="507151" cy="50715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타원 8">
            <a:extLst>
              <a:ext uri="{FF2B5EF4-FFF2-40B4-BE49-F238E27FC236}">
                <a16:creationId xmlns:a16="http://schemas.microsoft.com/office/drawing/2014/main" id="{75AA868A-52C4-81B6-7F80-5A2CD7915E40}"/>
              </a:ext>
            </a:extLst>
          </p:cNvPr>
          <p:cNvSpPr/>
          <p:nvPr/>
        </p:nvSpPr>
        <p:spPr>
          <a:xfrm>
            <a:off x="5468852" y="5294746"/>
            <a:ext cx="498763" cy="49876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/>
              <a:t>D</a:t>
            </a:r>
            <a:endParaRPr lang="ko-KR" altLang="en-US"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977FB930-C6BB-C41B-0511-D7CC38D2B98C}"/>
              </a:ext>
            </a:extLst>
          </p:cNvPr>
          <p:cNvSpPr/>
          <p:nvPr/>
        </p:nvSpPr>
        <p:spPr>
          <a:xfrm>
            <a:off x="6724997" y="5294746"/>
            <a:ext cx="498763" cy="49876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/>
              <a:t>E</a:t>
            </a:r>
            <a:endParaRPr lang="ko-KR" altLang="en-US"/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CD39ED15-4345-1873-CD2C-5AEADCBA2BF9}"/>
              </a:ext>
            </a:extLst>
          </p:cNvPr>
          <p:cNvCxnSpPr>
            <a:cxnSpLocks/>
            <a:stCxn id="9" idx="0"/>
            <a:endCxn id="5" idx="3"/>
          </p:cNvCxnSpPr>
          <p:nvPr/>
        </p:nvCxnSpPr>
        <p:spPr>
          <a:xfrm flipV="1">
            <a:off x="5718234" y="4787594"/>
            <a:ext cx="420460" cy="50715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E8D496E8-F193-AF97-1268-0D0DAF5919EB}"/>
              </a:ext>
            </a:extLst>
          </p:cNvPr>
          <p:cNvCxnSpPr>
            <a:cxnSpLocks/>
            <a:stCxn id="10" idx="2"/>
            <a:endCxn id="9" idx="6"/>
          </p:cNvCxnSpPr>
          <p:nvPr/>
        </p:nvCxnSpPr>
        <p:spPr>
          <a:xfrm flipH="1">
            <a:off x="5967615" y="5544128"/>
            <a:ext cx="75738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2D8D3B4A-6FA4-3FDF-B039-F904A4C1F887}"/>
              </a:ext>
            </a:extLst>
          </p:cNvPr>
          <p:cNvCxnSpPr>
            <a:cxnSpLocks/>
            <a:stCxn id="5" idx="6"/>
            <a:endCxn id="6" idx="2"/>
          </p:cNvCxnSpPr>
          <p:nvPr/>
        </p:nvCxnSpPr>
        <p:spPr>
          <a:xfrm>
            <a:off x="6564415" y="4611255"/>
            <a:ext cx="75738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68F6D0CE-3894-6C63-A450-D3BCD8D52DBB}"/>
              </a:ext>
            </a:extLst>
          </p:cNvPr>
          <p:cNvSpPr txBox="1"/>
          <p:nvPr/>
        </p:nvSpPr>
        <p:spPr>
          <a:xfrm>
            <a:off x="5982960" y="3783477"/>
            <a:ext cx="348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G</a:t>
            </a:r>
            <a:endParaRPr lang="ko-KR" altLang="en-US"/>
          </a:p>
        </p:txBody>
      </p: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5D85C60C-0373-CB24-B983-CA7A76B6FA80}"/>
              </a:ext>
            </a:extLst>
          </p:cNvPr>
          <p:cNvCxnSpPr>
            <a:cxnSpLocks/>
            <a:stCxn id="10" idx="0"/>
            <a:endCxn id="5" idx="5"/>
          </p:cNvCxnSpPr>
          <p:nvPr/>
        </p:nvCxnSpPr>
        <p:spPr>
          <a:xfrm flipH="1" flipV="1">
            <a:off x="6491373" y="4787594"/>
            <a:ext cx="483006" cy="50715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5001048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0513" y="262442"/>
            <a:ext cx="4621962" cy="607653"/>
          </a:xfrm>
        </p:spPr>
        <p:txBody>
          <a:bodyPr>
            <a:spAutoFit/>
          </a:bodyPr>
          <a:lstStyle/>
          <a:p>
            <a:r>
              <a:t>예제: 단절점 찾기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함수 FIND_AP(그래프 G):</a:t>
            </a:r>
          </a:p>
          <a:p>
            <a:r>
              <a:t>time = 0</a:t>
            </a:r>
          </a:p>
          <a:p>
            <a:r>
              <a:t>반복: G의 모든 노드 u에 대해,</a:t>
            </a:r>
          </a:p>
          <a:p>
            <a:pPr marL="0" indent="0">
              <a:buNone/>
            </a:pPr>
            <a:r>
              <a:t>	u-&gt;is_ap = 0</a:t>
            </a:r>
          </a:p>
          <a:p>
            <a:pPr marL="0" indent="0">
              <a:buNone/>
            </a:pPr>
            <a:r>
              <a:t>	u-&gt;visited_time = 0</a:t>
            </a:r>
          </a:p>
          <a:p>
            <a:pPr marL="0" indent="0">
              <a:buNone/>
            </a:pPr>
            <a:r>
              <a:t>	u-&gt;lowest_back = 무한대</a:t>
            </a:r>
          </a:p>
          <a:p>
            <a:r>
              <a:t>반복: G의 모든 노드 u에 대해,</a:t>
            </a:r>
          </a:p>
          <a:p>
            <a:pPr marL="0" indent="0">
              <a:buNone/>
            </a:pPr>
            <a:r>
              <a:t>	만약: u-&gt;visited_time이 0이면,</a:t>
            </a:r>
          </a:p>
          <a:p>
            <a:pPr marL="0" indent="0">
              <a:buNone/>
            </a:pPr>
            <a:r>
              <a:t>		DFS_VISIT_ROOT(u)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0513" y="262442"/>
            <a:ext cx="4621962" cy="607653"/>
          </a:xfrm>
        </p:spPr>
        <p:txBody>
          <a:bodyPr>
            <a:spAutoFit/>
          </a:bodyPr>
          <a:lstStyle/>
          <a:p>
            <a:r>
              <a:t>예제: 단절점 찾기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함수 DFS_VISIT_ROOT(시작 노드 u):</a:t>
            </a:r>
          </a:p>
          <a:p>
            <a:r>
              <a:t>time += 1</a:t>
            </a:r>
          </a:p>
          <a:p>
            <a:r>
              <a:t>u-&gt;visited_time = </a:t>
            </a:r>
            <a:r>
              <a:rPr lang="en-US" altLang="ko-KR"/>
              <a:t>u-&gt;lowest_back = </a:t>
            </a:r>
            <a:r>
              <a:t>time</a:t>
            </a:r>
          </a:p>
          <a:p>
            <a:r>
              <a:t>root_children_count = 0</a:t>
            </a:r>
          </a:p>
          <a:p>
            <a:r>
              <a:t>반복: u-&gt;adj의 모든 노드들 v에 대해,</a:t>
            </a:r>
          </a:p>
          <a:p>
            <a:pPr marL="0" indent="0">
              <a:buNone/>
            </a:pPr>
            <a:r>
              <a:t>	만약: v-&gt;visited_time이 0이면,</a:t>
            </a:r>
          </a:p>
          <a:p>
            <a:pPr marL="0" indent="0">
              <a:buNone/>
            </a:pPr>
            <a:r>
              <a:t>		root_children_count += 1</a:t>
            </a:r>
          </a:p>
          <a:p>
            <a:pPr marL="0" indent="0">
              <a:buNone/>
            </a:pPr>
            <a:r>
              <a:t>		DFS_VISIT_NONROOT(v, u)</a:t>
            </a:r>
          </a:p>
          <a:p>
            <a:r>
              <a:t>만약: root_children_count &gt; 1이면,</a:t>
            </a:r>
          </a:p>
          <a:p>
            <a:pPr marL="0" indent="0">
              <a:buNone/>
            </a:pPr>
            <a:r>
              <a:t>	u-&gt;is_ap = 1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0513" y="262442"/>
            <a:ext cx="4621962" cy="607653"/>
          </a:xfrm>
        </p:spPr>
        <p:txBody>
          <a:bodyPr>
            <a:spAutoFit/>
          </a:bodyPr>
          <a:lstStyle/>
          <a:p>
            <a:r>
              <a:t>예제: 단절점 찾기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함수 DFS_VISIT_NONROOT(방문 노드 u, 부모 노드 p):</a:t>
            </a:r>
          </a:p>
          <a:p>
            <a:r>
              <a:t>time += 1</a:t>
            </a:r>
          </a:p>
          <a:p>
            <a:r>
              <a:t>u-&gt;visited_time = time</a:t>
            </a:r>
          </a:p>
          <a:p>
            <a:r>
              <a:t>u-&gt;lowest_back = time</a:t>
            </a:r>
          </a:p>
          <a:p>
            <a:endParaRPr lang="en-US"/>
          </a:p>
          <a:p>
            <a:r>
              <a:t>반복: u-&gt;adj의 모든 노드들 v에 대해,</a:t>
            </a:r>
          </a:p>
          <a:p>
            <a:pPr marL="0" indent="0">
              <a:buNone/>
            </a:pPr>
            <a:r>
              <a:t>	만약: v == p면,</a:t>
            </a:r>
          </a:p>
          <a:p>
            <a:pPr marL="0" indent="0">
              <a:buNone/>
            </a:pPr>
            <a:r>
              <a:t>		다음 반복으로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C7F8A0-A373-7422-D8A7-C6C38ED187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B4B61A-B318-6C3C-7222-4F37F54E6A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0513" y="262442"/>
            <a:ext cx="4621962" cy="607653"/>
          </a:xfrm>
        </p:spPr>
        <p:txBody>
          <a:bodyPr>
            <a:spAutoFit/>
          </a:bodyPr>
          <a:lstStyle/>
          <a:p>
            <a:r>
              <a:t>예제: 단절점 찾기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DF408C-3059-9284-1610-1C9CD3D5ED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	만약: v-&gt;visited_time이 0이 아니면,</a:t>
            </a:r>
          </a:p>
          <a:p>
            <a:pPr marL="0" indent="0">
              <a:buNone/>
            </a:pPr>
            <a:r>
              <a:t>		만약: v-&gt;visited_time &lt; u-&gt;lowest_back</a:t>
            </a:r>
          </a:p>
          <a:p>
            <a:pPr marL="0" indent="0">
              <a:buNone/>
            </a:pPr>
            <a:r>
              <a:t>			u-&gt;lowest_back</a:t>
            </a:r>
            <a:r>
              <a:rPr lang="en-US"/>
              <a:t> =</a:t>
            </a:r>
            <a:r>
              <a:t> v-&gt;visited_time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t>	만약: v-&gt;visited_time이 0이면,</a:t>
            </a:r>
          </a:p>
          <a:p>
            <a:pPr marL="0" indent="0">
              <a:buNone/>
            </a:pPr>
            <a:r>
              <a:t>		DFS_VISIT_NONROOT(v, u)</a:t>
            </a:r>
          </a:p>
          <a:p>
            <a:pPr marL="0" indent="0">
              <a:buNone/>
            </a:pPr>
            <a:r>
              <a:t>		만약: v-&gt;lowest_back &lt; u-&gt;lowest_back</a:t>
            </a:r>
          </a:p>
          <a:p>
            <a:pPr marL="0" indent="0">
              <a:buNone/>
            </a:pPr>
            <a:r>
              <a:t>			u-&gt;lowest_back</a:t>
            </a:r>
            <a:r>
              <a:rPr lang="en-US"/>
              <a:t> =</a:t>
            </a:r>
            <a:r>
              <a:t> v-&gt;lowest_back</a:t>
            </a:r>
          </a:p>
          <a:p>
            <a:pPr marL="0" indent="0">
              <a:buNone/>
            </a:pPr>
            <a:r>
              <a:t>		만약: v-&gt;lowest_back &gt;= u-&gt;visited_time</a:t>
            </a:r>
          </a:p>
          <a:p>
            <a:pPr marL="0" indent="0">
              <a:buNone/>
            </a:pPr>
            <a:r>
              <a:t>			u-&gt;is_ap = 1</a:t>
            </a:r>
          </a:p>
        </p:txBody>
      </p:sp>
    </p:spTree>
    <p:extLst>
      <p:ext uri="{BB962C8B-B14F-4D97-AF65-F5344CB8AC3E}">
        <p14:creationId xmlns:p14="http://schemas.microsoft.com/office/powerpoint/2010/main" val="315969275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C84B5E-CA71-C3D7-0870-9840F408C3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462F64-EF53-9521-1EE4-42890969F3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0513" y="262442"/>
            <a:ext cx="4621962" cy="607653"/>
          </a:xfrm>
        </p:spPr>
        <p:txBody>
          <a:bodyPr>
            <a:spAutoFit/>
          </a:bodyPr>
          <a:lstStyle/>
          <a:p>
            <a:r>
              <a:t>예제: 단절점 찾기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8EF7BD-1149-99C6-00EE-95E43D5DA7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다음 그래프에서 </a:t>
            </a:r>
            <a:r>
              <a:rPr lang="en-US" altLang="ko-KR"/>
              <a:t>FIND_AP</a:t>
            </a:r>
            <a:r>
              <a:rPr lang="ko-KR" altLang="en-US"/>
              <a:t>의 진행과정은</a:t>
            </a:r>
            <a:r>
              <a:rPr lang="en-US" altLang="ko-KR"/>
              <a:t>?</a:t>
            </a:r>
            <a:endParaRPr/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38851C4C-CFE7-BF25-DF96-D6AB81B85D2B}"/>
              </a:ext>
            </a:extLst>
          </p:cNvPr>
          <p:cNvSpPr/>
          <p:nvPr/>
        </p:nvSpPr>
        <p:spPr>
          <a:xfrm>
            <a:off x="6638307" y="3429000"/>
            <a:ext cx="498763" cy="49876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/>
              <a:t>A</a:t>
            </a:r>
            <a:endParaRPr lang="ko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EFD365F6-9E8C-0153-287D-BF5A68F5519C}"/>
              </a:ext>
            </a:extLst>
          </p:cNvPr>
          <p:cNvSpPr/>
          <p:nvPr/>
        </p:nvSpPr>
        <p:spPr>
          <a:xfrm>
            <a:off x="6065652" y="4361873"/>
            <a:ext cx="498763" cy="49876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/>
              <a:t>B</a:t>
            </a:r>
            <a:endParaRPr lang="ko-KR" altLang="en-US"/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0C41F72B-1BC0-F205-06BD-3FADFC51AAD9}"/>
              </a:ext>
            </a:extLst>
          </p:cNvPr>
          <p:cNvSpPr/>
          <p:nvPr/>
        </p:nvSpPr>
        <p:spPr>
          <a:xfrm>
            <a:off x="7321797" y="4361873"/>
            <a:ext cx="498763" cy="49876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/>
              <a:t>C</a:t>
            </a:r>
            <a:endParaRPr lang="ko-KR" altLang="en-US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451326A0-FD92-1268-BA52-F7383CB0ED61}"/>
              </a:ext>
            </a:extLst>
          </p:cNvPr>
          <p:cNvCxnSpPr>
            <a:cxnSpLocks/>
            <a:stCxn id="5" idx="0"/>
            <a:endCxn id="4" idx="3"/>
          </p:cNvCxnSpPr>
          <p:nvPr/>
        </p:nvCxnSpPr>
        <p:spPr>
          <a:xfrm flipV="1">
            <a:off x="6315034" y="3854721"/>
            <a:ext cx="396315" cy="50715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37DF2977-00B0-3DEC-1550-7EF808C7AC69}"/>
              </a:ext>
            </a:extLst>
          </p:cNvPr>
          <p:cNvCxnSpPr>
            <a:cxnSpLocks/>
            <a:stCxn id="6" idx="0"/>
            <a:endCxn id="4" idx="5"/>
          </p:cNvCxnSpPr>
          <p:nvPr/>
        </p:nvCxnSpPr>
        <p:spPr>
          <a:xfrm flipH="1" flipV="1">
            <a:off x="7064028" y="3854721"/>
            <a:ext cx="507151" cy="50715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타원 8">
            <a:extLst>
              <a:ext uri="{FF2B5EF4-FFF2-40B4-BE49-F238E27FC236}">
                <a16:creationId xmlns:a16="http://schemas.microsoft.com/office/drawing/2014/main" id="{2BF4AD2B-E091-C0D8-1DEE-F42C06AD9DD1}"/>
              </a:ext>
            </a:extLst>
          </p:cNvPr>
          <p:cNvSpPr/>
          <p:nvPr/>
        </p:nvSpPr>
        <p:spPr>
          <a:xfrm>
            <a:off x="5468852" y="5294746"/>
            <a:ext cx="498763" cy="49876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/>
              <a:t>D</a:t>
            </a:r>
            <a:endParaRPr lang="ko-KR" altLang="en-US"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F2A24343-C00C-387C-6EB4-CCFF7DDCCE54}"/>
              </a:ext>
            </a:extLst>
          </p:cNvPr>
          <p:cNvSpPr/>
          <p:nvPr/>
        </p:nvSpPr>
        <p:spPr>
          <a:xfrm>
            <a:off x="6724997" y="5294746"/>
            <a:ext cx="498763" cy="49876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/>
              <a:t>E</a:t>
            </a:r>
            <a:endParaRPr lang="ko-KR" altLang="en-US"/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B9E44EB7-A78E-D380-B4B7-2FFA4296E45E}"/>
              </a:ext>
            </a:extLst>
          </p:cNvPr>
          <p:cNvCxnSpPr>
            <a:cxnSpLocks/>
            <a:stCxn id="9" idx="0"/>
            <a:endCxn id="5" idx="3"/>
          </p:cNvCxnSpPr>
          <p:nvPr/>
        </p:nvCxnSpPr>
        <p:spPr>
          <a:xfrm flipV="1">
            <a:off x="5718234" y="4787594"/>
            <a:ext cx="420460" cy="50715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9530870C-AAB2-78DA-0979-837C62D4F643}"/>
              </a:ext>
            </a:extLst>
          </p:cNvPr>
          <p:cNvCxnSpPr>
            <a:cxnSpLocks/>
            <a:stCxn id="10" idx="2"/>
            <a:endCxn id="9" idx="6"/>
          </p:cNvCxnSpPr>
          <p:nvPr/>
        </p:nvCxnSpPr>
        <p:spPr>
          <a:xfrm flipH="1">
            <a:off x="5967615" y="5544128"/>
            <a:ext cx="75738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EAD9964A-675A-49AC-9EC7-BCBD1982E14A}"/>
              </a:ext>
            </a:extLst>
          </p:cNvPr>
          <p:cNvCxnSpPr>
            <a:cxnSpLocks/>
            <a:stCxn id="5" idx="6"/>
            <a:endCxn id="6" idx="2"/>
          </p:cNvCxnSpPr>
          <p:nvPr/>
        </p:nvCxnSpPr>
        <p:spPr>
          <a:xfrm>
            <a:off x="6564415" y="4611255"/>
            <a:ext cx="75738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70E7B917-60AB-40FE-53F1-21F97554FD83}"/>
              </a:ext>
            </a:extLst>
          </p:cNvPr>
          <p:cNvSpPr txBox="1"/>
          <p:nvPr/>
        </p:nvSpPr>
        <p:spPr>
          <a:xfrm>
            <a:off x="5982960" y="3783477"/>
            <a:ext cx="348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G</a:t>
            </a:r>
            <a:endParaRPr lang="ko-KR" altLang="en-US"/>
          </a:p>
        </p:txBody>
      </p: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58EF0FFC-006B-9C5E-6F19-AC656A9EB8C3}"/>
              </a:ext>
            </a:extLst>
          </p:cNvPr>
          <p:cNvCxnSpPr>
            <a:cxnSpLocks/>
            <a:stCxn id="10" idx="0"/>
            <a:endCxn id="5" idx="5"/>
          </p:cNvCxnSpPr>
          <p:nvPr/>
        </p:nvCxnSpPr>
        <p:spPr>
          <a:xfrm flipH="1" flipV="1">
            <a:off x="6491373" y="4787594"/>
            <a:ext cx="483006" cy="50715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6690592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98598" y="262442"/>
            <a:ext cx="2013877" cy="607653"/>
          </a:xfrm>
        </p:spPr>
        <p:txBody>
          <a:bodyPr>
            <a:spAutoFit/>
          </a:bodyPr>
          <a:lstStyle/>
          <a:p>
            <a:r>
              <a:t>요약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그래프: 노드들이 선으로 연결된 구조</a:t>
            </a:r>
          </a:p>
          <a:p>
            <a:endParaRPr/>
          </a:p>
          <a:p>
            <a:r>
              <a:t>깊이 우선 탐색: 한 이웃의 이웃들을 먼저 탐색하고, 다른 이웃에 대해 반복</a:t>
            </a:r>
          </a:p>
          <a:p>
            <a:endParaRPr/>
          </a:p>
          <a:p>
            <a:r>
              <a:t>단절점: 제거하면 그래프가 둘로 나눠지는 노드</a:t>
            </a:r>
          </a:p>
          <a:p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A63236-5200-3DE0-2C96-AD4F7BB95F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F818EF-ECB5-2270-019D-7BF4D2D13A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0464" y="262442"/>
            <a:ext cx="5502011" cy="607653"/>
          </a:xfrm>
        </p:spPr>
        <p:txBody>
          <a:bodyPr>
            <a:spAutoFit/>
          </a:bodyPr>
          <a:lstStyle/>
          <a:p>
            <a:r>
              <a:rPr lang="en-US"/>
              <a:t>2021</a:t>
            </a:r>
            <a:r>
              <a:rPr lang="ko-KR" altLang="en-US"/>
              <a:t>년 기말고사 문제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786C1C-AC8F-C64D-B8E3-5E7EAF9B9C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/>
              <a:t>V= {1,2,3,4,5,6,7,8},</a:t>
            </a:r>
          </a:p>
          <a:p>
            <a:pPr marL="0" indent="0">
              <a:buNone/>
            </a:pPr>
            <a:r>
              <a:rPr lang="en-US" altLang="ko-KR"/>
              <a:t>E= {(1,2), (1,6), (2,3), (2,4), (4,5), (4,7), (5,7), (5,8)}</a:t>
            </a:r>
          </a:p>
          <a:p>
            <a:pPr marL="0" indent="0">
              <a:buNone/>
            </a:pPr>
            <a:r>
              <a:rPr lang="en-US" altLang="ko-KR"/>
              <a:t>1) </a:t>
            </a:r>
            <a:r>
              <a:rPr lang="ko-KR" altLang="en-US"/>
              <a:t>그래프 </a:t>
            </a:r>
            <a:r>
              <a:rPr lang="en-US" altLang="ko-KR"/>
              <a:t>G</a:t>
            </a:r>
            <a:r>
              <a:rPr lang="ko-KR" altLang="en-US"/>
              <a:t>를 그림으로 나타내시오</a:t>
            </a:r>
            <a:r>
              <a:rPr lang="en-US" altLang="ko-KR"/>
              <a:t>.</a:t>
            </a:r>
          </a:p>
          <a:p>
            <a:pPr marL="0" indent="0">
              <a:buNone/>
            </a:pPr>
            <a:r>
              <a:rPr lang="en-US" altLang="ko-KR"/>
              <a:t>2) dfs(1)</a:t>
            </a:r>
            <a:r>
              <a:rPr lang="ko-KR" altLang="en-US"/>
              <a:t>를 수행하는 과정에서 </a:t>
            </a:r>
            <a:r>
              <a:rPr lang="en-US" altLang="ko-KR"/>
              <a:t>edge</a:t>
            </a:r>
            <a:r>
              <a:rPr lang="ko-KR" altLang="en-US"/>
              <a:t>들로 만들어지는 </a:t>
            </a:r>
            <a:endParaRPr lang="en-US" altLang="ko-KR"/>
          </a:p>
          <a:p>
            <a:pPr marL="0" indent="0">
              <a:buNone/>
            </a:pPr>
            <a:r>
              <a:rPr lang="en-US" altLang="ko-KR"/>
              <a:t>     tree</a:t>
            </a:r>
            <a:r>
              <a:rPr lang="ko-KR" altLang="en-US"/>
              <a:t>를 그림으로 나타내시오</a:t>
            </a:r>
            <a:endParaRPr lang="en-US" altLang="ko-KR"/>
          </a:p>
          <a:p>
            <a:pPr marL="0" indent="0">
              <a:buNone/>
            </a:pPr>
            <a:r>
              <a:rPr lang="en-US" altLang="ko-KR"/>
              <a:t>3) </a:t>
            </a:r>
            <a:r>
              <a:rPr lang="ko-KR" altLang="en-US"/>
              <a:t>각 노드의 </a:t>
            </a:r>
            <a:r>
              <a:rPr lang="en-US" altLang="ko-KR"/>
              <a:t>dfn</a:t>
            </a:r>
            <a:r>
              <a:rPr lang="ko-KR" altLang="en-US"/>
              <a:t>과 </a:t>
            </a:r>
            <a:r>
              <a:rPr lang="en-US" altLang="ko-KR"/>
              <a:t>low </a:t>
            </a:r>
            <a:r>
              <a:rPr lang="ko-KR" altLang="en-US"/>
              <a:t>값을 적으시오</a:t>
            </a:r>
            <a:r>
              <a:rPr lang="en-US" altLang="ko-KR"/>
              <a:t>.</a:t>
            </a:r>
          </a:p>
          <a:p>
            <a:pPr marL="0" indent="0">
              <a:buNone/>
            </a:pPr>
            <a:r>
              <a:rPr lang="en-US" altLang="ko-KR"/>
              <a:t>4) Articulation point</a:t>
            </a:r>
            <a:r>
              <a:rPr lang="ko-KR" altLang="en-US"/>
              <a:t>에 해당하는 </a:t>
            </a:r>
            <a:r>
              <a:rPr lang="en-US" altLang="ko-KR"/>
              <a:t>vertex</a:t>
            </a:r>
            <a:r>
              <a:rPr lang="ko-KR" altLang="en-US"/>
              <a:t>가 어떤 것인지 </a:t>
            </a:r>
            <a:endParaRPr lang="en-US" altLang="ko-KR"/>
          </a:p>
          <a:p>
            <a:pPr marL="0" indent="0">
              <a:buNone/>
            </a:pPr>
            <a:r>
              <a:rPr lang="en-US" altLang="ko-KR"/>
              <a:t>     </a:t>
            </a:r>
            <a:r>
              <a:rPr lang="ko-KR" altLang="en-US"/>
              <a:t>적으시오</a:t>
            </a:r>
            <a:r>
              <a:rPr lang="en-US" altLang="ko-KR"/>
              <a:t>.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4969810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테마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12659</TotalTime>
  <Words>1399</Words>
  <Application>Microsoft Office PowerPoint</Application>
  <PresentationFormat>화면 슬라이드 쇼(4:3)</PresentationFormat>
  <Paragraphs>262</Paragraphs>
  <Slides>38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38</vt:i4>
      </vt:variant>
    </vt:vector>
  </HeadingPairs>
  <TitlesOfParts>
    <vt:vector size="43" baseType="lpstr">
      <vt:lpstr>맑은 고딕</vt:lpstr>
      <vt:lpstr>Aptos</vt:lpstr>
      <vt:lpstr>Aptos Display</vt:lpstr>
      <vt:lpstr>Arial</vt:lpstr>
      <vt:lpstr>Office 테마</vt:lpstr>
      <vt:lpstr>자료구조 (Data Structure 8주차: 그래프</vt:lpstr>
      <vt:lpstr>선형 (일차원) 자료구조 정리</vt:lpstr>
      <vt:lpstr>계층적 자료구조 정리</vt:lpstr>
      <vt:lpstr>이번 시간 목차</vt:lpstr>
      <vt:lpstr>트리보다 더 일반적인 자료 구조</vt:lpstr>
      <vt:lpstr>트리보다 더 일반적인 자료 구조</vt:lpstr>
      <vt:lpstr>그래프란?</vt:lpstr>
      <vt:lpstr>그래프</vt:lpstr>
      <vt:lpstr>그래프 노드 타입</vt:lpstr>
      <vt:lpstr>그래프 예시</vt:lpstr>
      <vt:lpstr>그래프 노드 방문</vt:lpstr>
      <vt:lpstr>그래프 노드 방문 예시</vt:lpstr>
      <vt:lpstr>깊이 우선 방문 구현</vt:lpstr>
      <vt:lpstr>깊이 우선 방문 구현 - 사전 작업</vt:lpstr>
      <vt:lpstr>깊이 우선 방문 구현 - 방문 함수</vt:lpstr>
      <vt:lpstr>깊이 우선 방문 구현 - 예시</vt:lpstr>
      <vt:lpstr>깊이 우선 방문 구현 예제 - 그룹핑</vt:lpstr>
      <vt:lpstr>깊이 우선 방문 구현 예제 - 그룹핑</vt:lpstr>
      <vt:lpstr>깊이 우선 방문 구현 예제 - 그룹핑</vt:lpstr>
      <vt:lpstr>깊이 우선 방문 구현 예제 - 그룹핑</vt:lpstr>
      <vt:lpstr>깊이 우선 방문시 연결 선의 분류</vt:lpstr>
      <vt:lpstr>깊이 우선 방문시 연결 선의 분류</vt:lpstr>
      <vt:lpstr>예제: 단절점 찾기</vt:lpstr>
      <vt:lpstr>예제: 단절점 찾기</vt:lpstr>
      <vt:lpstr>예제: 단절점 찾기</vt:lpstr>
      <vt:lpstr>예제: 단절점 찾기</vt:lpstr>
      <vt:lpstr>예제: 단절점 찾기</vt:lpstr>
      <vt:lpstr>예제: 단절점 찾기</vt:lpstr>
      <vt:lpstr>예제: 단절점 찾기</vt:lpstr>
      <vt:lpstr>예제: 단절점 찾기</vt:lpstr>
      <vt:lpstr>예제: 단절점 찾기</vt:lpstr>
      <vt:lpstr>예제: 단절점 찾기</vt:lpstr>
      <vt:lpstr>예제: 단절점 찾기</vt:lpstr>
      <vt:lpstr>예제: 단절점 찾기</vt:lpstr>
      <vt:lpstr>예제: 단절점 찾기</vt:lpstr>
      <vt:lpstr>예제: 단절점 찾기</vt:lpstr>
      <vt:lpstr>요약</vt:lpstr>
      <vt:lpstr>2021년 기말고사 문제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 C</dc:creator>
  <cp:lastModifiedBy>K C</cp:lastModifiedBy>
  <cp:revision>19</cp:revision>
  <dcterms:created xsi:type="dcterms:W3CDTF">2025-07-28T15:04:23Z</dcterms:created>
  <dcterms:modified xsi:type="dcterms:W3CDTF">2025-11-03T22:43:45Z</dcterms:modified>
</cp:coreProperties>
</file>