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9"/>
  </p:notesMasterIdLst>
  <p:sldIdLst>
    <p:sldId id="256" r:id="rId2"/>
    <p:sldId id="279" r:id="rId3"/>
    <p:sldId id="338" r:id="rId4"/>
    <p:sldId id="343" r:id="rId5"/>
    <p:sldId id="344" r:id="rId6"/>
    <p:sldId id="342" r:id="rId7"/>
    <p:sldId id="339" r:id="rId8"/>
    <p:sldId id="259" r:id="rId9"/>
    <p:sldId id="258" r:id="rId10"/>
    <p:sldId id="303" r:id="rId11"/>
    <p:sldId id="345" r:id="rId12"/>
    <p:sldId id="346" r:id="rId13"/>
    <p:sldId id="347" r:id="rId14"/>
    <p:sldId id="349" r:id="rId15"/>
    <p:sldId id="348" r:id="rId16"/>
    <p:sldId id="350" r:id="rId17"/>
    <p:sldId id="351" r:id="rId18"/>
    <p:sldId id="353" r:id="rId19"/>
    <p:sldId id="352" r:id="rId20"/>
    <p:sldId id="354" r:id="rId21"/>
    <p:sldId id="355" r:id="rId22"/>
    <p:sldId id="356" r:id="rId23"/>
    <p:sldId id="357" r:id="rId24"/>
    <p:sldId id="358" r:id="rId25"/>
    <p:sldId id="359" r:id="rId26"/>
    <p:sldId id="368" r:id="rId27"/>
    <p:sldId id="360" r:id="rId28"/>
    <p:sldId id="361" r:id="rId29"/>
    <p:sldId id="362" r:id="rId30"/>
    <p:sldId id="337" r:id="rId31"/>
    <p:sldId id="297" r:id="rId32"/>
    <p:sldId id="336" r:id="rId33"/>
    <p:sldId id="363" r:id="rId34"/>
    <p:sldId id="364" r:id="rId35"/>
    <p:sldId id="365" r:id="rId36"/>
    <p:sldId id="366" r:id="rId37"/>
    <p:sldId id="36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463" autoAdjust="0"/>
  </p:normalViewPr>
  <p:slideViewPr>
    <p:cSldViewPr snapToGrid="0">
      <p:cViewPr>
        <p:scale>
          <a:sx n="67" d="100"/>
          <a:sy n="67" d="100"/>
        </p:scale>
        <p:origin x="10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13</a:t>
            </a:r>
            <a:r>
              <a:t>주차: </a:t>
            </a:r>
            <a:r>
              <a:rPr lang="en-US"/>
              <a:t>AVL</a:t>
            </a:r>
            <a:r>
              <a:rPr lang="ko-KR" altLang="en-US"/>
              <a:t> 트리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</a:t>
            </a:r>
            <a:r>
              <a:t> </a:t>
            </a:r>
            <a:r>
              <a:rPr lang="ko-KR" altLang="en-US"/>
              <a:t>특징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 자손 </a:t>
            </a:r>
            <a:r>
              <a:rPr lang="en-US" altLang="ko-KR"/>
              <a:t>&lt; </a:t>
            </a:r>
            <a:r>
              <a:rPr lang="ko-KR" altLang="en-US"/>
              <a:t>노드 </a:t>
            </a:r>
            <a:r>
              <a:rPr lang="en-US" altLang="ko-KR"/>
              <a:t>&lt; </a:t>
            </a:r>
            <a:r>
              <a:rPr lang="ko-KR" altLang="en-US"/>
              <a:t>오른쪽 자손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012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E929-714F-3B1F-4996-41031E69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4A56-DD9B-6B14-473F-9033EDBC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</a:t>
            </a:r>
            <a:r>
              <a:t> </a:t>
            </a:r>
            <a:r>
              <a:rPr lang="ko-KR" altLang="en-US"/>
              <a:t>검색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E51B-49D4-0200-6957-64C0A1E0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data ==</a:t>
            </a:r>
            <a:r>
              <a:rPr lang="ko-KR" altLang="en-US"/>
              <a:t> </a:t>
            </a:r>
            <a:r>
              <a:rPr lang="en-US" altLang="ko-KR"/>
              <a:t>k</a:t>
            </a:r>
            <a:r>
              <a:rPr lang="ko-KR" altLang="en-US"/>
              <a:t>인 노드 찾기</a:t>
            </a:r>
            <a:r>
              <a:rPr lang="en-US" altLang="ko-KR"/>
              <a:t>:</a:t>
            </a:r>
          </a:p>
          <a:p>
            <a:endParaRPr lang="en-US" altLang="ko-KR"/>
          </a:p>
          <a:p>
            <a:r>
              <a:rPr lang="en-US" altLang="ko-KR"/>
              <a:t>node-&gt;data &gt; k</a:t>
            </a:r>
            <a:r>
              <a:rPr lang="ko-KR" altLang="en-US"/>
              <a:t>면</a:t>
            </a:r>
            <a:r>
              <a:rPr lang="en-US" altLang="ko-KR"/>
              <a:t>, </a:t>
            </a:r>
            <a:r>
              <a:rPr lang="ko-KR" altLang="en-US"/>
              <a:t>왼쪽 자손에서</a:t>
            </a:r>
            <a:r>
              <a:rPr lang="en-US" altLang="ko-KR"/>
              <a:t> </a:t>
            </a:r>
            <a:r>
              <a:rPr lang="ko-KR" altLang="en-US"/>
              <a:t>찾는다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node-&gt;data == k</a:t>
            </a:r>
            <a:r>
              <a:rPr lang="ko-KR" altLang="en-US"/>
              <a:t>면</a:t>
            </a:r>
            <a:r>
              <a:rPr lang="en-US" altLang="ko-KR"/>
              <a:t>, </a:t>
            </a:r>
            <a:r>
              <a:rPr lang="ko-KR" altLang="en-US"/>
              <a:t>반환한다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node-&gt;data &lt; k</a:t>
            </a:r>
            <a:r>
              <a:rPr lang="ko-KR" altLang="en-US"/>
              <a:t>면</a:t>
            </a:r>
            <a:r>
              <a:rPr lang="en-US" altLang="ko-KR"/>
              <a:t>, </a:t>
            </a:r>
            <a:r>
              <a:rPr lang="ko-KR" altLang="en-US"/>
              <a:t>오른쪽 자손에서 찾는다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025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41884-4A8E-F966-0A64-A36DD2D4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4A6C-4CEA-EDEC-4931-CB6D8124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 부등식</a:t>
            </a:r>
            <a:r>
              <a:t> </a:t>
            </a:r>
            <a:r>
              <a:rPr lang="ko-KR" altLang="en-US"/>
              <a:t>검색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8C874-3336-5983-2DDC-40674D614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data </a:t>
            </a:r>
            <a:r>
              <a:rPr lang="ko-KR" altLang="en-US"/>
              <a:t>≥ </a:t>
            </a:r>
            <a:r>
              <a:rPr lang="en-US" altLang="ko-KR"/>
              <a:t>k</a:t>
            </a:r>
            <a:r>
              <a:rPr lang="ko-KR" altLang="en-US"/>
              <a:t>인 최소 노드 찾기</a:t>
            </a:r>
            <a:r>
              <a:rPr lang="en-US" altLang="ko-KR"/>
              <a:t>:</a:t>
            </a:r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node-&gt;data &gt; k</a:t>
            </a:r>
            <a:r>
              <a:rPr lang="ko-KR" altLang="en-US"/>
              <a:t>면</a:t>
            </a:r>
            <a:r>
              <a:rPr lang="en-US" altLang="ko-KR"/>
              <a:t>, </a:t>
            </a:r>
            <a:r>
              <a:rPr lang="ko-KR" altLang="en-US"/>
              <a:t>후보에 저장하고 왼쪽에서</a:t>
            </a:r>
            <a:r>
              <a:rPr lang="en-US" altLang="ko-KR"/>
              <a:t> </a:t>
            </a:r>
            <a:r>
              <a:rPr lang="ko-KR" altLang="en-US"/>
              <a:t>찾는다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node-&gt;data == k</a:t>
            </a:r>
            <a:r>
              <a:rPr lang="ko-KR" altLang="en-US"/>
              <a:t>면</a:t>
            </a:r>
            <a:r>
              <a:rPr lang="en-US" altLang="ko-KR"/>
              <a:t>, </a:t>
            </a:r>
            <a:r>
              <a:rPr lang="ko-KR" altLang="en-US"/>
              <a:t>반환한다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node-&gt;data &lt; k</a:t>
            </a:r>
            <a:r>
              <a:rPr lang="ko-KR" altLang="en-US"/>
              <a:t>면</a:t>
            </a:r>
            <a:r>
              <a:rPr lang="en-US" altLang="ko-KR"/>
              <a:t>, </a:t>
            </a:r>
            <a:r>
              <a:rPr lang="ko-KR" altLang="en-US"/>
              <a:t>오른쪽 자손에서 찾는다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628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F1EC-2903-4E85-7709-B904F93D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E458-51EB-AD80-6DFE-6497DEE1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025" y="262442"/>
            <a:ext cx="7337450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 범위</a:t>
            </a:r>
            <a:r>
              <a:t> </a:t>
            </a:r>
            <a:r>
              <a:rPr lang="ko-KR" altLang="en-US"/>
              <a:t>검색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EAC9-BCF8-D526-7795-0385EBD86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min </a:t>
            </a:r>
            <a:r>
              <a:rPr lang="ko-KR" altLang="en-US"/>
              <a:t>≤</a:t>
            </a:r>
            <a:r>
              <a:rPr lang="en-US" altLang="ko-KR"/>
              <a:t> data </a:t>
            </a:r>
            <a:r>
              <a:rPr lang="ko-KR" altLang="en-US"/>
              <a:t>≤ </a:t>
            </a:r>
            <a:r>
              <a:rPr lang="en-US" altLang="ko-KR"/>
              <a:t>max</a:t>
            </a:r>
            <a:r>
              <a:rPr lang="ko-KR" altLang="en-US"/>
              <a:t>인 모든 노드 찾기</a:t>
            </a:r>
            <a:r>
              <a:rPr lang="en-US" altLang="ko-KR"/>
              <a:t>:</a:t>
            </a:r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node-&gt;data &gt; min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왼쪽에서</a:t>
            </a:r>
            <a:r>
              <a:rPr lang="en-US" altLang="ko-KR"/>
              <a:t> </a:t>
            </a:r>
            <a:r>
              <a:rPr lang="ko-KR" altLang="en-US"/>
              <a:t>찾는다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node-&gt;data </a:t>
            </a:r>
            <a:r>
              <a:rPr lang="ko-KR" altLang="en-US"/>
              <a:t>가 범위 안이면</a:t>
            </a:r>
            <a:r>
              <a:rPr lang="en-US" altLang="ko-KR"/>
              <a:t>, </a:t>
            </a:r>
            <a:r>
              <a:rPr lang="ko-KR" altLang="en-US"/>
              <a:t>보고한다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node-&gt;data &lt; max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오른쪽 자손에서 찾는다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104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EBC6-EA60-5B5E-8CDA-499A7ABF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6CA7-3B31-E0A4-842E-10AE0FFB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026" y="262442"/>
            <a:ext cx="7337449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</a:t>
            </a:r>
            <a:r>
              <a:t> </a:t>
            </a:r>
            <a:r>
              <a:rPr lang="ko-KR" altLang="en-US"/>
              <a:t>범위 검색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D28C-2D45-6594-25BE-F31A73A7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min </a:t>
            </a:r>
            <a:r>
              <a:rPr lang="ko-KR" altLang="en-US"/>
              <a:t>≤</a:t>
            </a:r>
            <a:r>
              <a:rPr lang="en-US" altLang="ko-KR"/>
              <a:t> data </a:t>
            </a:r>
            <a:r>
              <a:rPr lang="ko-KR" altLang="en-US"/>
              <a:t>≤ </a:t>
            </a:r>
            <a:r>
              <a:rPr lang="en-US" altLang="ko-KR"/>
              <a:t>max</a:t>
            </a:r>
            <a:r>
              <a:rPr lang="ko-KR" altLang="en-US"/>
              <a:t>인 모든 노드 찾기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노드의 데이터보다 크면</a:t>
            </a:r>
            <a:r>
              <a:rPr lang="en-US" altLang="ko-KR"/>
              <a:t>, </a:t>
            </a:r>
            <a:r>
              <a:rPr lang="ko-KR" altLang="en-US"/>
              <a:t>후보가 된다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/>
              <a:t>  </a:t>
            </a:r>
            <a:r>
              <a:rPr lang="ko-KR" altLang="en-US"/>
              <a:t>오른쪽 자손에에서 계속 찾아내려간다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작으면</a:t>
            </a:r>
            <a:r>
              <a:rPr lang="en-US" altLang="ko-KR"/>
              <a:t>, </a:t>
            </a:r>
            <a:r>
              <a:rPr lang="ko-KR" altLang="en-US"/>
              <a:t>왼쪽 자손에서 찾아내려간다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8870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A0E2-F317-4C21-9E3B-6CCA07AF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08B7-20E0-F9EF-A9D9-5C21A9F1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025" y="262442"/>
            <a:ext cx="7337450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</a:t>
            </a:r>
            <a:r>
              <a:t> </a:t>
            </a:r>
            <a:r>
              <a:rPr lang="ko-KR" altLang="en-US"/>
              <a:t>시간 효율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6247A-68A3-2A13-6095-99894D570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최악의 경우</a:t>
            </a:r>
            <a:r>
              <a:rPr lang="en-US" altLang="ko-KR"/>
              <a:t>, </a:t>
            </a:r>
            <a:r>
              <a:rPr lang="ko-KR" altLang="en-US"/>
              <a:t>트리의 높이만큼 반복하기 때문에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균형이 잡힌 것이 중요하다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849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복습 </a:t>
            </a:r>
            <a:r>
              <a:rPr lang="en-US" altLang="ko-KR"/>
              <a:t>- </a:t>
            </a:r>
            <a:r>
              <a:rPr lang="ko-KR" altLang="en-US"/>
              <a:t>이진 탐색 트리의 취약점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탐색 트리에 정렬된 순서로 새로운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데이터를 추가하면</a:t>
            </a:r>
            <a:r>
              <a:rPr lang="en-US" altLang="ko-KR"/>
              <a:t>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탐색 </a:t>
            </a:r>
            <a:r>
              <a:t>트리</a:t>
            </a:r>
            <a:r>
              <a:rPr lang="ko-KR" altLang="en-US"/>
              <a:t>에서 균형 잡기</a:t>
            </a:r>
            <a:endParaRPr/>
          </a:p>
          <a:p>
            <a:endParaRPr/>
          </a:p>
          <a:p>
            <a:r>
              <a:rPr lang="ko-KR" altLang="en-US"/>
              <a:t>균형잡힌 </a:t>
            </a:r>
            <a:r>
              <a:t>이진 </a:t>
            </a:r>
            <a:r>
              <a:rPr lang="ko-KR" altLang="en-US"/>
              <a:t>탐색 </a:t>
            </a:r>
            <a:r>
              <a:t>트리</a:t>
            </a:r>
            <a:r>
              <a:rPr lang="ko-KR" altLang="en-US"/>
              <a:t>에 데이터 추가</a:t>
            </a:r>
            <a:r>
              <a:rPr lang="en-US" altLang="ko-KR"/>
              <a:t>/</a:t>
            </a:r>
            <a:r>
              <a:rPr lang="ko-KR" altLang="en-US"/>
              <a:t>삭제</a:t>
            </a:r>
            <a:endParaRPr/>
          </a:p>
          <a:p>
            <a:endParaRPr lang="en-US"/>
          </a:p>
          <a:p>
            <a:r>
              <a:rPr lang="ko-KR" altLang="en-US"/>
              <a:t>기말고사 기출문제 풀이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F0E0-8FC8-A864-D935-68E53D0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311C-1FFE-FB7B-2106-A84B1F19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458" y="262442"/>
            <a:ext cx="6274017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- 1 </a:t>
            </a:r>
            <a:r>
              <a:rPr lang="ko-KR" altLang="en-US"/>
              <a:t>노드</a:t>
            </a:r>
            <a:r>
              <a:rPr lang="en-US" altLang="ko-KR"/>
              <a:t> </a:t>
            </a:r>
            <a:r>
              <a:rPr lang="ko-KR" altLang="en-US"/>
              <a:t>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1FB95-F81D-4441-6721-C1771803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한개로 만들 수 있는 </a:t>
            </a:r>
            <a:r>
              <a:rPr lang="en-US" altLang="ko-KR"/>
              <a:t>bst</a:t>
            </a:r>
            <a:r>
              <a:rPr lang="ko-KR" altLang="en-US"/>
              <a:t>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295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8B39-E4C9-4D19-E318-A09DBAF2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1C70-AA35-0941-A301-EEFCB0DF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458" y="262442"/>
            <a:ext cx="6274017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- 2 </a:t>
            </a:r>
            <a:r>
              <a:rPr lang="ko-KR" altLang="en-US"/>
              <a:t>노드</a:t>
            </a:r>
            <a:r>
              <a:rPr lang="en-US" altLang="ko-KR"/>
              <a:t> </a:t>
            </a:r>
            <a:r>
              <a:rPr lang="ko-KR" altLang="en-US"/>
              <a:t>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40B84-A23E-03AA-0953-B54C7EACE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두개로 만들 수 있는 </a:t>
            </a:r>
            <a:r>
              <a:rPr lang="en-US" altLang="ko-KR"/>
              <a:t>bst</a:t>
            </a:r>
            <a:r>
              <a:rPr lang="ko-KR" altLang="en-US"/>
              <a:t>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15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3BBB-FE67-A71A-2A58-DDC4F551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6197C-BFD4-FD85-01BF-0B8B5557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458" y="262442"/>
            <a:ext cx="6274017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- 3 </a:t>
            </a:r>
            <a:r>
              <a:rPr lang="ko-KR" altLang="en-US"/>
              <a:t>노드</a:t>
            </a:r>
            <a:r>
              <a:rPr lang="en-US" altLang="ko-KR"/>
              <a:t> </a:t>
            </a:r>
            <a:r>
              <a:rPr lang="ko-KR" altLang="en-US"/>
              <a:t>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14B7-66C4-2E5F-03C6-11284F749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세개로 만들 수 있는 </a:t>
            </a:r>
            <a:r>
              <a:rPr lang="en-US" altLang="ko-KR"/>
              <a:t>bst</a:t>
            </a:r>
            <a:r>
              <a:rPr lang="ko-KR" altLang="en-US"/>
              <a:t>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8866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D79D-D688-6145-0EFC-26583BEA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C38A-904D-124B-0490-FDC2D4DA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629" y="262442"/>
            <a:ext cx="6395846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균형의 정의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6AAD-DD9B-758E-CB3C-60BE189AF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세개로 만들 수 있는 </a:t>
            </a:r>
            <a:r>
              <a:rPr lang="en-US" altLang="ko-KR"/>
              <a:t>bst</a:t>
            </a:r>
            <a:r>
              <a:rPr lang="ko-KR" altLang="en-US"/>
              <a:t>에서 균형이란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146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74FFE-9585-4072-D513-935CFDFB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29F7-95C1-A0FD-7A1F-9ED7D883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965" y="262442"/>
            <a:ext cx="6857510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00F90-799D-F23E-EADF-FEE6602F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균형이 깨진 </a:t>
            </a:r>
            <a:r>
              <a:rPr lang="en-US" altLang="ko-KR"/>
              <a:t>3 </a:t>
            </a:r>
            <a:r>
              <a:rPr lang="ko-KR" altLang="en-US"/>
              <a:t>노드 </a:t>
            </a:r>
            <a:r>
              <a:rPr lang="en-US" altLang="ko-KR"/>
              <a:t>bst</a:t>
            </a:r>
            <a:r>
              <a:rPr lang="ko-KR" altLang="en-US"/>
              <a:t>에서 균형을 잡는 방법은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681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D5B9-104C-6DDF-B17D-D30E9FAF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F139-1841-4D13-BAC1-F1678B54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629" y="262442"/>
            <a:ext cx="6395846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균형의 정의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6EF4-1FAA-CFF5-2D55-AD2D055FB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bst</a:t>
            </a:r>
            <a:r>
              <a:rPr lang="ko-KR" altLang="en-US"/>
              <a:t>의 노드에서 균형을 숫자로 표현하면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695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ACCA-1F44-0A02-7A40-6FC173DF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4251-5332-A897-E3DA-5734BE6E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965" y="262442"/>
            <a:ext cx="6857510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50776-47DC-B8F7-8874-1F0581D5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균형이 깨진 </a:t>
            </a:r>
            <a:r>
              <a:rPr lang="en-US" altLang="ko-KR"/>
              <a:t>3 </a:t>
            </a:r>
            <a:r>
              <a:rPr lang="ko-KR" altLang="en-US"/>
              <a:t>노드 </a:t>
            </a:r>
            <a:r>
              <a:rPr lang="en-US" altLang="ko-KR"/>
              <a:t>bst</a:t>
            </a:r>
            <a:r>
              <a:rPr lang="ko-KR" altLang="en-US"/>
              <a:t>에서 노드 세개 모두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자손이 있어도 균형을 회복할 수 있을까</a:t>
            </a:r>
            <a:r>
              <a:rPr lang="en-US" altLang="ko-K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342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F1CF-42AD-51E6-C303-D074F826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D581-1604-917F-BF0F-7852695E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13" y="262442"/>
            <a:ext cx="8325862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LL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61C9-1D9A-F294-655C-C52EB45AA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3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의 자손들에서 성립하는 부등식은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/</a:t>
            </a:r>
          </a:p>
          <a:p>
            <a:pPr marL="0" indent="0">
              <a:buNone/>
            </a:pPr>
            <a:r>
              <a:rPr lang="en-US" altLang="ko-KR"/>
              <a:t>   2</a:t>
            </a:r>
          </a:p>
          <a:p>
            <a:pPr marL="0" indent="0">
              <a:buNone/>
            </a:pPr>
            <a:r>
              <a:rPr lang="en-US" altLang="ko-KR"/>
              <a:t>  /</a:t>
            </a:r>
          </a:p>
          <a:p>
            <a:pPr marL="0" indent="0">
              <a:buNone/>
            </a:pPr>
            <a:r>
              <a:rPr lang="en-US" altLang="ko-K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8511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4AD9-B824-F1A8-E635-A1D37000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044D-4E88-5D68-9D55-5170797DC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13" y="262442"/>
            <a:ext cx="8325862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LL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66C9B-395B-39ED-13B2-D9594CE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3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에서 자손들을 보존하며</a:t>
            </a:r>
            <a:r>
              <a:rPr lang="en-US" altLang="ko-KR"/>
              <a:t> </a:t>
            </a:r>
            <a:r>
              <a:rPr lang="ko-KR" altLang="en-US"/>
              <a:t>균형을 회복하려면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/</a:t>
            </a:r>
          </a:p>
          <a:p>
            <a:pPr marL="0" indent="0">
              <a:buNone/>
            </a:pPr>
            <a:r>
              <a:rPr lang="en-US" altLang="ko-KR"/>
              <a:t>   2</a:t>
            </a:r>
          </a:p>
          <a:p>
            <a:pPr marL="0" indent="0">
              <a:buNone/>
            </a:pPr>
            <a:r>
              <a:rPr lang="en-US" altLang="ko-KR"/>
              <a:t>  /</a:t>
            </a:r>
          </a:p>
          <a:p>
            <a:pPr marL="0" indent="0">
              <a:buNone/>
            </a:pPr>
            <a:r>
              <a:rPr lang="en-US" altLang="ko-K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03956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D52B-4DC3-5CF0-208F-9004F38E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5C8-2CF0-71BE-652E-A68C7591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2" y="262442"/>
            <a:ext cx="8380363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LR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250B-370E-3C7B-3A50-4FD6C64DC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3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의 자손들에서 성립하는 부등식은</a:t>
            </a:r>
            <a:r>
              <a:rPr lang="en-US" altLang="ko-KR"/>
              <a:t>?</a:t>
            </a:r>
          </a:p>
          <a:p>
            <a:pPr marL="0" indent="0">
              <a:buNone/>
            </a:pPr>
            <a:r>
              <a:rPr lang="en-US" altLang="ko-KR"/>
              <a:t>      /</a:t>
            </a:r>
          </a:p>
          <a:p>
            <a:pPr marL="0" indent="0">
              <a:buNone/>
            </a:pPr>
            <a:r>
              <a:rPr lang="en-US" altLang="ko-KR"/>
              <a:t>   1</a:t>
            </a:r>
          </a:p>
          <a:p>
            <a:pPr marL="0" indent="0">
              <a:buNone/>
            </a:pPr>
            <a:r>
              <a:rPr lang="en-US" altLang="ko-KR"/>
              <a:t>    \</a:t>
            </a:r>
          </a:p>
          <a:p>
            <a:pPr marL="0" indent="0">
              <a:buNone/>
            </a:pPr>
            <a:r>
              <a:rPr lang="en-US" altLang="ko-KR"/>
              <a:t>     2</a:t>
            </a:r>
          </a:p>
        </p:txBody>
      </p:sp>
    </p:spTree>
    <p:extLst>
      <p:ext uri="{BB962C8B-B14F-4D97-AF65-F5344CB8AC3E}">
        <p14:creationId xmlns:p14="http://schemas.microsoft.com/office/powerpoint/2010/main" val="2388909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82BB-6500-88D5-4393-A82DB06B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A681-1C7C-5F51-56BB-2FBFD5AB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2" y="262442"/>
            <a:ext cx="8380363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LR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557F3-51C9-EFCF-D23D-9E3329ADE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3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에서 자손들을 보존하며</a:t>
            </a:r>
            <a:r>
              <a:rPr lang="en-US" altLang="ko-KR"/>
              <a:t> </a:t>
            </a:r>
            <a:r>
              <a:rPr lang="ko-KR" altLang="en-US"/>
              <a:t>균형을 회복하려면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/</a:t>
            </a:r>
          </a:p>
          <a:p>
            <a:pPr marL="0" indent="0">
              <a:buNone/>
            </a:pPr>
            <a:r>
              <a:rPr lang="en-US" altLang="ko-KR"/>
              <a:t>   1</a:t>
            </a:r>
          </a:p>
          <a:p>
            <a:pPr marL="0" indent="0">
              <a:buNone/>
            </a:pPr>
            <a:r>
              <a:rPr lang="en-US" altLang="ko-KR"/>
              <a:t>    \</a:t>
            </a:r>
          </a:p>
          <a:p>
            <a:pPr marL="0" indent="0">
              <a:buNone/>
            </a:pPr>
            <a:r>
              <a:rPr lang="en-US" altLang="ko-KR"/>
              <a:t>     2</a:t>
            </a:r>
          </a:p>
        </p:txBody>
      </p:sp>
    </p:spTree>
    <p:extLst>
      <p:ext uri="{BB962C8B-B14F-4D97-AF65-F5344CB8AC3E}">
        <p14:creationId xmlns:p14="http://schemas.microsoft.com/office/powerpoint/2010/main" val="3033790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DA8F-EF1B-0D5E-B7C5-02B51C01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580D-4C86-8CF1-3DE0-98E32CBE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10" y="262442"/>
            <a:ext cx="8434865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RR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580F-4D06-CBB4-694E-0D5CADB33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1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의 자손들에서 성립하는 부등식은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     \</a:t>
            </a:r>
          </a:p>
          <a:p>
            <a:pPr marL="0" indent="0">
              <a:buNone/>
            </a:pPr>
            <a:r>
              <a:rPr lang="en-US" altLang="ko-KR"/>
              <a:t>             2</a:t>
            </a:r>
          </a:p>
          <a:p>
            <a:pPr marL="0" indent="0">
              <a:buNone/>
            </a:pPr>
            <a:r>
              <a:rPr lang="en-US" altLang="ko-KR"/>
              <a:t>               \</a:t>
            </a:r>
          </a:p>
          <a:p>
            <a:pPr marL="0" indent="0">
              <a:buNone/>
            </a:pPr>
            <a:r>
              <a:rPr lang="en-US" altLang="ko-KR"/>
              <a:t>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600245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64FF-A288-F8CB-9084-A3E84079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501B-B84B-20C6-E3C3-49268F85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10" y="262442"/>
            <a:ext cx="8434865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RR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B179-58A5-F842-6CB7-289212C9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1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에서 자손들을 보존하며</a:t>
            </a:r>
            <a:r>
              <a:rPr lang="en-US" altLang="ko-KR"/>
              <a:t> </a:t>
            </a:r>
            <a:r>
              <a:rPr lang="ko-KR" altLang="en-US"/>
              <a:t>균형을 회복하려면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     \</a:t>
            </a:r>
          </a:p>
          <a:p>
            <a:pPr marL="0" indent="0">
              <a:buNone/>
            </a:pPr>
            <a:r>
              <a:rPr lang="en-US" altLang="ko-KR"/>
              <a:t>             2</a:t>
            </a:r>
          </a:p>
          <a:p>
            <a:pPr marL="0" indent="0">
              <a:buNone/>
            </a:pPr>
            <a:r>
              <a:rPr lang="en-US" altLang="ko-KR"/>
              <a:t>               \</a:t>
            </a:r>
          </a:p>
          <a:p>
            <a:pPr marL="0" indent="0">
              <a:buNone/>
            </a:pPr>
            <a:r>
              <a:rPr lang="en-US" altLang="ko-KR"/>
              <a:t>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4027446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C936-792B-3DA0-2D36-FA5FD359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BFC-F9ED-8CC7-F090-D0DB903B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1" y="262442"/>
            <a:ext cx="8380364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RL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88D4F-0723-3F56-0379-75B80F812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1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의 자손들에서 성립하는 부등식은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     \</a:t>
            </a:r>
          </a:p>
          <a:p>
            <a:pPr marL="0" indent="0">
              <a:buNone/>
            </a:pPr>
            <a:r>
              <a:rPr lang="en-US" altLang="ko-KR"/>
              <a:t>             3</a:t>
            </a:r>
          </a:p>
          <a:p>
            <a:pPr marL="0" indent="0">
              <a:buNone/>
            </a:pPr>
            <a:r>
              <a:rPr lang="en-US" altLang="ko-KR"/>
              <a:t>            / </a:t>
            </a:r>
          </a:p>
          <a:p>
            <a:pPr marL="0" indent="0">
              <a:buNone/>
            </a:pPr>
            <a:r>
              <a:rPr lang="en-US" altLang="ko-KR"/>
              <a:t>           2</a:t>
            </a:r>
          </a:p>
        </p:txBody>
      </p:sp>
    </p:spTree>
    <p:extLst>
      <p:ext uri="{BB962C8B-B14F-4D97-AF65-F5344CB8AC3E}">
        <p14:creationId xmlns:p14="http://schemas.microsoft.com/office/powerpoint/2010/main" val="2366661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3890-D7D0-53B9-5F36-0285D5E8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DD14-511E-A211-350A-479B2D41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11" y="262442"/>
            <a:ext cx="8380364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RL</a:t>
            </a:r>
            <a:r>
              <a:rPr lang="ko-KR" altLang="en-US"/>
              <a:t>에서 균형 회복하기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33ED-34FC-00AD-22AB-A7323A94B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    1</a:t>
            </a:r>
            <a:r>
              <a:rPr lang="ko-KR" altLang="en-US"/>
              <a:t>    </a:t>
            </a:r>
            <a:r>
              <a:rPr lang="en-US" altLang="ko-KR"/>
              <a:t>bst</a:t>
            </a:r>
            <a:r>
              <a:rPr lang="ko-KR" altLang="en-US"/>
              <a:t>에서 자손들을 보존하며</a:t>
            </a:r>
            <a:r>
              <a:rPr lang="en-US" altLang="ko-KR"/>
              <a:t> </a:t>
            </a:r>
            <a:r>
              <a:rPr lang="ko-KR" altLang="en-US"/>
              <a:t>균형을 회복하려면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      \</a:t>
            </a:r>
          </a:p>
          <a:p>
            <a:pPr marL="0" indent="0">
              <a:buNone/>
            </a:pPr>
            <a:r>
              <a:rPr lang="en-US" altLang="ko-KR"/>
              <a:t>             3</a:t>
            </a:r>
          </a:p>
          <a:p>
            <a:pPr marL="0" indent="0">
              <a:buNone/>
            </a:pPr>
            <a:r>
              <a:rPr lang="en-US" altLang="ko-KR"/>
              <a:t>            / </a:t>
            </a:r>
          </a:p>
          <a:p>
            <a:pPr marL="0" indent="0">
              <a:buNone/>
            </a:pPr>
            <a:r>
              <a:rPr lang="en-US" altLang="ko-KR"/>
              <a:t>           2</a:t>
            </a:r>
          </a:p>
        </p:txBody>
      </p:sp>
    </p:spTree>
    <p:extLst>
      <p:ext uri="{BB962C8B-B14F-4D97-AF65-F5344CB8AC3E}">
        <p14:creationId xmlns:p14="http://schemas.microsoft.com/office/powerpoint/2010/main" val="167666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4D31-2390-1509-D17E-37D95098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DEFE-DC5E-0461-8327-238C233AD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760" y="262442"/>
            <a:ext cx="5638715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AVL tree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9BEED-9C38-A86C-86C5-4936E5D98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노드가 추가</a:t>
            </a:r>
            <a:r>
              <a:rPr lang="en-US" altLang="ko-KR"/>
              <a:t>/</a:t>
            </a:r>
            <a:r>
              <a:rPr lang="ko-KR" altLang="en-US"/>
              <a:t>삭제될 때마다 균형을 최대한 회복한다</a:t>
            </a:r>
            <a:endParaRPr lang="en-US" altLang="ko-K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64C23D-2465-6FE5-7039-C8138250D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352" y="4629150"/>
            <a:ext cx="238125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사람, 인간의 얼굴, 의류, 주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EB5CC-3B93-8823-FA31-C94701748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2" y="3495675"/>
            <a:ext cx="1989722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91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42245-A9EB-B3DE-2630-3BCB64A6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E4DD-3BB1-50BC-2FE7-50A61771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99" y="262442"/>
            <a:ext cx="7319176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데이터 추가하기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CAE9-D80A-AB19-D52D-A4DD3B6E0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에 데이터를 추가했을 때</a:t>
            </a:r>
            <a:r>
              <a:rPr lang="en-US" altLang="ko-KR"/>
              <a:t>, </a:t>
            </a:r>
            <a:r>
              <a:rPr lang="ko-KR" altLang="en-US"/>
              <a:t>균형이 깨질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가능성이 있는 노드는</a:t>
            </a:r>
            <a:r>
              <a:rPr lang="en-US" altLang="ko-K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38591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BD594-9D13-72A2-F9A4-9C620C7FF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B6A5-95A2-1E80-FF32-DFC8A9B1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99" y="262442"/>
            <a:ext cx="7319176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데이터 추가하기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CF72-7A76-C886-3007-FAD51567E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에 데이터를 추가했을 때</a:t>
            </a:r>
            <a:r>
              <a:rPr lang="en-US" altLang="ko-KR"/>
              <a:t>, </a:t>
            </a:r>
            <a:r>
              <a:rPr lang="ko-KR" altLang="en-US"/>
              <a:t>균형을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  보장할 수 있는 방법은</a:t>
            </a:r>
            <a:r>
              <a:rPr lang="en-US" altLang="ko-K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3686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443C-6BCD-2CFB-98B7-E8C63B97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A65A-5F0C-8B2B-7633-81472B05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99" y="262442"/>
            <a:ext cx="7319176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59D6C-42B2-9BFA-6797-B81BD0678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에서 데이터를 삭제할 때</a:t>
            </a:r>
            <a:r>
              <a:rPr lang="en-US" altLang="ko-KR"/>
              <a:t>, </a:t>
            </a:r>
            <a:r>
              <a:rPr lang="ko-KR" altLang="en-US"/>
              <a:t>균형이 깨질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가능성이 있는 노드는</a:t>
            </a:r>
            <a:r>
              <a:rPr lang="en-US" altLang="ko-K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55125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8804-DBC5-89A4-FDF7-3AC6D24A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349C-DA6A-D7ED-F0BF-7E3323199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99" y="262442"/>
            <a:ext cx="7319176" cy="607653"/>
          </a:xfrm>
        </p:spPr>
        <p:txBody>
          <a:bodyPr>
            <a:spAutoFit/>
          </a:bodyPr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88A6-92EA-2A57-926D-98FEF21D3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균형잡힌 </a:t>
            </a:r>
            <a:r>
              <a:rPr lang="en-US" altLang="ko-KR"/>
              <a:t>bst</a:t>
            </a:r>
            <a:r>
              <a:rPr lang="ko-KR" altLang="en-US"/>
              <a:t>에서 데이터를 삭제할 때</a:t>
            </a:r>
            <a:r>
              <a:rPr lang="en-US" altLang="ko-KR"/>
              <a:t>, </a:t>
            </a:r>
            <a:r>
              <a:rPr lang="ko-KR" altLang="en-US"/>
              <a:t>균형을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  보장할 수 있는 방법은</a:t>
            </a:r>
            <a:r>
              <a:rPr lang="en-US" altLang="ko-K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0648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01FD-0E8B-A925-8268-3E6DDDDA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6DE8-2211-BBF2-864B-BDC6200D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9" y="262442"/>
            <a:ext cx="5963676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4665-CBDB-2CBD-0A6C-27504CB34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아래의 순서로 </a:t>
            </a:r>
            <a:r>
              <a:rPr lang="en-US" altLang="ko-KR"/>
              <a:t>data</a:t>
            </a:r>
            <a:r>
              <a:rPr lang="ko-KR" altLang="en-US"/>
              <a:t>가 입력된다고 할 때 만들어지는 </a:t>
            </a:r>
            <a:r>
              <a:rPr lang="en-US" altLang="ko-KR"/>
              <a:t>BST</a:t>
            </a:r>
            <a:r>
              <a:rPr lang="ko-KR" altLang="en-US"/>
              <a:t>를 그림으로 설명하시오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11 22 33 44 55 66 77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0096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4F00-F658-BF42-9EB1-04B8E5ED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C376-1BBF-6EE0-F4A7-935F59B50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3CCD-E441-70AA-8D03-3A15EDA2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/>
              <a:t>Binary search tree</a:t>
            </a:r>
            <a:r>
              <a:rPr lang="ko-KR" altLang="en-US"/>
              <a:t>에 </a:t>
            </a:r>
            <a:r>
              <a:rPr lang="en-US" altLang="ko-KR"/>
              <a:t>1</a:t>
            </a:r>
            <a:r>
              <a:rPr lang="ko-KR" altLang="en-US"/>
              <a:t>부터 </a:t>
            </a:r>
            <a:r>
              <a:rPr lang="en-US" altLang="ko-KR"/>
              <a:t>100</a:t>
            </a:r>
            <a:r>
              <a:rPr lang="ko-KR" altLang="en-US"/>
              <a:t>까지의 숫자가 저장되어 있다고 가정하자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binary search tree</a:t>
            </a:r>
            <a:r>
              <a:rPr lang="ko-KR" altLang="en-US"/>
              <a:t>에서 </a:t>
            </a:r>
            <a:r>
              <a:rPr lang="en-US" altLang="ko-KR"/>
              <a:t>55</a:t>
            </a:r>
            <a:r>
              <a:rPr lang="ko-KR" altLang="en-US"/>
              <a:t>를 탐색하는 경우 방문되는 </a:t>
            </a:r>
            <a:r>
              <a:rPr lang="en-US" altLang="ko-KR"/>
              <a:t>node</a:t>
            </a:r>
            <a:r>
              <a:rPr lang="ko-KR" altLang="en-US"/>
              <a:t>에 저장된 값을 적었을 때</a:t>
            </a:r>
            <a:r>
              <a:rPr lang="en-US" altLang="ko-KR"/>
              <a:t>, </a:t>
            </a:r>
            <a:r>
              <a:rPr lang="ko-KR" altLang="en-US"/>
              <a:t>다음 중 발생할 수 없는 </a:t>
            </a:r>
            <a:r>
              <a:rPr lang="en-US" altLang="ko-KR"/>
              <a:t>sequence</a:t>
            </a:r>
            <a:r>
              <a:rPr lang="ko-KR" altLang="en-US"/>
              <a:t>는 어느 것인지 고르고</a:t>
            </a:r>
            <a:r>
              <a:rPr lang="en-US" altLang="ko-KR"/>
              <a:t>, </a:t>
            </a:r>
            <a:r>
              <a:rPr lang="ko-KR" altLang="en-US"/>
              <a:t>그 이유를 적으시오</a:t>
            </a:r>
            <a:r>
              <a:rPr lang="en-US" altLang="ko-KR"/>
              <a:t>. </a:t>
            </a:r>
            <a:endParaRPr lang="ko-KR" altLang="en-US"/>
          </a:p>
          <a:p>
            <a:pPr marL="0" indent="0" fontAlgn="base">
              <a:buNone/>
            </a:pPr>
            <a:endParaRPr lang="en-US" altLang="ko-KR"/>
          </a:p>
          <a:p>
            <a:pPr marL="0" indent="0" fontAlgn="base">
              <a:buNone/>
            </a:pPr>
            <a:r>
              <a:rPr lang="ko-KR" altLang="en-US"/>
              <a:t>① </a:t>
            </a:r>
            <a:r>
              <a:rPr lang="en-US" altLang="ko-KR"/>
              <a:t>{10, 75, 64, 43, 60, 57, 55} </a:t>
            </a:r>
          </a:p>
          <a:p>
            <a:pPr marL="0" indent="0" fontAlgn="base">
              <a:buNone/>
            </a:pPr>
            <a:r>
              <a:rPr lang="ko-KR" altLang="en-US"/>
              <a:t>② </a:t>
            </a:r>
            <a:r>
              <a:rPr lang="en-US" altLang="ko-KR"/>
              <a:t>{90, 12, 68, 34, 62, 45, 55} </a:t>
            </a:r>
            <a:endParaRPr lang="ko-KR" altLang="en-US"/>
          </a:p>
          <a:p>
            <a:pPr marL="0" indent="0" fontAlgn="base">
              <a:buNone/>
            </a:pPr>
            <a:r>
              <a:rPr lang="ko-KR" altLang="en-US"/>
              <a:t>③ </a:t>
            </a:r>
            <a:r>
              <a:rPr lang="en-US" altLang="ko-KR"/>
              <a:t>{9, 85, 47, 68, 43, 57, 55} </a:t>
            </a:r>
          </a:p>
          <a:p>
            <a:pPr marL="0" indent="0" fontAlgn="base">
              <a:buNone/>
            </a:pPr>
            <a:r>
              <a:rPr lang="ko-KR" altLang="en-US"/>
              <a:t>④ </a:t>
            </a:r>
            <a:r>
              <a:rPr lang="en-US" altLang="ko-KR"/>
              <a:t>{79, 14, 72, 56, 16, 53, 55} </a:t>
            </a:r>
            <a:endParaRPr lang="ko-KR" altLang="en-US"/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032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4FB7-00BA-0AB0-36FF-F02674BC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D7A2-FE90-538F-FE5B-4AE60ABF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0F6D-DA61-1459-E87C-6CD4AFF97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어떤 </a:t>
            </a:r>
            <a:r>
              <a:rPr lang="en-US" altLang="ko-KR"/>
              <a:t>binary search tree</a:t>
            </a:r>
            <a:r>
              <a:rPr lang="ko-KR" altLang="en-US"/>
              <a:t>의 </a:t>
            </a:r>
            <a:r>
              <a:rPr lang="en-US" altLang="ko-KR"/>
              <a:t>preorder traversal sequence</a:t>
            </a:r>
            <a:r>
              <a:rPr lang="ko-KR" altLang="en-US"/>
              <a:t>가 </a:t>
            </a:r>
            <a:r>
              <a:rPr lang="en-US" altLang="ko-KR"/>
              <a:t>30, 20, 10, 15, 25, 23, 39, 35, 42</a:t>
            </a:r>
            <a:r>
              <a:rPr lang="ko-KR" altLang="en-US"/>
              <a:t>일 때</a:t>
            </a:r>
            <a:r>
              <a:rPr lang="en-US" altLang="ko-KR"/>
              <a:t>, </a:t>
            </a:r>
            <a:r>
              <a:rPr lang="ko-KR" altLang="en-US"/>
              <a:t>이 </a:t>
            </a:r>
            <a:r>
              <a:rPr lang="en-US" altLang="ko-KR"/>
              <a:t>binary search tree</a:t>
            </a:r>
            <a:r>
              <a:rPr lang="ko-KR" altLang="en-US"/>
              <a:t>를 그림으로 나타내시오</a:t>
            </a:r>
            <a:r>
              <a:rPr lang="en-US" altLang="ko-KR"/>
              <a:t>. Binary search tree</a:t>
            </a:r>
            <a:r>
              <a:rPr lang="ko-KR" altLang="en-US"/>
              <a:t>를 확정하는 과정을 보이시오</a:t>
            </a:r>
            <a:r>
              <a:rPr lang="en-US" altLang="ko-KR"/>
              <a:t>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312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7E7C-B2C5-04A1-58BE-74283E83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E169-5841-9494-3383-31F143CE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2C800-63D3-52C4-A839-3F65CDB15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어떤 </a:t>
            </a:r>
            <a:r>
              <a:rPr lang="en-US" altLang="ko-KR"/>
              <a:t>binary search tree</a:t>
            </a:r>
            <a:r>
              <a:rPr lang="ko-KR" altLang="en-US"/>
              <a:t>의 </a:t>
            </a:r>
            <a:r>
              <a:rPr lang="en-US" altLang="ko-KR"/>
              <a:t>preorder traversal sequence</a:t>
            </a:r>
            <a:r>
              <a:rPr lang="ko-KR" altLang="en-US"/>
              <a:t>가 </a:t>
            </a:r>
            <a:r>
              <a:rPr lang="en-US" altLang="ko-KR"/>
              <a:t>30, 20, 10, 15, 25, 23, 39, 35, 42</a:t>
            </a:r>
            <a:r>
              <a:rPr lang="ko-KR" altLang="en-US"/>
              <a:t>일 때</a:t>
            </a:r>
            <a:r>
              <a:rPr lang="en-US" altLang="ko-KR"/>
              <a:t>, </a:t>
            </a:r>
            <a:r>
              <a:rPr lang="ko-KR" altLang="en-US"/>
              <a:t>이 </a:t>
            </a:r>
            <a:r>
              <a:rPr lang="en-US" altLang="ko-KR"/>
              <a:t>binary search tree</a:t>
            </a:r>
            <a:r>
              <a:rPr lang="ko-KR" altLang="en-US"/>
              <a:t>를 그림으로 나타내시오</a:t>
            </a:r>
            <a:r>
              <a:rPr lang="en-US" altLang="ko-KR"/>
              <a:t>. Binary search tree</a:t>
            </a:r>
            <a:r>
              <a:rPr lang="ko-KR" altLang="en-US"/>
              <a:t>를 확정하는 과정을 보이시오</a:t>
            </a:r>
            <a:r>
              <a:rPr lang="en-US" altLang="ko-KR"/>
              <a:t>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6123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7F14-A34B-16A0-2688-43D78301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6811-5189-8D89-F26A-4EC8BF20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A372-535B-ED2D-8A80-4B19FB4F0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다음 </a:t>
            </a:r>
            <a:r>
              <a:rPr lang="en-US" altLang="ko-KR"/>
              <a:t>binary search tree</a:t>
            </a:r>
            <a:r>
              <a:rPr lang="ko-KR" altLang="en-US"/>
              <a:t>의 각 </a:t>
            </a:r>
            <a:r>
              <a:rPr lang="en-US" altLang="ko-KR"/>
              <a:t>node</a:t>
            </a:r>
            <a:r>
              <a:rPr lang="ko-KR" altLang="en-US"/>
              <a:t>의 </a:t>
            </a:r>
            <a:r>
              <a:rPr lang="en-US" altLang="ko-KR"/>
              <a:t>balance factor</a:t>
            </a:r>
            <a:r>
              <a:rPr lang="ko-KR" altLang="en-US"/>
              <a:t>를 적으시오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61135D-7C0D-ACD7-8BA6-9F701256B74E}"/>
              </a:ext>
            </a:extLst>
          </p:cNvPr>
          <p:cNvSpPr/>
          <p:nvPr/>
        </p:nvSpPr>
        <p:spPr>
          <a:xfrm>
            <a:off x="4394489" y="3130550"/>
            <a:ext cx="872836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max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F84DAE7-2F9E-8032-F369-9E9568EE37DE}"/>
              </a:ext>
            </a:extLst>
          </p:cNvPr>
          <p:cNvSpPr/>
          <p:nvPr/>
        </p:nvSpPr>
        <p:spPr>
          <a:xfrm>
            <a:off x="2686050" y="4063423"/>
            <a:ext cx="163454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deviation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D904072-F9C6-FB68-1F9B-17A742CD3101}"/>
              </a:ext>
            </a:extLst>
          </p:cNvPr>
          <p:cNvSpPr/>
          <p:nvPr/>
        </p:nvSpPr>
        <p:spPr>
          <a:xfrm>
            <a:off x="5077979" y="4063423"/>
            <a:ext cx="197052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probability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C9FA717-B7B1-8E13-0E6A-7D062ACF2C81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3503324" y="3556271"/>
            <a:ext cx="101898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34DDD5-F579-9B46-C54D-BCB95935D582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5139501" y="3556271"/>
            <a:ext cx="92373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903EEC07-8922-711B-5A9B-5709478DB016}"/>
              </a:ext>
            </a:extLst>
          </p:cNvPr>
          <p:cNvSpPr/>
          <p:nvPr/>
        </p:nvSpPr>
        <p:spPr>
          <a:xfrm>
            <a:off x="3696948" y="5044930"/>
            <a:ext cx="124729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mean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85D11EF-1823-6DE2-4772-02683A3BB74D}"/>
              </a:ext>
            </a:extLst>
          </p:cNvPr>
          <p:cNvSpPr/>
          <p:nvPr/>
        </p:nvSpPr>
        <p:spPr>
          <a:xfrm>
            <a:off x="7048500" y="5120193"/>
            <a:ext cx="158206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variance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AA58EA8-69F3-D27B-FA91-6ECB6AEA955F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flipV="1">
            <a:off x="4320597" y="4489144"/>
            <a:ext cx="1045958" cy="55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D01C4F6-197C-F350-9EB5-D3F9264A70AA}"/>
              </a:ext>
            </a:extLst>
          </p:cNvPr>
          <p:cNvCxnSpPr>
            <a:cxnSpLocks/>
            <a:stCxn id="10" idx="0"/>
            <a:endCxn id="6" idx="5"/>
          </p:cNvCxnSpPr>
          <p:nvPr/>
        </p:nvCxnSpPr>
        <p:spPr>
          <a:xfrm flipH="1" flipV="1">
            <a:off x="6759924" y="4489144"/>
            <a:ext cx="1079607" cy="631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557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09A6-FA25-13D9-5CA8-E2D3B814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8D77-3CBA-9749-A0EA-005E1B63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3090A-E5E3-6567-3425-198D36496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다음 </a:t>
            </a:r>
            <a:r>
              <a:rPr lang="en-US" altLang="ko-KR"/>
              <a:t>binary search tree</a:t>
            </a:r>
            <a:r>
              <a:rPr lang="ko-KR" altLang="en-US"/>
              <a:t>에 </a:t>
            </a:r>
            <a:r>
              <a:rPr lang="en-US" altLang="ko-KR"/>
              <a:t>"medium"</a:t>
            </a:r>
            <a:r>
              <a:rPr lang="ko-KR" altLang="en-US"/>
              <a:t>을 추가했을 때 만들어지는 </a:t>
            </a:r>
            <a:r>
              <a:rPr lang="en-US" altLang="ko-KR"/>
              <a:t>AVL tree</a:t>
            </a:r>
            <a:r>
              <a:rPr lang="ko-KR" altLang="en-US"/>
              <a:t>를 그리시오</a:t>
            </a:r>
            <a:r>
              <a:rPr lang="en-US" altLang="ko-KR"/>
              <a:t>. </a:t>
            </a:r>
            <a:r>
              <a:rPr lang="ko-KR" altLang="en-US"/>
              <a:t>어떤 </a:t>
            </a:r>
            <a:r>
              <a:rPr lang="en-US" altLang="ko-KR"/>
              <a:t>rotation</a:t>
            </a:r>
            <a:r>
              <a:rPr lang="ko-KR" altLang="en-US"/>
              <a:t>이 적용되었는지 적으시오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100E2D5-BEAE-9F5C-0E96-F8A89BE76A89}"/>
              </a:ext>
            </a:extLst>
          </p:cNvPr>
          <p:cNvSpPr/>
          <p:nvPr/>
        </p:nvSpPr>
        <p:spPr>
          <a:xfrm>
            <a:off x="4394489" y="3130550"/>
            <a:ext cx="872836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max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E83CBE3-6CB0-C111-2CFE-C9621203B00A}"/>
              </a:ext>
            </a:extLst>
          </p:cNvPr>
          <p:cNvSpPr/>
          <p:nvPr/>
        </p:nvSpPr>
        <p:spPr>
          <a:xfrm>
            <a:off x="2686050" y="4063423"/>
            <a:ext cx="163454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deviation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70F81E1-4B41-925E-D3DF-91A899AD3586}"/>
              </a:ext>
            </a:extLst>
          </p:cNvPr>
          <p:cNvSpPr/>
          <p:nvPr/>
        </p:nvSpPr>
        <p:spPr>
          <a:xfrm>
            <a:off x="5077979" y="4063423"/>
            <a:ext cx="197052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probability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8A4787-5A20-729F-DA9F-4057AF6787FF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3503324" y="3556271"/>
            <a:ext cx="101898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86AE4FE-466A-FE4B-9926-F05AECB2E0E1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5139501" y="3556271"/>
            <a:ext cx="92373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DCE291D7-CF74-A495-8AE2-7F07EAD004C3}"/>
              </a:ext>
            </a:extLst>
          </p:cNvPr>
          <p:cNvSpPr/>
          <p:nvPr/>
        </p:nvSpPr>
        <p:spPr>
          <a:xfrm>
            <a:off x="3696948" y="5044930"/>
            <a:ext cx="124729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mean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43F7239-1373-D9DC-FD6D-1B16066902AB}"/>
              </a:ext>
            </a:extLst>
          </p:cNvPr>
          <p:cNvSpPr/>
          <p:nvPr/>
        </p:nvSpPr>
        <p:spPr>
          <a:xfrm>
            <a:off x="7048500" y="5120193"/>
            <a:ext cx="158206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variance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95BA6F1-C716-C3C3-C3DE-2F7F64F531DE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flipV="1">
            <a:off x="4320597" y="4489144"/>
            <a:ext cx="1045958" cy="55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0A197F2-AA47-A061-1955-317B23668FD9}"/>
              </a:ext>
            </a:extLst>
          </p:cNvPr>
          <p:cNvCxnSpPr>
            <a:cxnSpLocks/>
            <a:stCxn id="10" idx="0"/>
            <a:endCxn id="6" idx="5"/>
          </p:cNvCxnSpPr>
          <p:nvPr/>
        </p:nvCxnSpPr>
        <p:spPr>
          <a:xfrm flipH="1" flipV="1">
            <a:off x="6759924" y="4489144"/>
            <a:ext cx="1079607" cy="631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12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F8B5-AA75-E169-AB30-E1D361E3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C907-FB57-BC9E-F9CF-17F651FF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CC5A-AE54-2343-59B2-73F180A5A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다음 </a:t>
            </a:r>
            <a:r>
              <a:rPr lang="en-US" altLang="ko-KR"/>
              <a:t>binary search tree</a:t>
            </a:r>
            <a:r>
              <a:rPr lang="ko-KR" altLang="en-US"/>
              <a:t>에 </a:t>
            </a:r>
            <a:r>
              <a:rPr lang="en-US" altLang="ko-KR"/>
              <a:t>"variance"</a:t>
            </a:r>
            <a:r>
              <a:rPr lang="ko-KR" altLang="en-US"/>
              <a:t>을 추가했을 때 만들어지는 </a:t>
            </a:r>
            <a:r>
              <a:rPr lang="en-US" altLang="ko-KR"/>
              <a:t>AVL tree</a:t>
            </a:r>
            <a:r>
              <a:rPr lang="ko-KR" altLang="en-US"/>
              <a:t>를 그리시오</a:t>
            </a:r>
            <a:r>
              <a:rPr lang="en-US" altLang="ko-KR"/>
              <a:t>. </a:t>
            </a:r>
            <a:r>
              <a:rPr lang="ko-KR" altLang="en-US"/>
              <a:t>어떤 </a:t>
            </a:r>
            <a:r>
              <a:rPr lang="en-US" altLang="ko-KR"/>
              <a:t>rotation</a:t>
            </a:r>
            <a:r>
              <a:rPr lang="ko-KR" altLang="en-US"/>
              <a:t>이 적용되었는지 적으시오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C6668E0-7A3E-0930-79ED-1196BD2E156D}"/>
              </a:ext>
            </a:extLst>
          </p:cNvPr>
          <p:cNvSpPr/>
          <p:nvPr/>
        </p:nvSpPr>
        <p:spPr>
          <a:xfrm>
            <a:off x="4394489" y="3130550"/>
            <a:ext cx="872836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max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389F62B-0800-9CD9-4309-75909D625F09}"/>
              </a:ext>
            </a:extLst>
          </p:cNvPr>
          <p:cNvSpPr/>
          <p:nvPr/>
        </p:nvSpPr>
        <p:spPr>
          <a:xfrm>
            <a:off x="2686050" y="4063423"/>
            <a:ext cx="163454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deviation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996851B-B542-D1CB-042F-1814366C8627}"/>
              </a:ext>
            </a:extLst>
          </p:cNvPr>
          <p:cNvSpPr/>
          <p:nvPr/>
        </p:nvSpPr>
        <p:spPr>
          <a:xfrm>
            <a:off x="5077979" y="4063423"/>
            <a:ext cx="197052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probability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7FB26C4-EC06-6B6D-F07F-133280DF16D5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3503324" y="3556271"/>
            <a:ext cx="101898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4AA5590-F3E8-E90D-0798-BC101B014F3A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5139501" y="3556271"/>
            <a:ext cx="92373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3FDAEC9-FFEB-0F63-C515-2B83074808CD}"/>
              </a:ext>
            </a:extLst>
          </p:cNvPr>
          <p:cNvSpPr/>
          <p:nvPr/>
        </p:nvSpPr>
        <p:spPr>
          <a:xfrm>
            <a:off x="3696948" y="5044930"/>
            <a:ext cx="124729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mean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77F068C-C4FE-E066-438E-A4512481A1A8}"/>
              </a:ext>
            </a:extLst>
          </p:cNvPr>
          <p:cNvSpPr/>
          <p:nvPr/>
        </p:nvSpPr>
        <p:spPr>
          <a:xfrm>
            <a:off x="7048500" y="5120193"/>
            <a:ext cx="158206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variance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8FA7454-0C5D-2943-641D-F623C6AB0B21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flipV="1">
            <a:off x="4320597" y="4489144"/>
            <a:ext cx="1045958" cy="55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8BB3D15-0EC0-8FF6-0FD0-67B05AB4FAB4}"/>
              </a:ext>
            </a:extLst>
          </p:cNvPr>
          <p:cNvCxnSpPr>
            <a:cxnSpLocks/>
            <a:stCxn id="10" idx="0"/>
            <a:endCxn id="6" idx="5"/>
          </p:cNvCxnSpPr>
          <p:nvPr/>
        </p:nvCxnSpPr>
        <p:spPr>
          <a:xfrm flipH="1" flipV="1">
            <a:off x="6759924" y="4489144"/>
            <a:ext cx="1079607" cy="631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363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52BA-16A4-B3BC-E647-181B777C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2799-8B1D-6411-6F62-15C20E34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587E6-09BD-1FEC-6D30-D5F40BA0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다음 </a:t>
            </a:r>
            <a:r>
              <a:rPr lang="en-US" altLang="ko-KR"/>
              <a:t>binary search tree</a:t>
            </a:r>
            <a:r>
              <a:rPr lang="ko-KR" altLang="en-US"/>
              <a:t>에 </a:t>
            </a:r>
            <a:r>
              <a:rPr lang="en-US" altLang="ko-KR"/>
              <a:t>"average", "correlation"</a:t>
            </a:r>
            <a:r>
              <a:rPr lang="ko-KR" altLang="en-US"/>
              <a:t>을 순서대로 추가했을 때 만들어지는 </a:t>
            </a:r>
            <a:r>
              <a:rPr lang="en-US" altLang="ko-KR"/>
              <a:t>AVL tree</a:t>
            </a:r>
            <a:r>
              <a:rPr lang="ko-KR" altLang="en-US"/>
              <a:t>를 그리시오</a:t>
            </a:r>
            <a:r>
              <a:rPr lang="en-US" altLang="ko-KR"/>
              <a:t>. </a:t>
            </a:r>
            <a:r>
              <a:rPr lang="ko-KR" altLang="en-US"/>
              <a:t>어떤 </a:t>
            </a:r>
            <a:r>
              <a:rPr lang="en-US" altLang="ko-KR"/>
              <a:t>rotation</a:t>
            </a:r>
            <a:r>
              <a:rPr lang="ko-KR" altLang="en-US"/>
              <a:t>이 적용되었는지 적으시오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E238C4E-3EAF-FCA9-6FB4-7E5D0FEB2617}"/>
              </a:ext>
            </a:extLst>
          </p:cNvPr>
          <p:cNvSpPr/>
          <p:nvPr/>
        </p:nvSpPr>
        <p:spPr>
          <a:xfrm>
            <a:off x="4394489" y="3130550"/>
            <a:ext cx="872836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max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358E82-056F-B70C-DB02-56C61900407C}"/>
              </a:ext>
            </a:extLst>
          </p:cNvPr>
          <p:cNvSpPr/>
          <p:nvPr/>
        </p:nvSpPr>
        <p:spPr>
          <a:xfrm>
            <a:off x="2686050" y="4063423"/>
            <a:ext cx="163454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deviation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A2C99C4-69CF-0821-F265-6807583BFB63}"/>
              </a:ext>
            </a:extLst>
          </p:cNvPr>
          <p:cNvSpPr/>
          <p:nvPr/>
        </p:nvSpPr>
        <p:spPr>
          <a:xfrm>
            <a:off x="5077979" y="4063423"/>
            <a:ext cx="197052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probability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195993-B5A9-912D-B6CC-2CDC1AD8C23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3503324" y="3556271"/>
            <a:ext cx="101898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83D66A2-8D65-B179-6CF7-5344F37A58A2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5139501" y="3556271"/>
            <a:ext cx="923739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6540E2DC-4047-60FD-4F04-7EA9ED8A9FB6}"/>
              </a:ext>
            </a:extLst>
          </p:cNvPr>
          <p:cNvSpPr/>
          <p:nvPr/>
        </p:nvSpPr>
        <p:spPr>
          <a:xfrm>
            <a:off x="3696948" y="5044930"/>
            <a:ext cx="1247297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mean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9624749-5AFD-9A32-C978-C98B7337A56F}"/>
              </a:ext>
            </a:extLst>
          </p:cNvPr>
          <p:cNvSpPr/>
          <p:nvPr/>
        </p:nvSpPr>
        <p:spPr>
          <a:xfrm>
            <a:off x="7048500" y="5120193"/>
            <a:ext cx="1582061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variance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2E0DF5F-9151-CC28-C9C9-F7BBC8B3E1C1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flipV="1">
            <a:off x="4320597" y="4489144"/>
            <a:ext cx="1045958" cy="55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7A06652-1F51-09F6-31F6-537DC2F88369}"/>
              </a:ext>
            </a:extLst>
          </p:cNvPr>
          <p:cNvCxnSpPr>
            <a:cxnSpLocks/>
            <a:stCxn id="10" idx="0"/>
            <a:endCxn id="6" idx="5"/>
          </p:cNvCxnSpPr>
          <p:nvPr/>
        </p:nvCxnSpPr>
        <p:spPr>
          <a:xfrm flipH="1" flipV="1">
            <a:off x="6759924" y="4489144"/>
            <a:ext cx="1079607" cy="631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922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15279</TotalTime>
  <Words>974</Words>
  <Application>Microsoft Office PowerPoint</Application>
  <PresentationFormat>화면 슬라이드 쇼(4:3)</PresentationFormat>
  <Paragraphs>167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맑은 고딕</vt:lpstr>
      <vt:lpstr>Aptos</vt:lpstr>
      <vt:lpstr>Aptos Display</vt:lpstr>
      <vt:lpstr>Arial</vt:lpstr>
      <vt:lpstr>Office 테마</vt:lpstr>
      <vt:lpstr>자료구조 (Data Structure) 13주차: AVL 트리</vt:lpstr>
      <vt:lpstr>복습 - 이진 탐색 트리 특징</vt:lpstr>
      <vt:lpstr>복습 - 이진 탐색 트리 검색</vt:lpstr>
      <vt:lpstr>복습 - 이진 탐색 트리 부등식 검색</vt:lpstr>
      <vt:lpstr>복습 - 이진 탐색 트리 범위 검색</vt:lpstr>
      <vt:lpstr>복습 - 이진 탐색 트리 범위 검색</vt:lpstr>
      <vt:lpstr>복습 - 이진 탐색 트리 시간 효율</vt:lpstr>
      <vt:lpstr>복습 - 이진 탐색 트리의 취약점</vt:lpstr>
      <vt:lpstr>이번 시간 목차</vt:lpstr>
      <vt:lpstr>균형잡힌 bst - 1 노드 트리</vt:lpstr>
      <vt:lpstr>균형잡힌 bst - 2 노드 트리</vt:lpstr>
      <vt:lpstr>균형잡힌 bst - 3 노드 트리</vt:lpstr>
      <vt:lpstr>균형잡힌 bst - 균형의 정의</vt:lpstr>
      <vt:lpstr>균형잡힌 bst - 균형 회복하기</vt:lpstr>
      <vt:lpstr>균형잡힌 bst - 균형의 정의</vt:lpstr>
      <vt:lpstr>균형잡힌 bst - 균형 회복하기</vt:lpstr>
      <vt:lpstr>균형잡힌 bst - LL에서 균형 회복하기</vt:lpstr>
      <vt:lpstr>균형잡힌 bst - LL에서 균형 회복하기</vt:lpstr>
      <vt:lpstr>균형잡힌 bst - LR에서 균형 회복하기</vt:lpstr>
      <vt:lpstr>균형잡힌 bst - LR에서 균형 회복하기</vt:lpstr>
      <vt:lpstr>균형잡힌 bst - RR에서 균형 회복하기</vt:lpstr>
      <vt:lpstr>균형잡힌 bst - RR에서 균형 회복하기</vt:lpstr>
      <vt:lpstr>균형잡힌 bst - RL에서 균형 회복하기</vt:lpstr>
      <vt:lpstr>균형잡힌 bst - RL에서 균형 회복하기</vt:lpstr>
      <vt:lpstr>균형잡힌 bst - AVL tree</vt:lpstr>
      <vt:lpstr>균형잡힌 bst - 데이터 추가하기</vt:lpstr>
      <vt:lpstr>균형잡힌 bst - 데이터 추가하기</vt:lpstr>
      <vt:lpstr>균형잡힌 bst - 데이터 삭제하기</vt:lpstr>
      <vt:lpstr>균형잡힌 bst - 데이터 삭제하기</vt:lpstr>
      <vt:lpstr>2021 기말고사 기출문제</vt:lpstr>
      <vt:lpstr>2018 기말고사 기출문제</vt:lpstr>
      <vt:lpstr>2018 기말고사 기출문제</vt:lpstr>
      <vt:lpstr>2018 기말고사 기출문제</vt:lpstr>
      <vt:lpstr>2018 기말고사 기출문제</vt:lpstr>
      <vt:lpstr>2018 기말고사 기출문제</vt:lpstr>
      <vt:lpstr>2018 기말고사 기출문제</vt:lpstr>
      <vt:lpstr>2018 기말고사 기출문제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42</cp:revision>
  <dcterms:created xsi:type="dcterms:W3CDTF">2025-07-28T15:04:23Z</dcterms:created>
  <dcterms:modified xsi:type="dcterms:W3CDTF">2025-12-08T14:37:32Z</dcterms:modified>
</cp:coreProperties>
</file>