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89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1주차: 배열 리스트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26"/>
    </mc:Choice>
    <mc:Fallback>
      <p:transition spd="slow" advTm="6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169" y="262442"/>
            <a:ext cx="3631306" cy="607653"/>
          </a:xfrm>
        </p:spPr>
        <p:txBody>
          <a:bodyPr>
            <a:spAutoFit/>
          </a:bodyPr>
          <a:lstStyle/>
          <a:p>
            <a:r>
              <a:t>자료구조란?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프로그램에 데이터를 저장하는 효율적 방법</a:t>
            </a:r>
          </a:p>
          <a:p>
            <a:endParaRPr/>
          </a:p>
          <a:p>
            <a:r>
              <a:t>초기 프로그래머들은 자료구조를 직접 개발</a:t>
            </a:r>
          </a:p>
          <a:p>
            <a:endParaRPr/>
          </a:p>
          <a:p>
            <a:r>
              <a:t>보편적 자료구조들을 모아서 교과서가 편찬됨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강의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교재: Fundamentals of Data Structures in C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            by Horowitz, Sahni &amp; Anderson-Freed</a:t>
            </a:r>
          </a:p>
          <a:p>
            <a:endParaRPr/>
          </a:p>
          <a:p>
            <a:r>
              <a:t>참고웹: https://moca.ajou.ac.kr/</a:t>
            </a:r>
            <a:r>
              <a:rPr lang="en-US"/>
              <a:t> </a:t>
            </a:r>
            <a:r>
              <a:t>자료구조</a:t>
            </a:r>
            <a:r>
              <a:rPr lang="en-US"/>
              <a:t> </a:t>
            </a:r>
            <a:r>
              <a:rPr lang="ko-KR" altLang="en-US"/>
              <a:t>모듈</a:t>
            </a:r>
            <a:br/>
            <a:endParaRPr/>
          </a:p>
          <a:p>
            <a:pPr>
              <a:lnSpc>
                <a:spcPct val="150000"/>
              </a:lnSpc>
            </a:pPr>
            <a:r>
              <a:t>방식: 매주 하나의 주제를 다룬다</a:t>
            </a:r>
            <a:br/>
            <a:r>
              <a:t>            화요일 - 동작 방식 개요</a:t>
            </a:r>
            <a:br/>
            <a:r>
              <a:t>            금요일 - C 코드로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강의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9월: 일차원 자료구조</a:t>
            </a:r>
          </a:p>
          <a:p>
            <a:endParaRPr/>
          </a:p>
          <a:p>
            <a:r>
              <a:t>10월: 계층적 자료구조</a:t>
            </a:r>
          </a:p>
          <a:p>
            <a:endParaRPr/>
          </a:p>
          <a:p>
            <a:r>
              <a:t>11월: 자유도가 높은 자료구조</a:t>
            </a:r>
          </a:p>
          <a:p>
            <a:endParaRPr/>
          </a:p>
          <a:p>
            <a:r>
              <a:t>12월: 탐색에 효율적인 자료구조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999" y="262442"/>
            <a:ext cx="3828476" cy="607653"/>
          </a:xfrm>
        </p:spPr>
        <p:txBody>
          <a:bodyPr>
            <a:spAutoFit/>
          </a:bodyPr>
          <a:lstStyle/>
          <a:p>
            <a:r>
              <a:t>9월 강의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1주차: 모든 데이터에 접근 가능 (배열 리스트)</a:t>
            </a:r>
          </a:p>
          <a:p>
            <a:endParaRPr/>
          </a:p>
          <a:p>
            <a:r>
              <a:t>2주차: 모든 데이터에 접근 가능 (링크드 리스트)</a:t>
            </a:r>
          </a:p>
          <a:p>
            <a:endParaRPr/>
          </a:p>
          <a:p>
            <a:r>
              <a:t>3주차: 마지막 데이터만 접근 가능 (스택)</a:t>
            </a:r>
          </a:p>
          <a:p>
            <a:endParaRPr/>
          </a:p>
          <a:p>
            <a:r>
              <a:t>4주차: 첫 데이터만 접근 가능 (큐)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931" y="262442"/>
            <a:ext cx="4078544" cy="607653"/>
          </a:xfrm>
        </p:spPr>
        <p:txBody>
          <a:bodyPr>
            <a:spAutoFit/>
          </a:bodyPr>
          <a:lstStyle/>
          <a:p>
            <a:r>
              <a:t>10월 강의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5주차: 뿌리에서 뻗어나가듯 데이터 연결 (트리)</a:t>
            </a:r>
          </a:p>
          <a:p>
            <a:endParaRPr/>
          </a:p>
          <a:p>
            <a:r>
              <a:t>개천절, 추석 연휴 (10/3, 7)</a:t>
            </a:r>
          </a:p>
          <a:p>
            <a:endParaRPr/>
          </a:p>
          <a:p>
            <a:r>
              <a:t>6주차: 뿌리에서 멀수록 값이 작음/큼 (힙)</a:t>
            </a:r>
          </a:p>
          <a:p>
            <a:endParaRPr/>
          </a:p>
          <a:p>
            <a:r>
              <a:t>중간고사</a:t>
            </a:r>
          </a:p>
          <a:p>
            <a:endParaRPr/>
          </a:p>
          <a:p>
            <a:r>
              <a:t>7주차: </a:t>
            </a:r>
            <a:r>
              <a:rPr lang="ko-KR" altLang="en-US"/>
              <a:t>저장된</a:t>
            </a:r>
            <a:r>
              <a:t> 데이터를 정렬하기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931" y="262442"/>
            <a:ext cx="4078544" cy="607653"/>
          </a:xfrm>
        </p:spPr>
        <p:txBody>
          <a:bodyPr>
            <a:spAutoFit/>
          </a:bodyPr>
          <a:lstStyle/>
          <a:p>
            <a:r>
              <a:t>11월 강의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8주차: 데이터 간 연결에 제약 없음 (그래프)</a:t>
            </a:r>
          </a:p>
          <a:p>
            <a:endParaRPr/>
          </a:p>
          <a:p>
            <a:r>
              <a:t>9주차: 그래프의 최단 경로</a:t>
            </a:r>
          </a:p>
          <a:p>
            <a:endParaRPr/>
          </a:p>
          <a:p>
            <a:r>
              <a:t>10주차: 그래프를 트리로 변환</a:t>
            </a:r>
          </a:p>
          <a:p>
            <a:endParaRPr/>
          </a:p>
          <a:p>
            <a:r>
              <a:t>11주차: 배열 접근 방법 확장 (해시 테이블)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3931" y="262442"/>
            <a:ext cx="4078544" cy="607653"/>
          </a:xfrm>
        </p:spPr>
        <p:txBody>
          <a:bodyPr>
            <a:spAutoFit/>
          </a:bodyPr>
          <a:lstStyle/>
          <a:p>
            <a:r>
              <a:t>12월 강의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12주차: 왼쪽은 작고 오른쪽은 큰 이진탐색트리</a:t>
            </a:r>
          </a:p>
          <a:p>
            <a:endParaRPr/>
          </a:p>
          <a:p>
            <a:r>
              <a:t>13주차: 항상 균형을 이루는 </a:t>
            </a:r>
            <a:r>
              <a:rPr lang="ko-KR" altLang="en-US"/>
              <a:t>레드블랙트리</a:t>
            </a:r>
            <a:endParaRPr/>
          </a:p>
          <a:p>
            <a:endParaRPr/>
          </a:p>
          <a:p>
            <a:r>
              <a:t>기말고사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성적 평가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출석: 15% (미니 퀴즈 제출 여부)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                        미니 퀴즈 점수는 동점자 성적에 반영</a:t>
            </a:r>
          </a:p>
          <a:p>
            <a:endParaRPr/>
          </a:p>
          <a:p>
            <a:r>
              <a:t>과제: 15% (C 언어 프로그래밍)</a:t>
            </a:r>
          </a:p>
          <a:p>
            <a:endParaRPr/>
          </a:p>
          <a:p>
            <a:r>
              <a:t>중간/기말고사: 35% (PPT에서 출제)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97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정의: 데이터들에 1번부터 순서를 붙여서 저장</a:t>
            </a:r>
            <a:r>
              <a:rPr lang="ko-KR" altLang="en-US"/>
              <a:t>한다</a:t>
            </a:r>
            <a:endParaRPr/>
          </a:p>
          <a:p>
            <a:endParaRPr/>
          </a:p>
          <a:p>
            <a:r>
              <a:t>기능: 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 - INSERT(k, x): k번째 위치에 원소 x 추가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   </a:t>
            </a:r>
            <a:r>
              <a:t> - DELETE(k): k번째 원소 삭제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   </a:t>
            </a:r>
            <a:r>
              <a:t> - RETRIEVE(k): k번째 원소 반환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배열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endParaRPr/>
          </a:p>
          <a:p>
            <a:r>
              <a:t>저장된 데이터 수와 최대 저장량을 기록해둔다</a:t>
            </a:r>
          </a:p>
          <a:p>
            <a:endParaRPr/>
          </a:p>
          <a:p>
            <a:r>
              <a:t>data: 배열</a:t>
            </a:r>
          </a:p>
          <a:p>
            <a:endParaRPr/>
          </a:p>
          <a:p>
            <a:r>
              <a:t>size: 저장된 데이터 수</a:t>
            </a:r>
          </a:p>
          <a:p>
            <a:endParaRPr/>
          </a:p>
          <a:p>
            <a:r>
              <a:t>capacity: 최대 저장량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배열 인덱스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편의상 배열 인덱스는 1부터 시작한다</a:t>
            </a:r>
          </a:p>
          <a:p>
            <a:endParaRPr/>
          </a:p>
          <a:p>
            <a:r>
              <a:t>따라서 배열 크기는 capacity + 1 로 만든다</a:t>
            </a:r>
          </a:p>
          <a:p>
            <a:endParaRPr/>
          </a:p>
          <a:p>
            <a:r>
              <a:t>인덱스 0은 사용하지 않고 비워둔다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766" y="260839"/>
            <a:ext cx="4678709" cy="610859"/>
          </a:xfrm>
        </p:spPr>
        <p:txBody>
          <a:bodyPr>
            <a:spAutoFit/>
          </a:bodyPr>
          <a:lstStyle/>
          <a:p>
            <a:r>
              <a:t>INITIALIZE(A, 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cap개 데이터를 저장가능하게 A를 초기화한다</a:t>
            </a:r>
          </a:p>
          <a:p>
            <a:endParaRPr/>
          </a:p>
          <a:p>
            <a:r>
              <a:t>조건: cap &gt; 0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A.data ← 새로운 배열(크기 : cap + 1)</a:t>
            </a:r>
            <a:br/>
            <a:r>
              <a:t>            A.size ← 0</a:t>
            </a:r>
            <a:br/>
            <a:r>
              <a:t>            A.capacity ← cap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680" y="260839"/>
            <a:ext cx="4387795" cy="610859"/>
          </a:xfrm>
        </p:spPr>
        <p:txBody>
          <a:bodyPr>
            <a:spAutoFit/>
          </a:bodyPr>
          <a:lstStyle/>
          <a:p>
            <a:r>
              <a:t>INSERT(A, k, 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A의 k번째 위치(1 ≤ k ≤ A.size + 1)에 val을 추가한다</a:t>
            </a:r>
          </a:p>
          <a:p>
            <a:endParaRPr/>
          </a:p>
          <a:p>
            <a:r>
              <a:t>조건: A.size &lt; A.capacity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A.data[A.size부터 k까지]를 </a:t>
            </a:r>
            <a:r>
              <a:rPr lang="ko-KR" altLang="en-US"/>
              <a:t>오른쪽으</a:t>
            </a:r>
            <a:r>
              <a:t>로 이동</a:t>
            </a:r>
            <a:br/>
            <a:r>
              <a:t>            A.data[k] ← </a:t>
            </a:r>
            <a:r>
              <a:rPr lang="en-US"/>
              <a:t>val</a:t>
            </a:r>
            <a:br/>
            <a:r>
              <a:t>            A.size ← A.size + 1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818" y="262442"/>
            <a:ext cx="6875657" cy="607653"/>
          </a:xfrm>
        </p:spPr>
        <p:txBody>
          <a:bodyPr>
            <a:spAutoFit/>
          </a:bodyPr>
          <a:lstStyle/>
          <a:p>
            <a:r>
              <a:t>INSERT(A, k, val)의 시간 효율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A.size + 1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 + 1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1+…+(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9429" y="260839"/>
            <a:ext cx="3663046" cy="610859"/>
          </a:xfrm>
        </p:spPr>
        <p:txBody>
          <a:bodyPr>
            <a:spAutoFit/>
          </a:bodyPr>
          <a:lstStyle/>
          <a:p>
            <a:r>
              <a:t>DELETE(A,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A의 k번째 위치(1 ≤ k ≤ A.size)의 원소를 삭제한다</a:t>
            </a:r>
          </a:p>
          <a:p>
            <a:endParaRPr/>
          </a:p>
          <a:p>
            <a:r>
              <a:t>조건: A.size &gt; 0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A.data[k+1부터 A.size까지]를 </a:t>
            </a:r>
            <a:r>
              <a:rPr lang="ko-KR" altLang="en-US"/>
              <a:t>왼쪽</a:t>
            </a:r>
            <a:r>
              <a:t>으로 이동</a:t>
            </a:r>
            <a:br/>
            <a:r>
              <a:t>            A.size ← A.size - 1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568" y="262442"/>
            <a:ext cx="6150907" cy="607653"/>
          </a:xfrm>
        </p:spPr>
        <p:txBody>
          <a:bodyPr>
            <a:spAutoFit/>
          </a:bodyPr>
          <a:lstStyle/>
          <a:p>
            <a:r>
              <a:t>DELETE(A, k)의 시간 효율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</a:p>
              <a:p>
                <a:pPr marL="0" indent="0">
                  <a:buNone/>
                </a:pPr>
                <a:r>
                  <a:rPr lang="ko-KR" altLang="en-US"/>
                  <a:t>				배열에 대입 </a:t>
                </a:r>
                <a:r>
                  <a:rPr lang="en-US" altLang="ko-KR"/>
                  <a:t>A.size - 1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br>
                  <a:rPr lang="en-US" altLang="ko-KR"/>
                </a:br>
                <a:r>
                  <a:rPr lang="en-US" altLang="ko-KR"/>
                  <a:t>	</a:t>
                </a:r>
                <a:r>
                  <a:rPr lang="ko-KR" altLang="en-US"/>
                  <a:t>			배열에 대입 </a:t>
                </a:r>
                <a:r>
                  <a:rPr lang="en-US" altLang="ko-KR"/>
                  <a:t>0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ko-KR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 lang="ko-KR" altLang="en-US"/>
              </a:p>
              <a:p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80" y="260839"/>
            <a:ext cx="4086495" cy="610859"/>
          </a:xfrm>
        </p:spPr>
        <p:txBody>
          <a:bodyPr>
            <a:spAutoFit/>
          </a:bodyPr>
          <a:lstStyle/>
          <a:p>
            <a:r>
              <a:t>RETRIEVE(A,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A의 k번째 위치(1 ≤ k ≤ A.size)의 원소를 반환한다</a:t>
            </a:r>
          </a:p>
          <a:p>
            <a:endParaRPr/>
          </a:p>
          <a:p>
            <a:r>
              <a:t>조건: A.size &gt; 0</a:t>
            </a:r>
          </a:p>
          <a:p>
            <a:endParaRPr/>
          </a:p>
          <a:p>
            <a:r>
              <a:t>동작: A.data[k]를 반환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8119" y="262442"/>
            <a:ext cx="6574356" cy="607653"/>
          </a:xfrm>
        </p:spPr>
        <p:txBody>
          <a:bodyPr>
            <a:spAutoFit/>
          </a:bodyPr>
          <a:lstStyle/>
          <a:p>
            <a:r>
              <a:t>RETRIEVE(A, 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 주소 계산, 저장된 값 읽기 (상수 시간)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가변 크기 배열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INSERT를 할 때</a:t>
            </a:r>
            <a:r>
              <a:rPr lang="en-US"/>
              <a:t>:</a:t>
            </a:r>
            <a:r>
              <a:t> </a:t>
            </a:r>
            <a:br>
              <a:rPr lang="en-US"/>
            </a:br>
            <a:br>
              <a:rPr lang="en-US"/>
            </a:br>
            <a:r>
              <a:t>배열이 가득 </a:t>
            </a:r>
            <a:r>
              <a:rPr lang="ko-KR" altLang="en-US"/>
              <a:t>찼으면</a:t>
            </a:r>
            <a:r>
              <a:rPr lang="en-US" altLang="ko-KR"/>
              <a:t>,</a:t>
            </a:r>
            <a:r>
              <a:rPr lang="ko-KR" altLang="en-US"/>
              <a:t> 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		</a:t>
            </a:r>
            <a:r>
              <a:t>더 큰 배열을 새로 만</a:t>
            </a:r>
            <a:r>
              <a:rPr lang="ko-KR" altLang="en-US"/>
              <a:t>들고</a:t>
            </a:r>
            <a:r>
              <a:rPr lang="en-US" altLang="ko-KR"/>
              <a:t>,</a:t>
            </a:r>
            <a:br>
              <a:rPr lang="en-US" altLang="ko-KR"/>
            </a:br>
            <a:br>
              <a:rPr lang="en-US" altLang="ko-KR"/>
            </a:br>
            <a:r>
              <a:rPr lang="en-US"/>
              <a:t>		</a:t>
            </a:r>
            <a:r>
              <a:t>새 배열에 기존 데이터를 복사한다</a:t>
            </a:r>
            <a:br>
              <a:rPr lang="en-US"/>
            </a:br>
            <a:br>
              <a:rPr lang="en-US"/>
            </a:br>
            <a:r>
              <a:t>원래 INSERT 작업을 한다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8938" y="260839"/>
            <a:ext cx="3113537" cy="610859"/>
          </a:xfrm>
        </p:spPr>
        <p:txBody>
          <a:bodyPr>
            <a:spAutoFit/>
          </a:bodyPr>
          <a:lstStyle/>
          <a:p>
            <a:r>
              <a:t>RESIZE(A)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A의 capacity를 두배 늘리고, 배열을 새로 만든다</a:t>
            </a:r>
          </a:p>
          <a:p>
            <a:endParaRPr/>
          </a:p>
          <a:p>
            <a:r>
              <a:rPr lang="ko-KR" altLang="en-US"/>
              <a:t>기존</a:t>
            </a:r>
            <a:r>
              <a:t> 데이터는 새로운 배열에 모두 복사한다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A.capacity ← A.capacity * 2</a:t>
            </a:r>
            <a:br/>
            <a:r>
              <a:t>            tmp ← 새로운 배열(크기 : A.capacity + 1)</a:t>
            </a:r>
            <a:br/>
            <a:r>
              <a:t>            A.data에서 tmp로 A.size개 데이터 복사</a:t>
            </a:r>
            <a:br/>
            <a:r>
              <a:t>            A.data ← tmp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801" y="260839"/>
            <a:ext cx="5070674" cy="610859"/>
          </a:xfrm>
        </p:spPr>
        <p:txBody>
          <a:bodyPr>
            <a:spAutoFit/>
          </a:bodyPr>
          <a:lstStyle/>
          <a:p>
            <a:r>
              <a:t>INSERT_VAR(A, k, 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A의 k번째 위치(1 ≤ k ≤ A.size + 1)에 x를 추가한다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만약 A.size == A.capacity면 RESIZE(A)</a:t>
            </a:r>
            <a:br/>
            <a:r>
              <a:t>            INSERT(A, k, x)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49" y="262442"/>
            <a:ext cx="8968024" cy="607653"/>
          </a:xfrm>
        </p:spPr>
        <p:txBody>
          <a:bodyPr>
            <a:spAutoFit/>
          </a:bodyPr>
          <a:lstStyle/>
          <a:p>
            <a:r>
              <a:t>n</a:t>
            </a:r>
            <a:r>
              <a:rPr lang="en-US"/>
              <a:t>+1</a:t>
            </a:r>
            <a:r>
              <a:rPr lang="ko-KR" altLang="en-US"/>
              <a:t>번 </a:t>
            </a:r>
            <a:r>
              <a:rPr lang="en-US" altLang="ko-KR"/>
              <a:t>INSERT </a:t>
            </a:r>
            <a:r>
              <a:rPr lang="ko-KR" altLang="en-US"/>
              <a:t>할 동안</a:t>
            </a:r>
            <a:r>
              <a:t> RESIZE에 쓴 시간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ko-KR" altLang="en-US"/>
                  <a:t>가정</a:t>
                </a:r>
                <a:r>
                  <a:rPr lang="en-US" altLang="ko-KR"/>
                  <a:t>: </a:t>
                </a:r>
                <a:r>
                  <a:rPr lang="ko-KR" altLang="en-US"/>
                  <a:t>배열 용량이 가득 차면 </a:t>
                </a:r>
                <a:r>
                  <a:rPr lang="en-US" altLang="ko-KR"/>
                  <a:t>r</a:t>
                </a:r>
                <a:r>
                  <a:rPr lang="ko-KR" altLang="en-US"/>
                  <a:t>배로 늘린다 </a:t>
                </a:r>
                <a:r>
                  <a:rPr lang="en-US" altLang="ko-KR"/>
                  <a:t>(r &gt; 1)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/>
                  <a:t>               </a:t>
                </a:r>
                <a:r>
                  <a:rPr lang="en-US" altLang="ko-KR"/>
                  <a:t>size==n</a:t>
                </a:r>
                <a:r>
                  <a:rPr lang="ko-KR" altLang="en-US"/>
                  <a:t>일 때 추가시 </a:t>
                </a:r>
                <a:r>
                  <a:rPr lang="en-US" altLang="ko-KR"/>
                  <a:t>RESIZE</a:t>
                </a:r>
                <a:r>
                  <a:rPr lang="ko-KR" altLang="en-US"/>
                  <a:t>가 실행되었다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/>
                  <a:t>               </a:t>
                </a:r>
                <a:r>
                  <a:rPr lang="en-US" altLang="ko-KR"/>
                  <a:t>n</a:t>
                </a:r>
                <a:r>
                  <a:rPr lang="ko-KR" altLang="en-US"/>
                  <a:t>은 아주 크다</a:t>
                </a:r>
              </a:p>
              <a:p>
                <a:endParaRPr lang="ko-KR" altLang="en-US"/>
              </a:p>
              <a:p>
                <a:r>
                  <a:rPr lang="ko-KR" altLang="en-US"/>
                  <a:t>복사된 횟수</a:t>
                </a:r>
                <a:r>
                  <a:rPr lang="en-US" altLang="ko-KR"/>
                  <a:t>: </a:t>
                </a:r>
              </a:p>
              <a:p>
                <a:pPr marL="0" indent="0">
                  <a:buNone/>
                </a:pPr>
                <a:endParaRPr lang="ko-KR" alt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8" b="-18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670" y="262442"/>
            <a:ext cx="8167805" cy="607653"/>
          </a:xfrm>
        </p:spPr>
        <p:txBody>
          <a:bodyPr>
            <a:spAutoFit/>
          </a:bodyPr>
          <a:lstStyle/>
          <a:p>
            <a:r>
              <a:t>RESIZE 배율에 따른 시간, 공간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3배: 복사횟수 ≈ 1.5n, 메모리 ≈ 3n, 곱하면 4.5n²</a:t>
            </a:r>
          </a:p>
          <a:p>
            <a:endParaRPr/>
          </a:p>
          <a:p>
            <a:r>
              <a:t>2배: 복사횟수 ≈ 2n, 메모리 ≈ 2n, 곱하면 4n²</a:t>
            </a:r>
          </a:p>
          <a:p>
            <a:endParaRPr/>
          </a:p>
          <a:p>
            <a:r>
              <a:t>1.5배: 복사횟수 ≈ 3n, 메모리 ≈ 1.5n, 곱하면 4.5n²</a:t>
            </a:r>
          </a:p>
          <a:p>
            <a:endParaRPr/>
          </a:p>
          <a:p>
            <a:r>
              <a:t>→ 2배씩 증가하는 것이 시간 × 공간 비용 최소</a:t>
            </a:r>
          </a:p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3" y="262442"/>
            <a:ext cx="5545292" cy="607653"/>
          </a:xfrm>
        </p:spPr>
        <p:txBody>
          <a:bodyPr>
            <a:spAutoFit/>
          </a:bodyPr>
          <a:lstStyle/>
          <a:p>
            <a:r>
              <a:t>예제: 다항식 저장하기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2x</a:t>
            </a:r>
            <a:r>
              <a:rPr lang="en-US" altLang="ko-KR"/>
              <a:t>²</a:t>
            </a:r>
            <a:r>
              <a:t> + 3x를 저장하려면,</a:t>
            </a:r>
          </a:p>
          <a:p>
            <a:endParaRPr/>
          </a:p>
          <a:p>
            <a:r>
              <a:t>1. 항 리스트를 만든다 (계수와 지수 저장)</a:t>
            </a:r>
          </a:p>
          <a:p>
            <a:endParaRPr/>
          </a:p>
          <a:p>
            <a:r>
              <a:t>2. 항 리스트를 크기 2로 초기화한다</a:t>
            </a:r>
          </a:p>
          <a:p>
            <a:endParaRPr/>
          </a:p>
          <a:p>
            <a:r>
              <a:t>3. 항 리스트에 계수 2, 지수 2을 추가한다</a:t>
            </a:r>
          </a:p>
          <a:p>
            <a:endParaRPr/>
          </a:p>
          <a:p>
            <a:r>
              <a:t>4. 항 리스트에 계수 3, 지수 1을 추가한다</a:t>
            </a:r>
          </a:p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t>고정 크기 항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coeff: 계수를 저장할 배열</a:t>
            </a:r>
          </a:p>
          <a:p>
            <a:endParaRPr/>
          </a:p>
          <a:p>
            <a:r>
              <a:t>exp: 지수를 저장할 배열</a:t>
            </a:r>
          </a:p>
          <a:p>
            <a:endParaRPr/>
          </a:p>
          <a:p>
            <a:r>
              <a:t>size: 저장된 항의 개수</a:t>
            </a:r>
          </a:p>
          <a:p>
            <a:endParaRPr/>
          </a:p>
          <a:p>
            <a:r>
              <a:t>capacity: 최대 저장량</a:t>
            </a:r>
          </a:p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766" y="260839"/>
            <a:ext cx="4678709" cy="610859"/>
          </a:xfrm>
        </p:spPr>
        <p:txBody>
          <a:bodyPr>
            <a:spAutoFit/>
          </a:bodyPr>
          <a:lstStyle/>
          <a:p>
            <a:r>
              <a:t>INITIALIZE(A, 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A.coeff ← 새로운 배열(크기 : cap + 1)</a:t>
            </a:r>
          </a:p>
          <a:p>
            <a:pPr>
              <a:lnSpc>
                <a:spcPct val="150000"/>
              </a:lnSpc>
            </a:pPr>
            <a:r>
              <a:t>A.exp  ← 새로운 배열(크기 : cap + 1)</a:t>
            </a:r>
          </a:p>
          <a:p>
            <a:pPr>
              <a:lnSpc>
                <a:spcPct val="150000"/>
              </a:lnSpc>
            </a:pPr>
            <a:r>
              <a:t>A.capacity ← cap</a:t>
            </a:r>
          </a:p>
          <a:p>
            <a:pPr>
              <a:lnSpc>
                <a:spcPct val="150000"/>
              </a:lnSpc>
            </a:pPr>
            <a:r>
              <a:t>A.size ←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771" y="260839"/>
            <a:ext cx="7797704" cy="610859"/>
          </a:xfrm>
        </p:spPr>
        <p:txBody>
          <a:bodyPr>
            <a:spAutoFit/>
          </a:bodyPr>
          <a:lstStyle/>
          <a:p>
            <a:r>
              <a:t>INSERT(A, k, new_coeff, new_exp)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반복: i는 A.size부터 k까지 역순으로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	</a:t>
            </a:r>
            <a:r>
              <a:t>A.coeff[i + 1] ← A.coeff[i]</a:t>
            </a:r>
          </a:p>
          <a:p>
            <a:pPr marL="0" indent="0">
              <a:lnSpc>
                <a:spcPct val="150000"/>
              </a:lnSpc>
              <a:buNone/>
            </a:pPr>
            <a:r>
              <a:t> </a:t>
            </a:r>
            <a:r>
              <a:rPr lang="en-US"/>
              <a:t>	</a:t>
            </a:r>
            <a:r>
              <a:t>A.exp[i + 1]   ← A.exp[i]</a:t>
            </a:r>
          </a:p>
          <a:p>
            <a:endParaRPr/>
          </a:p>
          <a:p>
            <a:r>
              <a:t>A.coeff[k] ← new_coeff</a:t>
            </a:r>
          </a:p>
          <a:p>
            <a:r>
              <a:t>A.exp[k]   ← new_exp</a:t>
            </a:r>
          </a:p>
          <a:p>
            <a:r>
              <a:t>A.size ← A.size + 1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6" y="260839"/>
            <a:ext cx="4009039" cy="610859"/>
          </a:xfrm>
        </p:spPr>
        <p:txBody>
          <a:bodyPr>
            <a:spAutoFit/>
          </a:bodyPr>
          <a:lstStyle/>
          <a:p>
            <a:r>
              <a:t>ADD(X, Y)   1/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A ← 새로운 항 리스트</a:t>
            </a:r>
          </a:p>
          <a:p>
            <a:pPr>
              <a:lnSpc>
                <a:spcPct val="150000"/>
              </a:lnSpc>
            </a:pPr>
            <a:r>
              <a:t>INITIALIZE(A, X.size + Y.size)</a:t>
            </a:r>
          </a:p>
          <a:p>
            <a:pPr>
              <a:lnSpc>
                <a:spcPct val="150000"/>
              </a:lnSpc>
            </a:pPr>
            <a:r>
              <a:t>iX ← 1, iY ← 1</a:t>
            </a:r>
            <a:endParaRPr lang="en-US"/>
          </a:p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반복: iX ≤ X.size 그리고 iY ≤ Y.size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6" y="260839"/>
            <a:ext cx="4009039" cy="610859"/>
          </a:xfrm>
        </p:spPr>
        <p:txBody>
          <a:bodyPr>
            <a:spAutoFit/>
          </a:bodyPr>
          <a:lstStyle/>
          <a:p>
            <a:r>
              <a:t>ADD(X, Y)   2/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X.exp[iX] &gt; Y.exp[iY]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INSERT(A, A.size + 1, X.coeff[iX], X.exp[iX])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6" y="260839"/>
            <a:ext cx="4009039" cy="610859"/>
          </a:xfrm>
        </p:spPr>
        <p:txBody>
          <a:bodyPr>
            <a:spAutoFit/>
          </a:bodyPr>
          <a:lstStyle/>
          <a:p>
            <a:r>
              <a:t>ADD(X, Y)   </a:t>
            </a:r>
            <a:r>
              <a:rPr lang="en-US"/>
              <a:t>3</a:t>
            </a:r>
            <a:r>
              <a:t>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X.exp[iX] &lt; Y.exp[iY]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INSERT(A, A.size + 1, Y.coeff[iY], Y.exp[iY])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iY ← iY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6" y="260839"/>
            <a:ext cx="4009039" cy="610859"/>
          </a:xfrm>
        </p:spPr>
        <p:txBody>
          <a:bodyPr>
            <a:spAutoFit/>
          </a:bodyPr>
          <a:lstStyle/>
          <a:p>
            <a:r>
              <a:t>ADD(X, Y)   </a:t>
            </a:r>
            <a:r>
              <a:rPr lang="en-US"/>
              <a:t>4</a:t>
            </a:r>
            <a:r>
              <a:t>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X.exp[iX] == Y.exp[iY]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new_coeff ← X.coeff[iX] + Y.coeff[iY]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INSERT(A, A.size + 1, new_coeff, X.exp[iX])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iY ← iY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447" y="260839"/>
            <a:ext cx="4016028" cy="610859"/>
          </a:xfrm>
        </p:spPr>
        <p:txBody>
          <a:bodyPr>
            <a:spAutoFit/>
          </a:bodyPr>
          <a:lstStyle/>
          <a:p>
            <a:r>
              <a:t>ADD(</a:t>
            </a:r>
            <a:r>
              <a:rPr lang="en-US"/>
              <a:t>X</a:t>
            </a:r>
            <a:r>
              <a:t>, </a:t>
            </a:r>
            <a:r>
              <a:rPr lang="en-US"/>
              <a:t>Y</a:t>
            </a:r>
            <a:r>
              <a:t>)   </a:t>
            </a:r>
            <a:r>
              <a:rPr lang="en-US"/>
              <a:t>5</a:t>
            </a:r>
            <a:r>
              <a:t>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</a:t>
            </a:r>
            <a:r>
              <a:rPr lang="en-US"/>
              <a:t>iX ≤ X.size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 </a:t>
            </a:r>
            <a:r>
              <a:rPr lang="ko-KR" altLang="en-US"/>
              <a:t>반복</a:t>
            </a:r>
            <a:r>
              <a:rPr lang="en-US" altLang="ko-KR"/>
              <a:t>: </a:t>
            </a:r>
            <a:r>
              <a:rPr lang="en-US"/>
              <a:t>i</a:t>
            </a:r>
            <a:r>
              <a:rPr lang="ko-KR" altLang="en-US"/>
              <a:t>는 </a:t>
            </a:r>
            <a:r>
              <a:rPr lang="en-US"/>
              <a:t>iX</a:t>
            </a:r>
            <a:r>
              <a:rPr lang="ko-KR" altLang="en-US"/>
              <a:t>부터 </a:t>
            </a:r>
            <a:r>
              <a:rPr lang="en-US"/>
              <a:t>X.size</a:t>
            </a:r>
            <a:r>
              <a:rPr lang="ko-KR" altLang="en-US"/>
              <a:t>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/>
              <a:t>                </a:t>
            </a:r>
            <a:r>
              <a:rPr lang="en-US"/>
              <a:t>INSERT(A, A.size + 1, X.coeff[i], X.exp[i])</a:t>
            </a:r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97A3-32E6-D3C1-9768-B31D8380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6CE5-13EB-DF28-D48B-3694BB5E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</a:t>
            </a:r>
            <a:r>
              <a:rPr lang="en-US"/>
              <a:t>X</a:t>
            </a:r>
            <a:r>
              <a:t>, </a:t>
            </a:r>
            <a:r>
              <a:rPr lang="en-US"/>
              <a:t>Y</a:t>
            </a:r>
            <a:r>
              <a:t>)   </a:t>
            </a:r>
            <a:r>
              <a:rPr lang="en-US"/>
              <a:t>6</a:t>
            </a:r>
            <a:r>
              <a:t>/</a:t>
            </a:r>
            <a:r>
              <a:rPr lang="en-US"/>
              <a:t>6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5FCB-61C2-0BB3-B8ED-B1FCC432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</a:t>
            </a:r>
            <a:r>
              <a:rPr lang="en-US"/>
              <a:t>iY ≤ Y.size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    </a:t>
            </a:r>
            <a:r>
              <a:rPr lang="ko-KR" altLang="en-US"/>
              <a:t>반복</a:t>
            </a:r>
            <a:r>
              <a:rPr lang="en-US" altLang="ko-KR"/>
              <a:t>: </a:t>
            </a:r>
            <a:r>
              <a:rPr lang="en-US"/>
              <a:t>i</a:t>
            </a:r>
            <a:r>
              <a:rPr lang="ko-KR" altLang="en-US"/>
              <a:t>는 </a:t>
            </a:r>
            <a:r>
              <a:rPr lang="en-US"/>
              <a:t>iY</a:t>
            </a:r>
            <a:r>
              <a:rPr lang="ko-KR" altLang="en-US"/>
              <a:t>부터 </a:t>
            </a:r>
            <a:r>
              <a:rPr lang="en-US"/>
              <a:t>Y.size</a:t>
            </a:r>
            <a:r>
              <a:rPr lang="ko-KR" altLang="en-US"/>
              <a:t>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/>
              <a:t>                </a:t>
            </a:r>
            <a:r>
              <a:rPr lang="en-US"/>
              <a:t>INSERT(A, A.size + 1, Y.coeff[i], Y.exp[i])</a:t>
            </a:r>
          </a:p>
          <a:p>
            <a:endParaRPr lang="en-US"/>
          </a:p>
          <a:p>
            <a:r>
              <a:t>반환: A</a:t>
            </a:r>
          </a:p>
        </p:txBody>
      </p:sp>
    </p:spTree>
    <p:extLst>
      <p:ext uri="{BB962C8B-B14F-4D97-AF65-F5344CB8AC3E}">
        <p14:creationId xmlns:p14="http://schemas.microsoft.com/office/powerpoint/2010/main" val="832707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고정 크기 배열 리스트에서 데이터 추가/삭제</a:t>
            </a:r>
          </a:p>
          <a:p>
            <a:endParaRPr/>
          </a:p>
          <a:p>
            <a:r>
              <a:t>가변 크기 배열 리스트에서 데이터 추가</a:t>
            </a:r>
          </a:p>
          <a:p>
            <a:endParaRPr/>
          </a:p>
          <a:p>
            <a:r>
              <a:t>다항식 예제</a:t>
            </a:r>
          </a:p>
          <a:p>
            <a:endParaRPr/>
          </a:p>
          <a:p>
            <a:r>
              <a:t>다음 시간: 다항식 예제를 C 언어로 구현해 본다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16900</TotalTime>
  <Words>1572</Words>
  <Application>Microsoft Office PowerPoint</Application>
  <PresentationFormat>화면 슬라이드 쇼(4:3)</PresentationFormat>
  <Paragraphs>227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맑은 고딕</vt:lpstr>
      <vt:lpstr>Aptos</vt:lpstr>
      <vt:lpstr>Aptos Display</vt:lpstr>
      <vt:lpstr>Arial</vt:lpstr>
      <vt:lpstr>Cambria Math</vt:lpstr>
      <vt:lpstr>Office 테마</vt:lpstr>
      <vt:lpstr>자료구조 (Data Structure) 1주차: 배열 리스트</vt:lpstr>
      <vt:lpstr>자료구조란?</vt:lpstr>
      <vt:lpstr>강의 소개</vt:lpstr>
      <vt:lpstr>강의 계획</vt:lpstr>
      <vt:lpstr>9월 강의 계획</vt:lpstr>
      <vt:lpstr>10월 강의 계획</vt:lpstr>
      <vt:lpstr>11월 강의 계획</vt:lpstr>
      <vt:lpstr>12월 강의 계획</vt:lpstr>
      <vt:lpstr>성적 평가 방식</vt:lpstr>
      <vt:lpstr>리스트</vt:lpstr>
      <vt:lpstr>배열 리스트</vt:lpstr>
      <vt:lpstr>배열 인덱스 규칙</vt:lpstr>
      <vt:lpstr>INITIALIZE(A, cap)</vt:lpstr>
      <vt:lpstr>INSERT(A, k, val)</vt:lpstr>
      <vt:lpstr>INSERT(A, k, val)의 시간 효율</vt:lpstr>
      <vt:lpstr>DELETE(A, k)</vt:lpstr>
      <vt:lpstr>DELETE(A, k)의 시간 효율</vt:lpstr>
      <vt:lpstr>RETRIEVE(A, k)</vt:lpstr>
      <vt:lpstr>RETRIEVE(A, k)의 시간 효율</vt:lpstr>
      <vt:lpstr>가변 크기 배열 리스트</vt:lpstr>
      <vt:lpstr>RESIZE(A)</vt:lpstr>
      <vt:lpstr>INSERT_VAR(A, k, x)</vt:lpstr>
      <vt:lpstr>n+1번 INSERT 할 동안 RESIZE에 쓴 시간</vt:lpstr>
      <vt:lpstr>RESIZE 배율에 따른 시간, 공간 효율</vt:lpstr>
      <vt:lpstr>예제: 다항식 저장하기</vt:lpstr>
      <vt:lpstr>고정 크기 항 리스트</vt:lpstr>
      <vt:lpstr>INITIALIZE(A, cap)</vt:lpstr>
      <vt:lpstr>INSERT(A, k, new_coeff, new_exp)</vt:lpstr>
      <vt:lpstr>ADD(X, Y)   1/6</vt:lpstr>
      <vt:lpstr>ADD(X, Y)   2/6</vt:lpstr>
      <vt:lpstr>ADD(X, Y)   3/6</vt:lpstr>
      <vt:lpstr>ADD(X, Y)   4/6</vt:lpstr>
      <vt:lpstr>ADD(X, Y)   5/6</vt:lpstr>
      <vt:lpstr>ADD(X, Y)   6/6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24</cp:revision>
  <dcterms:created xsi:type="dcterms:W3CDTF">2025-07-28T15:04:23Z</dcterms:created>
  <dcterms:modified xsi:type="dcterms:W3CDTF">2025-09-08T15:29:28Z</dcterms:modified>
</cp:coreProperties>
</file>