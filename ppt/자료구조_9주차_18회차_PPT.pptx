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93"/>
  </p:notesMasterIdLst>
  <p:sldIdLst>
    <p:sldId id="256" r:id="rId2"/>
    <p:sldId id="257" r:id="rId3"/>
    <p:sldId id="258" r:id="rId4"/>
    <p:sldId id="259" r:id="rId5"/>
    <p:sldId id="261" r:id="rId6"/>
    <p:sldId id="262" r:id="rId7"/>
    <p:sldId id="325" r:id="rId8"/>
    <p:sldId id="326" r:id="rId9"/>
    <p:sldId id="264" r:id="rId10"/>
    <p:sldId id="329" r:id="rId11"/>
    <p:sldId id="265" r:id="rId12"/>
    <p:sldId id="327" r:id="rId13"/>
    <p:sldId id="328" r:id="rId14"/>
    <p:sldId id="330" r:id="rId15"/>
    <p:sldId id="331" r:id="rId16"/>
    <p:sldId id="332" r:id="rId17"/>
    <p:sldId id="334" r:id="rId18"/>
    <p:sldId id="335" r:id="rId19"/>
    <p:sldId id="336" r:id="rId20"/>
    <p:sldId id="340" r:id="rId21"/>
    <p:sldId id="338" r:id="rId22"/>
    <p:sldId id="341" r:id="rId23"/>
    <p:sldId id="384" r:id="rId24"/>
    <p:sldId id="339" r:id="rId25"/>
    <p:sldId id="342" r:id="rId26"/>
    <p:sldId id="343" r:id="rId27"/>
    <p:sldId id="344" r:id="rId28"/>
    <p:sldId id="345" r:id="rId29"/>
    <p:sldId id="349" r:id="rId30"/>
    <p:sldId id="350" r:id="rId31"/>
    <p:sldId id="383" r:id="rId32"/>
    <p:sldId id="351" r:id="rId33"/>
    <p:sldId id="352" r:id="rId34"/>
    <p:sldId id="353" r:id="rId35"/>
    <p:sldId id="354" r:id="rId36"/>
    <p:sldId id="355" r:id="rId37"/>
    <p:sldId id="356" r:id="rId38"/>
    <p:sldId id="357" r:id="rId39"/>
    <p:sldId id="358" r:id="rId40"/>
    <p:sldId id="359" r:id="rId41"/>
    <p:sldId id="360" r:id="rId42"/>
    <p:sldId id="361" r:id="rId43"/>
    <p:sldId id="362" r:id="rId44"/>
    <p:sldId id="363" r:id="rId45"/>
    <p:sldId id="364" r:id="rId46"/>
    <p:sldId id="365" r:id="rId47"/>
    <p:sldId id="385" r:id="rId48"/>
    <p:sldId id="405" r:id="rId49"/>
    <p:sldId id="367" r:id="rId50"/>
    <p:sldId id="392" r:id="rId51"/>
    <p:sldId id="393" r:id="rId52"/>
    <p:sldId id="394" r:id="rId53"/>
    <p:sldId id="395" r:id="rId54"/>
    <p:sldId id="396" r:id="rId55"/>
    <p:sldId id="404" r:id="rId56"/>
    <p:sldId id="397" r:id="rId57"/>
    <p:sldId id="416" r:id="rId58"/>
    <p:sldId id="417" r:id="rId59"/>
    <p:sldId id="418" r:id="rId60"/>
    <p:sldId id="419" r:id="rId61"/>
    <p:sldId id="420" r:id="rId62"/>
    <p:sldId id="421" r:id="rId63"/>
    <p:sldId id="422" r:id="rId64"/>
    <p:sldId id="319" r:id="rId65"/>
    <p:sldId id="386" r:id="rId66"/>
    <p:sldId id="387" r:id="rId67"/>
    <p:sldId id="388" r:id="rId68"/>
    <p:sldId id="389" r:id="rId69"/>
    <p:sldId id="390" r:id="rId70"/>
    <p:sldId id="391" r:id="rId71"/>
    <p:sldId id="398" r:id="rId72"/>
    <p:sldId id="406" r:id="rId73"/>
    <p:sldId id="407" r:id="rId74"/>
    <p:sldId id="408" r:id="rId75"/>
    <p:sldId id="409" r:id="rId76"/>
    <p:sldId id="410" r:id="rId77"/>
    <p:sldId id="411" r:id="rId78"/>
    <p:sldId id="412" r:id="rId79"/>
    <p:sldId id="413" r:id="rId80"/>
    <p:sldId id="414" r:id="rId81"/>
    <p:sldId id="415" r:id="rId82"/>
    <p:sldId id="423" r:id="rId83"/>
    <p:sldId id="425" r:id="rId84"/>
    <p:sldId id="426" r:id="rId85"/>
    <p:sldId id="427" r:id="rId86"/>
    <p:sldId id="428" r:id="rId87"/>
    <p:sldId id="429" r:id="rId88"/>
    <p:sldId id="430" r:id="rId89"/>
    <p:sldId id="431" r:id="rId90"/>
    <p:sldId id="432" r:id="rId91"/>
    <p:sldId id="433" r:id="rId9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2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" y="1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24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2DE6C-AA0F-425F-A4E6-018C05453644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F3005-54B2-4F13-8D6E-05C92289A9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94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4043369"/>
            <a:ext cx="8771138" cy="607653"/>
          </a:xfrm>
        </p:spPr>
        <p:txBody>
          <a:bodyPr wrap="square" anchor="b"/>
          <a:lstStyle>
            <a:lvl1pPr algn="ct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8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5975" y="262442"/>
            <a:ext cx="5976500" cy="607653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1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4852" y="200299"/>
            <a:ext cx="5976500" cy="6076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none" lIns="540000" tIns="108000" rIns="540000" bIns="0" rtlCol="0" anchor="ctr">
            <a:sp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851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8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r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3544771"/>
            <a:ext cx="8771138" cy="1106251"/>
          </a:xfrm>
        </p:spPr>
        <p:txBody>
          <a:bodyPr/>
          <a:lstStyle/>
          <a:p>
            <a:r>
              <a:t>자료구조 (Data Structure)</a:t>
            </a:r>
          </a:p>
          <a:p>
            <a:r>
              <a:rPr lang="en-US"/>
              <a:t>9</a:t>
            </a:r>
            <a:r>
              <a:t>주차: </a:t>
            </a:r>
            <a:r>
              <a:rPr lang="ko-KR" altLang="en-US"/>
              <a:t>그래프 최단경로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2402" y="262442"/>
            <a:ext cx="4040073" cy="607653"/>
          </a:xfrm>
        </p:spPr>
        <p:txBody>
          <a:bodyPr>
            <a:spAutoFit/>
          </a:bodyPr>
          <a:lstStyle/>
          <a:p>
            <a:r>
              <a:t>지난 시간 </a:t>
            </a:r>
            <a:r>
              <a:rPr lang="ko-KR" altLang="en-US"/>
              <a:t>내용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최단경로</a:t>
            </a:r>
            <a:r>
              <a:t>: </a:t>
            </a:r>
            <a:r>
              <a:rPr lang="ko-KR" altLang="en-US"/>
              <a:t>시작 노드에서 가장 낮은 비용이 드는 경로</a:t>
            </a:r>
            <a:endParaRPr lang="en-US"/>
          </a:p>
          <a:p>
            <a:endParaRPr lang="en-US"/>
          </a:p>
          <a:p>
            <a:r>
              <a:rPr lang="ko-KR" altLang="en-US"/>
              <a:t>너비우선방문</a:t>
            </a:r>
            <a:r>
              <a:rPr lang="en-US" altLang="ko-KR"/>
              <a:t>: </a:t>
            </a:r>
            <a:r>
              <a:rPr lang="ko-KR" altLang="en-US"/>
              <a:t>가장 가까운 노드에 우선순위 부여</a:t>
            </a:r>
            <a:endParaRPr lang="en-US" altLang="ko-KR"/>
          </a:p>
          <a:p>
            <a:endParaRPr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일반 큐</a:t>
            </a:r>
            <a:r>
              <a:rPr lang="en-US" altLang="ko-KR"/>
              <a:t>: </a:t>
            </a:r>
            <a:r>
              <a:rPr lang="ko-KR" altLang="en-US"/>
              <a:t>연결선의 비용이 모두 </a:t>
            </a:r>
            <a:r>
              <a:rPr lang="en-US" altLang="ko-KR"/>
              <a:t>1</a:t>
            </a:r>
            <a:r>
              <a:rPr lang="ko-KR" altLang="en-US"/>
              <a:t>일 때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양방향 큐</a:t>
            </a:r>
            <a:r>
              <a:rPr lang="en-US" altLang="ko-KR"/>
              <a:t>: </a:t>
            </a:r>
            <a:r>
              <a:rPr lang="ko-KR" altLang="en-US"/>
              <a:t>연결선의 비용이 </a:t>
            </a:r>
            <a:r>
              <a:rPr lang="en-US" altLang="ko-KR"/>
              <a:t>0 </a:t>
            </a:r>
            <a:r>
              <a:rPr lang="ko-KR" altLang="en-US"/>
              <a:t>또는 </a:t>
            </a:r>
            <a:r>
              <a:rPr lang="en-US" altLang="ko-KR"/>
              <a:t>1</a:t>
            </a:r>
            <a:r>
              <a:rPr lang="ko-KR" altLang="en-US"/>
              <a:t>일 때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우선순위 큐</a:t>
            </a:r>
            <a:r>
              <a:rPr lang="en-US" altLang="ko-KR"/>
              <a:t>: </a:t>
            </a:r>
            <a:r>
              <a:rPr lang="ko-KR" altLang="en-US"/>
              <a:t>연결선의 비용이 </a:t>
            </a:r>
            <a:r>
              <a:rPr lang="en-US" altLang="ko-KR"/>
              <a:t>0 </a:t>
            </a:r>
            <a:r>
              <a:rPr lang="ko-KR" altLang="en-US"/>
              <a:t>이상일 때</a:t>
            </a:r>
            <a:endParaRPr lang="en-US" altLang="ko-K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t>오늘의 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그래프</a:t>
            </a:r>
            <a:r>
              <a:t> 출력하기</a:t>
            </a:r>
            <a:endParaRPr lang="en-US"/>
          </a:p>
          <a:p>
            <a:endParaRPr lang="en-US"/>
          </a:p>
          <a:p>
            <a:r>
              <a:rPr lang="ko-KR" altLang="en-US"/>
              <a:t>너비 우선 탐색 </a:t>
            </a:r>
            <a:r>
              <a:rPr lang="en-US" altLang="ko-KR"/>
              <a:t>(BFS)</a:t>
            </a:r>
            <a:r>
              <a:rPr lang="ko-KR" altLang="en-US"/>
              <a:t> 구현하기</a:t>
            </a:r>
            <a:endParaRPr lang="en-US" altLang="ko-KR"/>
          </a:p>
          <a:p>
            <a:endParaRPr lang="en-US"/>
          </a:p>
          <a:p>
            <a:r>
              <a:rPr lang="ko-KR" altLang="en-US"/>
              <a:t>양방향 큐 </a:t>
            </a:r>
            <a:r>
              <a:rPr lang="en-US" altLang="ko-KR"/>
              <a:t>- </a:t>
            </a:r>
            <a:r>
              <a:rPr lang="ko-KR" altLang="en-US"/>
              <a:t>최단경로 탐색</a:t>
            </a:r>
            <a:r>
              <a:rPr lang="en-US" altLang="ko-KR"/>
              <a:t> </a:t>
            </a:r>
            <a:r>
              <a:rPr lang="ko-KR" altLang="en-US"/>
              <a:t>구현하기</a:t>
            </a:r>
            <a:endParaRPr lang="en-US" altLang="ko-KR"/>
          </a:p>
          <a:p>
            <a:endParaRPr lang="en-US"/>
          </a:p>
          <a:p>
            <a:r>
              <a:rPr lang="ko-KR" altLang="en-US"/>
              <a:t>우선순위 큐 </a:t>
            </a:r>
            <a:r>
              <a:rPr lang="en-US" altLang="ko-KR"/>
              <a:t>- </a:t>
            </a:r>
            <a:r>
              <a:rPr lang="ko-KR" altLang="en-US"/>
              <a:t>최단경로 탐색</a:t>
            </a:r>
            <a:r>
              <a:rPr lang="en-US" altLang="ko-KR"/>
              <a:t> </a:t>
            </a:r>
            <a:r>
              <a:rPr lang="ko-KR" altLang="en-US"/>
              <a:t>구현하기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8384" y="262442"/>
            <a:ext cx="4904091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</a:t>
            </a:r>
            <a:r>
              <a:t> 출력 - printf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#include &lt;stdio.h&gt;</a:t>
            </a:r>
          </a:p>
          <a:p>
            <a:pPr marL="0" indent="0">
              <a:buNone/>
            </a:pPr>
            <a:r>
              <a:t>int main()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printf("Hello</a:t>
            </a:r>
            <a:r>
              <a:rPr lang="en-US"/>
              <a:t>, </a:t>
            </a:r>
            <a:r>
              <a:rPr lang="en-US">
                <a:solidFill>
                  <a:srgbClr val="FF0000"/>
                </a:solidFill>
              </a:rPr>
              <a:t>shortest path</a:t>
            </a:r>
            <a:r>
              <a:rPr lang="en-US"/>
              <a:t>!</a:t>
            </a:r>
            <a:r>
              <a:rPr lang="en-US">
                <a:solidFill>
                  <a:srgbClr val="FF0000"/>
                </a:solidFill>
              </a:rPr>
              <a:t>\n</a:t>
            </a:r>
            <a:r>
              <a:t>");</a:t>
            </a:r>
          </a:p>
          <a:p>
            <a:pPr marL="0" indent="0">
              <a:buNone/>
            </a:pPr>
            <a:r>
              <a:t>	return 0;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2897" y="262442"/>
            <a:ext cx="7619578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</a:t>
            </a:r>
            <a:r>
              <a:t> 출력 - </a:t>
            </a:r>
            <a:r>
              <a:rPr lang="ko-KR" altLang="en-US"/>
              <a:t>인접리스트 구조체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struct edge;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struct elist {</a:t>
            </a:r>
          </a:p>
          <a:p>
            <a:pPr marL="0" indent="0">
              <a:buNone/>
            </a:pPr>
            <a:r>
              <a:rPr lang="en-US"/>
              <a:t>	struct edge *edge;</a:t>
            </a:r>
          </a:p>
          <a:p>
            <a:pPr marL="0" indent="0">
              <a:buNone/>
            </a:pPr>
            <a:r>
              <a:rPr lang="en-US"/>
              <a:t>	struct elist *next;</a:t>
            </a:r>
          </a:p>
          <a:p>
            <a:pPr marL="0" indent="0">
              <a:buNone/>
            </a:pPr>
            <a:r>
              <a:rPr lang="en-US"/>
              <a:t>}</a:t>
            </a:r>
            <a:r>
              <a:rPr lang="en-US">
                <a:solidFill>
                  <a:srgbClr val="FF0000"/>
                </a:solidFill>
              </a:rPr>
              <a:t>;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2897" y="262442"/>
            <a:ext cx="7619578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인접리스트 구조체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링크드 리스트 형태</a:t>
            </a:r>
            <a:endParaRPr lang="en-US" altLang="ko-KR"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데이터</a:t>
            </a:r>
            <a:r>
              <a:rPr lang="en-US" altLang="ko-KR"/>
              <a:t>: 	</a:t>
            </a:r>
            <a:r>
              <a:rPr lang="ko-KR" altLang="en-US"/>
              <a:t>연결선의 주소</a:t>
            </a:r>
            <a:endParaRPr lang="en-US" altLang="ko-KR"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링크</a:t>
            </a:r>
            <a:r>
              <a:rPr lang="en-US" altLang="ko-KR"/>
              <a:t>: 	</a:t>
            </a:r>
            <a:r>
              <a:rPr lang="ko-KR" altLang="en-US"/>
              <a:t>다음 인접리스트 노드의 주소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A32AB-533C-4CCB-A59E-87AA3714C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F497C-4223-C552-1212-157F9F6ED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129" y="262442"/>
            <a:ext cx="7709346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</a:t>
            </a:r>
            <a:r>
              <a:t> 출력 - </a:t>
            </a:r>
            <a:r>
              <a:rPr lang="ko-KR" altLang="en-US"/>
              <a:t>그래프 노드 구조체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07964-1F44-7A39-14D8-A53A595D5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struct node {</a:t>
            </a:r>
          </a:p>
          <a:p>
            <a:pPr marL="0" indent="0">
              <a:buNone/>
            </a:pPr>
            <a:r>
              <a:rPr lang="en-US"/>
              <a:t>	char data;</a:t>
            </a:r>
          </a:p>
          <a:p>
            <a:pPr marL="0" indent="0">
              <a:buNone/>
            </a:pPr>
            <a:r>
              <a:rPr lang="en-US"/>
              <a:t>	int index;</a:t>
            </a:r>
          </a:p>
          <a:p>
            <a:pPr marL="0" indent="0">
              <a:buNone/>
            </a:pPr>
            <a:r>
              <a:rPr lang="en-US"/>
              <a:t>	int status;		/* </a:t>
            </a:r>
            <a:r>
              <a:rPr lang="en-US">
                <a:solidFill>
                  <a:srgbClr val="FF0000"/>
                </a:solidFill>
              </a:rPr>
              <a:t>0: </a:t>
            </a:r>
            <a:r>
              <a:rPr lang="ko-KR" altLang="en-US">
                <a:solidFill>
                  <a:srgbClr val="FF0000"/>
                </a:solidFill>
              </a:rPr>
              <a:t>처리전</a:t>
            </a:r>
            <a:r>
              <a:rPr lang="en-US" altLang="ko-KR">
                <a:solidFill>
                  <a:srgbClr val="FF0000"/>
                </a:solidFill>
              </a:rPr>
              <a:t>, 1: </a:t>
            </a:r>
            <a:r>
              <a:rPr lang="ko-KR" altLang="en-US">
                <a:solidFill>
                  <a:srgbClr val="FF0000"/>
                </a:solidFill>
              </a:rPr>
              <a:t>처리후</a:t>
            </a:r>
            <a:r>
              <a:rPr lang="ko-KR" altLang="en-US"/>
              <a:t>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	int distance;</a:t>
            </a:r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	struct node* parent;</a:t>
            </a:r>
          </a:p>
          <a:p>
            <a:pPr marL="0" indent="0">
              <a:buNone/>
            </a:pPr>
            <a:r>
              <a:rPr lang="en-US"/>
              <a:t>	struct elist *adj;</a:t>
            </a:r>
          </a:p>
          <a:p>
            <a:pPr marL="0" indent="0">
              <a:buNone/>
            </a:pPr>
            <a:r>
              <a:rPr lang="en-US"/>
              <a:t>}</a:t>
            </a:r>
            <a:r>
              <a:rPr lang="en-US">
                <a:solidFill>
                  <a:srgbClr val="FF0000"/>
                </a:solidFill>
              </a:rPr>
              <a:t>;</a:t>
            </a:r>
            <a:endParaRPr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192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D3A43-5CC0-A1A7-0973-28EED015C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AC56-6846-1CB1-759E-0BAE1EFAF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129" y="262442"/>
            <a:ext cx="7709346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그래프 노드 구조체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C6B9C-D419-A44B-C214-59998A9E5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그래프 노드</a:t>
            </a:r>
            <a:endParaRPr lang="en-US" altLang="ko-KR"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데이터</a:t>
            </a:r>
            <a:r>
              <a:rPr lang="en-US" altLang="ko-KR"/>
              <a:t>: 	</a:t>
            </a:r>
            <a:r>
              <a:rPr lang="ko-KR" altLang="en-US"/>
              <a:t>노드를 표시할 문자</a:t>
            </a:r>
            <a:endParaRPr lang="en-US" altLang="ko-KR"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인덱스</a:t>
            </a:r>
            <a:r>
              <a:rPr lang="en-US" altLang="ko-KR"/>
              <a:t>: 	</a:t>
            </a:r>
            <a:r>
              <a:rPr lang="ko-KR" altLang="en-US"/>
              <a:t>그래프의 노드 리스트에서 몇번째</a:t>
            </a:r>
            <a:endParaRPr lang="en-US" altLang="ko-KR"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상태</a:t>
            </a:r>
            <a:r>
              <a:rPr lang="en-US" altLang="ko-KR"/>
              <a:t>:	</a:t>
            </a:r>
            <a:r>
              <a:rPr lang="ko-KR" altLang="en-US">
                <a:solidFill>
                  <a:srgbClr val="FF0000"/>
                </a:solidFill>
              </a:rPr>
              <a:t>최단 경로 탐색 진행 상황</a:t>
            </a:r>
            <a:endParaRPr lang="en-US" altLang="ko-KR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- </a:t>
            </a:r>
            <a:r>
              <a:rPr lang="ko-KR" altLang="en-US">
                <a:solidFill>
                  <a:srgbClr val="FF0000"/>
                </a:solidFill>
              </a:rPr>
              <a:t>거리</a:t>
            </a:r>
            <a:r>
              <a:rPr lang="en-US" altLang="ko-KR">
                <a:solidFill>
                  <a:srgbClr val="FF0000"/>
                </a:solidFill>
              </a:rPr>
              <a:t>:	</a:t>
            </a:r>
            <a:r>
              <a:rPr lang="ko-KR" altLang="en-US">
                <a:solidFill>
                  <a:srgbClr val="FF0000"/>
                </a:solidFill>
              </a:rPr>
              <a:t>현재까지 최단 거리</a:t>
            </a:r>
            <a:endParaRPr lang="en-US" altLang="ko-KR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- </a:t>
            </a:r>
            <a:r>
              <a:rPr lang="ko-KR" altLang="en-US">
                <a:solidFill>
                  <a:srgbClr val="FF0000"/>
                </a:solidFill>
              </a:rPr>
              <a:t>이전노드</a:t>
            </a:r>
            <a:r>
              <a:rPr lang="en-US" altLang="ko-KR">
                <a:solidFill>
                  <a:srgbClr val="FF0000"/>
                </a:solidFill>
              </a:rPr>
              <a:t>:	</a:t>
            </a:r>
            <a:r>
              <a:rPr lang="ko-KR" altLang="en-US">
                <a:solidFill>
                  <a:srgbClr val="FF0000"/>
                </a:solidFill>
              </a:rPr>
              <a:t>최단거리 경로 상에서 이전 노드</a:t>
            </a:r>
            <a:endParaRPr lang="en-US" altLang="ko-KR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이웃들</a:t>
            </a:r>
            <a:r>
              <a:rPr lang="en-US" altLang="ko-KR"/>
              <a:t>:	</a:t>
            </a:r>
            <a:r>
              <a:rPr lang="ko-KR" altLang="en-US"/>
              <a:t>연결선 정보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60741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CE153-D4EA-4A19-50AF-B982AB558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4236F-1C9F-CFEC-324A-B21F140E9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031" y="262442"/>
            <a:ext cx="8722444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그래프 노드 구조체 확인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C2AC6-FD36-C847-562C-BF52C0597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print_node(struct node *v)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    	char str[4] = "   ";</a:t>
            </a:r>
          </a:p>
          <a:p>
            <a:pPr marL="0" indent="0">
              <a:buNone/>
            </a:pPr>
            <a:r>
              <a:rPr lang="en-US" altLang="ko-KR"/>
              <a:t>	str[</a:t>
            </a:r>
            <a:r>
              <a:rPr lang="en-US" altLang="ko-KR">
                <a:solidFill>
                  <a:srgbClr val="FF0000"/>
                </a:solidFill>
              </a:rPr>
              <a:t>0</a:t>
            </a:r>
            <a:r>
              <a:rPr lang="en-US" altLang="ko-KR"/>
              <a:t>] = v-&gt;data;</a:t>
            </a:r>
          </a:p>
          <a:p>
            <a:pPr marL="0" indent="0">
              <a:buNone/>
            </a:pPr>
            <a:r>
              <a:rPr lang="en-US" altLang="ko-KR"/>
              <a:t>        	str[</a:t>
            </a:r>
            <a:r>
              <a:rPr lang="en-US" altLang="ko-KR">
                <a:solidFill>
                  <a:srgbClr val="FF0000"/>
                </a:solidFill>
              </a:rPr>
              <a:t>1</a:t>
            </a:r>
            <a:r>
              <a:rPr lang="en-US" altLang="ko-KR"/>
              <a:t>] = '</a:t>
            </a:r>
            <a:r>
              <a:rPr lang="en-US" altLang="ko-KR">
                <a:solidFill>
                  <a:srgbClr val="FF0000"/>
                </a:solidFill>
              </a:rPr>
              <a:t>0</a:t>
            </a:r>
            <a:r>
              <a:rPr lang="en-US" altLang="ko-KR"/>
              <a:t>' </a:t>
            </a:r>
            <a:r>
              <a:rPr lang="en-US" altLang="ko-KR">
                <a:solidFill>
                  <a:srgbClr val="FF0000"/>
                </a:solidFill>
              </a:rPr>
              <a:t>+ v-&gt;distance</a:t>
            </a:r>
            <a:r>
              <a:rPr lang="en-US" altLang="ko-KR"/>
              <a:t>;</a:t>
            </a:r>
          </a:p>
          <a:p>
            <a:pPr marL="0" indent="0">
              <a:buNone/>
            </a:pPr>
            <a:r>
              <a:rPr lang="en-US" altLang="ko-KR"/>
              <a:t>    	if (v-&gt;status != 0)</a:t>
            </a:r>
          </a:p>
          <a:p>
            <a:pPr marL="0" indent="0">
              <a:buNone/>
            </a:pPr>
            <a:r>
              <a:rPr lang="en-US" altLang="ko-KR"/>
              <a:t>        		str[</a:t>
            </a:r>
            <a:r>
              <a:rPr lang="en-US" altLang="ko-KR">
                <a:solidFill>
                  <a:srgbClr val="FF0000"/>
                </a:solidFill>
              </a:rPr>
              <a:t>2</a:t>
            </a:r>
            <a:r>
              <a:rPr lang="en-US" altLang="ko-KR"/>
              <a:t>] = '</a:t>
            </a:r>
            <a:r>
              <a:rPr lang="en-US" altLang="ko-KR">
                <a:solidFill>
                  <a:srgbClr val="FF0000"/>
                </a:solidFill>
              </a:rPr>
              <a:t>*</a:t>
            </a:r>
            <a:r>
              <a:rPr lang="en-US" altLang="ko-KR"/>
              <a:t>';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    	printf("%s", str);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44312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B2FB3-C31F-EC1F-62AB-B8C8A7782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1F4C9-A78E-1544-FD4B-C3C4D89C9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031" y="262442"/>
            <a:ext cx="8722444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그래프 노드 구조체 확인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B26E9-BC48-729B-8B36-FA00F05DE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int main()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    	struct node v = {'A'};</a:t>
            </a:r>
          </a:p>
          <a:p>
            <a:pPr marL="0" indent="0">
              <a:buNone/>
            </a:pPr>
            <a:r>
              <a:rPr lang="en-US" altLang="ko-KR"/>
              <a:t>    	print_node(&amp;v);</a:t>
            </a:r>
          </a:p>
          <a:p>
            <a:pPr marL="0" indent="0">
              <a:buNone/>
            </a:pPr>
            <a:r>
              <a:rPr lang="en-US" altLang="ko-KR"/>
              <a:t>    	v.status = 1;</a:t>
            </a:r>
          </a:p>
          <a:p>
            <a:pPr marL="0" indent="0">
              <a:buNone/>
            </a:pPr>
            <a:r>
              <a:rPr lang="en-US" altLang="ko-KR"/>
              <a:t>    	print_node(&amp;v);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    	v.distance = 2;</a:t>
            </a:r>
          </a:p>
          <a:p>
            <a:pPr marL="0" indent="0">
              <a:buNone/>
            </a:pPr>
            <a:r>
              <a:rPr lang="en-US" altLang="ko-KR"/>
              <a:t>    	print_node(&amp;v);</a:t>
            </a:r>
          </a:p>
          <a:p>
            <a:pPr marL="0" indent="0">
              <a:buNone/>
            </a:pPr>
            <a:r>
              <a:rPr lang="en-US" altLang="ko-KR"/>
              <a:t>	return</a:t>
            </a:r>
            <a:r>
              <a:rPr lang="ko-KR" altLang="en-US"/>
              <a:t> </a:t>
            </a:r>
            <a:r>
              <a:rPr lang="en-US" altLang="ko-KR"/>
              <a:t>0;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58691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1D71F-07FD-CC53-124A-9224C9D0C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66B96-7A10-D1A3-016D-505238FCA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74" y="262442"/>
            <a:ext cx="8752901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그래프 노드 구조체 확인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F52C9-1E29-2378-28B3-A4FB49121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구조체 선언</a:t>
            </a:r>
            <a:endParaRPr lang="en-US" altLang="ko-KR"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초기값을 </a:t>
            </a:r>
            <a:r>
              <a:rPr lang="en-US" altLang="ko-KR"/>
              <a:t>{ } </a:t>
            </a:r>
            <a:r>
              <a:rPr lang="ko-KR" altLang="en-US"/>
              <a:t>안에 순서대로 적어준다</a:t>
            </a:r>
            <a:r>
              <a:rPr lang="en-US" altLang="ko-KR"/>
              <a:t>.</a:t>
            </a:r>
          </a:p>
          <a:p>
            <a:pPr marL="0" indent="0">
              <a:buNone/>
            </a:pPr>
            <a:r>
              <a:rPr lang="en-US"/>
              <a:t>	- {</a:t>
            </a:r>
            <a:r>
              <a:rPr lang="ko-KR" altLang="en-US"/>
              <a:t> </a:t>
            </a:r>
            <a:r>
              <a:rPr lang="en-US" altLang="ko-KR"/>
              <a:t>}</a:t>
            </a:r>
            <a:r>
              <a:rPr lang="ko-KR" altLang="en-US"/>
              <a:t> 안에 없는 값은 </a:t>
            </a:r>
            <a:r>
              <a:rPr lang="en-US" altLang="ko-KR"/>
              <a:t>0</a:t>
            </a:r>
            <a:r>
              <a:rPr lang="ko-KR" altLang="en-US"/>
              <a:t>이 된다</a:t>
            </a:r>
            <a:r>
              <a:rPr lang="en-US" altLang="ko-KR"/>
              <a:t>. </a:t>
            </a:r>
          </a:p>
          <a:p>
            <a:pPr marL="0" indent="0">
              <a:buNone/>
            </a:pPr>
            <a:endParaRPr lang="en-US"/>
          </a:p>
          <a:p>
            <a:r>
              <a:rPr lang="ko-KR" altLang="en-US"/>
              <a:t>멤버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구조체에서 </a:t>
            </a:r>
            <a:r>
              <a:rPr lang="en-US" altLang="ko-KR"/>
              <a:t>.</a:t>
            </a:r>
            <a:r>
              <a:rPr lang="ko-KR" altLang="en-US"/>
              <a:t>으로 멤버에 접근한다</a:t>
            </a:r>
            <a:r>
              <a:rPr lang="en-US" altLang="ko-KR"/>
              <a:t>.</a:t>
            </a:r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구조체 주소에서 </a:t>
            </a:r>
            <a:r>
              <a:rPr lang="en-US" altLang="ko-KR"/>
              <a:t>-&gt;</a:t>
            </a:r>
            <a:r>
              <a:rPr lang="ko-KR" altLang="en-US"/>
              <a:t>로 멤버에 접근한다</a:t>
            </a:r>
            <a:r>
              <a:rPr lang="en-US" altLang="ko-KR"/>
              <a:t>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44286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305C1-D0FE-BA99-A36F-22CF28B44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108E9-4DA3-6145-B3A6-438006F7C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226" y="262442"/>
            <a:ext cx="6696249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</a:t>
            </a:r>
            <a:r>
              <a:t> 출력 - </a:t>
            </a:r>
            <a:r>
              <a:rPr lang="ko-KR" altLang="en-US"/>
              <a:t>연결선 구조체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E4C13-F642-6791-3F6D-B9C735E5C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struct edge {</a:t>
            </a:r>
          </a:p>
          <a:p>
            <a:pPr marL="0" indent="0">
              <a:buNone/>
            </a:pPr>
            <a:r>
              <a:rPr lang="en-US"/>
              <a:t>	struct node *node1;</a:t>
            </a:r>
          </a:p>
          <a:p>
            <a:pPr marL="0" indent="0">
              <a:buNone/>
            </a:pPr>
            <a:r>
              <a:rPr lang="en-US" altLang="ko-KR"/>
              <a:t>	struct node *node2;</a:t>
            </a:r>
          </a:p>
          <a:p>
            <a:pPr marL="0" indent="0">
              <a:buNone/>
            </a:pPr>
            <a:r>
              <a:rPr lang="en-US" altLang="ko-KR"/>
              <a:t>	char shape;			/* '-', '/', '|' */</a:t>
            </a:r>
          </a:p>
          <a:p>
            <a:pPr marL="0" indent="0">
              <a:buNone/>
            </a:pPr>
            <a:r>
              <a:rPr lang="en-US" altLang="ko-KR"/>
              <a:t>	int</a:t>
            </a:r>
            <a:r>
              <a:rPr lang="ko-KR" altLang="en-US"/>
              <a:t> </a:t>
            </a:r>
            <a:r>
              <a:rPr lang="en-US" altLang="ko-KR">
                <a:solidFill>
                  <a:srgbClr val="FF0000"/>
                </a:solidFill>
              </a:rPr>
              <a:t>length;			/*</a:t>
            </a:r>
            <a:r>
              <a:rPr lang="ko-KR" altLang="en-US">
                <a:solidFill>
                  <a:srgbClr val="FF0000"/>
                </a:solidFill>
              </a:rPr>
              <a:t> 연결선의 길이 </a:t>
            </a:r>
            <a:r>
              <a:rPr lang="en-US" altLang="ko-KR">
                <a:solidFill>
                  <a:srgbClr val="FF0000"/>
                </a:solidFill>
              </a:rPr>
              <a:t>*/</a:t>
            </a:r>
          </a:p>
          <a:p>
            <a:pPr marL="0" indent="0">
              <a:buNone/>
            </a:pPr>
            <a:r>
              <a:rPr lang="en-US"/>
              <a:t>}</a:t>
            </a:r>
            <a:r>
              <a:rPr lang="en-US">
                <a:solidFill>
                  <a:srgbClr val="FF0000"/>
                </a:solidFill>
              </a:rPr>
              <a:t>;</a:t>
            </a:r>
            <a:endParaRPr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5468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66B17-1DB9-7FFB-359E-B7B264D46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38F00-78F3-9210-0305-AE2B5AEFF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226" y="262442"/>
            <a:ext cx="6696249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연결선 구조체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2EA64-D02E-0846-C421-7BDFF5C34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연결선 </a:t>
            </a:r>
            <a:endParaRPr lang="en-US" altLang="ko-KR"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노드</a:t>
            </a:r>
            <a:r>
              <a:rPr lang="en-US" altLang="ko-KR"/>
              <a:t>1: 	</a:t>
            </a:r>
            <a:r>
              <a:rPr lang="ko-KR" altLang="en-US"/>
              <a:t>연결선의 한쪽 노드</a:t>
            </a:r>
            <a:endParaRPr lang="en-US" altLang="ko-KR"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노드</a:t>
            </a:r>
            <a:r>
              <a:rPr lang="en-US" altLang="ko-KR"/>
              <a:t>2: 	</a:t>
            </a:r>
            <a:r>
              <a:rPr lang="ko-KR" altLang="en-US"/>
              <a:t>연결선의 다른쪽 노드</a:t>
            </a:r>
            <a:endParaRPr lang="en-US" altLang="ko-KR"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모양</a:t>
            </a:r>
            <a:r>
              <a:rPr lang="en-US" altLang="ko-KR"/>
              <a:t>:	</a:t>
            </a:r>
            <a:r>
              <a:rPr lang="ko-KR" altLang="en-US"/>
              <a:t>화면에 표시할 모양</a:t>
            </a:r>
            <a:r>
              <a:rPr lang="en-US" altLang="ko-KR"/>
              <a:t>. </a:t>
            </a:r>
            <a:r>
              <a:rPr lang="ko-KR" altLang="en-US"/>
              <a:t>선의 방향</a:t>
            </a:r>
            <a:r>
              <a:rPr lang="en-US" altLang="ko-KR"/>
              <a:t>.</a:t>
            </a:r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>
                <a:solidFill>
                  <a:srgbClr val="FF0000"/>
                </a:solidFill>
              </a:rPr>
              <a:t>길이</a:t>
            </a:r>
            <a:r>
              <a:rPr lang="en-US" altLang="ko-KR">
                <a:solidFill>
                  <a:srgbClr val="FF0000"/>
                </a:solidFill>
              </a:rPr>
              <a:t>:	</a:t>
            </a:r>
            <a:r>
              <a:rPr lang="ko-KR" altLang="en-US">
                <a:solidFill>
                  <a:srgbClr val="FF0000"/>
                </a:solidFill>
              </a:rPr>
              <a:t>거리 계산시 쓰이는 길이</a:t>
            </a:r>
            <a:endParaRPr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4727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E8F01-572D-6531-76D9-87FFBBEC2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C7A28-9CEB-9607-862D-9D301E041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129" y="262442"/>
            <a:ext cx="7709346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연결선 구조체 확인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7E861-0616-2019-D684-228E7BF59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print_edge(struct edge *e)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    	char str[4] = "   ";</a:t>
            </a:r>
          </a:p>
          <a:p>
            <a:pPr marL="0" indent="0">
              <a:buNone/>
            </a:pPr>
            <a:r>
              <a:rPr lang="en-US" altLang="ko-KR"/>
              <a:t>    	if (e != NULL) {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	str[0] = '0' + e-&gt;length;</a:t>
            </a:r>
          </a:p>
          <a:p>
            <a:pPr marL="0" indent="0">
              <a:buNone/>
            </a:pPr>
            <a:r>
              <a:rPr lang="en-US" altLang="ko-KR"/>
              <a:t>	        	str[1] = e-&gt;shape;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    	printf("%s", str);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209132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67D66-3171-B191-4C96-3770341B7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611D0-8543-810B-CB0D-3933DAF3C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130" y="262442"/>
            <a:ext cx="7709345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연결선 구조체 확인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6F7BC-321A-9880-CD9B-482F9E599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int main()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    	struct edge e = {NULL, NULL, '-', 0};</a:t>
            </a:r>
          </a:p>
          <a:p>
            <a:pPr marL="0" indent="0">
              <a:buNone/>
            </a:pPr>
            <a:r>
              <a:rPr lang="en-US" altLang="ko-KR"/>
              <a:t>    	print_edge(&amp;e);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e.length = 1;</a:t>
            </a:r>
          </a:p>
          <a:p>
            <a:pPr marL="0" indent="0">
              <a:buNone/>
            </a:pPr>
            <a:r>
              <a:rPr lang="en-US" altLang="ko-KR"/>
              <a:t>    	print_edge(&amp;e);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e.length = 2;</a:t>
            </a:r>
          </a:p>
          <a:p>
            <a:pPr marL="0" indent="0">
              <a:buNone/>
            </a:pPr>
            <a:r>
              <a:rPr lang="en-US" altLang="ko-KR"/>
              <a:t>    	print_edge(&amp;e);	</a:t>
            </a:r>
          </a:p>
          <a:p>
            <a:pPr marL="0" indent="0">
              <a:buNone/>
            </a:pPr>
            <a:r>
              <a:rPr lang="en-US" altLang="ko-KR"/>
              <a:t>	return</a:t>
            </a:r>
            <a:r>
              <a:rPr lang="ko-KR" altLang="en-US"/>
              <a:t> </a:t>
            </a:r>
            <a:r>
              <a:rPr lang="en-US" altLang="ko-KR"/>
              <a:t>0;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62185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D6761-2B78-E855-79B9-06CCD80F2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74166-4C52-A4CE-B74C-2E6E029CB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129" y="262442"/>
            <a:ext cx="7709346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연결선 구조체 확인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77E35-75DB-D8CF-F5A9-1F5FF4158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연결선을 출력할 때</a:t>
            </a:r>
            <a:r>
              <a:rPr lang="en-US" altLang="ko-KR"/>
              <a:t>,</a:t>
            </a:r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>
                <a:solidFill>
                  <a:srgbClr val="FF0000"/>
                </a:solidFill>
              </a:rPr>
              <a:t>길이도</a:t>
            </a:r>
            <a:r>
              <a:rPr lang="ko-KR" altLang="en-US"/>
              <a:t> 출력한다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65428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E2D3F-EFAD-E727-4EA7-6FDA3E55B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252CD-019C-86C6-6C0E-D0F3CAE5D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226" y="262442"/>
            <a:ext cx="6696249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</a:t>
            </a:r>
            <a:r>
              <a:t> 출력 - </a:t>
            </a:r>
            <a:r>
              <a:rPr lang="ko-KR" altLang="en-US"/>
              <a:t>그래프 구조체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87384-2270-0F58-FB3B-BAEB905FD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struct graph {</a:t>
            </a:r>
          </a:p>
          <a:p>
            <a:pPr marL="0" indent="0">
              <a:buNone/>
            </a:pPr>
            <a:r>
              <a:rPr lang="en-US"/>
              <a:t>	struct node *vertexes;</a:t>
            </a:r>
          </a:p>
          <a:p>
            <a:pPr marL="0" indent="0">
              <a:buNone/>
            </a:pPr>
            <a:r>
              <a:rPr lang="en-US"/>
              <a:t>	int n_vertexes;</a:t>
            </a:r>
          </a:p>
          <a:p>
            <a:pPr marL="0" indent="0">
              <a:buNone/>
            </a:pPr>
            <a:r>
              <a:rPr lang="en-US" altLang="ko-KR"/>
              <a:t>	struct </a:t>
            </a:r>
            <a:r>
              <a:rPr lang="en-US" altLang="ko-KR">
                <a:solidFill>
                  <a:srgbClr val="FF0000"/>
                </a:solidFill>
              </a:rPr>
              <a:t>edge</a:t>
            </a:r>
            <a:r>
              <a:rPr lang="en-US" altLang="ko-KR"/>
              <a:t> *edges;</a:t>
            </a:r>
          </a:p>
          <a:p>
            <a:pPr marL="0" indent="0">
              <a:buNone/>
            </a:pPr>
            <a:r>
              <a:rPr lang="en-US" altLang="ko-KR"/>
              <a:t>	int n_edges;</a:t>
            </a:r>
          </a:p>
          <a:p>
            <a:pPr marL="0" indent="0">
              <a:buNone/>
            </a:pPr>
            <a:r>
              <a:rPr lang="en-US" altLang="ko-KR"/>
              <a:t>	struct edge ***adj;</a:t>
            </a:r>
          </a:p>
          <a:p>
            <a:pPr marL="0" indent="0">
              <a:buNone/>
            </a:pPr>
            <a:r>
              <a:rPr lang="en-US"/>
              <a:t>}</a:t>
            </a:r>
            <a:r>
              <a:rPr lang="en-US">
                <a:solidFill>
                  <a:srgbClr val="FF0000"/>
                </a:solidFill>
              </a:rPr>
              <a:t>;</a:t>
            </a:r>
            <a:endParaRPr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7833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A06B5-C9EE-4DD3-2148-6F5F16C26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9ABA4-79BF-E963-211B-7299DFE66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226" y="262442"/>
            <a:ext cx="6696249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그래프 구조체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77DF2-1612-3C08-F260-2D0933BA8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그래프</a:t>
            </a:r>
            <a:endParaRPr lang="en-US" altLang="ko-KR"/>
          </a:p>
          <a:p>
            <a:pPr marL="0" indent="0">
              <a:buNone/>
            </a:pPr>
            <a:r>
              <a:rPr lang="en-US"/>
              <a:t>	- V</a:t>
            </a:r>
            <a:r>
              <a:rPr lang="en-US" altLang="ko-KR"/>
              <a:t>: 		</a:t>
            </a:r>
            <a:r>
              <a:rPr lang="ko-KR" altLang="en-US"/>
              <a:t>노드 배열의 주소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n_V:		</a:t>
            </a:r>
            <a:r>
              <a:rPr lang="ko-KR" altLang="en-US"/>
              <a:t>노드 개수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E:		</a:t>
            </a:r>
            <a:r>
              <a:rPr lang="ko-KR" altLang="en-US"/>
              <a:t>연결선 배열의 주소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E_V:		</a:t>
            </a:r>
            <a:r>
              <a:rPr lang="ko-KR" altLang="en-US"/>
              <a:t>연결선 개수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adj:		</a:t>
            </a:r>
            <a:r>
              <a:rPr lang="ko-KR" altLang="en-US"/>
              <a:t>노드 인덱스 두개에 대한 연결선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		</a:t>
            </a:r>
            <a:r>
              <a:rPr lang="ko-KR" altLang="en-US"/>
              <a:t>이차원 배열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93395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E0AFE-1F36-74BE-912E-A061DC256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B3674-7727-C856-0AB2-BF7E0818E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129" y="262442"/>
            <a:ext cx="7709346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그래프 구조체 확인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A4F17-577E-D3AA-A4F5-9F65D9F3D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print_graph(struct graph *g)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/* </a:t>
            </a:r>
            <a:r>
              <a:rPr lang="ko-KR" altLang="en-US">
                <a:solidFill>
                  <a:srgbClr val="FF0000"/>
                </a:solidFill>
              </a:rPr>
              <a:t>노드</a:t>
            </a:r>
            <a:r>
              <a:rPr lang="ko-KR" altLang="en-US"/>
              <a:t> 출력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/>
              <a:t>	for</a:t>
            </a:r>
            <a:r>
              <a:rPr lang="ko-KR" altLang="en-US"/>
              <a:t> </a:t>
            </a:r>
            <a:r>
              <a:rPr lang="en-US" altLang="ko-KR"/>
              <a:t>(int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0;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/>
              <a:t> </a:t>
            </a:r>
            <a:r>
              <a:rPr lang="en-US" altLang="ko-KR"/>
              <a:t>&lt;</a:t>
            </a:r>
            <a:r>
              <a:rPr lang="ko-KR" altLang="en-US"/>
              <a:t> </a:t>
            </a:r>
            <a:r>
              <a:rPr lang="en-US" altLang="ko-KR"/>
              <a:t>g-&gt;n_vertexes; i++) {</a:t>
            </a:r>
          </a:p>
          <a:p>
            <a:pPr marL="0" indent="0">
              <a:buNone/>
            </a:pPr>
            <a:r>
              <a:rPr lang="en-US" altLang="ko-KR"/>
              <a:t>		print_node(g-&gt;vertexes + i);</a:t>
            </a:r>
          </a:p>
          <a:p>
            <a:pPr marL="0" indent="0">
              <a:buNone/>
            </a:pPr>
            <a:r>
              <a:rPr lang="en-US" altLang="ko-KR"/>
              <a:t>		printf(", ");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	printf("\n");</a:t>
            </a:r>
          </a:p>
        </p:txBody>
      </p:sp>
    </p:spTree>
    <p:extLst>
      <p:ext uri="{BB962C8B-B14F-4D97-AF65-F5344CB8AC3E}">
        <p14:creationId xmlns:p14="http://schemas.microsoft.com/office/powerpoint/2010/main" val="38908543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594F8-F160-E24E-9061-B1374AB34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04CEF-A6A3-0F96-7E15-A9766AD3B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129" y="262442"/>
            <a:ext cx="7709346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그래프 구조체 확인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2E113-DECC-DB73-0A04-AB963C55F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/* </a:t>
            </a:r>
            <a:r>
              <a:rPr lang="ko-KR" altLang="en-US"/>
              <a:t>연결선 출력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/>
              <a:t>	for</a:t>
            </a:r>
            <a:r>
              <a:rPr lang="ko-KR" altLang="en-US"/>
              <a:t> </a:t>
            </a:r>
            <a:r>
              <a:rPr lang="en-US" altLang="ko-KR"/>
              <a:t>(int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0;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/>
              <a:t> </a:t>
            </a:r>
            <a:r>
              <a:rPr lang="en-US" altLang="ko-KR"/>
              <a:t>&lt;</a:t>
            </a:r>
            <a:r>
              <a:rPr lang="ko-KR" altLang="en-US"/>
              <a:t> </a:t>
            </a:r>
            <a:r>
              <a:rPr lang="en-US" altLang="ko-KR"/>
              <a:t>g-&gt;n_edges; i++) {</a:t>
            </a:r>
          </a:p>
          <a:p>
            <a:pPr marL="0" indent="0">
              <a:buNone/>
            </a:pPr>
            <a:r>
              <a:rPr lang="en-US" altLang="ko-KR"/>
              <a:t>		printf("[");</a:t>
            </a:r>
          </a:p>
          <a:p>
            <a:pPr marL="0" indent="0">
              <a:buNone/>
            </a:pPr>
            <a:r>
              <a:rPr lang="en-US" altLang="ko-KR"/>
              <a:t>		print_node(g-&gt;edges[i].node1);</a:t>
            </a:r>
          </a:p>
          <a:p>
            <a:pPr marL="0" indent="0">
              <a:buNone/>
            </a:pPr>
            <a:r>
              <a:rPr lang="en-US" altLang="ko-KR"/>
              <a:t>		print_edge(g-&gt;edges + i);</a:t>
            </a:r>
          </a:p>
          <a:p>
            <a:pPr marL="0" indent="0">
              <a:buNone/>
            </a:pPr>
            <a:r>
              <a:rPr lang="en-US" altLang="ko-KR"/>
              <a:t>		print_node(g-&gt;edges[i].node2);</a:t>
            </a:r>
          </a:p>
          <a:p>
            <a:pPr marL="0" indent="0">
              <a:buNone/>
            </a:pPr>
            <a:r>
              <a:rPr lang="en-US" altLang="ko-KR"/>
              <a:t>		printf("], ");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	printf("\n");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335449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0CC16-CEDD-791B-8EEE-695C70953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A7411-9C38-B884-0670-3CB5CC2B0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130" y="262442"/>
            <a:ext cx="7709345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그래프 구조체 확인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C67E1-9954-A70E-C190-E52BC619F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int main()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    	struct graph g;</a:t>
            </a:r>
          </a:p>
          <a:p>
            <a:pPr marL="0" indent="0">
              <a:buNone/>
            </a:pPr>
            <a:r>
              <a:rPr lang="en-US" altLang="ko-KR"/>
              <a:t>	struct node n[5] = {</a:t>
            </a:r>
          </a:p>
          <a:p>
            <a:pPr marL="0" indent="0">
              <a:buNone/>
            </a:pPr>
            <a:r>
              <a:rPr lang="en-US" altLang="ko-KR"/>
              <a:t>		{'A', 0}, {'B', 1}, {'C', 2}, {'D', 3}, {'E', 4}</a:t>
            </a:r>
          </a:p>
          <a:p>
            <a:pPr marL="0" indent="0">
              <a:buNone/>
            </a:pPr>
            <a:r>
              <a:rPr lang="en-US" altLang="ko-KR"/>
              <a:t>	};</a:t>
            </a:r>
          </a:p>
          <a:p>
            <a:pPr marL="0" indent="0">
              <a:buNone/>
            </a:pPr>
            <a:r>
              <a:rPr lang="en-US" altLang="ko-KR"/>
              <a:t>	g.vertexes = n;</a:t>
            </a:r>
          </a:p>
          <a:p>
            <a:pPr marL="0" indent="0">
              <a:buNone/>
            </a:pPr>
            <a:r>
              <a:rPr lang="en-US" altLang="ko-KR"/>
              <a:t>	g.n_vertexes = 5;</a:t>
            </a:r>
          </a:p>
        </p:txBody>
      </p:sp>
    </p:spTree>
    <p:extLst>
      <p:ext uri="{BB962C8B-B14F-4D97-AF65-F5344CB8AC3E}">
        <p14:creationId xmlns:p14="http://schemas.microsoft.com/office/powerpoint/2010/main" val="34080796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6F3C5-11F3-EB00-161F-FBC656A44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EAD7F-C61B-893D-F49E-090CD29B5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130" y="262442"/>
            <a:ext cx="7709345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그래프 구조체 확인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FFF77-F406-36F5-F0A1-72920B9F0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struct edge edges[] = {</a:t>
            </a:r>
          </a:p>
          <a:p>
            <a:pPr marL="0" indent="0">
              <a:buNone/>
            </a:pPr>
            <a:r>
              <a:rPr lang="en-US" altLang="ko-KR"/>
              <a:t>		{n + 0, n + 1, '-'</a:t>
            </a:r>
            <a:r>
              <a:rPr lang="en-US" altLang="ko-KR">
                <a:solidFill>
                  <a:srgbClr val="FF0000"/>
                </a:solidFill>
              </a:rPr>
              <a:t>, 1</a:t>
            </a:r>
            <a:r>
              <a:rPr lang="en-US" altLang="ko-KR"/>
              <a:t>},</a:t>
            </a:r>
          </a:p>
          <a:p>
            <a:pPr marL="0" indent="0">
              <a:buNone/>
            </a:pPr>
            <a:r>
              <a:rPr lang="en-US" altLang="ko-KR"/>
              <a:t>		{n + 1, n + 2, '-'</a:t>
            </a:r>
            <a:r>
              <a:rPr lang="en-US" altLang="ko-KR">
                <a:solidFill>
                  <a:srgbClr val="FF0000"/>
                </a:solidFill>
              </a:rPr>
              <a:t>, 1</a:t>
            </a:r>
            <a:r>
              <a:rPr lang="en-US" altLang="ko-KR"/>
              <a:t>},</a:t>
            </a:r>
          </a:p>
          <a:p>
            <a:pPr marL="0" indent="0">
              <a:buNone/>
            </a:pPr>
            <a:r>
              <a:rPr lang="en-US" altLang="ko-KR"/>
              <a:t>		{n + 0, n + 3, '|'</a:t>
            </a:r>
            <a:r>
              <a:rPr lang="en-US" altLang="ko-KR">
                <a:solidFill>
                  <a:srgbClr val="FF0000"/>
                </a:solidFill>
              </a:rPr>
              <a:t>, 1</a:t>
            </a:r>
            <a:r>
              <a:rPr lang="en-US" altLang="ko-KR"/>
              <a:t>},</a:t>
            </a:r>
          </a:p>
          <a:p>
            <a:pPr marL="0" indent="0">
              <a:buNone/>
            </a:pPr>
            <a:r>
              <a:rPr lang="en-US" altLang="ko-KR"/>
              <a:t>		{n + 1, n + 3, '/'</a:t>
            </a:r>
            <a:r>
              <a:rPr lang="en-US" altLang="ko-KR">
                <a:solidFill>
                  <a:srgbClr val="FF0000"/>
                </a:solidFill>
              </a:rPr>
              <a:t>, 1</a:t>
            </a:r>
            <a:r>
              <a:rPr lang="en-US" altLang="ko-KR"/>
              <a:t>},</a:t>
            </a:r>
          </a:p>
          <a:p>
            <a:pPr marL="0" indent="0">
              <a:buNone/>
            </a:pPr>
            <a:r>
              <a:rPr lang="en-US" altLang="ko-KR"/>
              <a:t>		{n + 1, n + 4, '|'</a:t>
            </a:r>
            <a:r>
              <a:rPr lang="en-US" altLang="ko-KR">
                <a:solidFill>
                  <a:srgbClr val="FF0000"/>
                </a:solidFill>
              </a:rPr>
              <a:t>, 1</a:t>
            </a:r>
            <a:r>
              <a:rPr lang="en-US" altLang="ko-KR"/>
              <a:t>},</a:t>
            </a:r>
          </a:p>
          <a:p>
            <a:pPr marL="0" indent="0">
              <a:buNone/>
            </a:pPr>
            <a:r>
              <a:rPr lang="en-US" altLang="ko-KR"/>
              <a:t>		{n + 2, n + 4, '/'</a:t>
            </a:r>
            <a:r>
              <a:rPr lang="en-US" altLang="ko-KR">
                <a:solidFill>
                  <a:srgbClr val="FF0000"/>
                </a:solidFill>
              </a:rPr>
              <a:t>, 1</a:t>
            </a:r>
            <a:r>
              <a:rPr lang="en-US" altLang="ko-KR"/>
              <a:t>}</a:t>
            </a:r>
          </a:p>
          <a:p>
            <a:pPr marL="0" indent="0">
              <a:buNone/>
            </a:pPr>
            <a:r>
              <a:rPr lang="en-US" altLang="ko-KR"/>
              <a:t>	};</a:t>
            </a:r>
          </a:p>
          <a:p>
            <a:pPr marL="0" indent="0">
              <a:buNone/>
            </a:pPr>
            <a:r>
              <a:rPr lang="en-US" altLang="ko-KR"/>
              <a:t>	g.edges = edges;</a:t>
            </a:r>
          </a:p>
          <a:p>
            <a:pPr marL="0" indent="0">
              <a:buNone/>
            </a:pPr>
            <a:r>
              <a:rPr lang="en-US" altLang="ko-KR"/>
              <a:t>	g.n_edges = 6;</a:t>
            </a:r>
          </a:p>
        </p:txBody>
      </p:sp>
    </p:spTree>
    <p:extLst>
      <p:ext uri="{BB962C8B-B14F-4D97-AF65-F5344CB8AC3E}">
        <p14:creationId xmlns:p14="http://schemas.microsoft.com/office/powerpoint/2010/main" val="29308387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BB6EB-4732-E6C5-12A8-5403A9E47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6875E-7173-405C-B0C9-6900EA4D5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130" y="262442"/>
            <a:ext cx="7709345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그래프 구조체 확인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7AAF4-E550-DB52-4B33-1552A9CBF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print_graph(&amp;g);</a:t>
            </a:r>
          </a:p>
          <a:p>
            <a:pPr marL="0" indent="0">
              <a:buNone/>
            </a:pPr>
            <a:r>
              <a:rPr lang="en-US" altLang="ko-KR"/>
              <a:t>	return 0;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089146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617E0-D509-00E1-E6D5-EF5E794B8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5B300-C53E-1685-62DA-6DF451B4E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129" y="262442"/>
            <a:ext cx="7709346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그래프 구조체 확인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F3057-9203-1710-3521-455EB8B34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구조체 선언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초기값을 </a:t>
            </a:r>
            <a:r>
              <a:rPr lang="en-US" altLang="ko-KR"/>
              <a:t>{ } </a:t>
            </a:r>
            <a:r>
              <a:rPr lang="ko-KR" altLang="en-US"/>
              <a:t>안에 적을 때</a:t>
            </a:r>
            <a:r>
              <a:rPr lang="en-US" altLang="ko-KR"/>
              <a:t>, .</a:t>
            </a:r>
            <a:r>
              <a:rPr lang="ko-KR" altLang="en-US"/>
              <a:t>멤버 </a:t>
            </a:r>
            <a:r>
              <a:rPr lang="en-US" altLang="ko-KR"/>
              <a:t>= </a:t>
            </a:r>
            <a:r>
              <a:rPr lang="ko-KR" altLang="en-US"/>
              <a:t>형태로 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   </a:t>
            </a:r>
            <a:r>
              <a:rPr lang="ko-KR" altLang="en-US"/>
              <a:t>특정 멤버의 초기값을 정한다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배열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배열은 계산할 때 </a:t>
            </a:r>
            <a:r>
              <a:rPr lang="en-US" altLang="ko-KR"/>
              <a:t>0</a:t>
            </a:r>
            <a:r>
              <a:rPr lang="ko-KR" altLang="en-US"/>
              <a:t>번째 멤버의 주소가 된다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i </a:t>
            </a:r>
            <a:r>
              <a:rPr lang="ko-KR" altLang="en-US"/>
              <a:t>번째 멤버의 주소는 배열 </a:t>
            </a:r>
            <a:r>
              <a:rPr lang="en-US" altLang="ko-KR"/>
              <a:t>+ i</a:t>
            </a:r>
            <a:r>
              <a:rPr lang="ko-KR" altLang="en-US"/>
              <a:t>로 계산한다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325510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B8C95-F2C9-9D31-387B-441505930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39A84-7CCE-72FF-3305-96843D970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9556" y="262442"/>
            <a:ext cx="5772919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행렬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4A47F-BD77-B892-C895-AEB207421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make_adj_matrix(struct graph *g)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for</a:t>
            </a:r>
            <a:r>
              <a:rPr lang="ko-KR" altLang="en-US"/>
              <a:t> </a:t>
            </a:r>
            <a:r>
              <a:rPr lang="en-US" altLang="ko-KR"/>
              <a:t>(int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0;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/>
              <a:t> </a:t>
            </a:r>
            <a:r>
              <a:rPr lang="en-US" altLang="ko-KR"/>
              <a:t>&lt;</a:t>
            </a:r>
            <a:r>
              <a:rPr lang="ko-KR" altLang="en-US"/>
              <a:t> </a:t>
            </a:r>
            <a:r>
              <a:rPr lang="en-US" altLang="ko-KR"/>
              <a:t>g-&gt;n_edges; i++) {</a:t>
            </a:r>
          </a:p>
          <a:p>
            <a:pPr marL="0" indent="0">
              <a:buNone/>
            </a:pPr>
            <a:r>
              <a:rPr lang="en-US" altLang="ko-KR"/>
              <a:t>		struct edge *e = g-&gt;edges + i;</a:t>
            </a:r>
          </a:p>
          <a:p>
            <a:pPr marL="0" indent="0">
              <a:buNone/>
            </a:pPr>
            <a:r>
              <a:rPr lang="en-US" altLang="ko-KR"/>
              <a:t>		int n1 = e-&gt;node1-&gt;index;</a:t>
            </a:r>
          </a:p>
          <a:p>
            <a:pPr marL="0" indent="0">
              <a:buNone/>
            </a:pPr>
            <a:r>
              <a:rPr lang="en-US" altLang="ko-KR"/>
              <a:t>		int n2 = e-&gt;node2-&gt;index;</a:t>
            </a:r>
          </a:p>
          <a:p>
            <a:pPr marL="0" indent="0">
              <a:buNone/>
            </a:pPr>
            <a:r>
              <a:rPr lang="en-US" altLang="ko-KR"/>
              <a:t>		g-&gt;adj[n1][n2] = g-&gt;adj[n2][n1] = e;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564655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0D381-BE5B-88FD-BCDE-9FC029793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37532-E15E-7B41-6357-FD7407A3F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9556" y="262442"/>
            <a:ext cx="5772919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행렬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31A6D-DE5C-035E-CA7A-49BC7A65D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print_adj_matrix(struct graph *g)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/* </a:t>
            </a:r>
            <a:r>
              <a:rPr lang="ko-KR" altLang="en-US"/>
              <a:t>첫번째 행</a:t>
            </a:r>
            <a:r>
              <a:rPr lang="en-US" altLang="ko-KR"/>
              <a:t>: </a:t>
            </a:r>
            <a:r>
              <a:rPr lang="ko-KR" altLang="en-US"/>
              <a:t>노드 출력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/>
              <a:t>	printf("  ");</a:t>
            </a:r>
          </a:p>
          <a:p>
            <a:pPr marL="0" indent="0">
              <a:buNone/>
            </a:pPr>
            <a:r>
              <a:rPr lang="en-US" altLang="ko-KR"/>
              <a:t>	for (int i = 0; i &lt; g-&gt;n_vertexes; i++) {</a:t>
            </a:r>
          </a:p>
          <a:p>
            <a:pPr marL="0" indent="0">
              <a:buNone/>
            </a:pPr>
            <a:r>
              <a:rPr lang="en-US" altLang="ko-KR"/>
              <a:t>		printf("%c ", g-&gt;vertexes[i].data)</a:t>
            </a:r>
            <a:r>
              <a:rPr lang="en-US" altLang="ko-KR">
                <a:solidFill>
                  <a:srgbClr val="FF0000"/>
                </a:solidFill>
              </a:rPr>
              <a:t>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	printf("\n");</a:t>
            </a:r>
          </a:p>
          <a:p>
            <a:pPr marL="0" indent="0">
              <a:buNone/>
            </a:pPr>
            <a:r>
              <a:rPr lang="en-US" altLang="ko-KR"/>
              <a:t>	for (int i = 0; i &lt; g-&gt;n_vertexes; i++) {</a:t>
            </a:r>
          </a:p>
          <a:p>
            <a:pPr marL="0" indent="0">
              <a:buNone/>
            </a:pPr>
            <a:r>
              <a:rPr lang="en-US" altLang="ko-KR"/>
              <a:t>		/* </a:t>
            </a:r>
            <a:r>
              <a:rPr lang="ko-KR" altLang="en-US"/>
              <a:t>첫번째 열</a:t>
            </a:r>
            <a:r>
              <a:rPr lang="en-US" altLang="ko-KR"/>
              <a:t>: </a:t>
            </a:r>
            <a:r>
              <a:rPr lang="ko-KR" altLang="en-US"/>
              <a:t>노드 출력 </a:t>
            </a:r>
            <a:r>
              <a:rPr lang="en-US" altLang="ko-KR"/>
              <a:t>*/</a:t>
            </a:r>
          </a:p>
          <a:p>
            <a:pPr marL="0" indent="0">
              <a:buNone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67609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84D97-4644-6B34-4B9E-3ED58F95B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EDCBB-B502-6D3A-493C-839077412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9556" y="262442"/>
            <a:ext cx="5772919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행렬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F21C3-0FE3-961C-B378-29969C778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	printf("%c ", g-&gt;vertexes[i].data)</a:t>
            </a:r>
            <a:r>
              <a:rPr lang="en-US" altLang="ko-KR">
                <a:solidFill>
                  <a:srgbClr val="FF0000"/>
                </a:solidFill>
              </a:rPr>
              <a:t>;</a:t>
            </a:r>
          </a:p>
          <a:p>
            <a:pPr marL="0" indent="0">
              <a:buNone/>
            </a:pPr>
            <a:r>
              <a:rPr lang="en-US" altLang="ko-KR"/>
              <a:t>		for</a:t>
            </a:r>
            <a:r>
              <a:rPr lang="ko-KR" altLang="en-US"/>
              <a:t> </a:t>
            </a:r>
            <a:r>
              <a:rPr lang="en-US" altLang="ko-KR"/>
              <a:t>(int</a:t>
            </a:r>
            <a:r>
              <a:rPr lang="ko-KR" altLang="en-US"/>
              <a:t> </a:t>
            </a:r>
            <a:r>
              <a:rPr lang="en-US" altLang="ko-KR"/>
              <a:t>j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0;</a:t>
            </a:r>
            <a:r>
              <a:rPr lang="ko-KR" altLang="en-US"/>
              <a:t> </a:t>
            </a:r>
            <a:r>
              <a:rPr lang="en-US" altLang="ko-KR"/>
              <a:t>j</a:t>
            </a:r>
            <a:r>
              <a:rPr lang="ko-KR" altLang="en-US"/>
              <a:t> </a:t>
            </a:r>
            <a:r>
              <a:rPr lang="en-US" altLang="ko-KR"/>
              <a:t>&lt;</a:t>
            </a:r>
            <a:r>
              <a:rPr lang="ko-KR" altLang="en-US"/>
              <a:t> </a:t>
            </a:r>
            <a:r>
              <a:rPr lang="en-US" altLang="ko-KR"/>
              <a:t>g-&gt;n_vertexes;</a:t>
            </a:r>
            <a:r>
              <a:rPr lang="ko-KR" altLang="en-US"/>
              <a:t> </a:t>
            </a:r>
            <a:r>
              <a:rPr lang="en-US" altLang="ko-KR"/>
              <a:t>j++)</a:t>
            </a:r>
            <a:r>
              <a:rPr lang="ko-KR" altLang="en-US"/>
              <a:t> </a:t>
            </a: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		if (g-&gt;adj[i][j] == NULL) </a:t>
            </a:r>
          </a:p>
          <a:p>
            <a:pPr marL="0" indent="0">
              <a:buNone/>
            </a:pPr>
            <a:r>
              <a:rPr lang="en-US" altLang="ko-KR"/>
              <a:t>			        printf("  ");</a:t>
            </a:r>
          </a:p>
          <a:p>
            <a:pPr marL="0" indent="0">
              <a:buNone/>
            </a:pPr>
            <a:r>
              <a:rPr lang="en-US" altLang="ko-KR"/>
              <a:t>			else</a:t>
            </a:r>
          </a:p>
          <a:p>
            <a:pPr marL="0" indent="0">
              <a:buNone/>
            </a:pPr>
            <a:r>
              <a:rPr lang="en-US" altLang="ko-KR"/>
              <a:t>			        printf("%c ", g-&gt;adj[i][j]-&gt;shape);	</a:t>
            </a:r>
          </a:p>
          <a:p>
            <a:pPr marL="0" indent="0">
              <a:buNone/>
            </a:pPr>
            <a:r>
              <a:rPr lang="en-US" altLang="ko-KR"/>
              <a:t>		}</a:t>
            </a:r>
          </a:p>
          <a:p>
            <a:pPr marL="0" indent="0">
              <a:buNone/>
            </a:pPr>
            <a:r>
              <a:rPr lang="en-US" altLang="ko-KR"/>
              <a:t>		printf("\n");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544822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58E22-32FB-CBE1-37B9-542FA4237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0925A-7A54-7F6E-B8F3-669C73B8C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9556" y="262442"/>
            <a:ext cx="5772919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행렬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C30B3-B926-A272-2E70-3D6924C41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int main() {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/* </a:t>
            </a:r>
            <a:r>
              <a:rPr lang="ko-KR" altLang="en-US">
                <a:solidFill>
                  <a:srgbClr val="FF0000"/>
                </a:solidFill>
              </a:rPr>
              <a:t>이전 내용에 이어서 </a:t>
            </a:r>
            <a:r>
              <a:rPr lang="en-US" altLang="ko-KR">
                <a:solidFill>
                  <a:srgbClr val="FF0000"/>
                </a:solidFill>
              </a:rPr>
              <a:t>*/</a:t>
            </a:r>
          </a:p>
          <a:p>
            <a:pPr marL="0" indent="0">
              <a:buNone/>
            </a:pPr>
            <a:r>
              <a:rPr lang="en-US" altLang="ko-KR"/>
              <a:t>	struct edge *</a:t>
            </a:r>
            <a:r>
              <a:rPr lang="en-US" altLang="ko-KR">
                <a:solidFill>
                  <a:srgbClr val="FF0000"/>
                </a:solidFill>
              </a:rPr>
              <a:t>mat</a:t>
            </a:r>
            <a:r>
              <a:rPr lang="en-US" altLang="ko-KR"/>
              <a:t>[6][6] = { 0 };</a:t>
            </a:r>
          </a:p>
          <a:p>
            <a:pPr marL="0" indent="0">
              <a:buNone/>
            </a:pPr>
            <a:r>
              <a:rPr lang="en-US" altLang="ko-KR"/>
              <a:t>	struct edge *</a:t>
            </a:r>
            <a:r>
              <a:rPr lang="en-US" altLang="ko-KR">
                <a:solidFill>
                  <a:srgbClr val="FF0000"/>
                </a:solidFill>
              </a:rPr>
              <a:t>*rows</a:t>
            </a:r>
            <a:r>
              <a:rPr lang="en-US" altLang="ko-KR"/>
              <a:t>[6] = {</a:t>
            </a:r>
            <a:r>
              <a:rPr lang="en-US" altLang="ko-KR">
                <a:solidFill>
                  <a:srgbClr val="FF0000"/>
                </a:solidFill>
              </a:rPr>
              <a:t>mat</a:t>
            </a:r>
            <a:r>
              <a:rPr lang="en-US" altLang="ko-KR"/>
              <a:t>[0], </a:t>
            </a:r>
            <a:r>
              <a:rPr lang="en-US" altLang="ko-KR">
                <a:solidFill>
                  <a:srgbClr val="FF0000"/>
                </a:solidFill>
              </a:rPr>
              <a:t>mat</a:t>
            </a:r>
            <a:r>
              <a:rPr lang="en-US" altLang="ko-KR"/>
              <a:t>[1], </a:t>
            </a:r>
            <a:r>
              <a:rPr lang="en-US" altLang="ko-KR">
                <a:solidFill>
                  <a:srgbClr val="FF0000"/>
                </a:solidFill>
              </a:rPr>
              <a:t>mat</a:t>
            </a:r>
            <a:r>
              <a:rPr lang="en-US" altLang="ko-KR"/>
              <a:t>[2],</a:t>
            </a:r>
          </a:p>
          <a:p>
            <a:pPr marL="0" indent="0">
              <a:buNone/>
            </a:pPr>
            <a:r>
              <a:rPr lang="en-US" altLang="ko-KR"/>
              <a:t>		</a:t>
            </a:r>
            <a:r>
              <a:rPr lang="en-US" altLang="ko-KR">
                <a:solidFill>
                  <a:srgbClr val="FF0000"/>
                </a:solidFill>
              </a:rPr>
              <a:t>mat</a:t>
            </a:r>
            <a:r>
              <a:rPr lang="en-US" altLang="ko-KR"/>
              <a:t>[3], </a:t>
            </a:r>
            <a:r>
              <a:rPr lang="en-US" altLang="ko-KR">
                <a:solidFill>
                  <a:srgbClr val="FF0000"/>
                </a:solidFill>
              </a:rPr>
              <a:t>mat</a:t>
            </a:r>
            <a:r>
              <a:rPr lang="en-US" altLang="ko-KR"/>
              <a:t>[4], </a:t>
            </a:r>
            <a:r>
              <a:rPr lang="en-US" altLang="ko-KR">
                <a:solidFill>
                  <a:srgbClr val="FF0000"/>
                </a:solidFill>
              </a:rPr>
              <a:t>mat</a:t>
            </a:r>
            <a:r>
              <a:rPr lang="en-US" altLang="ko-KR"/>
              <a:t>[5]};</a:t>
            </a:r>
          </a:p>
          <a:p>
            <a:pPr marL="0" indent="0">
              <a:buNone/>
            </a:pPr>
            <a:r>
              <a:rPr lang="en-US" altLang="ko-KR"/>
              <a:t>	g.adj = </a:t>
            </a:r>
            <a:r>
              <a:rPr lang="en-US" altLang="ko-KR">
                <a:solidFill>
                  <a:srgbClr val="FF0000"/>
                </a:solidFill>
              </a:rPr>
              <a:t>rows</a:t>
            </a:r>
            <a:r>
              <a:rPr lang="en-US" altLang="ko-KR"/>
              <a:t>;</a:t>
            </a:r>
          </a:p>
          <a:p>
            <a:pPr marL="0" indent="0">
              <a:buNone/>
            </a:pPr>
            <a:r>
              <a:rPr lang="en-US" altLang="ko-KR"/>
              <a:t>	make_adj_matrix(&amp;g);</a:t>
            </a:r>
          </a:p>
          <a:p>
            <a:pPr marL="0" indent="0">
              <a:buNone/>
            </a:pPr>
            <a:r>
              <a:rPr lang="en-US" altLang="ko-KR"/>
              <a:t>	print_adj_matrix(&amp;g);</a:t>
            </a:r>
          </a:p>
          <a:p>
            <a:pPr marL="0" indent="0">
              <a:buNone/>
            </a:pPr>
            <a:r>
              <a:rPr lang="en-US" altLang="ko-KR"/>
              <a:t>	return 0;</a:t>
            </a:r>
          </a:p>
          <a:p>
            <a:pPr marL="0" indent="0">
              <a:buNone/>
            </a:pPr>
            <a:r>
              <a:rPr lang="en-US" altLang="ko-KR"/>
              <a:t>}	</a:t>
            </a:r>
          </a:p>
        </p:txBody>
      </p:sp>
    </p:spTree>
    <p:extLst>
      <p:ext uri="{BB962C8B-B14F-4D97-AF65-F5344CB8AC3E}">
        <p14:creationId xmlns:p14="http://schemas.microsoft.com/office/powerpoint/2010/main" val="5714876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70E2A-AAAE-0627-0BB3-31BB1323D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DB133-4913-F678-A6BF-8A1A3C1BF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9556" y="262442"/>
            <a:ext cx="5772919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행렬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ED17D-500A-EBE7-37D8-BB06D94B5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인접 행렬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인접 행렬은 두 노드에 대한 연결선 주소를 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   </a:t>
            </a:r>
            <a:r>
              <a:rPr lang="ko-KR" altLang="en-US"/>
              <a:t>저장한 행렬이다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6588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59F34-FDF9-394C-21C4-E8C2596A8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8FB8F-AF66-8E1F-EA42-1E6AA4738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891" y="262442"/>
            <a:ext cx="6234584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리스트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0545C-E32B-9BB0-5B1F-3DC4AD396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struct elist *new_elist(struct edge *e, struct elist *n)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{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struct elist *el = malloc(sizeof(struct elist));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if (el == NULL) return NULL;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el-&gt;edge = e;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el-&gt;next = n;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return el;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648991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D4C96-FED7-56E7-0F2B-E79D2BC4D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80EB0-8557-8261-0B02-C5DA1F246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891" y="262442"/>
            <a:ext cx="6234584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리스트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3CAC2-63A9-0B7E-F1D3-A9D70F5B1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make_adj_list(struct graph *g)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for</a:t>
            </a:r>
            <a:r>
              <a:rPr lang="ko-KR" altLang="en-US"/>
              <a:t> </a:t>
            </a:r>
            <a:r>
              <a:rPr lang="en-US" altLang="ko-KR"/>
              <a:t>(int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>
                <a:solidFill>
                  <a:srgbClr val="FF0000"/>
                </a:solidFill>
              </a:rPr>
              <a:t>g-&gt;n_edges - 1</a:t>
            </a:r>
            <a:r>
              <a:rPr lang="en-US" altLang="ko-KR"/>
              <a:t>;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>
                <a:solidFill>
                  <a:srgbClr val="FF0000"/>
                </a:solidFill>
              </a:rPr>
              <a:t> </a:t>
            </a:r>
            <a:r>
              <a:rPr lang="en-US" altLang="ko-KR">
                <a:solidFill>
                  <a:srgbClr val="FF0000"/>
                </a:solidFill>
              </a:rPr>
              <a:t>&gt;=</a:t>
            </a:r>
            <a:r>
              <a:rPr lang="ko-KR" altLang="en-US">
                <a:solidFill>
                  <a:srgbClr val="FF0000"/>
                </a:solidFill>
              </a:rPr>
              <a:t> </a:t>
            </a:r>
            <a:r>
              <a:rPr lang="en-US" altLang="ko-KR">
                <a:solidFill>
                  <a:srgbClr val="FF0000"/>
                </a:solidFill>
              </a:rPr>
              <a:t>0</a:t>
            </a:r>
            <a:r>
              <a:rPr lang="en-US" altLang="ko-KR"/>
              <a:t>; i</a:t>
            </a:r>
            <a:r>
              <a:rPr lang="en-US" altLang="ko-KR">
                <a:solidFill>
                  <a:srgbClr val="FF0000"/>
                </a:solidFill>
              </a:rPr>
              <a:t>--</a:t>
            </a:r>
            <a:r>
              <a:rPr lang="en-US" altLang="ko-KR"/>
              <a:t>) {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	struct edge *e = g-&gt;edges + i;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	struct node *u = e-&gt;node1;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	struct node *v = e-&gt;node2;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	struct elist *eu = new_elist(e, u-&gt;adj);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	if (eu != NULL)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		u-&gt;adj = eu;</a:t>
            </a:r>
          </a:p>
        </p:txBody>
      </p:sp>
    </p:spTree>
    <p:extLst>
      <p:ext uri="{BB962C8B-B14F-4D97-AF65-F5344CB8AC3E}">
        <p14:creationId xmlns:p14="http://schemas.microsoft.com/office/powerpoint/2010/main" val="22630180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EFB26-BA52-B96B-F69C-CA4404F5D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C7CFF-A215-6EDC-1A9E-03477D719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891" y="262442"/>
            <a:ext cx="6234584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리스트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7B2E0-BEA5-7645-73FC-D61ED77F3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	struct elist *ev = new_elist(e, v-&gt;adj);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	if (ev != NULL)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		v-&gt;adj = ev;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51318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93476-E065-707F-833B-264FE2F1E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5DCFF-D4B1-DF8D-76D0-07F8E2872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891" y="262442"/>
            <a:ext cx="6234584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리스트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89352-A60B-BF9F-D023-33DD457AA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free_adj_list(struct graph *g)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for</a:t>
            </a:r>
            <a:r>
              <a:rPr lang="ko-KR" altLang="en-US"/>
              <a:t> </a:t>
            </a:r>
            <a:r>
              <a:rPr lang="en-US" altLang="ko-KR"/>
              <a:t>(int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0;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/>
              <a:t> </a:t>
            </a:r>
            <a:r>
              <a:rPr lang="en-US" altLang="ko-KR"/>
              <a:t>&lt;</a:t>
            </a:r>
            <a:r>
              <a:rPr lang="ko-KR" altLang="en-US"/>
              <a:t> </a:t>
            </a:r>
            <a:r>
              <a:rPr lang="en-US" altLang="ko-KR"/>
              <a:t>g-&gt;n_vertexes; i++) {</a:t>
            </a:r>
          </a:p>
          <a:p>
            <a:pPr marL="0" indent="0">
              <a:buNone/>
            </a:pPr>
            <a:r>
              <a:rPr lang="en-US" altLang="ko-KR"/>
              <a:t>		while (g-&gt;vertexes[i].adj != NULL) {</a:t>
            </a:r>
          </a:p>
          <a:p>
            <a:pPr marL="0" indent="0">
              <a:buNone/>
            </a:pPr>
            <a:r>
              <a:rPr lang="en-US" altLang="ko-KR"/>
              <a:t>			struct elist *l = g-&gt;vertexes[i].adj;</a:t>
            </a:r>
          </a:p>
          <a:p>
            <a:pPr marL="0" indent="0">
              <a:buNone/>
            </a:pPr>
            <a:r>
              <a:rPr lang="en-US" altLang="ko-KR"/>
              <a:t>			g-&gt;vertexes[i].adj = l-&gt;next;</a:t>
            </a:r>
          </a:p>
          <a:p>
            <a:pPr marL="0" indent="0">
              <a:buNone/>
            </a:pPr>
            <a:r>
              <a:rPr lang="en-US" altLang="ko-KR"/>
              <a:t>			free(l);</a:t>
            </a:r>
          </a:p>
          <a:p>
            <a:pPr marL="0" indent="0">
              <a:buNone/>
            </a:pPr>
            <a:r>
              <a:rPr lang="en-US" altLang="ko-KR"/>
              <a:t>		}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6989913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ECC10-0BCF-FC94-934F-8E94227AF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E40B8-7A12-FE54-1306-941A98B07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891" y="262442"/>
            <a:ext cx="6234584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리스트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2247C-0685-985F-7F5B-5BB5156BF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print_adj_list(struct graph *g)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for</a:t>
            </a:r>
            <a:r>
              <a:rPr lang="ko-KR" altLang="en-US"/>
              <a:t> </a:t>
            </a:r>
            <a:r>
              <a:rPr lang="en-US" altLang="ko-KR"/>
              <a:t>(int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0;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/>
              <a:t> </a:t>
            </a:r>
            <a:r>
              <a:rPr lang="en-US" altLang="ko-KR"/>
              <a:t>&lt;</a:t>
            </a:r>
            <a:r>
              <a:rPr lang="ko-KR" altLang="en-US"/>
              <a:t> </a:t>
            </a:r>
            <a:r>
              <a:rPr lang="en-US" altLang="ko-KR"/>
              <a:t>g-&gt;n_vertexes; i++) {</a:t>
            </a:r>
          </a:p>
          <a:p>
            <a:pPr marL="0" indent="0">
              <a:buNone/>
            </a:pPr>
            <a:r>
              <a:rPr lang="en-US" altLang="ko-KR"/>
              <a:t>		struct node *n = g-&gt;vertexes + i;</a:t>
            </a:r>
          </a:p>
          <a:p>
            <a:pPr marL="0" indent="0">
              <a:buNone/>
            </a:pPr>
            <a:r>
              <a:rPr lang="en-US" altLang="ko-KR"/>
              <a:t>		printf("%c: ", n-&gt;data);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	struct elist *e = n-&gt;adj;</a:t>
            </a:r>
          </a:p>
          <a:p>
            <a:pPr marL="0" indent="0">
              <a:buNone/>
            </a:pPr>
            <a:r>
              <a:rPr lang="en-US" altLang="ko-KR"/>
              <a:t>		while (e != NULL) {</a:t>
            </a:r>
          </a:p>
        </p:txBody>
      </p:sp>
    </p:spTree>
    <p:extLst>
      <p:ext uri="{BB962C8B-B14F-4D97-AF65-F5344CB8AC3E}">
        <p14:creationId xmlns:p14="http://schemas.microsoft.com/office/powerpoint/2010/main" val="25932357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43CB5-5DEF-5754-91F0-B5299B562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91321-BC3B-C1E2-2EC8-2F2070B30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891" y="262442"/>
            <a:ext cx="6234584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리스트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5DAC1-3826-E532-1112-EFDD57913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		struct node *near = e-&gt;edge-&gt;node1;</a:t>
            </a:r>
          </a:p>
          <a:p>
            <a:pPr marL="0" indent="0">
              <a:buNone/>
            </a:pPr>
            <a:r>
              <a:rPr lang="en-US" altLang="ko-KR"/>
              <a:t>			if (near == n) {</a:t>
            </a:r>
          </a:p>
          <a:p>
            <a:pPr marL="0" indent="0">
              <a:buNone/>
            </a:pPr>
            <a:r>
              <a:rPr lang="en-US" altLang="ko-KR"/>
              <a:t>				near = e-&gt;edge-&gt;node2;</a:t>
            </a:r>
          </a:p>
          <a:p>
            <a:pPr marL="0" indent="0">
              <a:buNone/>
            </a:pPr>
            <a:r>
              <a:rPr lang="en-US" altLang="ko-KR"/>
              <a:t>			}</a:t>
            </a:r>
          </a:p>
          <a:p>
            <a:pPr marL="0" indent="0">
              <a:buNone/>
            </a:pPr>
            <a:r>
              <a:rPr lang="en-US" altLang="ko-KR"/>
              <a:t>			printf("%c ", near-&gt;data);</a:t>
            </a:r>
          </a:p>
          <a:p>
            <a:pPr marL="0" indent="0">
              <a:buNone/>
            </a:pPr>
            <a:r>
              <a:rPr lang="en-US" altLang="ko-KR"/>
              <a:t>			e = e-&gt;next;</a:t>
            </a:r>
          </a:p>
          <a:p>
            <a:pPr marL="0" indent="0">
              <a:buNone/>
            </a:pPr>
            <a:r>
              <a:rPr lang="en-US" altLang="ko-KR"/>
              <a:t>		}</a:t>
            </a:r>
          </a:p>
          <a:p>
            <a:pPr marL="0" indent="0">
              <a:buNone/>
            </a:pPr>
            <a:r>
              <a:rPr lang="en-US" altLang="ko-KR"/>
              <a:t>		printf("\n");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120660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01B17-CF0B-A0B5-AC13-60F075D0E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471F0-3059-B01D-F521-959304597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891" y="262442"/>
            <a:ext cx="6234584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리스트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9FDCD-C045-8CA0-8DCD-5BD6FF846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int main() {</a:t>
            </a:r>
          </a:p>
          <a:p>
            <a:pPr marL="0" indent="0">
              <a:buNone/>
            </a:pPr>
            <a:r>
              <a:rPr lang="en-US" altLang="ko-KR"/>
              <a:t>	/* </a:t>
            </a:r>
            <a:r>
              <a:rPr lang="ko-KR" altLang="en-US"/>
              <a:t>이전 내용에 이어서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/>
              <a:t>	make_adj_list(&amp;g);</a:t>
            </a:r>
          </a:p>
          <a:p>
            <a:pPr marL="0" indent="0">
              <a:buNone/>
            </a:pPr>
            <a:r>
              <a:rPr lang="en-US" altLang="ko-KR"/>
              <a:t>	print_adj_list(&amp;g);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free_adj_list(&amp;g);</a:t>
            </a:r>
          </a:p>
          <a:p>
            <a:pPr marL="0" indent="0">
              <a:buNone/>
            </a:pPr>
            <a:r>
              <a:rPr lang="en-US" altLang="ko-KR"/>
              <a:t>	return 0;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787929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C6248-0159-1C30-B40C-63F0EC141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F4955-AD84-A4AB-9A9E-977E3058B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891" y="262442"/>
            <a:ext cx="6234584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리스트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FB8D1-1BD7-3097-1DB4-283245058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인접 리스트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인접 리스트는 노드 마다 가지고 있는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   </a:t>
            </a:r>
            <a:r>
              <a:rPr lang="ko-KR" altLang="en-US"/>
              <a:t>그 노드에 연결된 연결선의 리스트다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링크드 리스트에 추가하는 순서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head</a:t>
            </a:r>
            <a:r>
              <a:rPr lang="ko-KR" altLang="en-US"/>
              <a:t>에 추가를 하기 때문에</a:t>
            </a:r>
            <a:r>
              <a:rPr lang="en-US" altLang="ko-KR"/>
              <a:t>, </a:t>
            </a:r>
            <a:r>
              <a:rPr lang="ko-KR" altLang="en-US"/>
              <a:t>마지막부터 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  </a:t>
            </a:r>
            <a:r>
              <a:rPr lang="ko-KR" altLang="en-US"/>
              <a:t>역순으로 추가한다</a:t>
            </a:r>
            <a:r>
              <a:rPr lang="en-US" altLang="ko-KR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477731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AFB0C-30AC-4D46-1BBC-089A342F0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B0C01-7B9F-8EFF-328E-B3887A4B9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488" y="262442"/>
            <a:ext cx="6022987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- 3</a:t>
            </a:r>
            <a:r>
              <a:rPr lang="ko-KR" altLang="en-US"/>
              <a:t>열 그래프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2CE1E-CAEE-BF16-78B0-A1B0262CE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print_graph_3col(struct graph *g)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int n_vertexes = g-&gt;n_vertexes;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/* </a:t>
            </a:r>
            <a:r>
              <a:rPr lang="ko-KR" altLang="en-US"/>
              <a:t>첫번째 행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/>
              <a:t>	for</a:t>
            </a:r>
            <a:r>
              <a:rPr lang="ko-KR" altLang="en-US"/>
              <a:t> </a:t>
            </a:r>
            <a:r>
              <a:rPr lang="en-US" altLang="ko-KR"/>
              <a:t>(int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0;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/>
              <a:t> </a:t>
            </a:r>
            <a:r>
              <a:rPr lang="en-US" altLang="ko-KR"/>
              <a:t>&lt;</a:t>
            </a:r>
            <a:r>
              <a:rPr lang="ko-KR" altLang="en-US"/>
              <a:t> </a:t>
            </a:r>
            <a:r>
              <a:rPr lang="en-US" altLang="ko-KR"/>
              <a:t>3 &amp;&amp; i &lt; n_vertexes; i++) {</a:t>
            </a:r>
          </a:p>
          <a:p>
            <a:pPr marL="0" indent="0">
              <a:buNone/>
            </a:pPr>
            <a:r>
              <a:rPr lang="en-US" altLang="ko-KR"/>
              <a:t>		print_node(g-&gt;vertexes + i);</a:t>
            </a:r>
          </a:p>
          <a:p>
            <a:pPr marL="0" indent="0">
              <a:buNone/>
            </a:pPr>
            <a:r>
              <a:rPr lang="en-US" altLang="ko-KR"/>
              <a:t>		print_edge(g-&gt;adj[i][i + 1]);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	printf("\n");</a:t>
            </a:r>
          </a:p>
        </p:txBody>
      </p:sp>
    </p:spTree>
    <p:extLst>
      <p:ext uri="{BB962C8B-B14F-4D97-AF65-F5344CB8AC3E}">
        <p14:creationId xmlns:p14="http://schemas.microsoft.com/office/powerpoint/2010/main" val="35141553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66376-B040-64D0-6D68-F4CA5A4A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5807F-FAD7-5BE9-0671-12E6A3B9D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488" y="262442"/>
            <a:ext cx="6022987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- 3</a:t>
            </a:r>
            <a:r>
              <a:rPr lang="ko-KR" altLang="en-US"/>
              <a:t>열 그래프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EE7C5-F95E-D885-89EE-203F324C8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for</a:t>
            </a:r>
            <a:r>
              <a:rPr lang="ko-KR" altLang="en-US"/>
              <a:t> </a:t>
            </a:r>
            <a:r>
              <a:rPr lang="en-US" altLang="ko-KR"/>
              <a:t>(int</a:t>
            </a:r>
            <a:r>
              <a:rPr lang="ko-KR" altLang="en-US"/>
              <a:t> </a:t>
            </a:r>
            <a:r>
              <a:rPr lang="en-US" altLang="ko-KR"/>
              <a:t>row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1;</a:t>
            </a:r>
            <a:r>
              <a:rPr lang="ko-KR" altLang="en-US"/>
              <a:t> </a:t>
            </a:r>
            <a:r>
              <a:rPr lang="en-US" altLang="ko-KR"/>
              <a:t>row &lt;= n_vertexes / 3; row++) {</a:t>
            </a:r>
          </a:p>
          <a:p>
            <a:pPr marL="0" indent="0">
              <a:buNone/>
            </a:pPr>
            <a:r>
              <a:rPr lang="en-US" altLang="ko-KR"/>
              <a:t>		int i;</a:t>
            </a:r>
          </a:p>
          <a:p>
            <a:pPr marL="0" indent="0">
              <a:buNone/>
            </a:pPr>
            <a:r>
              <a:rPr lang="en-US" altLang="ko-KR"/>
              <a:t>		for (i = row * 3; i &lt; row * 3 + 2 </a:t>
            </a:r>
          </a:p>
          <a:p>
            <a:pPr marL="0" indent="0">
              <a:buNone/>
            </a:pPr>
            <a:r>
              <a:rPr lang="en-US" altLang="ko-KR"/>
              <a:t>				&amp;&amp; i &lt; n_vertexes; i++) {</a:t>
            </a:r>
          </a:p>
          <a:p>
            <a:pPr marL="0" indent="0">
              <a:buNone/>
            </a:pPr>
            <a:r>
              <a:rPr lang="en-US" altLang="ko-KR"/>
              <a:t>			print_edge(g-&gt;adj[i][i - 3]);</a:t>
            </a:r>
          </a:p>
          <a:p>
            <a:pPr marL="0" indent="0">
              <a:buNone/>
            </a:pPr>
            <a:r>
              <a:rPr lang="en-US" altLang="ko-KR"/>
              <a:t>			print_edge(g-&gt;adj[i][i - 2]);</a:t>
            </a:r>
          </a:p>
          <a:p>
            <a:pPr marL="0" indent="0">
              <a:buNone/>
            </a:pPr>
            <a:r>
              <a:rPr lang="en-US" altLang="ko-KR"/>
              <a:t>		}</a:t>
            </a:r>
          </a:p>
          <a:p>
            <a:pPr marL="0" indent="0">
              <a:buNone/>
            </a:pPr>
            <a:r>
              <a:rPr lang="en-US" altLang="ko-KR"/>
              <a:t>		if (i &lt; n_vertexes)</a:t>
            </a:r>
          </a:p>
          <a:p>
            <a:pPr marL="0" indent="0">
              <a:buNone/>
            </a:pPr>
            <a:r>
              <a:rPr lang="en-US" altLang="ko-KR"/>
              <a:t>			print_edge(g-&gt;adj[i][i - 3]);</a:t>
            </a:r>
          </a:p>
          <a:p>
            <a:pPr marL="0" indent="0">
              <a:buNone/>
            </a:pPr>
            <a:r>
              <a:rPr lang="en-US" altLang="ko-KR"/>
              <a:t>		printf("\n");</a:t>
            </a:r>
          </a:p>
        </p:txBody>
      </p:sp>
    </p:spTree>
    <p:extLst>
      <p:ext uri="{BB962C8B-B14F-4D97-AF65-F5344CB8AC3E}">
        <p14:creationId xmlns:p14="http://schemas.microsoft.com/office/powerpoint/2010/main" val="37188972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E6E20-B595-9449-92E3-B136B50BB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80F2B-8CD2-40B6-2BD2-E6305AA46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9719" y="262442"/>
            <a:ext cx="6112756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- 3</a:t>
            </a:r>
            <a:r>
              <a:rPr lang="ko-KR" altLang="en-US"/>
              <a:t>열 그래프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C3EE7-FDAD-3AA5-2576-0E2CDDC9F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	for (i = row * 3; i &lt;= row * 3 + 2 </a:t>
            </a:r>
          </a:p>
          <a:p>
            <a:pPr marL="0" indent="0">
              <a:buNone/>
            </a:pPr>
            <a:r>
              <a:rPr lang="en-US" altLang="ko-KR"/>
              <a:t>				&amp;&amp; i &lt; n_vertexes; i++) {</a:t>
            </a:r>
          </a:p>
          <a:p>
            <a:pPr marL="0" indent="0">
              <a:buNone/>
            </a:pPr>
            <a:r>
              <a:rPr lang="en-US" altLang="ko-KR"/>
              <a:t>			print_node(g-&gt;vertexes + i);</a:t>
            </a:r>
          </a:p>
          <a:p>
            <a:pPr marL="0" indent="0">
              <a:buNone/>
            </a:pPr>
            <a:r>
              <a:rPr lang="en-US" altLang="ko-KR"/>
              <a:t>			print_edge(g-&gt;adj[i][i + 1]);</a:t>
            </a:r>
          </a:p>
          <a:p>
            <a:pPr marL="0" indent="0">
              <a:buNone/>
            </a:pPr>
            <a:r>
              <a:rPr lang="en-US" altLang="ko-KR"/>
              <a:t>		}</a:t>
            </a:r>
          </a:p>
          <a:p>
            <a:pPr marL="0" indent="0">
              <a:buNone/>
            </a:pPr>
            <a:r>
              <a:rPr lang="en-US" altLang="ko-KR"/>
              <a:t>		printf("\n");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638714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8E4EF-9A41-0691-D8BE-92ADD94DE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16887-138F-4BBD-F7A3-4176931DF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891" y="262442"/>
            <a:ext cx="6234584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- 3</a:t>
            </a:r>
            <a:r>
              <a:rPr lang="ko-KR" altLang="en-US"/>
              <a:t>열 그래프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7AD2B-3049-B9F0-7208-B6D9C7A22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int main() {</a:t>
            </a:r>
          </a:p>
          <a:p>
            <a:pPr marL="0" indent="0">
              <a:buNone/>
            </a:pPr>
            <a:r>
              <a:rPr lang="en-US" altLang="ko-KR"/>
              <a:t>	/* </a:t>
            </a:r>
            <a:r>
              <a:rPr lang="ko-KR" altLang="en-US"/>
              <a:t>이전 내용에 이어서 </a:t>
            </a:r>
            <a:r>
              <a:rPr lang="en-US" altLang="ko-KR"/>
              <a:t>*/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print_graph_3col(&amp;g);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free_adj_list(&amp;g);</a:t>
            </a:r>
          </a:p>
          <a:p>
            <a:pPr marL="0" indent="0">
              <a:buNone/>
            </a:pPr>
            <a:r>
              <a:rPr lang="en-US" altLang="ko-KR"/>
              <a:t>	return 0;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961945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994FE-4650-4E21-9170-EB027C63C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2F077-1943-CB3C-ECAF-0495B01B0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891" y="262442"/>
            <a:ext cx="6234584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- 3</a:t>
            </a:r>
            <a:r>
              <a:rPr lang="ko-KR" altLang="en-US"/>
              <a:t>열 그래프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62705-9B64-4886-454C-1D6932497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3</a:t>
            </a:r>
            <a:r>
              <a:rPr lang="ko-KR" altLang="en-US"/>
              <a:t>열 그래프에서 출력되는 연결선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같은 행의 인접 노드간 연결선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같은 열의 인접 노드간 연결선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오른쪽 위 노드와 연결선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837488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90BD3-CFB2-ED6C-DC5F-081942D5E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28895-A92F-8450-F563-D45456977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9304" y="262442"/>
            <a:ext cx="5053171" cy="607653"/>
          </a:xfrm>
        </p:spPr>
        <p:txBody>
          <a:bodyPr>
            <a:spAutoFit/>
          </a:bodyPr>
          <a:lstStyle/>
          <a:p>
            <a:r>
              <a:rPr lang="ko-KR" altLang="en-US"/>
              <a:t>너비 우선 탐색 구현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5639E-25AC-AFAB-FDB7-189BA8C6A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/* </a:t>
            </a:r>
            <a:r>
              <a:rPr lang="ko-KR" altLang="en-US">
                <a:solidFill>
                  <a:srgbClr val="FF0000"/>
                </a:solidFill>
              </a:rPr>
              <a:t>큐 구조체와 함수 </a:t>
            </a:r>
            <a:r>
              <a:rPr lang="en-US" altLang="ko-KR">
                <a:solidFill>
                  <a:srgbClr val="FF0000"/>
                </a:solidFill>
              </a:rPr>
              <a:t>*/</a:t>
            </a:r>
          </a:p>
          <a:p>
            <a:pPr marL="0" indent="0">
              <a:buNone/>
            </a:pPr>
            <a:r>
              <a:rPr lang="en-US" altLang="ko-KR"/>
              <a:t>struct queue;</a:t>
            </a:r>
          </a:p>
          <a:p>
            <a:pPr marL="0" indent="0">
              <a:buNone/>
            </a:pPr>
            <a:r>
              <a:rPr lang="en-US" altLang="ko-KR"/>
              <a:t>struct queue *new_queue(int size);</a:t>
            </a:r>
          </a:p>
          <a:p>
            <a:pPr marL="0" indent="0">
              <a:buNone/>
            </a:pPr>
            <a:r>
              <a:rPr lang="en-US" altLang="ko-KR"/>
              <a:t>void enqueue(struct queue *q, struct node *n);</a:t>
            </a:r>
          </a:p>
          <a:p>
            <a:pPr marL="0" indent="0">
              <a:buNone/>
            </a:pPr>
            <a:r>
              <a:rPr lang="en-US" altLang="ko-KR"/>
              <a:t>struct node *dequeue(struct queue *q);</a:t>
            </a:r>
          </a:p>
          <a:p>
            <a:pPr marL="0" indent="0">
              <a:buNone/>
            </a:pPr>
            <a:r>
              <a:rPr lang="en-US" altLang="ko-KR"/>
              <a:t>int is_empty(struct queue *q);</a:t>
            </a:r>
          </a:p>
          <a:p>
            <a:pPr marL="0" indent="0">
              <a:buNone/>
            </a:pPr>
            <a:r>
              <a:rPr lang="en-US" altLang="ko-KR"/>
              <a:t>void delete_queue(struct queue *q);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805948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1A079-1B97-7802-D18B-23F3B7BE3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39E4D-C5AB-6FF5-B2AF-177B33A20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9304" y="262442"/>
            <a:ext cx="5053171" cy="607653"/>
          </a:xfrm>
        </p:spPr>
        <p:txBody>
          <a:bodyPr>
            <a:spAutoFit/>
          </a:bodyPr>
          <a:lstStyle/>
          <a:p>
            <a:r>
              <a:rPr lang="ko-KR" altLang="en-US"/>
              <a:t>너비 우선 탐색 구현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622DB-BE5F-94FC-2AB7-34356DC57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bfs(struct graph *g, struct node *s)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for (int i = 0; i &lt; g-&gt;n_vertexes; i++) {</a:t>
            </a:r>
          </a:p>
          <a:p>
            <a:pPr marL="0" indent="0">
              <a:buNone/>
            </a:pPr>
            <a:r>
              <a:rPr lang="en-US" altLang="ko-KR"/>
              <a:t>		struct node *u = g-&gt;vertexes + i;</a:t>
            </a:r>
          </a:p>
          <a:p>
            <a:pPr marL="0" indent="0">
              <a:buNone/>
            </a:pPr>
            <a:r>
              <a:rPr lang="en-US" altLang="ko-KR"/>
              <a:t>		u-&gt;distance = 9;</a:t>
            </a:r>
          </a:p>
          <a:p>
            <a:pPr marL="0" indent="0">
              <a:buNone/>
            </a:pPr>
            <a:r>
              <a:rPr lang="en-US" altLang="ko-KR"/>
              <a:t>		u-&gt;parent = NULL;</a:t>
            </a:r>
          </a:p>
          <a:p>
            <a:pPr marL="0" indent="0">
              <a:buNone/>
            </a:pPr>
            <a:r>
              <a:rPr lang="en-US" altLang="ko-KR"/>
              <a:t>		u-&gt;status = 0;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	struct queue *q = new_queue(g-&gt;n_vertexes);</a:t>
            </a:r>
          </a:p>
          <a:p>
            <a:pPr marL="0" indent="0">
              <a:buNone/>
            </a:pPr>
            <a:r>
              <a:rPr lang="en-US" altLang="ko-KR"/>
              <a:t>	print_graph_3col(g);</a:t>
            </a:r>
          </a:p>
        </p:txBody>
      </p:sp>
    </p:spTree>
    <p:extLst>
      <p:ext uri="{BB962C8B-B14F-4D97-AF65-F5344CB8AC3E}">
        <p14:creationId xmlns:p14="http://schemas.microsoft.com/office/powerpoint/2010/main" val="40848726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832A4-3358-8CFC-8BB9-1DF741BC8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CF9F7-36DA-C6DE-F90C-A5CDA0BC7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9304" y="262442"/>
            <a:ext cx="5053171" cy="607653"/>
          </a:xfrm>
        </p:spPr>
        <p:txBody>
          <a:bodyPr>
            <a:spAutoFit/>
          </a:bodyPr>
          <a:lstStyle/>
          <a:p>
            <a:r>
              <a:rPr lang="ko-KR" altLang="en-US"/>
              <a:t>너비 우선 탐색 구현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B0FF3-3CD1-93C3-287E-AD7786964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s-&gt;distance = 0;</a:t>
            </a:r>
          </a:p>
          <a:p>
            <a:pPr marL="0" indent="0">
              <a:buNone/>
            </a:pPr>
            <a:r>
              <a:rPr lang="en-US" altLang="ko-KR"/>
              <a:t>	s-&gt;status = 1;</a:t>
            </a:r>
          </a:p>
          <a:p>
            <a:pPr marL="0" indent="0">
              <a:buNone/>
            </a:pPr>
            <a:r>
              <a:rPr lang="en-US" altLang="ko-KR"/>
              <a:t>	enqueue(q, s);</a:t>
            </a:r>
          </a:p>
          <a:p>
            <a:pPr marL="0" indent="0">
              <a:buNone/>
            </a:pPr>
            <a:r>
              <a:rPr lang="en-US" altLang="ko-KR"/>
              <a:t>	print_graph_3col(g);	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while (!is_empty(q)) {</a:t>
            </a:r>
          </a:p>
          <a:p>
            <a:pPr marL="0" indent="0">
              <a:buNone/>
            </a:pPr>
            <a:r>
              <a:rPr lang="en-US" altLang="ko-KR"/>
              <a:t>		struct node *u = dequeue(q);</a:t>
            </a:r>
          </a:p>
          <a:p>
            <a:pPr marL="0" indent="0">
              <a:buNone/>
            </a:pPr>
            <a:r>
              <a:rPr lang="en-US" altLang="ko-KR"/>
              <a:t>		struct elist *near = u-&gt;adj;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024804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13DF9-0C30-C726-B824-A67EA3BAB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84D51-A777-A9FD-D758-E1DC3A049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9304" y="262442"/>
            <a:ext cx="5053171" cy="607653"/>
          </a:xfrm>
        </p:spPr>
        <p:txBody>
          <a:bodyPr>
            <a:spAutoFit/>
          </a:bodyPr>
          <a:lstStyle/>
          <a:p>
            <a:r>
              <a:rPr lang="ko-KR" altLang="en-US"/>
              <a:t>너비 우선 탐색 구현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18ACD-F1EE-BEC8-5D81-F2450AF30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	while (near != NULL) {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		struct node *v;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		if (near-&gt;edge-&gt;node1 == u)</a:t>
            </a:r>
          </a:p>
          <a:p>
            <a:pPr marL="0" indent="0">
              <a:buNone/>
            </a:pPr>
            <a:r>
              <a:rPr lang="en-US" altLang="ko-KR"/>
              <a:t>				v = near-&gt;edge-&gt;node2;</a:t>
            </a:r>
          </a:p>
          <a:p>
            <a:pPr marL="0" indent="0">
              <a:buNone/>
            </a:pPr>
            <a:r>
              <a:rPr lang="en-US" altLang="ko-KR"/>
              <a:t>			else</a:t>
            </a:r>
          </a:p>
          <a:p>
            <a:pPr marL="0" indent="0">
              <a:buNone/>
            </a:pPr>
            <a:r>
              <a:rPr lang="en-US" altLang="ko-KR"/>
              <a:t>				v = near-&gt;edge-&gt;node1;</a:t>
            </a:r>
          </a:p>
          <a:p>
            <a:pPr marL="0" indent="0">
              <a:buNone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068061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0E97D-EA8E-D859-731D-993ECED87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75FEF-AE78-F8D9-0E8A-4BDFDD69D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9304" y="262442"/>
            <a:ext cx="5053171" cy="607653"/>
          </a:xfrm>
        </p:spPr>
        <p:txBody>
          <a:bodyPr>
            <a:spAutoFit/>
          </a:bodyPr>
          <a:lstStyle/>
          <a:p>
            <a:r>
              <a:rPr lang="ko-KR" altLang="en-US"/>
              <a:t>너비 우선 탐색 구현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E7A0A-203D-C653-3480-F52086659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		if (v-&gt;status == 0) {</a:t>
            </a:r>
          </a:p>
          <a:p>
            <a:pPr marL="0" indent="0">
              <a:buNone/>
            </a:pPr>
            <a:r>
              <a:rPr lang="en-US" altLang="ko-KR"/>
              <a:t>				v-&gt;parent = u;</a:t>
            </a:r>
          </a:p>
          <a:p>
            <a:pPr marL="0" indent="0">
              <a:buNone/>
            </a:pPr>
            <a:r>
              <a:rPr lang="en-US" altLang="ko-KR"/>
              <a:t>				v-&gt;distance = u-&gt;distance + 1;</a:t>
            </a:r>
          </a:p>
          <a:p>
            <a:pPr marL="0" indent="0">
              <a:buNone/>
            </a:pPr>
            <a:r>
              <a:rPr lang="en-US" altLang="ko-KR"/>
              <a:t>				v-&gt;status = 1;</a:t>
            </a:r>
          </a:p>
          <a:p>
            <a:pPr marL="0" indent="0">
              <a:buNone/>
            </a:pPr>
            <a:r>
              <a:rPr lang="en-US" altLang="ko-KR"/>
              <a:t>				enqueue(q, v);</a:t>
            </a:r>
          </a:p>
          <a:p>
            <a:pPr marL="0" indent="0">
              <a:buNone/>
            </a:pPr>
            <a:r>
              <a:rPr lang="en-US" altLang="ko-KR"/>
              <a:t>				print_graph_3col(g);</a:t>
            </a:r>
          </a:p>
          <a:p>
            <a:pPr marL="0" indent="0">
              <a:buNone/>
            </a:pPr>
            <a:r>
              <a:rPr lang="en-US" altLang="ko-KR"/>
              <a:t>			}</a:t>
            </a:r>
          </a:p>
          <a:p>
            <a:pPr marL="0" indent="0">
              <a:buNone/>
            </a:pPr>
            <a:r>
              <a:rPr lang="en-US" altLang="ko-KR"/>
              <a:t>			near = near-&gt;next;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ko-KR"/>
              <a:t>		}</a:t>
            </a:r>
          </a:p>
        </p:txBody>
      </p:sp>
    </p:spTree>
    <p:extLst>
      <p:ext uri="{BB962C8B-B14F-4D97-AF65-F5344CB8AC3E}">
        <p14:creationId xmlns:p14="http://schemas.microsoft.com/office/powerpoint/2010/main" val="3495800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A8AF5-1D03-0901-829D-2CADF56E3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B8861-CDC3-1E72-AE25-DB70187C5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9304" y="262442"/>
            <a:ext cx="5053171" cy="607653"/>
          </a:xfrm>
        </p:spPr>
        <p:txBody>
          <a:bodyPr>
            <a:spAutoFit/>
          </a:bodyPr>
          <a:lstStyle/>
          <a:p>
            <a:r>
              <a:rPr lang="ko-KR" altLang="en-US"/>
              <a:t>너비 우선 탐색 구현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FE8A6-D0AD-8815-E0BC-2A674A9EA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	delete_queue(q);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754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204AD-0B4E-0FC2-6473-5FDCE1F85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01426-F84C-C911-9591-B1A623661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9305" y="262442"/>
            <a:ext cx="5053170" cy="607653"/>
          </a:xfrm>
        </p:spPr>
        <p:txBody>
          <a:bodyPr>
            <a:spAutoFit/>
          </a:bodyPr>
          <a:lstStyle/>
          <a:p>
            <a:r>
              <a:rPr lang="ko-KR" altLang="en-US"/>
              <a:t>너비 우선 탐색 구현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1007D-4E46-12B3-96F7-00D35B87C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int main() {</a:t>
            </a:r>
          </a:p>
          <a:p>
            <a:pPr marL="0" indent="0">
              <a:buNone/>
            </a:pPr>
            <a:r>
              <a:rPr lang="en-US" altLang="ko-KR"/>
              <a:t>	/* </a:t>
            </a:r>
            <a:r>
              <a:rPr lang="ko-KR" altLang="en-US"/>
              <a:t>이전 내용에 이어서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/>
              <a:t>	bfs(&amp;g, g.vertexes + 0);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free_adj_list(&amp;g);</a:t>
            </a:r>
          </a:p>
          <a:p>
            <a:pPr marL="0" indent="0">
              <a:buNone/>
            </a:pPr>
            <a:r>
              <a:rPr lang="en-US" altLang="ko-KR"/>
              <a:t>	return 0;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352344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A441E-4890-18D7-E112-0F63C9E05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059DF-8A99-408F-0FDA-50E5E2ED8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9569" y="262442"/>
            <a:ext cx="6192906" cy="607653"/>
          </a:xfrm>
        </p:spPr>
        <p:txBody>
          <a:bodyPr>
            <a:spAutoFit/>
          </a:bodyPr>
          <a:lstStyle/>
          <a:p>
            <a:r>
              <a:rPr lang="ko-KR" altLang="en-US"/>
              <a:t>길이 </a:t>
            </a:r>
            <a:r>
              <a:rPr lang="en-US" altLang="ko-KR"/>
              <a:t>0/1</a:t>
            </a:r>
            <a:r>
              <a:rPr lang="ko-KR" altLang="en-US"/>
              <a:t> 그래프 최단거리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26E1C-0665-4456-EB04-9F5F61D56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/* </a:t>
            </a:r>
            <a:r>
              <a:rPr lang="ko-KR" altLang="en-US">
                <a:solidFill>
                  <a:srgbClr val="FF0000"/>
                </a:solidFill>
              </a:rPr>
              <a:t>양방향 큐 구조체와 함수 </a:t>
            </a:r>
            <a:r>
              <a:rPr lang="en-US" altLang="ko-KR">
                <a:solidFill>
                  <a:srgbClr val="FF0000"/>
                </a:solidFill>
              </a:rPr>
              <a:t>*/</a:t>
            </a:r>
          </a:p>
          <a:p>
            <a:pPr marL="0" indent="0">
              <a:buNone/>
            </a:pPr>
            <a:r>
              <a:rPr lang="en-US" altLang="ko-KR"/>
              <a:t>struct deque;</a:t>
            </a:r>
          </a:p>
          <a:p>
            <a:pPr marL="0" indent="0">
              <a:buNone/>
            </a:pPr>
            <a:r>
              <a:rPr lang="en-US" altLang="ko-KR"/>
              <a:t>struct deque *new_deque(int size);</a:t>
            </a:r>
          </a:p>
          <a:p>
            <a:pPr marL="0" indent="0">
              <a:buNone/>
            </a:pPr>
            <a:r>
              <a:rPr lang="en-US" altLang="ko-KR"/>
              <a:t>void push_front(struct deque *q, struct node *n);</a:t>
            </a:r>
          </a:p>
          <a:p>
            <a:pPr marL="0" indent="0">
              <a:buNone/>
            </a:pPr>
            <a:r>
              <a:rPr lang="en-US" altLang="ko-KR"/>
              <a:t>void push_rear(struct deque *q, struct node *n);</a:t>
            </a:r>
          </a:p>
          <a:p>
            <a:pPr marL="0" indent="0">
              <a:buNone/>
            </a:pPr>
            <a:r>
              <a:rPr lang="en-US" altLang="ko-KR"/>
              <a:t>struct node *pop_front(struct deque *q);</a:t>
            </a:r>
          </a:p>
          <a:p>
            <a:pPr marL="0" indent="0">
              <a:buNone/>
            </a:pPr>
            <a:r>
              <a:rPr lang="en-US" altLang="ko-KR"/>
              <a:t>struct node *pop_rear(struct deque *q);</a:t>
            </a:r>
          </a:p>
          <a:p>
            <a:pPr marL="0" indent="0">
              <a:buNone/>
            </a:pPr>
            <a:r>
              <a:rPr lang="en-US" altLang="ko-KR"/>
              <a:t>int deque_is_empty(struct deque *q);</a:t>
            </a:r>
          </a:p>
          <a:p>
            <a:pPr marL="0" indent="0">
              <a:buNone/>
            </a:pPr>
            <a:r>
              <a:rPr lang="en-US" altLang="ko-KR"/>
              <a:t>void delete_deque(struct deque *q);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29429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EF7B1-40C8-ECE4-000E-1AE102419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2A7AD-5D40-6538-C7F8-977689B14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9569" y="262442"/>
            <a:ext cx="6192906" cy="607653"/>
          </a:xfrm>
        </p:spPr>
        <p:txBody>
          <a:bodyPr>
            <a:spAutoFit/>
          </a:bodyPr>
          <a:lstStyle/>
          <a:p>
            <a:r>
              <a:rPr lang="ko-KR" altLang="en-US"/>
              <a:t>길이 </a:t>
            </a:r>
            <a:r>
              <a:rPr lang="en-US" altLang="ko-KR"/>
              <a:t>0/1</a:t>
            </a:r>
            <a:r>
              <a:rPr lang="ko-KR" altLang="en-US"/>
              <a:t> 그래프 최단거리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1F1CE-A156-A200-446F-8174EE7F6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bfs</a:t>
            </a:r>
            <a:r>
              <a:rPr lang="en-US" altLang="ko-KR">
                <a:solidFill>
                  <a:srgbClr val="FF0000"/>
                </a:solidFill>
              </a:rPr>
              <a:t>_0_1</a:t>
            </a:r>
            <a:r>
              <a:rPr lang="en-US" altLang="ko-KR"/>
              <a:t>(struct graph *g, struct node *s)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for (int i = 0; i &lt; g-&gt;n_vertexes; i++) {</a:t>
            </a:r>
          </a:p>
          <a:p>
            <a:pPr marL="0" indent="0">
              <a:buNone/>
            </a:pPr>
            <a:r>
              <a:rPr lang="en-US" altLang="ko-KR"/>
              <a:t>		struct node *u = g-&gt;vertexes + i;</a:t>
            </a:r>
          </a:p>
          <a:p>
            <a:pPr marL="0" indent="0">
              <a:buNone/>
            </a:pPr>
            <a:r>
              <a:rPr lang="en-US" altLang="ko-KR"/>
              <a:t>		u-&gt;distance = 9;</a:t>
            </a:r>
          </a:p>
          <a:p>
            <a:pPr marL="0" indent="0">
              <a:buNone/>
            </a:pPr>
            <a:r>
              <a:rPr lang="en-US" altLang="ko-KR"/>
              <a:t>		u-&gt;parent = NULL;</a:t>
            </a:r>
          </a:p>
          <a:p>
            <a:pPr marL="0" indent="0">
              <a:buNone/>
            </a:pPr>
            <a:r>
              <a:rPr lang="en-US" altLang="ko-KR"/>
              <a:t>		u-&gt;status = 0;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	struct </a:t>
            </a:r>
            <a:r>
              <a:rPr lang="en-US" altLang="ko-KR">
                <a:solidFill>
                  <a:srgbClr val="FF0000"/>
                </a:solidFill>
              </a:rPr>
              <a:t>de</a:t>
            </a:r>
            <a:r>
              <a:rPr lang="en-US" altLang="ko-KR"/>
              <a:t>que *q = new_</a:t>
            </a:r>
            <a:r>
              <a:rPr lang="en-US" altLang="ko-KR">
                <a:solidFill>
                  <a:srgbClr val="FF0000"/>
                </a:solidFill>
              </a:rPr>
              <a:t>de</a:t>
            </a:r>
            <a:r>
              <a:rPr lang="en-US" altLang="ko-KR"/>
              <a:t>que(g-&gt;n_vertexes);</a:t>
            </a:r>
          </a:p>
          <a:p>
            <a:pPr marL="0" indent="0">
              <a:buNone/>
            </a:pPr>
            <a:r>
              <a:rPr lang="en-US" altLang="ko-KR"/>
              <a:t>	print_graph_3col(g);</a:t>
            </a:r>
          </a:p>
        </p:txBody>
      </p:sp>
    </p:spTree>
    <p:extLst>
      <p:ext uri="{BB962C8B-B14F-4D97-AF65-F5344CB8AC3E}">
        <p14:creationId xmlns:p14="http://schemas.microsoft.com/office/powerpoint/2010/main" val="35667576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4EC85-E3E6-21D8-FADA-9A74D49D7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42C24-44EF-E367-F3CE-88A3CCA54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9569" y="262442"/>
            <a:ext cx="6192906" cy="607653"/>
          </a:xfrm>
        </p:spPr>
        <p:txBody>
          <a:bodyPr>
            <a:spAutoFit/>
          </a:bodyPr>
          <a:lstStyle/>
          <a:p>
            <a:r>
              <a:rPr lang="ko-KR" altLang="en-US"/>
              <a:t>길이 </a:t>
            </a:r>
            <a:r>
              <a:rPr lang="en-US" altLang="ko-KR"/>
              <a:t>0/1</a:t>
            </a:r>
            <a:r>
              <a:rPr lang="ko-KR" altLang="en-US"/>
              <a:t> 그래프 최단거리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8DD1A-43A6-941F-11C2-85D0D2FDC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s-&gt;distance = 0;</a:t>
            </a:r>
          </a:p>
          <a:p>
            <a:pPr marL="0" indent="0">
              <a:buNone/>
            </a:pPr>
            <a:r>
              <a:rPr lang="en-US" altLang="ko-KR"/>
              <a:t>	</a:t>
            </a:r>
            <a:r>
              <a:rPr lang="en-US" altLang="ko-KR">
                <a:solidFill>
                  <a:srgbClr val="FF0000"/>
                </a:solidFill>
              </a:rPr>
              <a:t>push_front</a:t>
            </a:r>
            <a:r>
              <a:rPr lang="en-US" altLang="ko-KR"/>
              <a:t>(q, s);</a:t>
            </a:r>
          </a:p>
          <a:p>
            <a:pPr marL="0" indent="0">
              <a:buNone/>
            </a:pPr>
            <a:r>
              <a:rPr lang="en-US" altLang="ko-KR"/>
              <a:t>	print_graph_3col(g);	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while (!</a:t>
            </a:r>
            <a:r>
              <a:rPr lang="en-US" altLang="ko-KR">
                <a:solidFill>
                  <a:srgbClr val="FF0000"/>
                </a:solidFill>
              </a:rPr>
              <a:t>deque</a:t>
            </a:r>
            <a:r>
              <a:rPr lang="en-US" altLang="ko-KR"/>
              <a:t>_is_empty(q)) {</a:t>
            </a:r>
          </a:p>
          <a:p>
            <a:pPr marL="0" indent="0">
              <a:buNone/>
            </a:pPr>
            <a:r>
              <a:rPr lang="en-US" altLang="ko-KR"/>
              <a:t>		struct node *u = </a:t>
            </a:r>
            <a:r>
              <a:rPr lang="en-US" altLang="ko-KR">
                <a:solidFill>
                  <a:srgbClr val="FF0000"/>
                </a:solidFill>
              </a:rPr>
              <a:t>pop_front</a:t>
            </a:r>
            <a:r>
              <a:rPr lang="en-US" altLang="ko-KR"/>
              <a:t>(q);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	if</a:t>
            </a:r>
            <a:r>
              <a:rPr lang="ko-KR" altLang="en-US">
                <a:solidFill>
                  <a:srgbClr val="FF0000"/>
                </a:solidFill>
              </a:rPr>
              <a:t> </a:t>
            </a:r>
            <a:r>
              <a:rPr lang="en-US" altLang="ko-KR">
                <a:solidFill>
                  <a:srgbClr val="FF0000"/>
                </a:solidFill>
              </a:rPr>
              <a:t>(u-&gt;status</a:t>
            </a:r>
            <a:r>
              <a:rPr lang="ko-KR" altLang="en-US">
                <a:solidFill>
                  <a:srgbClr val="FF0000"/>
                </a:solidFill>
              </a:rPr>
              <a:t> </a:t>
            </a:r>
            <a:r>
              <a:rPr lang="en-US" altLang="ko-KR">
                <a:solidFill>
                  <a:srgbClr val="FF0000"/>
                </a:solidFill>
              </a:rPr>
              <a:t>==</a:t>
            </a:r>
            <a:r>
              <a:rPr lang="ko-KR" altLang="en-US">
                <a:solidFill>
                  <a:srgbClr val="FF0000"/>
                </a:solidFill>
              </a:rPr>
              <a:t> </a:t>
            </a:r>
            <a:r>
              <a:rPr lang="en-US" altLang="ko-KR">
                <a:solidFill>
                  <a:srgbClr val="FF0000"/>
                </a:solidFill>
              </a:rPr>
              <a:t>1) continue;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	u-&gt;status = 1;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	print_graph_3col(g);	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5465698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FAC85-3B40-241A-EAA3-D7BF92638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3C241-0E7C-5C6A-52F8-AB67D86DA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9569" y="262442"/>
            <a:ext cx="6192906" cy="607653"/>
          </a:xfrm>
        </p:spPr>
        <p:txBody>
          <a:bodyPr>
            <a:spAutoFit/>
          </a:bodyPr>
          <a:lstStyle/>
          <a:p>
            <a:r>
              <a:rPr lang="ko-KR" altLang="en-US"/>
              <a:t>길이 </a:t>
            </a:r>
            <a:r>
              <a:rPr lang="en-US" altLang="ko-KR"/>
              <a:t>0/1</a:t>
            </a:r>
            <a:r>
              <a:rPr lang="ko-KR" altLang="en-US"/>
              <a:t> 그래프 최단거리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8F0DF-DAF0-0B94-EAC4-5A4974571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	struct elist *near = u-&gt;adj;</a:t>
            </a:r>
          </a:p>
          <a:p>
            <a:pPr marL="0" indent="0">
              <a:buNone/>
            </a:pPr>
            <a:r>
              <a:rPr lang="en-US" altLang="ko-KR"/>
              <a:t>		while (near != NULL) {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		struct edge *e = near-&gt;edge;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		int dist = u-&gt;distance + e-&gt;length;</a:t>
            </a:r>
          </a:p>
          <a:p>
            <a:pPr marL="0" indent="0">
              <a:buNone/>
            </a:pPr>
            <a:r>
              <a:rPr lang="en-US" altLang="ko-KR"/>
              <a:t>			struct node *v;</a:t>
            </a:r>
          </a:p>
          <a:p>
            <a:pPr marL="0" indent="0">
              <a:buNone/>
            </a:pPr>
            <a:r>
              <a:rPr lang="en-US" altLang="ko-KR"/>
              <a:t>			if (</a:t>
            </a:r>
            <a:r>
              <a:rPr lang="en-US" altLang="ko-KR">
                <a:solidFill>
                  <a:srgbClr val="FF0000"/>
                </a:solidFill>
              </a:rPr>
              <a:t>e</a:t>
            </a:r>
            <a:r>
              <a:rPr lang="en-US" altLang="ko-KR"/>
              <a:t>-&gt;node1 == u)</a:t>
            </a:r>
          </a:p>
          <a:p>
            <a:pPr marL="0" indent="0">
              <a:buNone/>
            </a:pPr>
            <a:r>
              <a:rPr lang="en-US" altLang="ko-KR"/>
              <a:t>				v = </a:t>
            </a:r>
            <a:r>
              <a:rPr lang="en-US" altLang="ko-KR">
                <a:solidFill>
                  <a:srgbClr val="FF0000"/>
                </a:solidFill>
              </a:rPr>
              <a:t>e</a:t>
            </a:r>
            <a:r>
              <a:rPr lang="en-US" altLang="ko-KR"/>
              <a:t>-&gt;node2;</a:t>
            </a:r>
          </a:p>
          <a:p>
            <a:pPr marL="0" indent="0">
              <a:buNone/>
            </a:pPr>
            <a:r>
              <a:rPr lang="en-US" altLang="ko-KR"/>
              <a:t>			else</a:t>
            </a:r>
          </a:p>
          <a:p>
            <a:pPr marL="0" indent="0">
              <a:buNone/>
            </a:pPr>
            <a:r>
              <a:rPr lang="en-US" altLang="ko-KR"/>
              <a:t>				v = </a:t>
            </a:r>
            <a:r>
              <a:rPr lang="en-US" altLang="ko-KR">
                <a:solidFill>
                  <a:srgbClr val="FF0000"/>
                </a:solidFill>
              </a:rPr>
              <a:t>e</a:t>
            </a:r>
            <a:r>
              <a:rPr lang="en-US" altLang="ko-KR"/>
              <a:t>-&gt;node1;</a:t>
            </a:r>
          </a:p>
        </p:txBody>
      </p:sp>
    </p:spTree>
    <p:extLst>
      <p:ext uri="{BB962C8B-B14F-4D97-AF65-F5344CB8AC3E}">
        <p14:creationId xmlns:p14="http://schemas.microsoft.com/office/powerpoint/2010/main" val="30723602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86266-5CE3-E78E-4F9C-486C8A944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02D4F-404E-0B72-E24B-B5E92FEAE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9569" y="262442"/>
            <a:ext cx="6192906" cy="607653"/>
          </a:xfrm>
        </p:spPr>
        <p:txBody>
          <a:bodyPr>
            <a:spAutoFit/>
          </a:bodyPr>
          <a:lstStyle/>
          <a:p>
            <a:r>
              <a:rPr lang="ko-KR" altLang="en-US"/>
              <a:t>길이 </a:t>
            </a:r>
            <a:r>
              <a:rPr lang="en-US" altLang="ko-KR"/>
              <a:t>0/1</a:t>
            </a:r>
            <a:r>
              <a:rPr lang="ko-KR" altLang="en-US"/>
              <a:t> 그래프 최단거리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49AAD-7994-267E-A332-7EB82A2DB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		if (</a:t>
            </a:r>
            <a:r>
              <a:rPr lang="en-US" altLang="ko-KR">
                <a:solidFill>
                  <a:srgbClr val="FF0000"/>
                </a:solidFill>
              </a:rPr>
              <a:t>v-&gt;distance &gt; dist</a:t>
            </a:r>
            <a:r>
              <a:rPr lang="en-US" altLang="ko-KR"/>
              <a:t>) {</a:t>
            </a:r>
          </a:p>
          <a:p>
            <a:pPr marL="0" indent="0">
              <a:buNone/>
            </a:pPr>
            <a:r>
              <a:rPr lang="en-US" altLang="ko-KR"/>
              <a:t>				v-&gt;parent = u;</a:t>
            </a:r>
          </a:p>
          <a:p>
            <a:pPr marL="0" indent="0">
              <a:buNone/>
            </a:pPr>
            <a:r>
              <a:rPr lang="en-US" altLang="ko-KR"/>
              <a:t>				v-&gt;distance = </a:t>
            </a:r>
            <a:r>
              <a:rPr lang="en-US" altLang="ko-KR">
                <a:solidFill>
                  <a:srgbClr val="FF0000"/>
                </a:solidFill>
              </a:rPr>
              <a:t>dist</a:t>
            </a:r>
            <a:r>
              <a:rPr lang="en-US" altLang="ko-KR"/>
              <a:t>;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			if (e-&gt;length == 0)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				push_front(q, v);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			else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				push_rear(q, v);</a:t>
            </a:r>
          </a:p>
          <a:p>
            <a:pPr marL="0" indent="0">
              <a:buNone/>
            </a:pPr>
            <a:r>
              <a:rPr lang="en-US" altLang="ko-KR"/>
              <a:t>				print_graph_3col(g);</a:t>
            </a:r>
          </a:p>
          <a:p>
            <a:pPr marL="0" indent="0">
              <a:buNone/>
            </a:pPr>
            <a:r>
              <a:rPr lang="en-US" altLang="ko-KR"/>
              <a:t>			}</a:t>
            </a:r>
          </a:p>
        </p:txBody>
      </p:sp>
    </p:spTree>
    <p:extLst>
      <p:ext uri="{BB962C8B-B14F-4D97-AF65-F5344CB8AC3E}">
        <p14:creationId xmlns:p14="http://schemas.microsoft.com/office/powerpoint/2010/main" val="108535244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E96C0-1294-06AE-CE5A-DAF0F7F31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3257E-5C17-20EB-C1AF-658730F79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9569" y="262442"/>
            <a:ext cx="6192906" cy="607653"/>
          </a:xfrm>
        </p:spPr>
        <p:txBody>
          <a:bodyPr>
            <a:spAutoFit/>
          </a:bodyPr>
          <a:lstStyle/>
          <a:p>
            <a:r>
              <a:rPr lang="ko-KR" altLang="en-US"/>
              <a:t>길이 </a:t>
            </a:r>
            <a:r>
              <a:rPr lang="en-US" altLang="ko-KR"/>
              <a:t>0/1</a:t>
            </a:r>
            <a:r>
              <a:rPr lang="ko-KR" altLang="en-US"/>
              <a:t> 그래프 최단거리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524DE-76E5-AC71-AA9F-5D5338C7C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		near = near-&gt;next;</a:t>
            </a:r>
          </a:p>
          <a:p>
            <a:pPr marL="0" indent="0">
              <a:buNone/>
            </a:pPr>
            <a:r>
              <a:rPr lang="en-US" altLang="ko-KR"/>
              <a:t>		}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	delete_deque(q);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1292897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9A66E-5650-C84B-50DF-EB1150094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718A2-2337-6443-A0B7-C26CD0600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9569" y="262442"/>
            <a:ext cx="6192906" cy="607653"/>
          </a:xfrm>
        </p:spPr>
        <p:txBody>
          <a:bodyPr>
            <a:spAutoFit/>
          </a:bodyPr>
          <a:lstStyle/>
          <a:p>
            <a:r>
              <a:rPr lang="ko-KR" altLang="en-US"/>
              <a:t>길이 </a:t>
            </a:r>
            <a:r>
              <a:rPr lang="en-US" altLang="ko-KR"/>
              <a:t>0/1</a:t>
            </a:r>
            <a:r>
              <a:rPr lang="ko-KR" altLang="en-US"/>
              <a:t> 그래프 최단거리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16E6B-D3FD-FCA3-3172-E5239911D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int main() {</a:t>
            </a:r>
          </a:p>
          <a:p>
            <a:pPr marL="0" indent="0">
              <a:buNone/>
            </a:pPr>
            <a:r>
              <a:rPr lang="en-US" altLang="ko-KR"/>
              <a:t>	/* </a:t>
            </a:r>
            <a:r>
              <a:rPr lang="ko-KR" altLang="en-US"/>
              <a:t>이전 내용에 이어서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g.edges[0].length = 0;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g.edges[3].length = 0;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bfs</a:t>
            </a:r>
            <a:r>
              <a:rPr lang="en-US" altLang="ko-KR">
                <a:solidFill>
                  <a:srgbClr val="FF0000"/>
                </a:solidFill>
              </a:rPr>
              <a:t>_0_1</a:t>
            </a:r>
            <a:r>
              <a:rPr lang="en-US" altLang="ko-KR"/>
              <a:t>(&amp;g, g.vertexes + 0);</a:t>
            </a:r>
          </a:p>
          <a:p>
            <a:pPr marL="0" indent="0">
              <a:buNone/>
            </a:pPr>
            <a:r>
              <a:rPr lang="en-US" altLang="ko-KR"/>
              <a:t>	free_adj_list(&amp;g);</a:t>
            </a:r>
          </a:p>
          <a:p>
            <a:pPr marL="0" indent="0">
              <a:buNone/>
            </a:pPr>
            <a:r>
              <a:rPr lang="en-US" altLang="ko-KR"/>
              <a:t>	return 0;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4661114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8E5AF-F2F8-8A23-E17F-84E0485BA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271E0-11B0-51C5-210C-8AC30F43D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6138" y="262442"/>
            <a:ext cx="6316337" cy="607653"/>
          </a:xfrm>
        </p:spPr>
        <p:txBody>
          <a:bodyPr>
            <a:spAutoFit/>
          </a:bodyPr>
          <a:lstStyle/>
          <a:p>
            <a:r>
              <a:rPr lang="ko-KR" altLang="en-US"/>
              <a:t>길이 ≥ </a:t>
            </a:r>
            <a:r>
              <a:rPr lang="en-US" altLang="ko-KR"/>
              <a:t>0</a:t>
            </a:r>
            <a:r>
              <a:rPr lang="ko-KR" altLang="en-US"/>
              <a:t> 그래프 최단거리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3E95A-42FB-166E-5043-A1A4EBA56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/* </a:t>
            </a:r>
            <a:r>
              <a:rPr lang="ko-KR" altLang="en-US">
                <a:solidFill>
                  <a:srgbClr val="FF0000"/>
                </a:solidFill>
              </a:rPr>
              <a:t>양방향 큐 구조체와 함수 </a:t>
            </a:r>
            <a:r>
              <a:rPr lang="en-US" altLang="ko-KR">
                <a:solidFill>
                  <a:srgbClr val="FF0000"/>
                </a:solidFill>
              </a:rPr>
              <a:t>*/</a:t>
            </a:r>
          </a:p>
          <a:p>
            <a:pPr marL="0" indent="0">
              <a:buNone/>
            </a:pPr>
            <a:r>
              <a:rPr lang="en-US" altLang="ko-KR"/>
              <a:t>struct pqueue;</a:t>
            </a:r>
          </a:p>
          <a:p>
            <a:pPr marL="0" indent="0">
              <a:buNone/>
            </a:pPr>
            <a:r>
              <a:rPr lang="en-US" altLang="ko-KR"/>
              <a:t>struct pqueue *new_pqueue(int size);</a:t>
            </a:r>
          </a:p>
          <a:p>
            <a:pPr marL="0" indent="0">
              <a:buNone/>
            </a:pPr>
            <a:r>
              <a:rPr lang="en-US" altLang="ko-KR"/>
              <a:t>void push(struct pqueue *pq, struct node *n);</a:t>
            </a:r>
          </a:p>
          <a:p>
            <a:pPr marL="0" indent="0">
              <a:buNone/>
            </a:pPr>
            <a:r>
              <a:rPr lang="en-US" altLang="ko-KR"/>
              <a:t>struct node *pop(struct pqueue *pq);</a:t>
            </a:r>
          </a:p>
          <a:p>
            <a:pPr marL="0" indent="0">
              <a:buNone/>
            </a:pPr>
            <a:r>
              <a:rPr lang="en-US" altLang="ko-KR"/>
              <a:t>int pqueue_is_empty(struct pqueue *pq);</a:t>
            </a:r>
          </a:p>
          <a:p>
            <a:pPr marL="0" indent="0">
              <a:buNone/>
            </a:pPr>
            <a:r>
              <a:rPr lang="en-US" altLang="ko-KR"/>
              <a:t>void delete_pqueue(struct pqueue *pq);</a:t>
            </a:r>
          </a:p>
        </p:txBody>
      </p:sp>
    </p:spTree>
    <p:extLst>
      <p:ext uri="{BB962C8B-B14F-4D97-AF65-F5344CB8AC3E}">
        <p14:creationId xmlns:p14="http://schemas.microsoft.com/office/powerpoint/2010/main" val="35692883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D021E-44C1-82D3-437B-6CBBC102A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D6488-1A1B-35EA-C6BE-B327B5916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9569" y="262442"/>
            <a:ext cx="6192906" cy="607653"/>
          </a:xfrm>
        </p:spPr>
        <p:txBody>
          <a:bodyPr>
            <a:spAutoFit/>
          </a:bodyPr>
          <a:lstStyle/>
          <a:p>
            <a:r>
              <a:rPr lang="ko-KR" altLang="en-US"/>
              <a:t>길이 ≥ </a:t>
            </a:r>
            <a:r>
              <a:rPr lang="en-US" altLang="ko-KR"/>
              <a:t>0</a:t>
            </a:r>
            <a:r>
              <a:rPr lang="ko-KR" altLang="en-US"/>
              <a:t> 그래프 최단거리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F0692-1FCF-AC73-D216-790224CE4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</a:t>
            </a:r>
            <a:r>
              <a:rPr lang="en-US" altLang="ko-KR">
                <a:solidFill>
                  <a:srgbClr val="FF0000"/>
                </a:solidFill>
              </a:rPr>
              <a:t>dijkstra</a:t>
            </a:r>
            <a:r>
              <a:rPr lang="en-US" altLang="ko-KR"/>
              <a:t>(struct graph *g, struct node *s)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for (int i = 0; i &lt; g-&gt;n_vertexes; i++) {</a:t>
            </a:r>
          </a:p>
          <a:p>
            <a:pPr marL="0" indent="0">
              <a:buNone/>
            </a:pPr>
            <a:r>
              <a:rPr lang="en-US" altLang="ko-KR"/>
              <a:t>		struct node *u = g-&gt;vertexes + i;</a:t>
            </a:r>
          </a:p>
          <a:p>
            <a:pPr marL="0" indent="0">
              <a:buNone/>
            </a:pPr>
            <a:r>
              <a:rPr lang="en-US" altLang="ko-KR"/>
              <a:t>		u-&gt;distance = 9;</a:t>
            </a:r>
          </a:p>
          <a:p>
            <a:pPr marL="0" indent="0">
              <a:buNone/>
            </a:pPr>
            <a:r>
              <a:rPr lang="en-US" altLang="ko-KR"/>
              <a:t>		u-&gt;parent = NULL;</a:t>
            </a:r>
          </a:p>
          <a:p>
            <a:pPr marL="0" indent="0">
              <a:buNone/>
            </a:pPr>
            <a:r>
              <a:rPr lang="en-US" altLang="ko-KR"/>
              <a:t>		u-&gt;status = 0;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	struct </a:t>
            </a:r>
            <a:r>
              <a:rPr lang="en-US" altLang="ko-KR">
                <a:solidFill>
                  <a:srgbClr val="FF0000"/>
                </a:solidFill>
              </a:rPr>
              <a:t>pqueue</a:t>
            </a:r>
            <a:r>
              <a:rPr lang="en-US" altLang="ko-KR"/>
              <a:t> *pq = new_</a:t>
            </a:r>
            <a:r>
              <a:rPr lang="en-US" altLang="ko-KR">
                <a:solidFill>
                  <a:srgbClr val="FF0000"/>
                </a:solidFill>
              </a:rPr>
              <a:t>pqueue</a:t>
            </a:r>
            <a:r>
              <a:rPr lang="en-US" altLang="ko-KR"/>
              <a:t>(g-&gt;</a:t>
            </a:r>
            <a:r>
              <a:rPr lang="en-US" altLang="ko-KR">
                <a:solidFill>
                  <a:srgbClr val="FF0000"/>
                </a:solidFill>
              </a:rPr>
              <a:t>n_edges</a:t>
            </a:r>
            <a:r>
              <a:rPr lang="en-US" altLang="ko-KR"/>
              <a:t>);</a:t>
            </a:r>
          </a:p>
          <a:p>
            <a:pPr marL="0" indent="0">
              <a:buNone/>
            </a:pPr>
            <a:r>
              <a:rPr lang="en-US" altLang="ko-KR"/>
              <a:t>	print_graph_3col(g);</a:t>
            </a:r>
          </a:p>
        </p:txBody>
      </p:sp>
    </p:spTree>
    <p:extLst>
      <p:ext uri="{BB962C8B-B14F-4D97-AF65-F5344CB8AC3E}">
        <p14:creationId xmlns:p14="http://schemas.microsoft.com/office/powerpoint/2010/main" val="404047957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0AA8C-30F9-98C2-97D9-AEBB55F63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B646B-33B5-43C4-DD66-662FB3CB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9569" y="262442"/>
            <a:ext cx="6192906" cy="607653"/>
          </a:xfrm>
        </p:spPr>
        <p:txBody>
          <a:bodyPr>
            <a:spAutoFit/>
          </a:bodyPr>
          <a:lstStyle/>
          <a:p>
            <a:r>
              <a:rPr lang="ko-KR" altLang="en-US"/>
              <a:t>길이 ≥ </a:t>
            </a:r>
            <a:r>
              <a:rPr lang="en-US" altLang="ko-KR"/>
              <a:t>0</a:t>
            </a:r>
            <a:r>
              <a:rPr lang="ko-KR" altLang="en-US"/>
              <a:t> 그래프 최단거리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BB79E-B8F9-C012-93DD-D0BCAAA4D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s-&gt;distance = 0;</a:t>
            </a:r>
          </a:p>
          <a:p>
            <a:pPr marL="0" indent="0">
              <a:buNone/>
            </a:pPr>
            <a:r>
              <a:rPr lang="en-US" altLang="ko-KR"/>
              <a:t>	</a:t>
            </a:r>
            <a:r>
              <a:rPr lang="en-US" altLang="ko-KR">
                <a:solidFill>
                  <a:srgbClr val="FF0000"/>
                </a:solidFill>
              </a:rPr>
              <a:t>push</a:t>
            </a:r>
            <a:r>
              <a:rPr lang="en-US" altLang="ko-KR"/>
              <a:t>(q, s);</a:t>
            </a:r>
          </a:p>
          <a:p>
            <a:pPr marL="0" indent="0">
              <a:buNone/>
            </a:pPr>
            <a:r>
              <a:rPr lang="en-US" altLang="ko-KR"/>
              <a:t>	print_graph_3col(g);	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while (!</a:t>
            </a:r>
            <a:r>
              <a:rPr lang="en-US" altLang="ko-KR">
                <a:solidFill>
                  <a:srgbClr val="FF0000"/>
                </a:solidFill>
              </a:rPr>
              <a:t>pqueue</a:t>
            </a:r>
            <a:r>
              <a:rPr lang="en-US" altLang="ko-KR"/>
              <a:t>_is_empty(pq)) {</a:t>
            </a:r>
          </a:p>
          <a:p>
            <a:pPr marL="0" indent="0">
              <a:buNone/>
            </a:pPr>
            <a:r>
              <a:rPr lang="en-US" altLang="ko-KR"/>
              <a:t>		struct node *u = </a:t>
            </a:r>
            <a:r>
              <a:rPr lang="en-US" altLang="ko-KR">
                <a:solidFill>
                  <a:srgbClr val="FF0000"/>
                </a:solidFill>
              </a:rPr>
              <a:t>pop</a:t>
            </a:r>
            <a:r>
              <a:rPr lang="en-US" altLang="ko-KR"/>
              <a:t>(pq);</a:t>
            </a:r>
          </a:p>
          <a:p>
            <a:pPr marL="0" indent="0">
              <a:buNone/>
            </a:pPr>
            <a:r>
              <a:rPr lang="en-US" altLang="ko-KR"/>
              <a:t>		if</a:t>
            </a:r>
            <a:r>
              <a:rPr lang="ko-KR" altLang="en-US"/>
              <a:t> </a:t>
            </a:r>
            <a:r>
              <a:rPr lang="en-US" altLang="ko-KR"/>
              <a:t>(u-&gt;status</a:t>
            </a:r>
            <a:r>
              <a:rPr lang="ko-KR" altLang="en-US"/>
              <a:t> </a:t>
            </a:r>
            <a:r>
              <a:rPr lang="en-US" altLang="ko-KR"/>
              <a:t>==</a:t>
            </a:r>
            <a:r>
              <a:rPr lang="ko-KR" altLang="en-US"/>
              <a:t> </a:t>
            </a:r>
            <a:r>
              <a:rPr lang="en-US" altLang="ko-KR"/>
              <a:t>1) continue;</a:t>
            </a:r>
          </a:p>
          <a:p>
            <a:pPr marL="0" indent="0">
              <a:buNone/>
            </a:pPr>
            <a:r>
              <a:rPr lang="en-US" altLang="ko-KR"/>
              <a:t>		u-&gt;status = 1;</a:t>
            </a:r>
          </a:p>
          <a:p>
            <a:pPr marL="0" indent="0">
              <a:buNone/>
            </a:pPr>
            <a:r>
              <a:rPr lang="en-US" altLang="ko-KR"/>
              <a:t>		print_graph_3col(g);	</a:t>
            </a:r>
          </a:p>
        </p:txBody>
      </p:sp>
    </p:spTree>
    <p:extLst>
      <p:ext uri="{BB962C8B-B14F-4D97-AF65-F5344CB8AC3E}">
        <p14:creationId xmlns:p14="http://schemas.microsoft.com/office/powerpoint/2010/main" val="425062714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C9858-A414-B974-63B0-80B9354B9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2679D-AB34-5500-FE1B-95D5F80FA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9569" y="262442"/>
            <a:ext cx="6192906" cy="607653"/>
          </a:xfrm>
        </p:spPr>
        <p:txBody>
          <a:bodyPr>
            <a:spAutoFit/>
          </a:bodyPr>
          <a:lstStyle/>
          <a:p>
            <a:r>
              <a:rPr lang="ko-KR" altLang="en-US"/>
              <a:t>길이 ≥ </a:t>
            </a:r>
            <a:r>
              <a:rPr lang="en-US" altLang="ko-KR"/>
              <a:t>0</a:t>
            </a:r>
            <a:r>
              <a:rPr lang="ko-KR" altLang="en-US"/>
              <a:t> 그래프 최단거리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51CAB-2C39-5D0F-E1B6-81757CA78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	struct elist *near = u-&gt;adj;</a:t>
            </a:r>
          </a:p>
          <a:p>
            <a:pPr marL="0" indent="0">
              <a:buNone/>
            </a:pPr>
            <a:r>
              <a:rPr lang="en-US" altLang="ko-KR"/>
              <a:t>		while (near != NULL) {</a:t>
            </a:r>
          </a:p>
          <a:p>
            <a:pPr marL="0" indent="0">
              <a:buNone/>
            </a:pPr>
            <a:r>
              <a:rPr lang="en-US" altLang="ko-KR"/>
              <a:t>			struct edge *e = near-&gt;edge;</a:t>
            </a:r>
          </a:p>
          <a:p>
            <a:pPr marL="0" indent="0">
              <a:buNone/>
            </a:pPr>
            <a:r>
              <a:rPr lang="en-US" altLang="ko-KR"/>
              <a:t>			int dist = u-&gt;distance + e-&gt;length;</a:t>
            </a:r>
          </a:p>
          <a:p>
            <a:pPr marL="0" indent="0">
              <a:buNone/>
            </a:pPr>
            <a:r>
              <a:rPr lang="en-US" altLang="ko-KR"/>
              <a:t>			struct node *v;</a:t>
            </a:r>
          </a:p>
          <a:p>
            <a:pPr marL="0" indent="0">
              <a:buNone/>
            </a:pPr>
            <a:r>
              <a:rPr lang="en-US" altLang="ko-KR"/>
              <a:t>			if (e-&gt;node1 == u)</a:t>
            </a:r>
          </a:p>
          <a:p>
            <a:pPr marL="0" indent="0">
              <a:buNone/>
            </a:pPr>
            <a:r>
              <a:rPr lang="en-US" altLang="ko-KR"/>
              <a:t>				v = e-&gt;node2;</a:t>
            </a:r>
          </a:p>
          <a:p>
            <a:pPr marL="0" indent="0">
              <a:buNone/>
            </a:pPr>
            <a:r>
              <a:rPr lang="en-US" altLang="ko-KR"/>
              <a:t>			else</a:t>
            </a:r>
          </a:p>
          <a:p>
            <a:pPr marL="0" indent="0">
              <a:buNone/>
            </a:pPr>
            <a:r>
              <a:rPr lang="en-US" altLang="ko-KR"/>
              <a:t>				v = e-&gt;node1;</a:t>
            </a:r>
          </a:p>
        </p:txBody>
      </p:sp>
    </p:spTree>
    <p:extLst>
      <p:ext uri="{BB962C8B-B14F-4D97-AF65-F5344CB8AC3E}">
        <p14:creationId xmlns:p14="http://schemas.microsoft.com/office/powerpoint/2010/main" val="302597596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586AA-20EC-0055-5247-900E3A5ED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EECA2-6F17-9C1A-5B59-893F68E71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7735" y="262442"/>
            <a:ext cx="6104740" cy="607653"/>
          </a:xfrm>
        </p:spPr>
        <p:txBody>
          <a:bodyPr>
            <a:spAutoFit/>
          </a:bodyPr>
          <a:lstStyle/>
          <a:p>
            <a:r>
              <a:rPr lang="ko-KR" altLang="en-US"/>
              <a:t>길이 ≥ </a:t>
            </a:r>
            <a:r>
              <a:rPr lang="en-US" altLang="ko-KR"/>
              <a:t>0</a:t>
            </a:r>
            <a:r>
              <a:rPr lang="ko-KR" altLang="en-US"/>
              <a:t> 그래프 최단거리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D6D25-1097-9979-D049-E69E7A3DA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		if (v-&gt;distance &gt; dist) {</a:t>
            </a:r>
          </a:p>
          <a:p>
            <a:pPr marL="0" indent="0">
              <a:buNone/>
            </a:pPr>
            <a:r>
              <a:rPr lang="en-US" altLang="ko-KR"/>
              <a:t>				v-&gt;parent = u;</a:t>
            </a:r>
          </a:p>
          <a:p>
            <a:pPr marL="0" indent="0">
              <a:buNone/>
            </a:pPr>
            <a:r>
              <a:rPr lang="en-US" altLang="ko-KR"/>
              <a:t>				v-&gt;distance = dist;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			push(pq, v);</a:t>
            </a:r>
          </a:p>
          <a:p>
            <a:pPr marL="0" indent="0">
              <a:buNone/>
            </a:pPr>
            <a:r>
              <a:rPr lang="en-US" altLang="ko-KR"/>
              <a:t>				print_graph_3col(g);</a:t>
            </a:r>
          </a:p>
          <a:p>
            <a:pPr marL="0" indent="0">
              <a:buNone/>
            </a:pPr>
            <a:r>
              <a:rPr lang="en-US" altLang="ko-KR"/>
              <a:t>			}</a:t>
            </a:r>
          </a:p>
        </p:txBody>
      </p:sp>
    </p:spTree>
    <p:extLst>
      <p:ext uri="{BB962C8B-B14F-4D97-AF65-F5344CB8AC3E}">
        <p14:creationId xmlns:p14="http://schemas.microsoft.com/office/powerpoint/2010/main" val="112831792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AB567-71EC-D4CD-1724-EC7BF32DA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A99F6-CE4F-7D62-45EC-6A8E649CB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9569" y="262442"/>
            <a:ext cx="6192906" cy="607653"/>
          </a:xfrm>
        </p:spPr>
        <p:txBody>
          <a:bodyPr>
            <a:spAutoFit/>
          </a:bodyPr>
          <a:lstStyle/>
          <a:p>
            <a:r>
              <a:rPr lang="ko-KR" altLang="en-US"/>
              <a:t>길이 ≥ </a:t>
            </a:r>
            <a:r>
              <a:rPr lang="en-US" altLang="ko-KR"/>
              <a:t>0</a:t>
            </a:r>
            <a:r>
              <a:rPr lang="ko-KR" altLang="en-US"/>
              <a:t> 그래프 최단거리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E240D-27E7-D1D3-EC35-A63F6453D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		near = near-&gt;next;</a:t>
            </a:r>
          </a:p>
          <a:p>
            <a:pPr marL="0" indent="0">
              <a:buNone/>
            </a:pPr>
            <a:r>
              <a:rPr lang="en-US" altLang="ko-KR"/>
              <a:t>		}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	delete_</a:t>
            </a:r>
            <a:r>
              <a:rPr lang="en-US" altLang="ko-KR">
                <a:solidFill>
                  <a:srgbClr val="FF0000"/>
                </a:solidFill>
              </a:rPr>
              <a:t>pqueue</a:t>
            </a:r>
            <a:r>
              <a:rPr lang="en-US" altLang="ko-KR"/>
              <a:t>(pq);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6482292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B9A14-C6CE-8D2D-5F9F-19527313D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ABC55-E320-8496-805A-DF99C373C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9569" y="262442"/>
            <a:ext cx="6192906" cy="607653"/>
          </a:xfrm>
        </p:spPr>
        <p:txBody>
          <a:bodyPr>
            <a:spAutoFit/>
          </a:bodyPr>
          <a:lstStyle/>
          <a:p>
            <a:r>
              <a:rPr lang="ko-KR" altLang="en-US"/>
              <a:t>길이 ≥ </a:t>
            </a:r>
            <a:r>
              <a:rPr lang="en-US" altLang="ko-KR"/>
              <a:t>0</a:t>
            </a:r>
            <a:r>
              <a:rPr lang="ko-KR" altLang="en-US"/>
              <a:t> 그래프 최단거리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3EE60-4650-C215-40C4-631D0AC1D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int main() {</a:t>
            </a:r>
          </a:p>
          <a:p>
            <a:pPr marL="0" indent="0">
              <a:buNone/>
            </a:pPr>
            <a:r>
              <a:rPr lang="en-US" altLang="ko-KR"/>
              <a:t>	/* </a:t>
            </a:r>
            <a:r>
              <a:rPr lang="ko-KR" altLang="en-US"/>
              <a:t>이전 내용에 이어서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g.edges[4].length = 3;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</a:t>
            </a:r>
            <a:r>
              <a:rPr lang="en-US" altLang="ko-KR">
                <a:solidFill>
                  <a:srgbClr val="FF0000"/>
                </a:solidFill>
              </a:rPr>
              <a:t>dijkstra</a:t>
            </a:r>
            <a:r>
              <a:rPr lang="en-US" altLang="ko-KR"/>
              <a:t>(&amp;g, g.vertexes + 0);</a:t>
            </a:r>
          </a:p>
          <a:p>
            <a:pPr marL="0" indent="0">
              <a:buNone/>
            </a:pPr>
            <a:r>
              <a:rPr lang="en-US" altLang="ko-KR"/>
              <a:t>	free_adj_list(&amp;g);</a:t>
            </a:r>
          </a:p>
          <a:p>
            <a:pPr marL="0" indent="0">
              <a:buNone/>
            </a:pPr>
            <a:r>
              <a:rPr lang="en-US" altLang="ko-KR"/>
              <a:t>	return 0;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3428004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8598" y="262442"/>
            <a:ext cx="2013877" cy="607653"/>
          </a:xfrm>
        </p:spPr>
        <p:txBody>
          <a:bodyPr>
            <a:spAutoFit/>
          </a:bodyPr>
          <a:lstStyle/>
          <a:p>
            <a:r>
              <a:t>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그래프 출력하기</a:t>
            </a:r>
          </a:p>
          <a:p>
            <a:endParaRPr lang="ko-KR" altLang="en-US"/>
          </a:p>
          <a:p>
            <a:r>
              <a:rPr lang="ko-KR" altLang="en-US"/>
              <a:t>길이 </a:t>
            </a:r>
            <a:r>
              <a:rPr lang="en-US" altLang="ko-KR"/>
              <a:t>1 </a:t>
            </a:r>
            <a:r>
              <a:rPr lang="ko-KR" altLang="en-US"/>
              <a:t>그래프 </a:t>
            </a:r>
            <a:r>
              <a:rPr lang="en-US" altLang="ko-KR"/>
              <a:t>- </a:t>
            </a:r>
            <a:r>
              <a:rPr lang="ko-KR" altLang="en-US"/>
              <a:t>너비 우선 탐색</a:t>
            </a:r>
          </a:p>
          <a:p>
            <a:endParaRPr lang="ko-KR" altLang="en-US"/>
          </a:p>
          <a:p>
            <a:r>
              <a:rPr lang="ko-KR" altLang="en-US"/>
              <a:t>길이 </a:t>
            </a:r>
            <a:r>
              <a:rPr lang="en-US" altLang="ko-KR"/>
              <a:t>0 / 1 </a:t>
            </a:r>
            <a:r>
              <a:rPr lang="ko-KR" altLang="en-US"/>
              <a:t>그래프 </a:t>
            </a:r>
            <a:r>
              <a:rPr lang="en-US" altLang="ko-KR"/>
              <a:t>- </a:t>
            </a:r>
            <a:r>
              <a:rPr lang="ko-KR" altLang="en-US"/>
              <a:t>양방향 큐</a:t>
            </a:r>
          </a:p>
          <a:p>
            <a:endParaRPr lang="ko-KR" altLang="en-US"/>
          </a:p>
          <a:p>
            <a:r>
              <a:rPr lang="ko-KR" altLang="en-US"/>
              <a:t>길이 ≥ </a:t>
            </a:r>
            <a:r>
              <a:rPr lang="en-US" altLang="ko-KR"/>
              <a:t>0 </a:t>
            </a:r>
            <a:r>
              <a:rPr lang="ko-KR" altLang="en-US"/>
              <a:t>그래프 </a:t>
            </a:r>
            <a:r>
              <a:rPr lang="en-US" altLang="ko-KR"/>
              <a:t>- </a:t>
            </a:r>
            <a:r>
              <a:rPr lang="ko-KR" altLang="en-US"/>
              <a:t>우선순위 큐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541A9-313B-6EE1-B04E-BC046A468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354A-3C2F-3984-FA94-7952F6A58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2886" y="262442"/>
            <a:ext cx="4849589" cy="607653"/>
          </a:xfrm>
        </p:spPr>
        <p:txBody>
          <a:bodyPr>
            <a:spAutoFit/>
          </a:bodyPr>
          <a:lstStyle/>
          <a:p>
            <a:r>
              <a:rPr lang="ko-KR" altLang="en-US"/>
              <a:t>너비 우선 탐색 </a:t>
            </a:r>
            <a:r>
              <a:rPr lang="en-US" altLang="ko-KR"/>
              <a:t>- </a:t>
            </a:r>
            <a:r>
              <a:rPr lang="ko-KR" altLang="en-US"/>
              <a:t>큐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6B41E-487C-D743-05C0-AA99D2E40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struct</a:t>
            </a:r>
            <a:r>
              <a:rPr lang="ko-KR" altLang="en-US"/>
              <a:t> </a:t>
            </a:r>
            <a:r>
              <a:rPr lang="en-US" altLang="ko-KR"/>
              <a:t>queue</a:t>
            </a:r>
            <a:r>
              <a:rPr lang="ko-KR" altLang="en-US"/>
              <a:t> </a:t>
            </a: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struct node **data;</a:t>
            </a:r>
          </a:p>
          <a:p>
            <a:pPr marL="0" indent="0">
              <a:buNone/>
            </a:pPr>
            <a:r>
              <a:rPr lang="en-US" altLang="ko-KR"/>
              <a:t>	int front;</a:t>
            </a:r>
          </a:p>
          <a:p>
            <a:pPr marL="0" indent="0">
              <a:buNone/>
            </a:pPr>
            <a:r>
              <a:rPr lang="en-US" altLang="ko-KR"/>
              <a:t>	int rear;</a:t>
            </a:r>
          </a:p>
          <a:p>
            <a:pPr marL="0" indent="0">
              <a:buNone/>
            </a:pPr>
            <a:r>
              <a:rPr lang="en-US" altLang="ko-KR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84911637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15E27-64C8-278B-EBFE-C89FBC530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D1AC0-4EC7-FAC0-E2B0-0592ABB86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2886" y="262442"/>
            <a:ext cx="4849589" cy="607653"/>
          </a:xfrm>
        </p:spPr>
        <p:txBody>
          <a:bodyPr>
            <a:spAutoFit/>
          </a:bodyPr>
          <a:lstStyle/>
          <a:p>
            <a:r>
              <a:rPr lang="ko-KR" altLang="en-US"/>
              <a:t>너비 우선 탐색 </a:t>
            </a:r>
            <a:r>
              <a:rPr lang="en-US" altLang="ko-KR"/>
              <a:t>- </a:t>
            </a:r>
            <a:r>
              <a:rPr lang="ko-KR" altLang="en-US"/>
              <a:t>큐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AE1D2-B5A9-382B-1B29-E67E66E22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struct queue *new_queue(int size)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struct queue *q = malloc(sizeof(struct queue));</a:t>
            </a:r>
          </a:p>
          <a:p>
            <a:pPr marL="0" indent="0">
              <a:buNone/>
            </a:pPr>
            <a:r>
              <a:rPr lang="en-US" altLang="ko-KR"/>
              <a:t>	q-&gt;data = malloc(sizeof(struct node*) * size);</a:t>
            </a:r>
          </a:p>
          <a:p>
            <a:pPr marL="0" indent="0">
              <a:buNone/>
            </a:pPr>
            <a:r>
              <a:rPr lang="en-US" altLang="ko-KR"/>
              <a:t>	q-&gt;front = 0;</a:t>
            </a:r>
          </a:p>
          <a:p>
            <a:pPr marL="0" indent="0">
              <a:buNone/>
            </a:pPr>
            <a:r>
              <a:rPr lang="en-US" altLang="ko-KR"/>
              <a:t>	q-&gt;rear = 0;</a:t>
            </a:r>
          </a:p>
          <a:p>
            <a:pPr marL="0" indent="0">
              <a:buNone/>
            </a:pPr>
            <a:r>
              <a:rPr lang="en-US" altLang="ko-KR"/>
              <a:t>	return q;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1571472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F7202-AE77-0DF7-032C-1FF26EB81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505C3-09C8-3D79-5C6E-BFD035853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2886" y="262442"/>
            <a:ext cx="4849589" cy="607653"/>
          </a:xfrm>
        </p:spPr>
        <p:txBody>
          <a:bodyPr>
            <a:spAutoFit/>
          </a:bodyPr>
          <a:lstStyle/>
          <a:p>
            <a:r>
              <a:rPr lang="ko-KR" altLang="en-US"/>
              <a:t>너비 우선 탐색 </a:t>
            </a:r>
            <a:r>
              <a:rPr lang="en-US" altLang="ko-KR"/>
              <a:t>- </a:t>
            </a:r>
            <a:r>
              <a:rPr lang="ko-KR" altLang="en-US"/>
              <a:t>큐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71FE1-F367-BE4B-E6B6-5F1B00C83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enqueue(struct queue *q, struct node *n)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    	q-&gt;data[q-&gt;rear++] = n;</a:t>
            </a:r>
          </a:p>
          <a:p>
            <a:pPr marL="0" indent="0">
              <a:buNone/>
            </a:pPr>
            <a:r>
              <a:rPr lang="en-US" altLang="ko-KR"/>
              <a:t>}</a:t>
            </a:r>
            <a:br>
              <a:rPr lang="en-US" altLang="ko-KR"/>
            </a:b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4122447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F0806-F38B-EE4C-CF9C-C4A3AC643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AABB7-A4E7-9CC1-7565-9B3F85399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2886" y="262442"/>
            <a:ext cx="4849589" cy="607653"/>
          </a:xfrm>
        </p:spPr>
        <p:txBody>
          <a:bodyPr>
            <a:spAutoFit/>
          </a:bodyPr>
          <a:lstStyle/>
          <a:p>
            <a:r>
              <a:rPr lang="ko-KR" altLang="en-US"/>
              <a:t>너비 우선 탐색 </a:t>
            </a:r>
            <a:r>
              <a:rPr lang="en-US" altLang="ko-KR"/>
              <a:t>- </a:t>
            </a:r>
            <a:r>
              <a:rPr lang="ko-KR" altLang="en-US"/>
              <a:t>큐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E56AE-6E36-D053-FB4B-6ABE96D3D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struct node *dequeue(struct queue *q)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    	return q-&gt;data[q-&gt;front++];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  <a:p>
            <a:pPr marL="0" indent="0">
              <a:buNone/>
            </a:pPr>
            <a:br>
              <a:rPr lang="en-US" altLang="ko-KR"/>
            </a:b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327796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F92CA-0026-2218-B448-91264A8DA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EB93D-DE55-7854-C0A5-5A6D1BA7B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2886" y="262442"/>
            <a:ext cx="4849589" cy="607653"/>
          </a:xfrm>
        </p:spPr>
        <p:txBody>
          <a:bodyPr>
            <a:spAutoFit/>
          </a:bodyPr>
          <a:lstStyle/>
          <a:p>
            <a:r>
              <a:rPr lang="ko-KR" altLang="en-US"/>
              <a:t>너비 우선 탐색 </a:t>
            </a:r>
            <a:r>
              <a:rPr lang="en-US" altLang="ko-KR"/>
              <a:t>- </a:t>
            </a:r>
            <a:r>
              <a:rPr lang="ko-KR" altLang="en-US"/>
              <a:t>큐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10EE3-734A-5C50-395B-011F845A1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int is_empty(struct queue *q)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    	return q-&gt;front == q-&gt;rear;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  <a:p>
            <a:pPr marL="0" indent="0">
              <a:buNone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3555813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4E609-97C6-E165-1F54-F130FE8C9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F17C3-313C-1B43-6022-D98120E21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2886" y="262442"/>
            <a:ext cx="4849589" cy="607653"/>
          </a:xfrm>
        </p:spPr>
        <p:txBody>
          <a:bodyPr>
            <a:spAutoFit/>
          </a:bodyPr>
          <a:lstStyle/>
          <a:p>
            <a:r>
              <a:rPr lang="ko-KR" altLang="en-US"/>
              <a:t>너비 우선 탐색 </a:t>
            </a:r>
            <a:r>
              <a:rPr lang="en-US" altLang="ko-KR"/>
              <a:t>- </a:t>
            </a:r>
            <a:r>
              <a:rPr lang="ko-KR" altLang="en-US"/>
              <a:t>큐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AF62D-7E2B-4EE1-8AD1-297545414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delete_queue(struct queue *q)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    	free(q-&gt;data);</a:t>
            </a:r>
          </a:p>
          <a:p>
            <a:pPr marL="0" indent="0">
              <a:buNone/>
            </a:pPr>
            <a:r>
              <a:rPr lang="en-US" altLang="ko-KR"/>
              <a:t>    	free(q);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  <a:p>
            <a:pPr marL="0" indent="0">
              <a:buNone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3020530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05220-6062-987E-B433-E96BE5E5D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B4C4C-8837-590D-B2EE-94DB551F5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291" y="262442"/>
            <a:ext cx="8477184" cy="607653"/>
          </a:xfrm>
        </p:spPr>
        <p:txBody>
          <a:bodyPr>
            <a:spAutoFit/>
          </a:bodyPr>
          <a:lstStyle/>
          <a:p>
            <a:r>
              <a:rPr lang="ko-KR" altLang="en-US"/>
              <a:t>길이 </a:t>
            </a:r>
            <a:r>
              <a:rPr lang="en-US" altLang="ko-KR"/>
              <a:t>0/1</a:t>
            </a:r>
            <a:r>
              <a:rPr lang="ko-KR" altLang="en-US"/>
              <a:t> 그래프 최단거리 </a:t>
            </a:r>
            <a:r>
              <a:rPr lang="en-US" altLang="ko-KR"/>
              <a:t>- </a:t>
            </a:r>
            <a:r>
              <a:rPr lang="ko-KR" altLang="en-US"/>
              <a:t>양방향 큐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D2C10-E5D8-0B32-AF7F-683C6BD51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struct deqnode {</a:t>
            </a:r>
          </a:p>
          <a:p>
            <a:pPr marL="0" indent="0">
              <a:buNone/>
            </a:pPr>
            <a:r>
              <a:rPr lang="en-US" altLang="ko-KR"/>
              <a:t>    	struct node *data;</a:t>
            </a:r>
          </a:p>
          <a:p>
            <a:pPr marL="0" indent="0">
              <a:buNone/>
            </a:pPr>
            <a:r>
              <a:rPr lang="en-US" altLang="ko-KR"/>
              <a:t>    	struct deqnode *prev, *next;</a:t>
            </a:r>
          </a:p>
          <a:p>
            <a:pPr marL="0" indent="0">
              <a:buNone/>
            </a:pPr>
            <a:r>
              <a:rPr lang="en-US" altLang="ko-KR"/>
              <a:t>};</a:t>
            </a:r>
          </a:p>
          <a:p>
            <a:pPr marL="0" indent="0">
              <a:buNone/>
            </a:pPr>
            <a:br>
              <a:rPr lang="en-US" altLang="ko-KR"/>
            </a:b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5076336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31B0F-E4FD-4910-CDC7-B23D11386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A7229-2D4F-FA77-31A5-A333E2CCD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291" y="262442"/>
            <a:ext cx="8477184" cy="607653"/>
          </a:xfrm>
        </p:spPr>
        <p:txBody>
          <a:bodyPr>
            <a:spAutoFit/>
          </a:bodyPr>
          <a:lstStyle/>
          <a:p>
            <a:r>
              <a:rPr lang="ko-KR" altLang="en-US"/>
              <a:t>길이 </a:t>
            </a:r>
            <a:r>
              <a:rPr lang="en-US" altLang="ko-KR"/>
              <a:t>0/1</a:t>
            </a:r>
            <a:r>
              <a:rPr lang="ko-KR" altLang="en-US"/>
              <a:t> 그래프 최단거리 </a:t>
            </a:r>
            <a:r>
              <a:rPr lang="en-US" altLang="ko-KR"/>
              <a:t>- </a:t>
            </a:r>
            <a:r>
              <a:rPr lang="ko-KR" altLang="en-US"/>
              <a:t>양방향 큐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21D12-0DDA-C7F4-2A41-F0D8CA7EB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struct deque {</a:t>
            </a:r>
          </a:p>
          <a:p>
            <a:pPr marL="0" indent="0">
              <a:buNone/>
            </a:pPr>
            <a:r>
              <a:rPr lang="en-US" altLang="ko-KR"/>
              <a:t>    	struct deqnode *head;</a:t>
            </a:r>
          </a:p>
          <a:p>
            <a:pPr marL="0" indent="0">
              <a:buNone/>
            </a:pPr>
            <a:r>
              <a:rPr lang="en-US" altLang="ko-KR"/>
              <a:t>};</a:t>
            </a:r>
          </a:p>
          <a:p>
            <a:pPr marL="0" indent="0">
              <a:buNone/>
            </a:pPr>
            <a:br>
              <a:rPr lang="en-US" altLang="ko-KR"/>
            </a:b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5899251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20F3B-8C47-E08F-A761-71DEAE417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6BD1B-7B3F-FAE9-BFB9-E902DCE20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291" y="262442"/>
            <a:ext cx="8477184" cy="607653"/>
          </a:xfrm>
        </p:spPr>
        <p:txBody>
          <a:bodyPr>
            <a:spAutoFit/>
          </a:bodyPr>
          <a:lstStyle/>
          <a:p>
            <a:r>
              <a:rPr lang="ko-KR" altLang="en-US"/>
              <a:t>길이 </a:t>
            </a:r>
            <a:r>
              <a:rPr lang="en-US" altLang="ko-KR"/>
              <a:t>0/1</a:t>
            </a:r>
            <a:r>
              <a:rPr lang="ko-KR" altLang="en-US"/>
              <a:t> 그래프 최단거리 </a:t>
            </a:r>
            <a:r>
              <a:rPr lang="en-US" altLang="ko-KR"/>
              <a:t>- </a:t>
            </a:r>
            <a:r>
              <a:rPr lang="ko-KR" altLang="en-US"/>
              <a:t>양방향 큐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3C90D-6DFC-EC45-EF3D-D17F55F19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struct deqnode *new_deqnode(struct node *n)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    	struct dqnode *dnode </a:t>
            </a:r>
          </a:p>
          <a:p>
            <a:pPr marL="0" indent="0">
              <a:buNone/>
            </a:pPr>
            <a:r>
              <a:rPr lang="en-US" altLang="ko-KR"/>
              <a:t>		= malloc(sizeof(struct deqnode));</a:t>
            </a:r>
          </a:p>
          <a:p>
            <a:pPr marL="0" indent="0">
              <a:buNone/>
            </a:pPr>
            <a:r>
              <a:rPr lang="en-US" altLang="ko-KR"/>
              <a:t>    	dnode-&gt;data = n;</a:t>
            </a:r>
          </a:p>
          <a:p>
            <a:pPr marL="0" indent="0">
              <a:buNone/>
            </a:pPr>
            <a:r>
              <a:rPr lang="en-US" altLang="ko-KR"/>
              <a:t>    	dnode-&gt;prev = dnode;</a:t>
            </a:r>
          </a:p>
          <a:p>
            <a:pPr marL="0" indent="0">
              <a:buNone/>
            </a:pPr>
            <a:r>
              <a:rPr lang="en-US" altLang="ko-KR"/>
              <a:t>    	dnode-&gt;next = dnode;</a:t>
            </a:r>
          </a:p>
          <a:p>
            <a:pPr marL="0" indent="0">
              <a:buNone/>
            </a:pPr>
            <a:r>
              <a:rPr lang="en-US" altLang="ko-KR"/>
              <a:t>	return</a:t>
            </a:r>
            <a:r>
              <a:rPr lang="ko-KR" altLang="en-US"/>
              <a:t> </a:t>
            </a:r>
            <a:r>
              <a:rPr lang="en-US" altLang="ko-KR"/>
              <a:t>dnode;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0143014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36BA5-1E91-431A-2AC6-0222B7162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582A3-0A7A-4006-A180-AA71C5C5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291" y="262442"/>
            <a:ext cx="8477184" cy="607653"/>
          </a:xfrm>
        </p:spPr>
        <p:txBody>
          <a:bodyPr>
            <a:spAutoFit/>
          </a:bodyPr>
          <a:lstStyle/>
          <a:p>
            <a:r>
              <a:rPr lang="ko-KR" altLang="en-US"/>
              <a:t>길이 </a:t>
            </a:r>
            <a:r>
              <a:rPr lang="en-US" altLang="ko-KR"/>
              <a:t>0/1</a:t>
            </a:r>
            <a:r>
              <a:rPr lang="ko-KR" altLang="en-US"/>
              <a:t> 그래프 최단거리 </a:t>
            </a:r>
            <a:r>
              <a:rPr lang="en-US" altLang="ko-KR"/>
              <a:t>- </a:t>
            </a:r>
            <a:r>
              <a:rPr lang="ko-KR" altLang="en-US"/>
              <a:t>양방향 큐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62C77-EC37-A88E-3059-B348AE980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struct deque *new_deque(int size)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    	struct deque *q = malloc(sizeof(struct deque));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    	if (q == NULL) return NULL;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    	struct deqnode *dummy = new_deqnode(NULL);</a:t>
            </a:r>
          </a:p>
        </p:txBody>
      </p:sp>
    </p:spTree>
    <p:extLst>
      <p:ext uri="{BB962C8B-B14F-4D97-AF65-F5344CB8AC3E}">
        <p14:creationId xmlns:p14="http://schemas.microsoft.com/office/powerpoint/2010/main" val="418080559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CCB1B-30FA-A116-CD73-E7B98DF9C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7EC2A-A890-A3B5-B2F2-AA11095AC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291" y="262442"/>
            <a:ext cx="8477184" cy="607653"/>
          </a:xfrm>
        </p:spPr>
        <p:txBody>
          <a:bodyPr>
            <a:spAutoFit/>
          </a:bodyPr>
          <a:lstStyle/>
          <a:p>
            <a:r>
              <a:rPr lang="ko-KR" altLang="en-US"/>
              <a:t>길이 </a:t>
            </a:r>
            <a:r>
              <a:rPr lang="en-US" altLang="ko-KR"/>
              <a:t>0/1</a:t>
            </a:r>
            <a:r>
              <a:rPr lang="ko-KR" altLang="en-US"/>
              <a:t> 그래프 최단거리 </a:t>
            </a:r>
            <a:r>
              <a:rPr lang="en-US" altLang="ko-KR"/>
              <a:t>- </a:t>
            </a:r>
            <a:r>
              <a:rPr lang="ko-KR" altLang="en-US"/>
              <a:t>양방향 큐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F371D-63B8-7CA1-9DA8-E7C44FEEF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    	if (dummy == NULL) {</a:t>
            </a:r>
          </a:p>
          <a:p>
            <a:pPr marL="0" indent="0">
              <a:buNone/>
            </a:pPr>
            <a:r>
              <a:rPr lang="en-US" altLang="ko-KR"/>
              <a:t>        		free(q);</a:t>
            </a:r>
          </a:p>
          <a:p>
            <a:pPr marL="0" indent="0">
              <a:buNone/>
            </a:pPr>
            <a:r>
              <a:rPr lang="en-US" altLang="ko-KR"/>
              <a:t>        		return NULL;</a:t>
            </a:r>
          </a:p>
          <a:p>
            <a:pPr marL="0" indent="0">
              <a:buNone/>
            </a:pPr>
            <a:r>
              <a:rPr lang="en-US" altLang="ko-KR"/>
              <a:t>    	}</a:t>
            </a:r>
            <a:br>
              <a:rPr lang="en-US" altLang="ko-KR"/>
            </a:br>
            <a:endParaRPr lang="en-US" altLang="ko-KR"/>
          </a:p>
          <a:p>
            <a:pPr marL="0" indent="0">
              <a:buNone/>
            </a:pPr>
            <a:r>
              <a:rPr lang="en-US" altLang="ko-KR"/>
              <a:t>    	q-&gt;head = dummy;</a:t>
            </a:r>
          </a:p>
          <a:p>
            <a:pPr marL="0" indent="0">
              <a:buNone/>
            </a:pPr>
            <a:r>
              <a:rPr lang="en-US" altLang="ko-KR"/>
              <a:t>    	return q;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  <a:p>
            <a:pPr marL="0" indent="0">
              <a:buNone/>
            </a:pPr>
            <a:br>
              <a:rPr lang="en-US" altLang="ko-KR"/>
            </a:b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2631178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69FA9-8B9A-6290-7A08-1D419FE9A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2D1C6-49E3-D0C7-F4DF-74171AF98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291" y="262442"/>
            <a:ext cx="8477184" cy="607653"/>
          </a:xfrm>
        </p:spPr>
        <p:txBody>
          <a:bodyPr>
            <a:spAutoFit/>
          </a:bodyPr>
          <a:lstStyle/>
          <a:p>
            <a:r>
              <a:rPr lang="ko-KR" altLang="en-US"/>
              <a:t>길이 </a:t>
            </a:r>
            <a:r>
              <a:rPr lang="en-US" altLang="ko-KR"/>
              <a:t>0/1</a:t>
            </a:r>
            <a:r>
              <a:rPr lang="ko-KR" altLang="en-US"/>
              <a:t> 그래프 최단거리 </a:t>
            </a:r>
            <a:r>
              <a:rPr lang="en-US" altLang="ko-KR"/>
              <a:t>- </a:t>
            </a:r>
            <a:r>
              <a:rPr lang="ko-KR" altLang="en-US"/>
              <a:t>양방향 큐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456F2-F36F-ABAC-CF3D-D763EFDA3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int push_front(struct deque *q, struct node *n)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    	struct deqnode *dnode = new_deqnode(n);</a:t>
            </a:r>
          </a:p>
          <a:p>
            <a:pPr marL="0" indent="0">
              <a:buNone/>
            </a:pPr>
            <a:r>
              <a:rPr lang="en-US" altLang="ko-KR"/>
              <a:t>    	if (dnode == NULL) return -1;</a:t>
            </a:r>
          </a:p>
          <a:p>
            <a:pPr marL="0" indent="0">
              <a:buNone/>
            </a:pPr>
            <a:r>
              <a:rPr lang="en-US" altLang="ko-KR"/>
              <a:t>    	dnode-&gt;prev = q-&gt;head;</a:t>
            </a:r>
          </a:p>
          <a:p>
            <a:pPr marL="0" indent="0">
              <a:buNone/>
            </a:pPr>
            <a:r>
              <a:rPr lang="en-US" altLang="ko-KR"/>
              <a:t>    	dnode-&gt;next = q-&gt;head-&gt;next;</a:t>
            </a:r>
          </a:p>
          <a:p>
            <a:pPr marL="0" indent="0">
              <a:buNone/>
            </a:pPr>
            <a:r>
              <a:rPr lang="en-US" altLang="ko-KR"/>
              <a:t>    	q-&gt;head-&gt;next-&gt;prev = dnode;</a:t>
            </a:r>
          </a:p>
          <a:p>
            <a:pPr marL="0" indent="0">
              <a:buNone/>
            </a:pPr>
            <a:r>
              <a:rPr lang="en-US" altLang="ko-KR"/>
              <a:t>    	q-&gt;head-&gt;next = dnode;</a:t>
            </a:r>
          </a:p>
          <a:p>
            <a:pPr marL="0" indent="0">
              <a:buNone/>
            </a:pPr>
            <a:r>
              <a:rPr lang="en-US" altLang="ko-KR"/>
              <a:t>    	return 0;</a:t>
            </a:r>
          </a:p>
          <a:p>
            <a:pPr marL="0" indent="0">
              <a:buNone/>
            </a:pPr>
            <a:r>
              <a:rPr lang="en-US" altLang="ko-KR"/>
              <a:t>}</a:t>
            </a:r>
            <a:br>
              <a:rPr lang="en-US" altLang="ko-KR"/>
            </a:b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4291471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DD7DA-DFAE-0717-8E75-703FFD24C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6D310-B013-EC94-385A-DD8181B5C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291" y="262442"/>
            <a:ext cx="8477184" cy="607653"/>
          </a:xfrm>
        </p:spPr>
        <p:txBody>
          <a:bodyPr>
            <a:spAutoFit/>
          </a:bodyPr>
          <a:lstStyle/>
          <a:p>
            <a:r>
              <a:rPr lang="ko-KR" altLang="en-US"/>
              <a:t>길이 </a:t>
            </a:r>
            <a:r>
              <a:rPr lang="en-US" altLang="ko-KR"/>
              <a:t>0/1</a:t>
            </a:r>
            <a:r>
              <a:rPr lang="ko-KR" altLang="en-US"/>
              <a:t> 그래프 최단거리 </a:t>
            </a:r>
            <a:r>
              <a:rPr lang="en-US" altLang="ko-KR"/>
              <a:t>- </a:t>
            </a:r>
            <a:r>
              <a:rPr lang="ko-KR" altLang="en-US"/>
              <a:t>양방향 큐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BF988-1960-D0C5-0276-7569B23EC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int push_rear(struct deque *q, struct node *n)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    	struct deqnode *dnode = new_deqnode(n);</a:t>
            </a:r>
          </a:p>
          <a:p>
            <a:pPr marL="0" indent="0">
              <a:buNone/>
            </a:pPr>
            <a:r>
              <a:rPr lang="en-US" altLang="ko-KR"/>
              <a:t>    	if (dnode == NULL) return -1;</a:t>
            </a:r>
          </a:p>
          <a:p>
            <a:pPr marL="0" indent="0">
              <a:buNone/>
            </a:pPr>
            <a:r>
              <a:rPr lang="en-US" altLang="ko-KR"/>
              <a:t>    	dnode-&gt;next = q-&gt;head;</a:t>
            </a:r>
          </a:p>
          <a:p>
            <a:pPr marL="0" indent="0">
              <a:buNone/>
            </a:pPr>
            <a:r>
              <a:rPr lang="en-US" altLang="ko-KR"/>
              <a:t>    	dnode-&gt;prev = q-&gt;head-&gt;prev;</a:t>
            </a:r>
          </a:p>
          <a:p>
            <a:pPr marL="0" indent="0">
              <a:buNone/>
            </a:pPr>
            <a:r>
              <a:rPr lang="en-US" altLang="ko-KR"/>
              <a:t>    	q-&gt;head-&gt;prev-&gt;next = dnode;</a:t>
            </a:r>
          </a:p>
          <a:p>
            <a:pPr marL="0" indent="0">
              <a:buNone/>
            </a:pPr>
            <a:r>
              <a:rPr lang="en-US" altLang="ko-KR"/>
              <a:t>    	q-&gt;head-&gt;prev = dnode;</a:t>
            </a:r>
          </a:p>
          <a:p>
            <a:pPr marL="0" indent="0">
              <a:buNone/>
            </a:pPr>
            <a:r>
              <a:rPr lang="en-US" altLang="ko-KR"/>
              <a:t>    	return 0;</a:t>
            </a:r>
          </a:p>
          <a:p>
            <a:pPr marL="0" indent="0">
              <a:buNone/>
            </a:pPr>
            <a:r>
              <a:rPr lang="en-US" altLang="ko-KR"/>
              <a:t>}</a:t>
            </a:r>
            <a:br>
              <a:rPr lang="en-US" altLang="ko-KR"/>
            </a:b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2393926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26F9F-8D3B-8103-0491-3BF426814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00057-3488-2756-8B25-BDCAE9B50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291" y="262442"/>
            <a:ext cx="8477184" cy="607653"/>
          </a:xfrm>
        </p:spPr>
        <p:txBody>
          <a:bodyPr>
            <a:spAutoFit/>
          </a:bodyPr>
          <a:lstStyle/>
          <a:p>
            <a:r>
              <a:rPr lang="ko-KR" altLang="en-US"/>
              <a:t>길이 </a:t>
            </a:r>
            <a:r>
              <a:rPr lang="en-US" altLang="ko-KR"/>
              <a:t>0/1</a:t>
            </a:r>
            <a:r>
              <a:rPr lang="ko-KR" altLang="en-US"/>
              <a:t> 그래프 최단거리 </a:t>
            </a:r>
            <a:r>
              <a:rPr lang="en-US" altLang="ko-KR"/>
              <a:t>- </a:t>
            </a:r>
            <a:r>
              <a:rPr lang="ko-KR" altLang="en-US"/>
              <a:t>양방향 큐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2EADE-18C4-37F9-340D-FBAE102EE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struct node *pop_front(struct deque *q)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    	if (q-&gt;head-&gt;next == q-&gt;head) return NULL;</a:t>
            </a:r>
          </a:p>
          <a:p>
            <a:pPr marL="0" indent="0">
              <a:buNone/>
            </a:pPr>
            <a:r>
              <a:rPr lang="en-US" altLang="ko-KR"/>
              <a:t>    	struct deqnode *old_front = q-&gt;head-&gt;next;</a:t>
            </a:r>
          </a:p>
          <a:p>
            <a:pPr marL="0" indent="0">
              <a:buNone/>
            </a:pPr>
            <a:r>
              <a:rPr lang="en-US" altLang="ko-KR"/>
              <a:t>    	struct node *n = old_front-&gt;data;</a:t>
            </a:r>
          </a:p>
          <a:p>
            <a:pPr marL="0" indent="0">
              <a:buNone/>
            </a:pPr>
            <a:r>
              <a:rPr lang="en-US" altLang="ko-KR"/>
              <a:t>    	old_front-&gt;next-&gt;prev = q-&gt;head;</a:t>
            </a:r>
          </a:p>
          <a:p>
            <a:pPr marL="0" indent="0">
              <a:buNone/>
            </a:pPr>
            <a:r>
              <a:rPr lang="en-US" altLang="ko-KR"/>
              <a:t>    	q-&gt;head-&gt;next = old_front-&gt;next;</a:t>
            </a:r>
          </a:p>
          <a:p>
            <a:pPr marL="0" indent="0">
              <a:buNone/>
            </a:pPr>
            <a:r>
              <a:rPr lang="en-US" altLang="ko-KR"/>
              <a:t>    	free(old_front);</a:t>
            </a:r>
          </a:p>
          <a:p>
            <a:pPr marL="0" indent="0">
              <a:buNone/>
            </a:pPr>
            <a:r>
              <a:rPr lang="en-US" altLang="ko-KR"/>
              <a:t>    	return n;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7594171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AB49E-F1E1-F5CE-D504-904CFBB05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66DD6-CEA8-1347-F9B4-AAC6D41FE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291" y="262442"/>
            <a:ext cx="8477184" cy="607653"/>
          </a:xfrm>
        </p:spPr>
        <p:txBody>
          <a:bodyPr>
            <a:spAutoFit/>
          </a:bodyPr>
          <a:lstStyle/>
          <a:p>
            <a:r>
              <a:rPr lang="ko-KR" altLang="en-US"/>
              <a:t>길이 </a:t>
            </a:r>
            <a:r>
              <a:rPr lang="en-US" altLang="ko-KR"/>
              <a:t>0/1</a:t>
            </a:r>
            <a:r>
              <a:rPr lang="ko-KR" altLang="en-US"/>
              <a:t> 그래프 최단거리 </a:t>
            </a:r>
            <a:r>
              <a:rPr lang="en-US" altLang="ko-KR"/>
              <a:t>- </a:t>
            </a:r>
            <a:r>
              <a:rPr lang="ko-KR" altLang="en-US"/>
              <a:t>양방향 큐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DF5DD-6F60-AADF-AA69-DAE39889B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struct node *pop_rear(struct deque *q)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    	if (q-&gt;head-&gt;prev == q-&gt;head) return NULL;</a:t>
            </a:r>
          </a:p>
          <a:p>
            <a:pPr marL="0" indent="0">
              <a:buNone/>
            </a:pPr>
            <a:r>
              <a:rPr lang="en-US" altLang="ko-KR"/>
              <a:t>    	struct deqnode *old_rear = q-&gt;head-&gt;prev;</a:t>
            </a:r>
          </a:p>
          <a:p>
            <a:pPr marL="0" indent="0">
              <a:buNone/>
            </a:pPr>
            <a:r>
              <a:rPr lang="en-US" altLang="ko-KR"/>
              <a:t>    	struct node *n = old_rear-&gt;data;</a:t>
            </a:r>
          </a:p>
          <a:p>
            <a:pPr marL="0" indent="0">
              <a:buNone/>
            </a:pPr>
            <a:r>
              <a:rPr lang="en-US" altLang="ko-KR"/>
              <a:t>    	old_rear-&gt;prev-&gt;next = q-&gt;head;</a:t>
            </a:r>
          </a:p>
          <a:p>
            <a:pPr marL="0" indent="0">
              <a:buNone/>
            </a:pPr>
            <a:r>
              <a:rPr lang="en-US" altLang="ko-KR"/>
              <a:t>    	q-&gt;head-&gt;prev = old_front-&gt;prev;</a:t>
            </a:r>
          </a:p>
          <a:p>
            <a:pPr marL="0" indent="0">
              <a:buNone/>
            </a:pPr>
            <a:r>
              <a:rPr lang="en-US" altLang="ko-KR"/>
              <a:t>    	free(old_rear);</a:t>
            </a:r>
          </a:p>
          <a:p>
            <a:pPr marL="0" indent="0">
              <a:buNone/>
            </a:pPr>
            <a:r>
              <a:rPr lang="en-US" altLang="ko-KR"/>
              <a:t>    	return n;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3742728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1629F-E916-B2DE-2DA0-5C0F1147B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57976-AAD5-B938-0BC5-236CAB3EA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291" y="262442"/>
            <a:ext cx="8477184" cy="607653"/>
          </a:xfrm>
        </p:spPr>
        <p:txBody>
          <a:bodyPr>
            <a:spAutoFit/>
          </a:bodyPr>
          <a:lstStyle/>
          <a:p>
            <a:r>
              <a:rPr lang="ko-KR" altLang="en-US"/>
              <a:t>길이 </a:t>
            </a:r>
            <a:r>
              <a:rPr lang="en-US" altLang="ko-KR"/>
              <a:t>0/1</a:t>
            </a:r>
            <a:r>
              <a:rPr lang="ko-KR" altLang="en-US"/>
              <a:t> 그래프 최단거리 </a:t>
            </a:r>
            <a:r>
              <a:rPr lang="en-US" altLang="ko-KR"/>
              <a:t>- </a:t>
            </a:r>
            <a:r>
              <a:rPr lang="ko-KR" altLang="en-US"/>
              <a:t>양방향 큐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5B2C9-EF6D-4E77-2584-80E59C3F6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int deque_is_empty(struct deque *q)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    	return q-&gt;head-&gt;next == q-&gt;head;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394845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FD7A4-FCED-B994-267E-BA618D858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67CFC-0AB3-21EC-F84F-065DFD1C3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291" y="262442"/>
            <a:ext cx="8477184" cy="607653"/>
          </a:xfrm>
        </p:spPr>
        <p:txBody>
          <a:bodyPr>
            <a:spAutoFit/>
          </a:bodyPr>
          <a:lstStyle/>
          <a:p>
            <a:r>
              <a:rPr lang="ko-KR" altLang="en-US"/>
              <a:t>길이 </a:t>
            </a:r>
            <a:r>
              <a:rPr lang="en-US" altLang="ko-KR"/>
              <a:t>0/1</a:t>
            </a:r>
            <a:r>
              <a:rPr lang="ko-KR" altLang="en-US"/>
              <a:t> 그래프 최단거리 </a:t>
            </a:r>
            <a:r>
              <a:rPr lang="en-US" altLang="ko-KR"/>
              <a:t>- </a:t>
            </a:r>
            <a:r>
              <a:rPr lang="ko-KR" altLang="en-US"/>
              <a:t>양방향 큐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AE6A1-F581-B69D-1013-EF4DB8EA9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delete_deque(struct deque *q) {</a:t>
            </a:r>
          </a:p>
          <a:p>
            <a:pPr marL="0" indent="0">
              <a:buNone/>
            </a:pPr>
            <a:r>
              <a:rPr lang="en-US" altLang="ko-KR"/>
              <a:t>    	struct deque_node *n = q-&gt;head-&gt;next;</a:t>
            </a:r>
          </a:p>
          <a:p>
            <a:pPr marL="0" indent="0">
              <a:buNone/>
            </a:pPr>
            <a:r>
              <a:rPr lang="en-US" altLang="ko-KR"/>
              <a:t>    	while (n != q-&gt;head) {</a:t>
            </a:r>
          </a:p>
          <a:p>
            <a:pPr marL="0" indent="0">
              <a:buNone/>
            </a:pPr>
            <a:r>
              <a:rPr lang="en-US" altLang="ko-KR"/>
              <a:t>        		struct deque_node *old = n;</a:t>
            </a:r>
          </a:p>
          <a:p>
            <a:pPr marL="0" indent="0">
              <a:buNone/>
            </a:pPr>
            <a:r>
              <a:rPr lang="en-US" altLang="ko-KR"/>
              <a:t>        		n = n-&gt;next;</a:t>
            </a:r>
          </a:p>
          <a:p>
            <a:pPr marL="0" indent="0">
              <a:buNone/>
            </a:pPr>
            <a:r>
              <a:rPr lang="en-US" altLang="ko-KR"/>
              <a:t>        		free(old);</a:t>
            </a:r>
          </a:p>
          <a:p>
            <a:pPr marL="0" indent="0">
              <a:buNone/>
            </a:pPr>
            <a:r>
              <a:rPr lang="en-US" altLang="ko-KR"/>
              <a:t>    	}</a:t>
            </a:r>
          </a:p>
          <a:p>
            <a:pPr marL="0" indent="0">
              <a:buNone/>
            </a:pPr>
            <a:r>
              <a:rPr lang="en-US" altLang="ko-KR"/>
              <a:t>    	free(q-&gt;head);</a:t>
            </a:r>
          </a:p>
          <a:p>
            <a:pPr marL="0" indent="0">
              <a:buNone/>
            </a:pPr>
            <a:r>
              <a:rPr lang="en-US" altLang="ko-KR"/>
              <a:t>    	free(q);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3118652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90CE0-B61B-CDC8-BF21-D54FFD63F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4EEBE-4ECB-3DC0-7592-588A88E36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90" y="262442"/>
            <a:ext cx="8850685" cy="607653"/>
          </a:xfrm>
        </p:spPr>
        <p:txBody>
          <a:bodyPr>
            <a:spAutoFit/>
          </a:bodyPr>
          <a:lstStyle/>
          <a:p>
            <a:r>
              <a:rPr lang="ko-KR" altLang="en-US"/>
              <a:t>길이 ≥ </a:t>
            </a:r>
            <a:r>
              <a:rPr lang="en-US" altLang="ko-KR"/>
              <a:t>0</a:t>
            </a:r>
            <a:r>
              <a:rPr lang="ko-KR" altLang="en-US"/>
              <a:t> 그래프 최단거리 </a:t>
            </a:r>
            <a:r>
              <a:rPr lang="en-US" altLang="ko-KR"/>
              <a:t>- </a:t>
            </a:r>
            <a:r>
              <a:rPr lang="ko-KR" altLang="en-US"/>
              <a:t>우선순위 큐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1EF17-70CE-B211-FF3F-5A434DC35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struct pqueue {</a:t>
            </a:r>
          </a:p>
          <a:p>
            <a:pPr marL="0" indent="0">
              <a:buNone/>
            </a:pPr>
            <a:r>
              <a:rPr lang="en-US" altLang="ko-KR"/>
              <a:t>    	struct node **data;</a:t>
            </a:r>
          </a:p>
          <a:p>
            <a:pPr marL="0" indent="0">
              <a:buNone/>
            </a:pPr>
            <a:r>
              <a:rPr lang="en-US" altLang="ko-KR"/>
              <a:t>    	int *key;</a:t>
            </a:r>
          </a:p>
          <a:p>
            <a:pPr marL="0" indent="0">
              <a:buNone/>
            </a:pPr>
            <a:r>
              <a:rPr lang="en-US" altLang="ko-KR"/>
              <a:t>    	int size;</a:t>
            </a:r>
          </a:p>
          <a:p>
            <a:pPr marL="0" indent="0">
              <a:buNone/>
            </a:pPr>
            <a:r>
              <a:rPr lang="en-US" altLang="ko-KR"/>
              <a:t>};</a:t>
            </a:r>
          </a:p>
          <a:p>
            <a:pPr marL="0" indent="0">
              <a:buNone/>
            </a:pPr>
            <a:br>
              <a:rPr lang="en-US" altLang="ko-KR"/>
            </a:b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0139881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C0ECD-EAF4-CB3F-7CBE-03ECD330C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2BCEC-30F9-FA42-34D1-4DE83D6AB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90" y="262442"/>
            <a:ext cx="8850685" cy="607653"/>
          </a:xfrm>
        </p:spPr>
        <p:txBody>
          <a:bodyPr>
            <a:spAutoFit/>
          </a:bodyPr>
          <a:lstStyle/>
          <a:p>
            <a:r>
              <a:rPr lang="ko-KR" altLang="en-US"/>
              <a:t>길이 ≥ </a:t>
            </a:r>
            <a:r>
              <a:rPr lang="en-US" altLang="ko-KR"/>
              <a:t>0</a:t>
            </a:r>
            <a:r>
              <a:rPr lang="ko-KR" altLang="en-US"/>
              <a:t> 그래프 최단거리 </a:t>
            </a:r>
            <a:r>
              <a:rPr lang="en-US" altLang="ko-KR"/>
              <a:t>- </a:t>
            </a:r>
            <a:r>
              <a:rPr lang="ko-KR" altLang="en-US"/>
              <a:t>우선순위 큐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D329F-B3C6-2654-32B5-2621F96DE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struct pqueue *new_pqueue(int size)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    	struct pqueue *pq</a:t>
            </a:r>
          </a:p>
          <a:p>
            <a:pPr marL="0" indent="0">
              <a:buNone/>
            </a:pPr>
            <a:r>
              <a:rPr lang="en-US" altLang="ko-KR"/>
              <a:t>		 = malloc(sizeof(struct pqueue));</a:t>
            </a:r>
          </a:p>
          <a:p>
            <a:pPr marL="0" indent="0">
              <a:buNone/>
            </a:pPr>
            <a:r>
              <a:rPr lang="en-US" altLang="ko-KR"/>
              <a:t>    	if (pq == NULL) return NULL;</a:t>
            </a:r>
          </a:p>
          <a:p>
            <a:pPr marL="0" indent="0">
              <a:buNone/>
            </a:pPr>
            <a:r>
              <a:rPr lang="en-US" altLang="ko-KR"/>
              <a:t>    	pq-&gt;data = malloc(sizeof(struct node *) * size);</a:t>
            </a:r>
          </a:p>
          <a:p>
            <a:pPr marL="0" indent="0">
              <a:buNone/>
            </a:pPr>
            <a:r>
              <a:rPr lang="en-US" altLang="ko-KR"/>
              <a:t>    	pq-&gt;key = malloc(sizeof(int) * size);</a:t>
            </a:r>
          </a:p>
          <a:p>
            <a:pPr marL="0" indent="0">
              <a:buNone/>
            </a:pPr>
            <a:r>
              <a:rPr lang="en-US" altLang="ko-KR"/>
              <a:t>    	pq-&gt;size = 0;</a:t>
            </a:r>
          </a:p>
          <a:p>
            <a:pPr marL="0" indent="0">
              <a:buNone/>
            </a:pPr>
            <a:r>
              <a:rPr lang="en-US" altLang="ko-KR"/>
              <a:t>    	return pq;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  <a:p>
            <a:pPr marL="0" indent="0">
              <a:buNone/>
            </a:pPr>
            <a:br>
              <a:rPr lang="en-US" altLang="ko-KR"/>
            </a:b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452456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DA428-8E3C-1E62-ADDF-45F3B37AA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90132-4CC0-2A35-C410-445641EBF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90" y="262442"/>
            <a:ext cx="8850685" cy="607653"/>
          </a:xfrm>
        </p:spPr>
        <p:txBody>
          <a:bodyPr>
            <a:spAutoFit/>
          </a:bodyPr>
          <a:lstStyle/>
          <a:p>
            <a:r>
              <a:rPr lang="ko-KR" altLang="en-US"/>
              <a:t>길이 ≥ </a:t>
            </a:r>
            <a:r>
              <a:rPr lang="en-US" altLang="ko-KR"/>
              <a:t>0</a:t>
            </a:r>
            <a:r>
              <a:rPr lang="ko-KR" altLang="en-US"/>
              <a:t> 그래프 최단거리 </a:t>
            </a:r>
            <a:r>
              <a:rPr lang="en-US" altLang="ko-KR"/>
              <a:t>- </a:t>
            </a:r>
            <a:r>
              <a:rPr lang="ko-KR" altLang="en-US"/>
              <a:t>우선순위 큐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FC32D-DE7A-B400-C6DA-68CDB3CA4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swap(struct pqueue *pq, int i, int j) {</a:t>
            </a:r>
          </a:p>
          <a:p>
            <a:pPr marL="0" indent="0">
              <a:buNone/>
            </a:pPr>
            <a:r>
              <a:rPr lang="en-US" altLang="ko-KR"/>
              <a:t>    	struct node **data = pq-&gt;data;</a:t>
            </a:r>
          </a:p>
          <a:p>
            <a:pPr marL="0" indent="0">
              <a:buNone/>
            </a:pPr>
            <a:r>
              <a:rPr lang="en-US" altLang="ko-KR"/>
              <a:t>    	int *key = pq-&gt;key;</a:t>
            </a:r>
          </a:p>
          <a:p>
            <a:pPr marL="0" indent="0">
              <a:buNone/>
            </a:pPr>
            <a:r>
              <a:rPr lang="en-US" altLang="ko-KR"/>
              <a:t>    	int tmp = key[i];</a:t>
            </a:r>
          </a:p>
          <a:p>
            <a:pPr marL="0" indent="0">
              <a:buNone/>
            </a:pPr>
            <a:r>
              <a:rPr lang="en-US" altLang="ko-KR"/>
              <a:t>    	struct node *tmp_node = data[i];</a:t>
            </a:r>
          </a:p>
          <a:p>
            <a:pPr marL="0" indent="0">
              <a:buNone/>
            </a:pPr>
            <a:r>
              <a:rPr lang="en-US" altLang="ko-KR"/>
              <a:t>    	key[i] = key[j];</a:t>
            </a:r>
          </a:p>
          <a:p>
            <a:pPr marL="0" indent="0">
              <a:buNone/>
            </a:pPr>
            <a:r>
              <a:rPr lang="en-US" altLang="ko-KR"/>
              <a:t>    	data[i] = data[j];</a:t>
            </a:r>
          </a:p>
          <a:p>
            <a:pPr marL="0" indent="0">
              <a:buNone/>
            </a:pPr>
            <a:r>
              <a:rPr lang="en-US" altLang="ko-KR"/>
              <a:t>    	key[j] = tmp;</a:t>
            </a:r>
          </a:p>
          <a:p>
            <a:pPr marL="0" indent="0">
              <a:buNone/>
            </a:pPr>
            <a:r>
              <a:rPr lang="en-US" altLang="ko-KR"/>
              <a:t>    	data[j] = tmp_node;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0039703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41B94-18E9-99E6-8E94-7483F77F6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74647-891D-BB89-6603-C0D48750C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90" y="262442"/>
            <a:ext cx="8850685" cy="607653"/>
          </a:xfrm>
        </p:spPr>
        <p:txBody>
          <a:bodyPr>
            <a:spAutoFit/>
          </a:bodyPr>
          <a:lstStyle/>
          <a:p>
            <a:r>
              <a:rPr lang="ko-KR" altLang="en-US"/>
              <a:t>길이 ≥ </a:t>
            </a:r>
            <a:r>
              <a:rPr lang="en-US" altLang="ko-KR"/>
              <a:t>0</a:t>
            </a:r>
            <a:r>
              <a:rPr lang="ko-KR" altLang="en-US"/>
              <a:t> 그래프 최단거리 </a:t>
            </a:r>
            <a:r>
              <a:rPr lang="en-US" altLang="ko-KR"/>
              <a:t>- </a:t>
            </a:r>
            <a:r>
              <a:rPr lang="ko-KR" altLang="en-US"/>
              <a:t>우선순위 큐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D2227-605A-6801-EE15-DF90DC82C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push(struct pqueue *pq, struct node *n)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    	int i = pq-&gt;size;</a:t>
            </a:r>
          </a:p>
          <a:p>
            <a:pPr marL="0" indent="0">
              <a:buNone/>
            </a:pPr>
            <a:r>
              <a:rPr lang="en-US" altLang="ko-KR"/>
              <a:t>    	struct node **data = pq-&gt;data;</a:t>
            </a:r>
          </a:p>
          <a:p>
            <a:pPr marL="0" indent="0">
              <a:buNone/>
            </a:pPr>
            <a:r>
              <a:rPr lang="en-US" altLang="ko-KR"/>
              <a:t>    	int *key = pq-&gt;key;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    	data[i] = n;</a:t>
            </a:r>
          </a:p>
          <a:p>
            <a:pPr marL="0" indent="0">
              <a:buNone/>
            </a:pPr>
            <a:r>
              <a:rPr lang="en-US" altLang="ko-KR"/>
              <a:t>    	key[i] = n-&gt;distance;</a:t>
            </a:r>
          </a:p>
          <a:p>
            <a:pPr marL="0" indent="0">
              <a:buNone/>
            </a:pPr>
            <a:r>
              <a:rPr lang="en-US" altLang="ko-KR"/>
              <a:t>    	pq-&gt;size = i + 1;</a:t>
            </a:r>
          </a:p>
        </p:txBody>
      </p:sp>
    </p:spTree>
    <p:extLst>
      <p:ext uri="{BB962C8B-B14F-4D97-AF65-F5344CB8AC3E}">
        <p14:creationId xmlns:p14="http://schemas.microsoft.com/office/powerpoint/2010/main" val="332241336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6A5B8-006C-D883-3027-18ABE6D5E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E2C5D-6096-168E-9E53-BE1B636C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90" y="262442"/>
            <a:ext cx="8850685" cy="607653"/>
          </a:xfrm>
        </p:spPr>
        <p:txBody>
          <a:bodyPr>
            <a:spAutoFit/>
          </a:bodyPr>
          <a:lstStyle/>
          <a:p>
            <a:r>
              <a:rPr lang="ko-KR" altLang="en-US"/>
              <a:t>길이 ≥ </a:t>
            </a:r>
            <a:r>
              <a:rPr lang="en-US" altLang="ko-KR"/>
              <a:t>0</a:t>
            </a:r>
            <a:r>
              <a:rPr lang="ko-KR" altLang="en-US"/>
              <a:t> 그래프 최단거리 </a:t>
            </a:r>
            <a:r>
              <a:rPr lang="en-US" altLang="ko-KR"/>
              <a:t>- </a:t>
            </a:r>
            <a:r>
              <a:rPr lang="ko-KR" altLang="en-US"/>
              <a:t>우선순위 큐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6E16B-EC58-D696-CF41-6F565831C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    	while (i &gt; 0) {</a:t>
            </a:r>
          </a:p>
          <a:p>
            <a:pPr marL="0" indent="0">
              <a:buNone/>
            </a:pPr>
            <a:r>
              <a:rPr lang="en-US" altLang="ko-KR"/>
              <a:t>        		int p = (i - 1) / 2;</a:t>
            </a:r>
          </a:p>
          <a:p>
            <a:pPr marL="0" indent="0">
              <a:buNone/>
            </a:pPr>
            <a:r>
              <a:rPr lang="en-US" altLang="ko-KR"/>
              <a:t>        		if (key[i] &gt;= key[p])</a:t>
            </a:r>
          </a:p>
          <a:p>
            <a:pPr marL="0" indent="0">
              <a:buNone/>
            </a:pPr>
            <a:r>
              <a:rPr lang="en-US" altLang="ko-KR"/>
              <a:t>            			break;</a:t>
            </a:r>
          </a:p>
          <a:p>
            <a:pPr marL="0" indent="0">
              <a:buNone/>
            </a:pPr>
            <a:r>
              <a:rPr lang="en-US" altLang="ko-KR"/>
              <a:t>        		swap(pq, i, p);</a:t>
            </a:r>
          </a:p>
          <a:p>
            <a:pPr marL="0" indent="0">
              <a:buNone/>
            </a:pPr>
            <a:r>
              <a:rPr lang="en-US" altLang="ko-KR"/>
              <a:t>        		i = p;</a:t>
            </a:r>
          </a:p>
          <a:p>
            <a:pPr marL="0" indent="0">
              <a:buNone/>
            </a:pPr>
            <a:r>
              <a:rPr lang="en-US" altLang="ko-KR"/>
              <a:t>    	}</a:t>
            </a:r>
          </a:p>
          <a:p>
            <a:pPr marL="0" indent="0">
              <a:buNone/>
            </a:pPr>
            <a:r>
              <a:rPr lang="en-US" altLang="ko-KR"/>
              <a:t>    	printf("push: node %c[%d], size = %d\n", </a:t>
            </a:r>
          </a:p>
          <a:p>
            <a:pPr marL="0" indent="0">
              <a:buNone/>
            </a:pPr>
            <a:r>
              <a:rPr lang="en-US" altLang="ko-KR"/>
              <a:t>		n-&gt;data, n-&gt;distance, pq-&gt;size);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8289067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BB688-4993-4170-A7B0-5AD060E0B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C8C55-60B3-6B1F-F1B5-FF2045BCD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90" y="262442"/>
            <a:ext cx="8850685" cy="607653"/>
          </a:xfrm>
        </p:spPr>
        <p:txBody>
          <a:bodyPr>
            <a:spAutoFit/>
          </a:bodyPr>
          <a:lstStyle/>
          <a:p>
            <a:r>
              <a:rPr lang="ko-KR" altLang="en-US"/>
              <a:t>길이 ≥ </a:t>
            </a:r>
            <a:r>
              <a:rPr lang="en-US" altLang="ko-KR"/>
              <a:t>0</a:t>
            </a:r>
            <a:r>
              <a:rPr lang="ko-KR" altLang="en-US"/>
              <a:t> 그래프 최단거리 </a:t>
            </a:r>
            <a:r>
              <a:rPr lang="en-US" altLang="ko-KR"/>
              <a:t>- </a:t>
            </a:r>
            <a:r>
              <a:rPr lang="ko-KR" altLang="en-US"/>
              <a:t>우선순위 큐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32837-39F8-A3A3-487B-78DF11F22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struct node *pop(struct pqueue *pq)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    	struct node **data = pq-&gt;data;</a:t>
            </a:r>
          </a:p>
          <a:p>
            <a:pPr marL="0" indent="0">
              <a:buNone/>
            </a:pPr>
            <a:r>
              <a:rPr lang="en-US" altLang="ko-KR"/>
              <a:t>    	int *key = pq-&gt;key;</a:t>
            </a:r>
          </a:p>
          <a:p>
            <a:pPr marL="0" indent="0">
              <a:buNone/>
            </a:pPr>
            <a:r>
              <a:rPr lang="en-US" altLang="ko-KR"/>
              <a:t>    	int size = pq-&gt;size;</a:t>
            </a:r>
          </a:p>
          <a:p>
            <a:pPr marL="0" indent="0">
              <a:buNone/>
            </a:pPr>
            <a:r>
              <a:rPr lang="en-US" altLang="ko-KR"/>
              <a:t>    	struct node *result = data[0];</a:t>
            </a:r>
          </a:p>
          <a:p>
            <a:pPr marL="0" indent="0">
              <a:buNone/>
            </a:pPr>
            <a:r>
              <a:rPr lang="en-US" altLang="ko-KR"/>
              <a:t>    	int distance = key[0];</a:t>
            </a:r>
          </a:p>
          <a:p>
            <a:pPr marL="0" indent="0">
              <a:buNone/>
            </a:pPr>
            <a:r>
              <a:rPr lang="en-US" altLang="ko-KR"/>
              <a:t>    	swap(pq, 0, size - 1);</a:t>
            </a:r>
          </a:p>
          <a:p>
            <a:pPr marL="0" indent="0">
              <a:buNone/>
            </a:pPr>
            <a:r>
              <a:rPr lang="en-US" altLang="ko-KR"/>
              <a:t>    	pq-&gt;size = size = size - 1;</a:t>
            </a:r>
          </a:p>
          <a:p>
            <a:pPr marL="0" indent="0">
              <a:buNone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7294645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1DEB8-AD0A-6BB6-818C-8CFABB5F7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02C40-09F0-5B5E-B90E-18ABCFED7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90" y="262442"/>
            <a:ext cx="8850685" cy="607653"/>
          </a:xfrm>
        </p:spPr>
        <p:txBody>
          <a:bodyPr>
            <a:spAutoFit/>
          </a:bodyPr>
          <a:lstStyle/>
          <a:p>
            <a:r>
              <a:rPr lang="ko-KR" altLang="en-US"/>
              <a:t>길이 ≥ </a:t>
            </a:r>
            <a:r>
              <a:rPr lang="en-US" altLang="ko-KR"/>
              <a:t>0</a:t>
            </a:r>
            <a:r>
              <a:rPr lang="ko-KR" altLang="en-US"/>
              <a:t> 그래프 최단거리 </a:t>
            </a:r>
            <a:r>
              <a:rPr lang="en-US" altLang="ko-KR"/>
              <a:t>- </a:t>
            </a:r>
            <a:r>
              <a:rPr lang="ko-KR" altLang="en-US"/>
              <a:t>우선순위 큐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64D1D-B8F7-300C-9E35-6CB9E6C36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    	int i = 0;</a:t>
            </a:r>
          </a:p>
          <a:p>
            <a:pPr marL="0" indent="0">
              <a:buNone/>
            </a:pPr>
            <a:r>
              <a:rPr lang="en-US" altLang="ko-KR"/>
              <a:t>    	while (2 * i + 1 &lt; size) {</a:t>
            </a:r>
          </a:p>
          <a:p>
            <a:pPr marL="0" indent="0">
              <a:buNone/>
            </a:pPr>
            <a:r>
              <a:rPr lang="en-US" altLang="ko-KR"/>
              <a:t>        		int c = 2 * i + 1;</a:t>
            </a:r>
          </a:p>
          <a:p>
            <a:pPr marL="0" indent="0">
              <a:buNone/>
            </a:pPr>
            <a:r>
              <a:rPr lang="en-US" altLang="ko-KR"/>
              <a:t>        		if (c + 1 &lt; size &amp;&amp; key[c + 1] &lt; key[c])</a:t>
            </a:r>
          </a:p>
          <a:p>
            <a:pPr marL="0" indent="0">
              <a:buNone/>
            </a:pPr>
            <a:r>
              <a:rPr lang="en-US" altLang="ko-KR"/>
              <a:t>            			c = c + 1;</a:t>
            </a:r>
          </a:p>
          <a:p>
            <a:pPr marL="0" indent="0">
              <a:buNone/>
            </a:pPr>
            <a:r>
              <a:rPr lang="en-US" altLang="ko-KR"/>
              <a:t>        		if (key[i] &lt;= key[c])</a:t>
            </a:r>
          </a:p>
          <a:p>
            <a:pPr marL="0" indent="0">
              <a:buNone/>
            </a:pPr>
            <a:r>
              <a:rPr lang="en-US" altLang="ko-KR"/>
              <a:t>            			break;      </a:t>
            </a:r>
          </a:p>
          <a:p>
            <a:pPr marL="0" indent="0">
              <a:buNone/>
            </a:pPr>
            <a:r>
              <a:rPr lang="en-US" altLang="ko-KR"/>
              <a:t>        		swap (pq, i, c);</a:t>
            </a:r>
          </a:p>
          <a:p>
            <a:pPr marL="0" indent="0">
              <a:buNone/>
            </a:pPr>
            <a:r>
              <a:rPr lang="en-US" altLang="ko-KR"/>
              <a:t>        		i = c;</a:t>
            </a:r>
          </a:p>
          <a:p>
            <a:pPr marL="0" indent="0">
              <a:buNone/>
            </a:pPr>
            <a:r>
              <a:rPr lang="en-US" altLang="ko-KR"/>
              <a:t>    	}</a:t>
            </a:r>
          </a:p>
        </p:txBody>
      </p:sp>
    </p:spTree>
    <p:extLst>
      <p:ext uri="{BB962C8B-B14F-4D97-AF65-F5344CB8AC3E}">
        <p14:creationId xmlns:p14="http://schemas.microsoft.com/office/powerpoint/2010/main" val="31645414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BEA9A-3F3A-1F12-E60E-689893D04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BB489-914E-0299-CADE-A53E9279A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90" y="262442"/>
            <a:ext cx="8850685" cy="607653"/>
          </a:xfrm>
        </p:spPr>
        <p:txBody>
          <a:bodyPr>
            <a:spAutoFit/>
          </a:bodyPr>
          <a:lstStyle/>
          <a:p>
            <a:r>
              <a:rPr lang="ko-KR" altLang="en-US"/>
              <a:t>길이 ≥ </a:t>
            </a:r>
            <a:r>
              <a:rPr lang="en-US" altLang="ko-KR"/>
              <a:t>0</a:t>
            </a:r>
            <a:r>
              <a:rPr lang="ko-KR" altLang="en-US"/>
              <a:t> 그래프 최단거리 </a:t>
            </a:r>
            <a:r>
              <a:rPr lang="en-US" altLang="ko-KR"/>
              <a:t>- </a:t>
            </a:r>
            <a:r>
              <a:rPr lang="ko-KR" altLang="en-US"/>
              <a:t>우선순위 큐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71510-F391-1D51-D899-74489CFC5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    	printf("pop: node %c[%d], size = %d\n", </a:t>
            </a:r>
          </a:p>
          <a:p>
            <a:pPr marL="0" indent="0">
              <a:buNone/>
            </a:pPr>
            <a:r>
              <a:rPr lang="en-US" altLang="ko-KR"/>
              <a:t>		result-&gt;data, distance, pq-&gt;size);  </a:t>
            </a:r>
          </a:p>
          <a:p>
            <a:pPr marL="0" indent="0">
              <a:buNone/>
            </a:pPr>
            <a:r>
              <a:rPr lang="en-US" altLang="ko-KR"/>
              <a:t>    	return result;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6994942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69C5F-2A10-7C00-D6B3-BD4AF56A4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312BA-2F08-588B-9355-114AA9B44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90" y="262442"/>
            <a:ext cx="8850685" cy="607653"/>
          </a:xfrm>
        </p:spPr>
        <p:txBody>
          <a:bodyPr>
            <a:spAutoFit/>
          </a:bodyPr>
          <a:lstStyle/>
          <a:p>
            <a:r>
              <a:rPr lang="ko-KR" altLang="en-US"/>
              <a:t>길이 ≥ </a:t>
            </a:r>
            <a:r>
              <a:rPr lang="en-US" altLang="ko-KR"/>
              <a:t>0</a:t>
            </a:r>
            <a:r>
              <a:rPr lang="ko-KR" altLang="en-US"/>
              <a:t> 그래프 최단거리 </a:t>
            </a:r>
            <a:r>
              <a:rPr lang="en-US" altLang="ko-KR"/>
              <a:t>- </a:t>
            </a:r>
            <a:r>
              <a:rPr lang="ko-KR" altLang="en-US"/>
              <a:t>우선순위 큐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74846-F106-7701-0B67-96D43A1EC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int pqueue_is_empty(struct pqueue *pq)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    	return pq-&gt;size == 0;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  <a:p>
            <a:pPr marL="0" indent="0">
              <a:buNone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7091602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B9589-4F63-3877-F54B-47D80B1B4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DC6D9-3E60-D984-55E8-B2CD701F7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90" y="262442"/>
            <a:ext cx="8850685" cy="607653"/>
          </a:xfrm>
        </p:spPr>
        <p:txBody>
          <a:bodyPr>
            <a:spAutoFit/>
          </a:bodyPr>
          <a:lstStyle/>
          <a:p>
            <a:r>
              <a:rPr lang="ko-KR" altLang="en-US"/>
              <a:t>길이 ≥ </a:t>
            </a:r>
            <a:r>
              <a:rPr lang="en-US" altLang="ko-KR"/>
              <a:t>0</a:t>
            </a:r>
            <a:r>
              <a:rPr lang="ko-KR" altLang="en-US"/>
              <a:t> 그래프 최단거리 </a:t>
            </a:r>
            <a:r>
              <a:rPr lang="en-US" altLang="ko-KR"/>
              <a:t>- </a:t>
            </a:r>
            <a:r>
              <a:rPr lang="ko-KR" altLang="en-US"/>
              <a:t>우선순위 큐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D6F45-7D30-6D94-781E-C1FA415D9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delete_pqueue(struct pqueue *pq)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    	free(pq-&gt;data);</a:t>
            </a:r>
          </a:p>
          <a:p>
            <a:pPr marL="0" indent="0">
              <a:buNone/>
            </a:pPr>
            <a:r>
              <a:rPr lang="en-US" altLang="ko-KR"/>
              <a:t>    	free(pq-&gt;key);</a:t>
            </a:r>
          </a:p>
          <a:p>
            <a:pPr marL="0" indent="0">
              <a:buNone/>
            </a:pPr>
            <a:r>
              <a:rPr lang="en-US" altLang="ko-KR"/>
              <a:t>    	free(pq);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  <a:p>
            <a:pPr marL="0" indent="0">
              <a:buNone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33939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14279</TotalTime>
  <Words>5774</Words>
  <Application>Microsoft Office PowerPoint</Application>
  <PresentationFormat>화면 슬라이드 쇼(4:3)</PresentationFormat>
  <Paragraphs>782</Paragraphs>
  <Slides>91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91</vt:i4>
      </vt:variant>
    </vt:vector>
  </HeadingPairs>
  <TitlesOfParts>
    <vt:vector size="96" baseType="lpstr">
      <vt:lpstr>맑은 고딕</vt:lpstr>
      <vt:lpstr>Aptos</vt:lpstr>
      <vt:lpstr>Aptos Display</vt:lpstr>
      <vt:lpstr>Arial</vt:lpstr>
      <vt:lpstr>Office 테마</vt:lpstr>
      <vt:lpstr>자료구조 (Data Structure) 9주차: 그래프 최단경로</vt:lpstr>
      <vt:lpstr>지난 시간 내용</vt:lpstr>
      <vt:lpstr>오늘의 목차</vt:lpstr>
      <vt:lpstr>그래프 출력 - printf</vt:lpstr>
      <vt:lpstr>그래프 출력 - 인접리스트 구조체</vt:lpstr>
      <vt:lpstr>그래프 출력 - 인접리스트 구조체</vt:lpstr>
      <vt:lpstr>그래프 출력 - 그래프 노드 구조체</vt:lpstr>
      <vt:lpstr>그래프 출력 - 그래프 노드 구조체</vt:lpstr>
      <vt:lpstr>그래프 출력 - 그래프 노드 구조체 확인</vt:lpstr>
      <vt:lpstr>그래프 출력 - 그래프 노드 구조체 확인</vt:lpstr>
      <vt:lpstr>그래프 출력 - 그래프 노드 구조체 확인</vt:lpstr>
      <vt:lpstr>그래프 출력 - 연결선 구조체</vt:lpstr>
      <vt:lpstr>그래프 출력 - 연결선 구조체</vt:lpstr>
      <vt:lpstr>그래프 출력 - 연결선 구조체 확인</vt:lpstr>
      <vt:lpstr>그래프 출력 - 연결선 구조체 확인</vt:lpstr>
      <vt:lpstr>그래프 출력 - 연결선 구조체 확인</vt:lpstr>
      <vt:lpstr>그래프 출력 - 그래프 구조체</vt:lpstr>
      <vt:lpstr>그래프 출력 - 그래프 구조체</vt:lpstr>
      <vt:lpstr>그래프 출력 - 그래프 구조체 확인</vt:lpstr>
      <vt:lpstr>그래프 출력 - 그래프 구조체 확인</vt:lpstr>
      <vt:lpstr>그래프 출력 - 그래프 구조체 확인</vt:lpstr>
      <vt:lpstr>그래프 출력 - 그래프 구조체 확인</vt:lpstr>
      <vt:lpstr>그래프 출력 - 그래프 구조체 확인</vt:lpstr>
      <vt:lpstr>그래프 출력 - 그래프 구조체 확인</vt:lpstr>
      <vt:lpstr>그래프 출력 - 인접 행렬</vt:lpstr>
      <vt:lpstr>그래프 출력 - 인접 행렬</vt:lpstr>
      <vt:lpstr>그래프 출력 - 인접 행렬</vt:lpstr>
      <vt:lpstr>그래프 출력 - 인접 행렬</vt:lpstr>
      <vt:lpstr>그래프 출력 - 인접 행렬</vt:lpstr>
      <vt:lpstr>그래프 출력 - 인접 리스트</vt:lpstr>
      <vt:lpstr>그래프 출력 - 인접 리스트</vt:lpstr>
      <vt:lpstr>그래프 출력 - 인접 리스트</vt:lpstr>
      <vt:lpstr>그래프 출력 - 인접 리스트</vt:lpstr>
      <vt:lpstr>그래프 출력 - 인접 리스트</vt:lpstr>
      <vt:lpstr>그래프 출력 - 인접 리스트</vt:lpstr>
      <vt:lpstr>그래프 출력 - 인접 리스트</vt:lpstr>
      <vt:lpstr>그래프 출력 - 인접 리스트</vt:lpstr>
      <vt:lpstr>그래프 출력 - 3열 그래프</vt:lpstr>
      <vt:lpstr>그래프 출력 - 3열 그래프</vt:lpstr>
      <vt:lpstr>그래프 출력 - 3열 그래프</vt:lpstr>
      <vt:lpstr>그래프 출력 - 3열 그래프</vt:lpstr>
      <vt:lpstr>그래프 출력 - 3열 그래프</vt:lpstr>
      <vt:lpstr>너비 우선 탐색 구현</vt:lpstr>
      <vt:lpstr>너비 우선 탐색 구현</vt:lpstr>
      <vt:lpstr>너비 우선 탐색 구현</vt:lpstr>
      <vt:lpstr>너비 우선 탐색 구현</vt:lpstr>
      <vt:lpstr>너비 우선 탐색 구현</vt:lpstr>
      <vt:lpstr>너비 우선 탐색 구현</vt:lpstr>
      <vt:lpstr>너비 우선 탐색 구현</vt:lpstr>
      <vt:lpstr>길이 0/1 그래프 최단거리</vt:lpstr>
      <vt:lpstr>길이 0/1 그래프 최단거리</vt:lpstr>
      <vt:lpstr>길이 0/1 그래프 최단거리</vt:lpstr>
      <vt:lpstr>길이 0/1 그래프 최단거리</vt:lpstr>
      <vt:lpstr>길이 0/1 그래프 최단거리</vt:lpstr>
      <vt:lpstr>길이 0/1 그래프 최단거리</vt:lpstr>
      <vt:lpstr>길이 0/1 그래프 최단거리</vt:lpstr>
      <vt:lpstr>길이 ≥ 0 그래프 최단거리</vt:lpstr>
      <vt:lpstr>길이 ≥ 0 그래프 최단거리</vt:lpstr>
      <vt:lpstr>길이 ≥ 0 그래프 최단거리</vt:lpstr>
      <vt:lpstr>길이 ≥ 0 그래프 최단거리</vt:lpstr>
      <vt:lpstr>길이 ≥ 0 그래프 최단거리</vt:lpstr>
      <vt:lpstr>길이 ≥ 0 그래프 최단거리</vt:lpstr>
      <vt:lpstr>길이 ≥ 0 그래프 최단거리</vt:lpstr>
      <vt:lpstr>요약</vt:lpstr>
      <vt:lpstr>너비 우선 탐색 - 큐</vt:lpstr>
      <vt:lpstr>너비 우선 탐색 - 큐</vt:lpstr>
      <vt:lpstr>너비 우선 탐색 - 큐</vt:lpstr>
      <vt:lpstr>너비 우선 탐색 - 큐</vt:lpstr>
      <vt:lpstr>너비 우선 탐색 - 큐</vt:lpstr>
      <vt:lpstr>너비 우선 탐색 - 큐</vt:lpstr>
      <vt:lpstr>길이 0/1 그래프 최단거리 - 양방향 큐</vt:lpstr>
      <vt:lpstr>길이 0/1 그래프 최단거리 - 양방향 큐</vt:lpstr>
      <vt:lpstr>길이 0/1 그래프 최단거리 - 양방향 큐</vt:lpstr>
      <vt:lpstr>길이 0/1 그래프 최단거리 - 양방향 큐</vt:lpstr>
      <vt:lpstr>길이 0/1 그래프 최단거리 - 양방향 큐</vt:lpstr>
      <vt:lpstr>길이 0/1 그래프 최단거리 - 양방향 큐</vt:lpstr>
      <vt:lpstr>길이 0/1 그래프 최단거리 - 양방향 큐</vt:lpstr>
      <vt:lpstr>길이 0/1 그래프 최단거리 - 양방향 큐</vt:lpstr>
      <vt:lpstr>길이 0/1 그래프 최단거리 - 양방향 큐</vt:lpstr>
      <vt:lpstr>길이 0/1 그래프 최단거리 - 양방향 큐</vt:lpstr>
      <vt:lpstr>길이 0/1 그래프 최단거리 - 양방향 큐</vt:lpstr>
      <vt:lpstr>길이 ≥ 0 그래프 최단거리 - 우선순위 큐</vt:lpstr>
      <vt:lpstr>길이 ≥ 0 그래프 최단거리 - 우선순위 큐</vt:lpstr>
      <vt:lpstr>길이 ≥ 0 그래프 최단거리 - 우선순위 큐</vt:lpstr>
      <vt:lpstr>길이 ≥ 0 그래프 최단거리 - 우선순위 큐</vt:lpstr>
      <vt:lpstr>길이 ≥ 0 그래프 최단거리 - 우선순위 큐</vt:lpstr>
      <vt:lpstr>길이 ≥ 0 그래프 최단거리 - 우선순위 큐</vt:lpstr>
      <vt:lpstr>길이 ≥ 0 그래프 최단거리 - 우선순위 큐</vt:lpstr>
      <vt:lpstr>길이 ≥ 0 그래프 최단거리 - 우선순위 큐</vt:lpstr>
      <vt:lpstr>길이 ≥ 0 그래프 최단거리 - 우선순위 큐</vt:lpstr>
      <vt:lpstr>길이 ≥ 0 그래프 최단거리 - 우선순위 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C</dc:creator>
  <cp:lastModifiedBy>K C</cp:lastModifiedBy>
  <cp:revision>20</cp:revision>
  <dcterms:created xsi:type="dcterms:W3CDTF">2025-07-28T15:04:23Z</dcterms:created>
  <dcterms:modified xsi:type="dcterms:W3CDTF">2025-11-13T15:14:40Z</dcterms:modified>
</cp:coreProperties>
</file>