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5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6" r:id="rId47"/>
    <p:sldId id="301" r:id="rId48"/>
    <p:sldId id="307" r:id="rId49"/>
    <p:sldId id="302" r:id="rId50"/>
    <p:sldId id="303" r:id="rId51"/>
    <p:sldId id="308" r:id="rId52"/>
    <p:sldId id="309" r:id="rId53"/>
    <p:sldId id="304" r:id="rId54"/>
    <p:sldId id="310" r:id="rId55"/>
    <p:sldId id="311" r:id="rId56"/>
    <p:sldId id="305" r:id="rId5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2E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5" d="100"/>
          <a:sy n="85" d="100"/>
        </p:scale>
        <p:origin x="76" y="4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240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2DE6C-AA0F-425F-A4E6-018C05453644}" type="datetimeFigureOut">
              <a:rPr lang="ko-KR" altLang="en-US" smtClean="0"/>
              <a:t>2025-09-23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3F3005-54B2-4F13-8D6E-05C92289A9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940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431" y="4043369"/>
            <a:ext cx="8771138" cy="607653"/>
          </a:xfrm>
        </p:spPr>
        <p:txBody>
          <a:bodyPr wrap="square" anchor="b"/>
          <a:lstStyle>
            <a:lvl1pPr algn="ctr"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68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5975" y="262442"/>
            <a:ext cx="5976500" cy="607653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85153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1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44852" y="200299"/>
            <a:ext cx="5976500" cy="60765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vert="horz" wrap="none" lIns="540000" tIns="108000" rIns="540000" bIns="0" rtlCol="0" anchor="ctr">
            <a:sp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85153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888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r" defTabSz="914400" rtl="0" eaLnBrk="1" latinLnBrk="1" hangingPunct="1">
        <a:lnSpc>
          <a:spcPct val="90000"/>
        </a:lnSpc>
        <a:spcBef>
          <a:spcPct val="0"/>
        </a:spcBef>
        <a:buNone/>
        <a:defRPr sz="3600" b="1" kern="1200">
          <a:solidFill>
            <a:srgbClr val="00206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431" y="3544771"/>
            <a:ext cx="8771138" cy="1106251"/>
          </a:xfrm>
        </p:spPr>
        <p:txBody>
          <a:bodyPr/>
          <a:lstStyle/>
          <a:p>
            <a:r>
              <a:t>자료구조 (Data Structure)</a:t>
            </a:r>
          </a:p>
          <a:p>
            <a:r>
              <a:t>4주차: 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6194" y="262442"/>
            <a:ext cx="5646281" cy="607653"/>
          </a:xfrm>
        </p:spPr>
        <p:txBody>
          <a:bodyPr>
            <a:spAutoFit/>
          </a:bodyPr>
          <a:lstStyle/>
          <a:p>
            <a:r>
              <a:t>일차원(선형) 자료구조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리스트: 모든 데이터를 순서로 직접 접근할 수 있다</a:t>
            </a:r>
          </a:p>
          <a:p>
            <a:endParaRPr/>
          </a:p>
          <a:p>
            <a:r>
              <a:t>스택: 가장 최근(top)의 데이터만 접근할 수 있다</a:t>
            </a:r>
          </a:p>
          <a:p>
            <a:endParaRPr/>
          </a:p>
          <a:p>
            <a:r>
              <a:t>큐: 가장 오래된(front)의 데이터만 접근할 수 있다</a:t>
            </a:r>
          </a:p>
          <a:p>
            <a:endParaRPr/>
          </a:p>
          <a:p>
            <a:r>
              <a:t>리스트는 자유 접근, 스택/큐는 제한된 접근이지만 효율적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0263" y="262442"/>
            <a:ext cx="1552212" cy="607653"/>
          </a:xfrm>
        </p:spPr>
        <p:txBody>
          <a:bodyPr>
            <a:spAutoFit/>
          </a:bodyPr>
          <a:lstStyle/>
          <a:p>
            <a:r>
              <a:t>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특징: First-In First-Out (FIFO) 구조</a:t>
            </a:r>
          </a:p>
          <a:p>
            <a:endParaRPr/>
          </a:p>
          <a:p>
            <a:r>
              <a:t>정의: 한쪽 끝(rear)에서만 추가, 다른 쪽 끝(front)에서만 삭제가 가능한 선형 자료구조</a:t>
            </a:r>
          </a:p>
          <a:p>
            <a:endParaRPr/>
          </a:p>
          <a:p>
            <a:r>
              <a:t>기능:</a:t>
            </a:r>
          </a:p>
          <a:p>
            <a:pPr marL="0" indent="0">
              <a:buNone/>
            </a:pPr>
            <a:r>
              <a:rPr lang="en-US"/>
              <a:t>	</a:t>
            </a:r>
            <a:r>
              <a:t> - ENQUEUE(x): </a:t>
            </a:r>
            <a:r>
              <a:rPr lang="en-US"/>
              <a:t> </a:t>
            </a:r>
            <a:r>
              <a:t>rear에 데이터 x를 추가</a:t>
            </a:r>
          </a:p>
          <a:p>
            <a:pPr marL="0" indent="0">
              <a:buNone/>
            </a:pPr>
            <a:r>
              <a:rPr lang="en-US"/>
              <a:t>	</a:t>
            </a:r>
            <a:r>
              <a:t> - DEQUEUE(): </a:t>
            </a:r>
            <a:r>
              <a:rPr lang="en-US"/>
              <a:t>   </a:t>
            </a:r>
            <a:r>
              <a:t>front에서 데이터 삭제</a:t>
            </a:r>
            <a:r>
              <a:rPr lang="en-US"/>
              <a:t>/</a:t>
            </a:r>
            <a:r>
              <a:t>반환</a:t>
            </a:r>
            <a:endParaRPr lang="en-US"/>
          </a:p>
          <a:p>
            <a:endParaRPr/>
          </a:p>
          <a:p>
            <a:r>
              <a:t>시간 효율: ENQUEUE / DEQUEUE 모두 O(1)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9548" y="262442"/>
            <a:ext cx="7912927" cy="607653"/>
          </a:xfrm>
        </p:spPr>
        <p:txBody>
          <a:bodyPr>
            <a:spAutoFit/>
          </a:bodyPr>
          <a:lstStyle/>
          <a:p>
            <a:r>
              <a:t>단방향 링크드 리스트로 구현한 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특징: 노드는 뒤(rear)에 추가하기 쉽고, 앞(front)에서 삭제하기 쉽다</a:t>
            </a:r>
          </a:p>
          <a:p>
            <a:endParaRPr/>
          </a:p>
          <a:p>
            <a:r>
              <a:t>front: 삭제될 첫 노드 (초기값 NULL)</a:t>
            </a:r>
          </a:p>
          <a:p>
            <a:r>
              <a:t>rear: 가장 나중에 추가된 마지막 노드 (초기값 NULL)</a:t>
            </a:r>
          </a:p>
          <a:p>
            <a:endParaRPr/>
          </a:p>
          <a:p>
            <a:pPr>
              <a:spcAft>
                <a:spcPts val="1200"/>
              </a:spcAft>
            </a:pPr>
            <a:r>
              <a:t>LQUEUE_ENQUEUE(q, value): </a:t>
            </a:r>
            <a:br>
              <a:rPr lang="en-US"/>
            </a:br>
            <a:r>
              <a:t>새 노드를 rear 뒤에 연결, rear 갱신</a:t>
            </a:r>
          </a:p>
          <a:p>
            <a:pPr>
              <a:spcAft>
                <a:spcPts val="1200"/>
              </a:spcAft>
            </a:pPr>
            <a:r>
              <a:t>LQUEUE_DEQUEUE(q): </a:t>
            </a:r>
            <a:br>
              <a:rPr lang="en-US"/>
            </a:br>
            <a:r>
              <a:t>front 노드 삭제, front 갱신, 기존 front 데이터 반환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98598" y="262442"/>
            <a:ext cx="2013877" cy="607653"/>
          </a:xfrm>
        </p:spPr>
        <p:txBody>
          <a:bodyPr>
            <a:spAutoFit/>
          </a:bodyPr>
          <a:lstStyle/>
          <a:p>
            <a:r>
              <a:t>노드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데이터와 다음 노드 정보의 묶음</a:t>
            </a:r>
          </a:p>
          <a:p>
            <a:pPr marL="0" indent="0">
              <a:buNone/>
            </a:pPr>
            <a:r>
              <a:rPr lang="en-US"/>
              <a:t>	</a:t>
            </a:r>
            <a:r>
              <a:t>val: 저장된 데이</a:t>
            </a:r>
            <a:r>
              <a:rPr lang="ko-KR" altLang="en-US"/>
              <a:t>터</a:t>
            </a:r>
          </a:p>
          <a:p>
            <a:pPr marL="0" indent="0">
              <a:buNone/>
            </a:pPr>
            <a:r>
              <a:rPr lang="en-US"/>
              <a:t>	</a:t>
            </a:r>
            <a:r>
              <a:t>next: 다음 노드 주소 (마지막 노드는 NULL)</a:t>
            </a:r>
          </a:p>
          <a:p>
            <a:endParaRPr/>
          </a:p>
          <a:p>
            <a:pPr>
              <a:spcAft>
                <a:spcPts val="1200"/>
              </a:spcAft>
            </a:pPr>
            <a:r>
              <a:t>NODE_CREATE(value, next_ptr): </a:t>
            </a:r>
            <a:br>
              <a:rPr lang="en-US"/>
            </a:br>
            <a:r>
              <a:t>새 노드를 만들고 정보 설정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267" y="260839"/>
            <a:ext cx="6828208" cy="610859"/>
          </a:xfrm>
        </p:spPr>
        <p:txBody>
          <a:bodyPr>
            <a:spAutoFit/>
          </a:bodyPr>
          <a:lstStyle/>
          <a:p>
            <a:r>
              <a:t>LQUEUE_ENQUEUE(q, value)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데이터가 value인 노드를 만들어 rear 뒤에 추가한다</a:t>
            </a:r>
          </a:p>
          <a:p>
            <a:pPr>
              <a:lnSpc>
                <a:spcPct val="150000"/>
              </a:lnSpc>
            </a:pPr>
            <a:r>
              <a:t>동작: node</a:t>
            </a:r>
            <a:r>
              <a:rPr lang="ko-KR" altLang="en-US"/>
              <a:t>에</a:t>
            </a:r>
            <a:r>
              <a:t> NODE_CREATE(value, NULL)</a:t>
            </a:r>
            <a:r>
              <a:rPr lang="ko-KR" altLang="en-US"/>
              <a:t>를 저장</a:t>
            </a:r>
            <a:br/>
            <a:r>
              <a:t>            </a:t>
            </a:r>
            <a:r>
              <a:rPr lang="ko-KR" altLang="en-US"/>
              <a:t>만약</a:t>
            </a:r>
            <a:r>
              <a:rPr lang="en-US" altLang="ko-KR"/>
              <a:t>: q</a:t>
            </a:r>
            <a:r>
              <a:rPr lang="ko-KR" altLang="en-US"/>
              <a:t>의 </a:t>
            </a:r>
            <a:r>
              <a:rPr lang="en-US" altLang="ko-KR"/>
              <a:t>rear</a:t>
            </a:r>
            <a:r>
              <a:rPr lang="ko-KR" altLang="en-US"/>
              <a:t>가 </a:t>
            </a:r>
            <a:r>
              <a:rPr lang="en-US" altLang="ko-KR"/>
              <a:t>NULL</a:t>
            </a:r>
            <a:r>
              <a:rPr lang="ko-KR" altLang="en-US"/>
              <a:t>이면</a:t>
            </a:r>
            <a:br/>
            <a:r>
              <a:t>                        </a:t>
            </a:r>
            <a:r>
              <a:rPr lang="en-US" altLang="ko-KR"/>
              <a:t>q</a:t>
            </a:r>
            <a:r>
              <a:rPr lang="ko-KR" altLang="en-US"/>
              <a:t>의 </a:t>
            </a:r>
            <a:r>
              <a:rPr lang="en-US" altLang="ko-KR"/>
              <a:t>front</a:t>
            </a:r>
            <a:r>
              <a:rPr lang="ko-KR" altLang="en-US"/>
              <a:t>와 </a:t>
            </a:r>
            <a:r>
              <a:rPr lang="en-US" altLang="ko-KR"/>
              <a:t>q</a:t>
            </a:r>
            <a:r>
              <a:rPr lang="ko-KR" altLang="en-US"/>
              <a:t>의 </a:t>
            </a:r>
            <a:r>
              <a:rPr lang="en-US" altLang="ko-KR"/>
              <a:t>rear</a:t>
            </a:r>
            <a:r>
              <a:rPr lang="ko-KR" altLang="en-US"/>
              <a:t>에 </a:t>
            </a:r>
            <a:r>
              <a:rPr lang="en-US" altLang="ko-KR"/>
              <a:t>node</a:t>
            </a:r>
            <a:r>
              <a:rPr lang="ko-KR" altLang="en-US"/>
              <a:t>를 저장한다</a:t>
            </a:r>
            <a:br/>
            <a:r>
              <a:t>            그외:</a:t>
            </a:r>
            <a:br/>
            <a:r>
              <a:t>                        q의 rear</a:t>
            </a:r>
            <a:r>
              <a:rPr lang="ko-KR" altLang="en-US"/>
              <a:t>의</a:t>
            </a:r>
            <a:r>
              <a:t> next</a:t>
            </a:r>
            <a:r>
              <a:rPr lang="ko-KR" altLang="en-US"/>
              <a:t>에</a:t>
            </a:r>
            <a:r>
              <a:t> </a:t>
            </a:r>
            <a:r>
              <a:rPr lang="en-US"/>
              <a:t>node</a:t>
            </a:r>
            <a:r>
              <a:rPr lang="ko-KR" altLang="en-US"/>
              <a:t>를 저장한다</a:t>
            </a:r>
            <a:br/>
            <a:r>
              <a:t>                        q의 rear</a:t>
            </a:r>
            <a:r>
              <a:rPr lang="ko-KR" altLang="en-US"/>
              <a:t>에</a:t>
            </a:r>
            <a:r>
              <a:t> </a:t>
            </a:r>
            <a:r>
              <a:rPr lang="en-US"/>
              <a:t>node</a:t>
            </a:r>
            <a:r>
              <a:rPr lang="ko-KR" altLang="en-US"/>
              <a:t>를 저장한다</a:t>
            </a:r>
            <a:endParaRPr/>
          </a:p>
          <a:p>
            <a:r>
              <a:t>시간 효율: 상수 시간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9201" y="260839"/>
            <a:ext cx="5663274" cy="610859"/>
          </a:xfrm>
        </p:spPr>
        <p:txBody>
          <a:bodyPr>
            <a:spAutoFit/>
          </a:bodyPr>
          <a:lstStyle/>
          <a:p>
            <a:r>
              <a:t>LQUEUE_DEQUEUE(q)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q의 첫 노드를 삭제하고 데이터를 반환한다</a:t>
            </a:r>
          </a:p>
          <a:p>
            <a:r>
              <a:t>조건: q의 front 존재</a:t>
            </a:r>
          </a:p>
          <a:p>
            <a:pPr>
              <a:lnSpc>
                <a:spcPct val="110000"/>
              </a:lnSpc>
            </a:pPr>
            <a:r>
              <a:t>동작: tmp에 q의 front를 저장한다</a:t>
            </a:r>
            <a:br/>
            <a:r>
              <a:t>            q의 front에 tmp의 next를 저장한다</a:t>
            </a:r>
            <a:br/>
            <a:r>
              <a:t>            만약: q의 front가 NULL이면 </a:t>
            </a:r>
            <a:r>
              <a:rPr lang="en-US"/>
              <a:t>   </a:t>
            </a:r>
            <a:r>
              <a:t>// 큐가 비었으면</a:t>
            </a:r>
            <a:br/>
            <a:r>
              <a:t>                        q의 rear에 NULL을 저장한다</a:t>
            </a:r>
            <a:br/>
            <a:r>
              <a:t>            value에 tmp의 val을 저장한다</a:t>
            </a:r>
            <a:br/>
            <a:r>
              <a:t>            tmp를 삭제한다</a:t>
            </a:r>
            <a:br/>
            <a:r>
              <a:t>            반환: value</a:t>
            </a:r>
          </a:p>
          <a:p>
            <a:pPr>
              <a:lnSpc>
                <a:spcPct val="110000"/>
              </a:lnSpc>
            </a:pPr>
            <a:r>
              <a:t>시간 효율: 상수 시간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0738" y="262442"/>
            <a:ext cx="4501737" cy="607653"/>
          </a:xfrm>
        </p:spPr>
        <p:txBody>
          <a:bodyPr>
            <a:spAutoFit/>
          </a:bodyPr>
          <a:lstStyle/>
          <a:p>
            <a:r>
              <a:t>배열로 구현한 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배열 인덱스의 범위는 1..capacity</a:t>
            </a:r>
          </a:p>
          <a:p>
            <a:endParaRPr/>
          </a:p>
          <a:p>
            <a:pPr marL="0" indent="0">
              <a:buNone/>
            </a:pPr>
            <a:r>
              <a:rPr lang="en-US"/>
              <a:t>	</a:t>
            </a:r>
            <a:r>
              <a:t>data: 데이터를 저장할 배열 </a:t>
            </a:r>
            <a:endParaRPr lang="en-US"/>
          </a:p>
          <a:p>
            <a:pPr marL="0" indent="0">
              <a:buNone/>
            </a:pPr>
            <a:r>
              <a:rPr lang="en-US"/>
              <a:t>                         </a:t>
            </a:r>
            <a:r>
              <a:t>(크기는 capacity + 1, 인덱스 0 사용 안 함)</a:t>
            </a:r>
          </a:p>
          <a:p>
            <a:pPr marL="0" indent="0">
              <a:buNone/>
            </a:pPr>
            <a:r>
              <a:rPr lang="en-US"/>
              <a:t>	</a:t>
            </a:r>
            <a:r>
              <a:t>capacity: 배열의 최대 저장량</a:t>
            </a:r>
          </a:p>
          <a:p>
            <a:endParaRPr/>
          </a:p>
          <a:p>
            <a:pPr marL="0" indent="0">
              <a:buNone/>
            </a:pPr>
            <a:r>
              <a:rPr lang="en-US"/>
              <a:t>	</a:t>
            </a:r>
            <a:r>
              <a:t>front: 가장 오래된 데이터의 인덱스 (초기값 1)</a:t>
            </a:r>
          </a:p>
          <a:p>
            <a:pPr marL="0" indent="0">
              <a:buNone/>
            </a:pPr>
            <a:r>
              <a:rPr lang="en-US"/>
              <a:t>	</a:t>
            </a:r>
            <a:r>
              <a:t>rear: 가장 최신 데이터의 인덱스 (초기값 0)</a:t>
            </a:r>
          </a:p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0738" y="262442"/>
            <a:ext cx="4501737" cy="607653"/>
          </a:xfrm>
        </p:spPr>
        <p:txBody>
          <a:bodyPr>
            <a:spAutoFit/>
          </a:bodyPr>
          <a:lstStyle/>
          <a:p>
            <a:r>
              <a:t>배열로 구현한 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t>SIMPLE_AQUEUE_ENQUEUE(q, value): </a:t>
            </a:r>
            <a:br>
              <a:rPr lang="en-US"/>
            </a:br>
            <a:r>
              <a:t>rear 뒤에 데이터 value를 추가</a:t>
            </a:r>
          </a:p>
          <a:p>
            <a:pPr>
              <a:lnSpc>
                <a:spcPct val="150000"/>
              </a:lnSpc>
            </a:pPr>
            <a:endParaRPr/>
          </a:p>
          <a:p>
            <a:pPr>
              <a:lnSpc>
                <a:spcPct val="150000"/>
              </a:lnSpc>
            </a:pPr>
            <a:r>
              <a:t>SIMPLE_AQUEUE_DEQUEUE(q): </a:t>
            </a:r>
            <a:br>
              <a:rPr lang="en-US"/>
            </a:br>
            <a:r>
              <a:t>front 데이터 삭제 및 반환</a:t>
            </a:r>
          </a:p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000" y="260839"/>
            <a:ext cx="8602475" cy="610859"/>
          </a:xfrm>
        </p:spPr>
        <p:txBody>
          <a:bodyPr>
            <a:spAutoFit/>
          </a:bodyPr>
          <a:lstStyle/>
          <a:p>
            <a:r>
              <a:t>SIMPLE_AQUEUE_ENQUEUE(q, value)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q의 끝에 데이터 value를 추가한다</a:t>
            </a:r>
          </a:p>
          <a:p>
            <a:endParaRPr/>
          </a:p>
          <a:p>
            <a:r>
              <a:t>조건: q의 rear &lt; q의 capacity</a:t>
            </a:r>
          </a:p>
          <a:p>
            <a:endParaRPr/>
          </a:p>
          <a:p>
            <a:pPr>
              <a:lnSpc>
                <a:spcPct val="150000"/>
              </a:lnSpc>
            </a:pPr>
            <a:r>
              <a:t>동작: q의 rear를 1 증가시키고 그 자리에 value를 </a:t>
            </a:r>
            <a:br>
              <a:rPr lang="en-US"/>
            </a:br>
            <a:r>
              <a:rPr lang="en-US"/>
              <a:t>            </a:t>
            </a:r>
            <a:r>
              <a:t>저장한다</a:t>
            </a:r>
          </a:p>
          <a:p>
            <a:endParaRPr/>
          </a:p>
          <a:p>
            <a:r>
              <a:t>시간 효율: 상수 시간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5159" y="260839"/>
            <a:ext cx="7317316" cy="610859"/>
          </a:xfrm>
        </p:spPr>
        <p:txBody>
          <a:bodyPr>
            <a:spAutoFit/>
          </a:bodyPr>
          <a:lstStyle/>
          <a:p>
            <a:r>
              <a:t>SIMPLE_AQUEUE_DEQUEUE(q)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q의 첫번째 데이터를 삭제하고 데이터를 반환한다</a:t>
            </a:r>
          </a:p>
          <a:p>
            <a:r>
              <a:t>조건: q의 front ≤ q의 rear</a:t>
            </a:r>
          </a:p>
          <a:p>
            <a:pPr>
              <a:lnSpc>
                <a:spcPct val="120000"/>
              </a:lnSpc>
            </a:pPr>
            <a:r>
              <a:t>동작: q의 front</a:t>
            </a:r>
            <a:r>
              <a:rPr lang="ko-KR" altLang="en-US"/>
              <a:t>의</a:t>
            </a:r>
            <a:r>
              <a:t> 데이터를 tmp에 저장한다</a:t>
            </a:r>
            <a:br/>
            <a:r>
              <a:t>            만약: q의 front와 q의 rear가 같으면</a:t>
            </a:r>
            <a:br/>
            <a:r>
              <a:t>                        q의 front에 1을, q의 rear에 0을 저장한다</a:t>
            </a:r>
            <a:br/>
            <a:r>
              <a:t>            그외:</a:t>
            </a:r>
            <a:br/>
            <a:r>
              <a:t>                        q의 front를 1 증가시킨다</a:t>
            </a:r>
          </a:p>
          <a:p>
            <a:r>
              <a:t>반환: tmp</a:t>
            </a:r>
          </a:p>
          <a:p>
            <a:r>
              <a:t>시간 효율: 상수 시간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7640" y="262442"/>
            <a:ext cx="5514835" cy="607653"/>
          </a:xfrm>
        </p:spPr>
        <p:txBody>
          <a:bodyPr>
            <a:spAutoFit/>
          </a:bodyPr>
          <a:lstStyle/>
          <a:p>
            <a:r>
              <a:t>원형 배열로 구현한 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원형 배열: 인덱스가 capacity를 넘</a:t>
            </a:r>
            <a:r>
              <a:rPr lang="ko-KR" altLang="en-US"/>
              <a:t>으</a:t>
            </a:r>
            <a:r>
              <a:t>면 다시 1이 </a:t>
            </a:r>
            <a:r>
              <a:rPr lang="ko-KR" altLang="en-US"/>
              <a:t>됨</a:t>
            </a:r>
            <a:endParaRPr/>
          </a:p>
          <a:p>
            <a:pPr>
              <a:lnSpc>
                <a:spcPct val="150000"/>
              </a:lnSpc>
            </a:pPr>
            <a:r>
              <a:t>비어있음: front == rear + 1 </a:t>
            </a:r>
            <a:br>
              <a:rPr lang="en-US"/>
            </a:br>
            <a:r>
              <a:rPr lang="en-US"/>
              <a:t>                      </a:t>
            </a:r>
            <a:r>
              <a:t>또는 (front == 1 &amp;&amp; rear == capacity)</a:t>
            </a:r>
          </a:p>
          <a:p>
            <a:pPr>
              <a:lnSpc>
                <a:spcPct val="150000"/>
              </a:lnSpc>
            </a:pPr>
            <a:r>
              <a:t>꽉차있음: front == (rear + 2) </a:t>
            </a:r>
            <a:br>
              <a:rPr lang="en-US"/>
            </a:br>
            <a:r>
              <a:rPr lang="en-US"/>
              <a:t>                     </a:t>
            </a:r>
            <a:r>
              <a:t>또는 (front == 1 &amp;&amp; rear == capacity - 1) </a:t>
            </a:r>
            <a:br>
              <a:rPr lang="en-US"/>
            </a:br>
            <a:r>
              <a:rPr lang="en-US"/>
              <a:t>                     </a:t>
            </a:r>
            <a:r>
              <a:t>또는 (front == 2 &amp;&amp; rear == capacity)</a:t>
            </a:r>
          </a:p>
          <a:p>
            <a:r>
              <a:t>중간에 한 칸을 항상 띄워두어 비어있음과 꽉차있음을 구분한다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2982" y="260839"/>
            <a:ext cx="7309493" cy="610859"/>
          </a:xfrm>
        </p:spPr>
        <p:txBody>
          <a:bodyPr>
            <a:spAutoFit/>
          </a:bodyPr>
          <a:lstStyle/>
          <a:p>
            <a:r>
              <a:t>CIRCULAR_AQUEUE_EMPTY(q)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q에 저장된 데이터가 없는지 확인한다</a:t>
            </a:r>
          </a:p>
          <a:p>
            <a:endParaRPr/>
          </a:p>
          <a:p>
            <a:pPr>
              <a:lnSpc>
                <a:spcPct val="150000"/>
              </a:lnSpc>
            </a:pPr>
            <a:r>
              <a:t>동작: 만약: q의 front와 q의 rear + 1이 같으면</a:t>
            </a:r>
            <a:br/>
            <a:r>
              <a:t>                        반환: 1</a:t>
            </a:r>
            <a:br/>
            <a:r>
              <a:t>            만약: </a:t>
            </a:r>
            <a:r>
              <a:rPr lang="en-US" altLang="ko-KR"/>
              <a:t>q</a:t>
            </a:r>
            <a:r>
              <a:rPr lang="ko-KR" altLang="en-US"/>
              <a:t>의 </a:t>
            </a:r>
            <a:r>
              <a:rPr lang="en-US" altLang="ko-KR"/>
              <a:t>front</a:t>
            </a:r>
            <a:r>
              <a:rPr lang="ko-KR" altLang="en-US"/>
              <a:t>는 </a:t>
            </a:r>
            <a:r>
              <a:rPr lang="en-US" altLang="ko-KR"/>
              <a:t>1</a:t>
            </a:r>
            <a:r>
              <a:rPr lang="ko-KR" altLang="en-US"/>
              <a:t>이</a:t>
            </a:r>
            <a:r>
              <a:t>고, </a:t>
            </a:r>
            <a:br>
              <a:rPr lang="en-US"/>
            </a:br>
            <a:r>
              <a:rPr lang="en-US"/>
              <a:t>                        </a:t>
            </a:r>
            <a:r>
              <a:rPr lang="en-US" altLang="ko-KR"/>
              <a:t>q</a:t>
            </a:r>
            <a:r>
              <a:rPr lang="ko-KR" altLang="en-US"/>
              <a:t>의 </a:t>
            </a:r>
            <a:r>
              <a:rPr lang="en-US" altLang="ko-KR"/>
              <a:t>rear</a:t>
            </a:r>
            <a:r>
              <a:rPr lang="ko-KR" altLang="en-US"/>
              <a:t>가 </a:t>
            </a:r>
            <a:r>
              <a:rPr lang="en-US" altLang="ko-KR"/>
              <a:t>q</a:t>
            </a:r>
            <a:r>
              <a:rPr lang="ko-KR" altLang="en-US"/>
              <a:t>의 </a:t>
            </a:r>
            <a:r>
              <a:rPr lang="en-US" altLang="ko-KR"/>
              <a:t>capacity</a:t>
            </a:r>
            <a:r>
              <a:rPr lang="ko-KR" altLang="en-US"/>
              <a:t>와 같으</a:t>
            </a:r>
            <a:r>
              <a:t>면</a:t>
            </a:r>
            <a:br/>
            <a:r>
              <a:t>                        반환: 1</a:t>
            </a:r>
            <a:br/>
            <a:r>
              <a:t>            반환: 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0807" y="260839"/>
            <a:ext cx="6821668" cy="610859"/>
          </a:xfrm>
        </p:spPr>
        <p:txBody>
          <a:bodyPr>
            <a:spAutoFit/>
          </a:bodyPr>
          <a:lstStyle/>
          <a:p>
            <a:r>
              <a:t>CIRCULAR_AQUEUE_SIZE(q)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q에 저장된 데이터의 개수를 반환한다</a:t>
            </a:r>
          </a:p>
          <a:p>
            <a:pPr>
              <a:lnSpc>
                <a:spcPct val="150000"/>
              </a:lnSpc>
            </a:pPr>
            <a:r>
              <a:t>동작: 만약: q가 비어있으면</a:t>
            </a:r>
            <a:br/>
            <a:r>
              <a:t>                        반환: 0</a:t>
            </a:r>
            <a:br/>
            <a:r>
              <a:t>            size에 rear - front + 1저장</a:t>
            </a:r>
            <a:br/>
            <a:r>
              <a:t>            만약: size &lt; 0</a:t>
            </a:r>
            <a:br/>
            <a:r>
              <a:t>                        size = size + capacity</a:t>
            </a:r>
            <a:br/>
            <a:r>
              <a:t>            반환: size</a:t>
            </a:r>
          </a:p>
          <a:p>
            <a:r>
              <a:t>특징: capacity - 1개를 꽉 찬 것으로 간주한다.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311965" y="260839"/>
            <a:ext cx="9224440" cy="610859"/>
          </a:xfrm>
        </p:spPr>
        <p:txBody>
          <a:bodyPr>
            <a:spAutoFit/>
          </a:bodyPr>
          <a:lstStyle/>
          <a:p>
            <a:r>
              <a:t>CIRCULAR_AQUEUE_ENQUEUE(q</a:t>
            </a:r>
            <a:r>
              <a:rPr lang="en-US"/>
              <a:t>, value</a:t>
            </a:r>
            <a: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q의 rear 뒤에 데이터 value를 추가한다</a:t>
            </a:r>
          </a:p>
          <a:p>
            <a:endParaRPr/>
          </a:p>
          <a:p>
            <a:pPr>
              <a:lnSpc>
                <a:spcPct val="150000"/>
              </a:lnSpc>
            </a:pPr>
            <a:r>
              <a:t>조건: q가 꽉 차있지 않다</a:t>
            </a:r>
          </a:p>
          <a:p>
            <a:pPr>
              <a:lnSpc>
                <a:spcPct val="150000"/>
              </a:lnSpc>
            </a:pPr>
            <a:r>
              <a:t>동작: q의 rear를 1 증가시킨다</a:t>
            </a:r>
            <a:br/>
            <a:r>
              <a:t>            만약: q의 rear &gt; q의 capacity</a:t>
            </a:r>
            <a:br/>
            <a:r>
              <a:t>                        q의 rear에 1을 저장한다</a:t>
            </a:r>
            <a:br/>
            <a:r>
              <a:t>            q의 data[q의 rear]에 value를 저장한다</a:t>
            </a:r>
          </a:p>
          <a:p>
            <a:pPr>
              <a:lnSpc>
                <a:spcPct val="150000"/>
              </a:lnSpc>
            </a:pPr>
            <a:r>
              <a:t>시간 효율: 상수 시간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3194" y="260839"/>
            <a:ext cx="7939281" cy="610859"/>
          </a:xfrm>
        </p:spPr>
        <p:txBody>
          <a:bodyPr>
            <a:spAutoFit/>
          </a:bodyPr>
          <a:lstStyle/>
          <a:p>
            <a:r>
              <a:t>CIRCULAR_AQUEUE_DEQUEUE(q)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q의 front 데이터를 삭제하고 반환한다</a:t>
            </a:r>
          </a:p>
          <a:p>
            <a:r>
              <a:t>조건: q가 비어있지 않다</a:t>
            </a:r>
          </a:p>
          <a:p>
            <a:pPr>
              <a:lnSpc>
                <a:spcPct val="150000"/>
              </a:lnSpc>
            </a:pPr>
            <a:r>
              <a:t>동작: tmp에 q의 data[q의 front]를 저장한다</a:t>
            </a:r>
            <a:br/>
            <a:r>
              <a:t>            q의 front를 1 증가시킨다</a:t>
            </a:r>
            <a:br/>
            <a:r>
              <a:t>            만약: q의 front &gt; q의 capacity</a:t>
            </a:r>
            <a:br/>
            <a:r>
              <a:t>                        q의 front에 1을 저장한다</a:t>
            </a:r>
            <a:br/>
            <a:r>
              <a:t>            tmp를 반환한다</a:t>
            </a:r>
          </a:p>
          <a:p>
            <a:r>
              <a:t>시간 효율: 상수 시간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39080" y="262442"/>
            <a:ext cx="5173395" cy="607653"/>
          </a:xfrm>
        </p:spPr>
        <p:txBody>
          <a:bodyPr>
            <a:spAutoFit/>
          </a:bodyPr>
          <a:lstStyle/>
          <a:p>
            <a:r>
              <a:t>예제: 미로 찾기 문제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방문할 곳을 큐에 저장하면, 최단거리가 계산된다</a:t>
            </a:r>
          </a:p>
          <a:p>
            <a:r>
              <a:t>경로 </a:t>
            </a:r>
            <a:r>
              <a:rPr lang="ko-KR" altLang="en-US"/>
              <a:t>복원을 위해</a:t>
            </a:r>
            <a:r>
              <a:t> 이전 좌표 정보</a:t>
            </a:r>
            <a:r>
              <a:rPr lang="ko-KR" altLang="en-US"/>
              <a:t>를</a:t>
            </a:r>
            <a:r>
              <a:t> 저장한다</a:t>
            </a:r>
          </a:p>
          <a:p>
            <a:pPr marL="0" indent="0">
              <a:buNone/>
            </a:pPr>
            <a:r>
              <a:t>미로 예시:</a:t>
            </a:r>
          </a:p>
          <a:p>
            <a:pPr marL="0" indent="0">
              <a:buNone/>
            </a:pPr>
            <a:r>
              <a:rPr>
                <a:latin typeface="Consolas" panose="020B0609020204030204" pitchFamily="49" charset="0"/>
              </a:rPr>
              <a:t>**********</a:t>
            </a:r>
          </a:p>
          <a:p>
            <a:pPr marL="0" indent="0">
              <a:buNone/>
            </a:pPr>
            <a:r>
              <a:rPr>
                <a:latin typeface="Consolas" panose="020B0609020204030204" pitchFamily="49" charset="0"/>
              </a:rPr>
              <a:t>*</a:t>
            </a:r>
            <a:r>
              <a:rPr lang="en-US">
                <a:latin typeface="Consolas" panose="020B0609020204030204" pitchFamily="49" charset="0"/>
              </a:rPr>
              <a:t>s   </a:t>
            </a:r>
            <a:r>
              <a:rPr>
                <a:latin typeface="Consolas" panose="020B0609020204030204" pitchFamily="49" charset="0"/>
              </a:rPr>
              <a:t>   **</a:t>
            </a:r>
          </a:p>
          <a:p>
            <a:pPr marL="0" indent="0">
              <a:buNone/>
            </a:pPr>
            <a:r>
              <a:rPr>
                <a:latin typeface="Consolas" panose="020B0609020204030204" pitchFamily="49" charset="0"/>
              </a:rPr>
              <a:t>**</a:t>
            </a:r>
            <a:r>
              <a:rPr lang="en-US">
                <a:latin typeface="Consolas" panose="020B0609020204030204" pitchFamily="49" charset="0"/>
              </a:rPr>
              <a:t> </a:t>
            </a:r>
            <a:r>
              <a:rPr>
                <a:latin typeface="Consolas" panose="020B0609020204030204" pitchFamily="49" charset="0"/>
              </a:rPr>
              <a:t>* ** **</a:t>
            </a:r>
          </a:p>
          <a:p>
            <a:pPr marL="0" indent="0">
              <a:buNone/>
            </a:pPr>
            <a:r>
              <a:rPr>
                <a:latin typeface="Consolas" panose="020B0609020204030204" pitchFamily="49" charset="0"/>
              </a:rPr>
              <a:t>* </a:t>
            </a:r>
            <a:r>
              <a:rPr lang="en-US">
                <a:latin typeface="Consolas" panose="020B0609020204030204" pitchFamily="49" charset="0"/>
              </a:rPr>
              <a:t> </a:t>
            </a:r>
            <a:r>
              <a:rPr>
                <a:latin typeface="Consolas" panose="020B0609020204030204" pitchFamily="49" charset="0"/>
              </a:rPr>
              <a:t>  *   *</a:t>
            </a:r>
          </a:p>
          <a:p>
            <a:pPr marL="0" indent="0">
              <a:buNone/>
            </a:pPr>
            <a:r>
              <a:rPr>
                <a:latin typeface="Consolas" panose="020B0609020204030204" pitchFamily="49" charset="0"/>
              </a:rPr>
              <a:t>**** *** *</a:t>
            </a:r>
          </a:p>
          <a:p>
            <a:pPr marL="0" indent="0">
              <a:buNone/>
            </a:pPr>
            <a:r>
              <a:rPr>
                <a:latin typeface="Consolas" panose="020B0609020204030204" pitchFamily="49" charset="0"/>
              </a:rPr>
              <a:t>*       d*</a:t>
            </a:r>
          </a:p>
          <a:p>
            <a:pPr marL="0" indent="0">
              <a:buNone/>
            </a:pPr>
            <a:r>
              <a:rPr>
                <a:latin typeface="Consolas" panose="020B0609020204030204" pitchFamily="49" charset="0"/>
              </a:rPr>
              <a:t>**********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168" y="262442"/>
            <a:ext cx="8222307" cy="607653"/>
          </a:xfrm>
        </p:spPr>
        <p:txBody>
          <a:bodyPr>
            <a:spAutoFit/>
          </a:bodyPr>
          <a:lstStyle/>
          <a:p>
            <a:r>
              <a:t>미로 정보: 2차원 배열 (배열의 배열)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미로[i][j]: (행 i, 열 j) 위치의 상태</a:t>
            </a:r>
          </a:p>
          <a:p>
            <a:endParaRPr/>
          </a:p>
          <a:p>
            <a:r>
              <a:t>0 : 통로(아직 처리하지 않음)</a:t>
            </a:r>
          </a:p>
          <a:p>
            <a:r>
              <a:t>1 : 벽</a:t>
            </a:r>
          </a:p>
          <a:p>
            <a:endParaRPr/>
          </a:p>
          <a:p>
            <a:r>
              <a:t>row*len + col : 최단경로에서 이전 좌표의 선형 index</a:t>
            </a:r>
          </a:p>
          <a:p>
            <a:endParaRPr/>
          </a:p>
          <a:p>
            <a:r>
              <a:t>0행과 0열은 모두 벽(1)로 두어, 내부 좌표에서 0/1과의 값 충돌을 방지함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3836" y="262442"/>
            <a:ext cx="3488639" cy="607653"/>
          </a:xfrm>
        </p:spPr>
        <p:txBody>
          <a:bodyPr>
            <a:spAutoFit/>
          </a:bodyPr>
          <a:lstStyle/>
          <a:p>
            <a:r>
              <a:t>좌표 구조체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row: 행 좌표</a:t>
            </a:r>
          </a:p>
          <a:p>
            <a:endParaRPr/>
          </a:p>
          <a:p>
            <a:r>
              <a:t>col: 열 좌표</a:t>
            </a:r>
          </a:p>
          <a:p>
            <a:endParaRPr/>
          </a:p>
          <a:p>
            <a:r>
              <a:t>distance: 출발점부터의 거리 (출발점은 0)</a:t>
            </a:r>
          </a:p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3304" y="260839"/>
            <a:ext cx="5199171" cy="610859"/>
          </a:xfrm>
        </p:spPr>
        <p:txBody>
          <a:bodyPr>
            <a:spAutoFit/>
          </a:bodyPr>
          <a:lstStyle/>
          <a:p>
            <a:r>
              <a:t>STATUS(maze, point)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반환: maze[point의 row][point의 col]</a:t>
            </a:r>
          </a:p>
          <a:p>
            <a:endParaRPr/>
          </a:p>
          <a:p>
            <a:r>
              <a:t>//  0 : 미방문 통로</a:t>
            </a:r>
          </a:p>
          <a:p>
            <a:r>
              <a:t>//  1 : 벽</a:t>
            </a:r>
          </a:p>
          <a:p>
            <a:r>
              <a:t>// ≥ len+1 : 최단거리 계산됨 - 이전 좌표의 선형 index</a:t>
            </a:r>
          </a:p>
          <a:p>
            <a:r>
              <a:t>// -1 : 출발점 표시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t>MARK(maze, point, from)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maze[point의 row][point의 col]에 from 저장</a:t>
            </a:r>
          </a:p>
          <a:p>
            <a:endParaRPr/>
          </a:p>
          <a:p>
            <a:pPr>
              <a:lnSpc>
                <a:spcPct val="150000"/>
              </a:lnSpc>
            </a:pPr>
            <a:r>
              <a:t>최단경로에서 이전 좌표가 (i, j)일 때 from == i * len + j// </a:t>
            </a:r>
            <a:r>
              <a:rPr lang="ko-KR" altLang="en-US"/>
              <a:t>일차적으로는 처리가 됐다는 정보가</a:t>
            </a:r>
            <a:r>
              <a:t> </a:t>
            </a:r>
            <a:r>
              <a:rPr lang="ko-KR" altLang="en-US"/>
              <a:t>저장됨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68" y="262442"/>
            <a:ext cx="3578407" cy="607653"/>
          </a:xfrm>
        </p:spPr>
        <p:txBody>
          <a:bodyPr>
            <a:spAutoFit/>
          </a:bodyPr>
          <a:lstStyle/>
          <a:p>
            <a:r>
              <a:t>좌표 선형 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points: 좌표 구조체의 배열</a:t>
            </a:r>
          </a:p>
          <a:p>
            <a:endParaRPr/>
          </a:p>
          <a:p>
            <a:r>
              <a:t>rear: 마지막으로 저장된 좌표의 인덱스</a:t>
            </a:r>
          </a:p>
          <a:p>
            <a:endParaRPr/>
          </a:p>
          <a:p>
            <a:r>
              <a:t>front: 꺼낼 좌표의 인덱스</a:t>
            </a:r>
          </a:p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6340" y="260839"/>
            <a:ext cx="3706135" cy="610859"/>
          </a:xfrm>
        </p:spPr>
        <p:txBody>
          <a:bodyPr>
            <a:spAutoFit/>
          </a:bodyPr>
          <a:lstStyle/>
          <a:p>
            <a:r>
              <a:t>CREATE(cap)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t>q에 새 좌표 선형 큐 저장</a:t>
            </a:r>
          </a:p>
          <a:p>
            <a:pPr>
              <a:lnSpc>
                <a:spcPct val="150000"/>
              </a:lnSpc>
            </a:pPr>
            <a:r>
              <a:t>q의 points에 새 배열 저장 (크기: cap + 1)</a:t>
            </a:r>
          </a:p>
          <a:p>
            <a:pPr>
              <a:lnSpc>
                <a:spcPct val="150000"/>
              </a:lnSpc>
            </a:pPr>
            <a:r>
              <a:t>q의 rear에 0 저장 (저장된 데이터 없음)</a:t>
            </a:r>
          </a:p>
          <a:p>
            <a:pPr>
              <a:lnSpc>
                <a:spcPct val="150000"/>
              </a:lnSpc>
            </a:pPr>
            <a:r>
              <a:t>q의 front에 1 저장 (처음 꺼낼 좌표)</a:t>
            </a:r>
          </a:p>
          <a:p>
            <a:pPr>
              <a:lnSpc>
                <a:spcPct val="150000"/>
              </a:lnSpc>
            </a:pPr>
            <a:r>
              <a:t>반환: q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18003" y="260839"/>
            <a:ext cx="4894472" cy="610859"/>
          </a:xfrm>
        </p:spPr>
        <p:txBody>
          <a:bodyPr>
            <a:spAutoFit/>
          </a:bodyPr>
          <a:lstStyle/>
          <a:p>
            <a:r>
              <a:t>ENQUEUE(q, point)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t>q의 points[q의 rear + 1]에 point 저장</a:t>
            </a:r>
          </a:p>
          <a:p>
            <a:pPr>
              <a:lnSpc>
                <a:spcPct val="150000"/>
              </a:lnSpc>
            </a:pPr>
            <a:r>
              <a:t>q의 rear 증가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8788" y="260839"/>
            <a:ext cx="3663687" cy="610859"/>
          </a:xfrm>
        </p:spPr>
        <p:txBody>
          <a:bodyPr>
            <a:spAutoFit/>
          </a:bodyPr>
          <a:lstStyle/>
          <a:p>
            <a:r>
              <a:t>DEQUEUE(q)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t>조건: q의 front ≤ q의 rear  // 비어있지 않음</a:t>
            </a:r>
          </a:p>
          <a:p>
            <a:pPr>
              <a:lnSpc>
                <a:spcPct val="150000"/>
              </a:lnSpc>
            </a:pPr>
            <a:r>
              <a:t>tmp에 q의 points[q의 front] 저장</a:t>
            </a:r>
          </a:p>
          <a:p>
            <a:pPr>
              <a:lnSpc>
                <a:spcPct val="150000"/>
              </a:lnSpc>
            </a:pPr>
            <a:r>
              <a:t>q의 front 1 증가</a:t>
            </a:r>
          </a:p>
          <a:p>
            <a:pPr>
              <a:lnSpc>
                <a:spcPct val="150000"/>
              </a:lnSpc>
            </a:pPr>
            <a:r>
              <a:t>반환: tmp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2171" y="262442"/>
            <a:ext cx="3950304" cy="607653"/>
          </a:xfrm>
        </p:spPr>
        <p:txBody>
          <a:bodyPr>
            <a:spAutoFit/>
          </a:bodyPr>
          <a:lstStyle/>
          <a:p>
            <a:r>
              <a:t>미로찾기 함수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PUSH_NBRS(maze, len, to_visit, point)</a:t>
            </a:r>
          </a:p>
          <a:p>
            <a:pPr marL="0" indent="0">
              <a:buNone/>
            </a:pPr>
            <a:r>
              <a:t>미로 maze에서 point의 이웃 점들 중에 아직 확인하지 않은 점들을 큐 to_visit에 추가한다.</a:t>
            </a:r>
          </a:p>
          <a:p>
            <a:endParaRPr/>
          </a:p>
          <a:p>
            <a:r>
              <a:t>FIND(maze, len, start, end)</a:t>
            </a:r>
          </a:p>
          <a:p>
            <a:pPr marL="0" indent="0">
              <a:buNone/>
            </a:pPr>
            <a:r>
              <a:t>미로 maze에 출발점 start에서의 최단 경로 정보를 저장한다.</a:t>
            </a:r>
          </a:p>
          <a:p>
            <a:endParaRPr/>
          </a:p>
          <a:p>
            <a:r>
              <a:t>DECODE_PATH(maze, len, end, path_len)</a:t>
            </a:r>
            <a:endParaRPr lang="en-US"/>
          </a:p>
          <a:p>
            <a:pPr marL="0" indent="0">
              <a:buNone/>
            </a:pPr>
            <a:r>
              <a:rPr lang="ko-KR" altLang="en-US"/>
              <a:t>도착점 </a:t>
            </a:r>
            <a:r>
              <a:rPr lang="en-US" altLang="ko-KR"/>
              <a:t>end</a:t>
            </a:r>
            <a:r>
              <a:rPr lang="ko-KR" altLang="en-US"/>
              <a:t>에 도달하는 최단 경로를 반환한다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462" y="260839"/>
            <a:ext cx="8646013" cy="610859"/>
          </a:xfrm>
        </p:spPr>
        <p:txBody>
          <a:bodyPr>
            <a:spAutoFit/>
          </a:bodyPr>
          <a:lstStyle/>
          <a:p>
            <a:r>
              <a:t>PUSH_NBRS(maze, len, to_visit, point)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t>현재 위치 point의 인접 좌표 중에서 아직 갈 계획도 없었던 좌표들을 to_visit에 추가한다</a:t>
            </a:r>
          </a:p>
          <a:p>
            <a:pPr>
              <a:lnSpc>
                <a:spcPct val="150000"/>
              </a:lnSpc>
            </a:pPr>
            <a:r>
              <a:t>maze: 미로 정보 (갈 수 없거나 확인한 점이 표시됨)</a:t>
            </a:r>
          </a:p>
          <a:p>
            <a:pPr>
              <a:lnSpc>
                <a:spcPct val="150000"/>
              </a:lnSpc>
            </a:pPr>
            <a:r>
              <a:t>to_visit: 갈 곳들(큐)</a:t>
            </a:r>
          </a:p>
          <a:p>
            <a:pPr>
              <a:lnSpc>
                <a:spcPct val="150000"/>
              </a:lnSpc>
            </a:pPr>
            <a:r>
              <a:t>point: 현재 위치</a:t>
            </a:r>
          </a:p>
          <a:p>
            <a:pPr>
              <a:lnSpc>
                <a:spcPct val="150000"/>
              </a:lnSpc>
            </a:pPr>
            <a:r>
              <a:t>이동은 상/하/좌/우 4-이웃만 허용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694" y="260839"/>
            <a:ext cx="8735781" cy="610859"/>
          </a:xfrm>
        </p:spPr>
        <p:txBody>
          <a:bodyPr>
            <a:spAutoFit/>
          </a:bodyPr>
          <a:lstStyle/>
          <a:p>
            <a:r>
              <a:t>PUSH_NBRS(maze, len, to_visit, point)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t>point_index에 point의 row * len + point의 col 저장</a:t>
            </a:r>
          </a:p>
          <a:p>
            <a:pPr>
              <a:lnSpc>
                <a:spcPct val="150000"/>
              </a:lnSpc>
            </a:pPr>
            <a:r>
              <a:t>반복: point의 상하좌우 좌표 next에 대하여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만약: STATUS(maze, next) == 0 이면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      next의 distance에 point의 distance + 1 저장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      MARK(maze, next, point_index)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      ENQUEUE(to_visit, next)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t>STATUS/MARK 시점 정리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t>STATUS==0인 이웃만 후보로 본다</a:t>
            </a:r>
          </a:p>
          <a:p>
            <a:pPr>
              <a:lnSpc>
                <a:spcPct val="150000"/>
              </a:lnSpc>
            </a:pPr>
            <a:endParaRPr/>
          </a:p>
          <a:p>
            <a:pPr>
              <a:lnSpc>
                <a:spcPct val="150000"/>
              </a:lnSpc>
            </a:pPr>
            <a:r>
              <a:t>후보를 큐에 넣기 전에 MARK=point_index로 바꿔 </a:t>
            </a:r>
            <a:br>
              <a:rPr lang="en-US"/>
            </a:br>
            <a:r>
              <a:t>'방문 예정' 표시</a:t>
            </a:r>
          </a:p>
          <a:p>
            <a:pPr>
              <a:lnSpc>
                <a:spcPct val="150000"/>
              </a:lnSpc>
            </a:pPr>
            <a:endParaRPr/>
          </a:p>
          <a:p>
            <a:pPr>
              <a:lnSpc>
                <a:spcPct val="150000"/>
              </a:lnSpc>
            </a:pPr>
            <a:r>
              <a:t>효과: 중복 ENQUEUE 방지, 최단 경로 정보 저장</a:t>
            </a:r>
          </a:p>
          <a:p>
            <a:pPr>
              <a:lnSpc>
                <a:spcPct val="150000"/>
              </a:lnSpc>
            </a:pP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7476" y="260839"/>
            <a:ext cx="6344999" cy="610859"/>
          </a:xfrm>
        </p:spPr>
        <p:txBody>
          <a:bodyPr>
            <a:spAutoFit/>
          </a:bodyPr>
          <a:lstStyle/>
          <a:p>
            <a:r>
              <a:t>FIND(maze, len, start, end)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t>start에서 end까지 경로 정보를 maze에 저장한다, </a:t>
            </a:r>
            <a:br>
              <a:rPr lang="en-US"/>
            </a:br>
            <a:r>
              <a:rPr lang="ko-KR" altLang="en-US"/>
              <a:t>경로의 </a:t>
            </a:r>
            <a:r>
              <a:t>거리를 반환한다</a:t>
            </a:r>
          </a:p>
          <a:p>
            <a:pPr>
              <a:lnSpc>
                <a:spcPct val="150000"/>
              </a:lnSpc>
            </a:pPr>
            <a:r>
              <a:t>maze: 미로 정보 (갈 수 없거나 확인한 점이 표시됨)</a:t>
            </a:r>
          </a:p>
          <a:p>
            <a:pPr>
              <a:lnSpc>
                <a:spcPct val="150000"/>
              </a:lnSpc>
            </a:pPr>
            <a:r>
              <a:t>start: 출발점 좌표</a:t>
            </a:r>
          </a:p>
          <a:p>
            <a:pPr>
              <a:lnSpc>
                <a:spcPct val="150000"/>
              </a:lnSpc>
            </a:pPr>
            <a:r>
              <a:t>end: 도착점 좌표</a:t>
            </a:r>
          </a:p>
          <a:p>
            <a:pPr>
              <a:lnSpc>
                <a:spcPct val="150000"/>
              </a:lnSpc>
            </a:pPr>
            <a:r>
              <a:t>len: 정사각형 미로의 한 변 길이 (행과 열 개수)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379" y="262442"/>
            <a:ext cx="7358096" cy="607653"/>
          </a:xfrm>
        </p:spPr>
        <p:txBody>
          <a:bodyPr>
            <a:spAutoFit/>
          </a:bodyPr>
          <a:lstStyle/>
          <a:p>
            <a:r>
              <a:t>FIND(maze, len, start, end) 변수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t>to_visit: 갈 곳 후보 큐(출발점에서 최단거리 이웃부터 처리)</a:t>
            </a:r>
          </a:p>
          <a:p>
            <a:pPr>
              <a:lnSpc>
                <a:spcPct val="150000"/>
              </a:lnSpc>
            </a:pPr>
            <a:r>
              <a:t>maze에 표시된 좌표는 to_visit에 추가하지 않음</a:t>
            </a:r>
          </a:p>
          <a:p>
            <a:pPr>
              <a:lnSpc>
                <a:spcPct val="150000"/>
              </a:lnSpc>
            </a:pPr>
            <a:r>
              <a:t>maze에 표시된 좌표보다 더 가까운 경로 없음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9870" y="260839"/>
            <a:ext cx="7202605" cy="610859"/>
          </a:xfrm>
        </p:spPr>
        <p:txBody>
          <a:bodyPr>
            <a:spAutoFit/>
          </a:bodyPr>
          <a:lstStyle/>
          <a:p>
            <a:r>
              <a:t>FIND(maze, len, start, end)  1/2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t>to_visit에 CREATE(len * len) 저장     // 갈 곳들</a:t>
            </a:r>
          </a:p>
          <a:p>
            <a:pPr>
              <a:lnSpc>
                <a:spcPct val="150000"/>
              </a:lnSpc>
            </a:pPr>
            <a:r>
              <a:t>start의 distance에 0 저장</a:t>
            </a:r>
          </a:p>
          <a:p>
            <a:pPr>
              <a:lnSpc>
                <a:spcPct val="150000"/>
              </a:lnSpc>
            </a:pPr>
            <a:r>
              <a:t>MARK(maze, start, -1)</a:t>
            </a:r>
          </a:p>
          <a:p>
            <a:pPr>
              <a:lnSpc>
                <a:spcPct val="150000"/>
              </a:lnSpc>
            </a:pPr>
            <a:r>
              <a:t>ENQUEUE(to_visit, start)</a:t>
            </a:r>
          </a:p>
          <a:p>
            <a:pPr>
              <a:lnSpc>
                <a:spcPct val="150000"/>
              </a:lnSpc>
            </a:pPr>
            <a:r>
              <a:t>반복: to_visit이 비어있지 않음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9870" y="260839"/>
            <a:ext cx="7202605" cy="610859"/>
          </a:xfrm>
        </p:spPr>
        <p:txBody>
          <a:bodyPr>
            <a:spAutoFit/>
          </a:bodyPr>
          <a:lstStyle/>
          <a:p>
            <a:r>
              <a:t>FIND(maze, len, start, end)  2/2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t>       point에 DEQUEUE(to_visit) 저장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만약: point와 end의 좌표가 동일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       반환: point.distance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PUSH_NBRS(maze, len, to_visit, point)</a:t>
            </a:r>
          </a:p>
          <a:p>
            <a:pPr>
              <a:lnSpc>
                <a:spcPct val="150000"/>
              </a:lnSpc>
            </a:pPr>
            <a:r>
              <a:t>반환: -1 (못찾음)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5364" y="262442"/>
            <a:ext cx="7037111" cy="607653"/>
          </a:xfrm>
        </p:spPr>
        <p:txBody>
          <a:bodyPr>
            <a:spAutoFit/>
          </a:bodyPr>
          <a:lstStyle/>
          <a:p>
            <a:r>
              <a:t>maze에서 최단 경로 복원하기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경로를 저장할 배열을 충분한 크기로 만든다</a:t>
            </a:r>
          </a:p>
          <a:p>
            <a:endParaRPr/>
          </a:p>
          <a:p>
            <a:r>
              <a:t>도착점부터 거꾸로 가며 배열에 좌표를 저장한다</a:t>
            </a:r>
          </a:p>
          <a:p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49833" y="260839"/>
            <a:ext cx="9162308" cy="610859"/>
          </a:xfrm>
        </p:spPr>
        <p:txBody>
          <a:bodyPr>
            <a:spAutoFit/>
          </a:bodyPr>
          <a:lstStyle/>
          <a:p>
            <a:r>
              <a:t>DECODE_PATH(maze, len, end, path_len)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t>path에 새 좌표 배열 저장 (크기: path_len + 1)</a:t>
            </a:r>
          </a:p>
          <a:p>
            <a:pPr>
              <a:lnSpc>
                <a:spcPct val="150000"/>
              </a:lnSpc>
            </a:pPr>
            <a:r>
              <a:t>point에 end 저장</a:t>
            </a:r>
          </a:p>
          <a:p>
            <a:pPr>
              <a:lnSpc>
                <a:spcPct val="150000"/>
              </a:lnSpc>
            </a:pPr>
            <a:r>
              <a:t>반복: i를 path_len부터 1까지</a:t>
            </a:r>
          </a:p>
          <a:p>
            <a:pPr marL="0" indent="0">
              <a:lnSpc>
                <a:spcPct val="130000"/>
              </a:lnSpc>
              <a:buNone/>
            </a:pPr>
            <a:r>
              <a:t>        data에 STATUS(maze, point)를 저장한다</a:t>
            </a:r>
          </a:p>
          <a:p>
            <a:pPr marL="0" indent="0">
              <a:lnSpc>
                <a:spcPct val="130000"/>
              </a:lnSpc>
              <a:buNone/>
            </a:pPr>
            <a:r>
              <a:t>        point와 path[i]의 row에 data / len를 저장한다</a:t>
            </a:r>
          </a:p>
          <a:p>
            <a:pPr marL="0" indent="0">
              <a:lnSpc>
                <a:spcPct val="130000"/>
              </a:lnSpc>
              <a:buNone/>
            </a:pPr>
            <a:r>
              <a:t>        point와 path[i]의 col에 data % len를 저장한다</a:t>
            </a:r>
          </a:p>
          <a:p>
            <a:pPr>
              <a:lnSpc>
                <a:spcPct val="150000"/>
              </a:lnSpc>
            </a:pPr>
            <a:r>
              <a:t>반환: path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7640" y="262442"/>
            <a:ext cx="5514835" cy="607653"/>
          </a:xfrm>
        </p:spPr>
        <p:txBody>
          <a:bodyPr>
            <a:spAutoFit/>
          </a:bodyPr>
          <a:lstStyle/>
          <a:p>
            <a:r>
              <a:t>미로 찾기 복잡도 분석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시간: len² 에 비례. 각 칸은 최대 한 번 방문/마킹</a:t>
            </a:r>
          </a:p>
          <a:p>
            <a:endParaRPr/>
          </a:p>
          <a:p>
            <a:r>
              <a:t>공간: len² 에 비례. 큐(to_visit) + 경로 배열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98598" y="262442"/>
            <a:ext cx="2013877" cy="607653"/>
          </a:xfrm>
        </p:spPr>
        <p:txBody>
          <a:bodyPr>
            <a:spAutoFit/>
          </a:bodyPr>
          <a:lstStyle/>
          <a:p>
            <a:r>
              <a:t>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큐: 오래된 데이터부터 꺼내는 자료구조</a:t>
            </a:r>
          </a:p>
          <a:p>
            <a:endParaRPr/>
          </a:p>
          <a:p>
            <a:r>
              <a:t>단방향 링크드 리스트/배열로 구현 가능</a:t>
            </a:r>
          </a:p>
          <a:p>
            <a:endParaRPr/>
          </a:p>
          <a:p>
            <a:r>
              <a:t>모든 기능을 상수 시간으로 구현 가능</a:t>
            </a:r>
          </a:p>
          <a:p>
            <a:endParaRPr/>
          </a:p>
          <a:p>
            <a:r>
              <a:t>미로 찾기: 큐를 사용해서 최단 경로 탐색</a:t>
            </a:r>
          </a:p>
          <a:p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3847" y="262442"/>
            <a:ext cx="6258628" cy="607653"/>
          </a:xfrm>
        </p:spPr>
        <p:txBody>
          <a:bodyPr>
            <a:spAutoFit/>
          </a:bodyPr>
          <a:lstStyle/>
          <a:p>
            <a:r>
              <a:t>단일스레드와 멀티스레드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단일스레드: 계산 장치가 있고, 계산 장치에 딸린 고속/소형 메모리가 있고, 일반 메모리가 있다.</a:t>
            </a:r>
          </a:p>
          <a:p>
            <a:endParaRPr/>
          </a:p>
          <a:p>
            <a:r>
              <a:t>계산을 할 때는 일반 메모리에서 필요한 부분을 고속/소형 메모리에 복사해 놓고 작업한다.</a:t>
            </a:r>
          </a:p>
          <a:p>
            <a:endParaRPr/>
          </a:p>
          <a:p>
            <a:r>
              <a:t>다른 계산을 할 때는 고속/소형 메모리에서 다시 일반 메모리에 계산 결과를 복사한다.</a:t>
            </a:r>
          </a:p>
          <a:p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3847" y="262442"/>
            <a:ext cx="6258628" cy="607653"/>
          </a:xfrm>
        </p:spPr>
        <p:txBody>
          <a:bodyPr>
            <a:spAutoFit/>
          </a:bodyPr>
          <a:lstStyle/>
          <a:p>
            <a:r>
              <a:t>단일스레드와 멀티스레드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멀티스레드: 계산 장치가 여러개 있고, 계산 장치 각각에 딸린 고속/소형 메모리가 있고, 일반 메모리는 공유한다.</a:t>
            </a:r>
          </a:p>
          <a:p>
            <a:endParaRPr/>
          </a:p>
          <a:p>
            <a:r>
              <a:t>계산을 할 때는 일반 메모리에서 필요한 부분을 각자의 고속/소형 메모리에 복사해 놓고 작업한다.</a:t>
            </a:r>
          </a:p>
          <a:p>
            <a:endParaRPr/>
          </a:p>
          <a:p>
            <a:r>
              <a:t>나중에 각자의 고속/소형 메모리에서 다시 일반 메모리에 계산 결과를 복사한다.</a:t>
            </a:r>
          </a:p>
          <a:p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222" y="262442"/>
            <a:ext cx="8727253" cy="607653"/>
          </a:xfrm>
        </p:spPr>
        <p:txBody>
          <a:bodyPr>
            <a:spAutoFit/>
          </a:bodyPr>
          <a:lstStyle/>
          <a:p>
            <a:r>
              <a:t>멀티스레드 문제: 동시에 값을 읽으면?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초기값이 0인 전역 변수 x의 값을 두 스레드에서 1 증가시키고 있는데..</a:t>
            </a:r>
          </a:p>
          <a:p>
            <a:endParaRPr/>
          </a:p>
          <a:p>
            <a:r>
              <a:t>운 좋은 케이스 - 한 스레드가 x의 값을 1로 바꾸고, 다른 스레드는 x의 값을 2로 바꾼다</a:t>
            </a:r>
          </a:p>
          <a:p>
            <a:endParaRPr/>
          </a:p>
          <a:p>
            <a:r>
              <a:t>다른 케이스 - 한 스레드가 x의 값을 읽어서 1을 더하는 중에 다른 스레드도 x의 값을 읽었다면</a:t>
            </a:r>
            <a:r>
              <a:rPr lang="en-US"/>
              <a:t>, </a:t>
            </a:r>
            <a:r>
              <a:t>두 스레드 모두에서 계산 결과는 1이고, 메모리에 1만 두번 저장됨</a:t>
            </a:r>
          </a:p>
          <a:p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3847" y="262442"/>
            <a:ext cx="6258628" cy="607653"/>
          </a:xfrm>
        </p:spPr>
        <p:txBody>
          <a:bodyPr>
            <a:spAutoFit/>
          </a:bodyPr>
          <a:lstStyle/>
          <a:p>
            <a:r>
              <a:t>멀티스레드에서의 원자성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초기값이 0인 전역 변수 x의 값을 두 스레드에서 1 증가시키고 있는데..</a:t>
            </a:r>
          </a:p>
          <a:p>
            <a:r>
              <a:t>x에 원자성을 부여하면, 원자성이 적용된 연산을 쓸 수 있다. 결과는 항상 2가 된다 </a:t>
            </a:r>
          </a:p>
          <a:p>
            <a:r>
              <a:t>원자: 더이상 쪼개지지 않는 단위. 1 증가시키는 원자성 함수 - 중간에 다른 스레드가 값에 접근할 수 없다</a:t>
            </a:r>
          </a:p>
          <a:p>
            <a:endParaRPr/>
          </a:p>
          <a:p>
            <a:r>
              <a:t>한 스레드가 ++을 하기 위해 메모리에서 x의 값을 캐시에 복사해놓고, 1을 더해서 캐시에 저장하고, 다시 메모리에 저장할 때까지 다른 스레드에서 메모리의 x에 접근할 수 없다.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76462" y="262442"/>
            <a:ext cx="4436013" cy="607653"/>
          </a:xfrm>
        </p:spPr>
        <p:txBody>
          <a:bodyPr>
            <a:spAutoFit/>
          </a:bodyPr>
          <a:lstStyle/>
          <a:p>
            <a:r>
              <a:t>원자성 예제   1/2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원자성 전역 변수 acnt</a:t>
            </a:r>
          </a:p>
          <a:p>
            <a:r>
              <a:t>일반 전역 변수 cnt</a:t>
            </a:r>
          </a:p>
          <a:p>
            <a:endParaRPr lang="en-US"/>
          </a:p>
          <a:p>
            <a:r>
              <a:t>함수 f:</a:t>
            </a:r>
          </a:p>
          <a:p>
            <a:pPr marL="0" indent="0">
              <a:buNone/>
            </a:pPr>
            <a:r>
              <a:t>        반복: 1000회</a:t>
            </a:r>
          </a:p>
          <a:p>
            <a:pPr marL="0" indent="0">
              <a:buNone/>
            </a:pPr>
            <a:r>
              <a:t>                원자성_누적_덧셈(acnt, 1)</a:t>
            </a:r>
          </a:p>
          <a:p>
            <a:pPr marL="0" indent="0">
              <a:buNone/>
            </a:pPr>
            <a:r>
              <a:t>                ++cnt  // data race로 인한 누락 발생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76462" y="262442"/>
            <a:ext cx="4436013" cy="607653"/>
          </a:xfrm>
        </p:spPr>
        <p:txBody>
          <a:bodyPr>
            <a:spAutoFit/>
          </a:bodyPr>
          <a:lstStyle/>
          <a:p>
            <a:r>
              <a:t>원자성 예제   2/2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스레드 배열 thr (크기: 11)</a:t>
            </a:r>
          </a:p>
          <a:p>
            <a:endParaRPr lang="en-US"/>
          </a:p>
          <a:p>
            <a:r>
              <a:t>반복: n이 1부터 10까지</a:t>
            </a:r>
          </a:p>
          <a:p>
            <a:pPr marL="0" indent="0">
              <a:buNone/>
            </a:pPr>
            <a:r>
              <a:t>        스레드_만들기(thr[n], f)</a:t>
            </a:r>
          </a:p>
          <a:p>
            <a:endParaRPr lang="en-US"/>
          </a:p>
          <a:p>
            <a:r>
              <a:t>반복: n이 1부터 10까지</a:t>
            </a:r>
          </a:p>
          <a:p>
            <a:pPr marL="0" indent="0">
              <a:buNone/>
            </a:pPr>
            <a:r>
              <a:t>        스레드_종료_기다리기(thr[n])</a:t>
            </a:r>
          </a:p>
          <a:p>
            <a:endParaRPr lang="en-US"/>
          </a:p>
          <a:p>
            <a:r>
              <a:t>출력(acnt)  </a:t>
            </a:r>
            <a:r>
              <a:rPr lang="en-US"/>
              <a:t>  </a:t>
            </a:r>
            <a:r>
              <a:t>// 10000이 출력됨</a:t>
            </a:r>
          </a:p>
          <a:p>
            <a:r>
              <a:t>출력(cnt)  </a:t>
            </a:r>
            <a:r>
              <a:rPr lang="en-US"/>
              <a:t>    </a:t>
            </a:r>
            <a:r>
              <a:t>// </a:t>
            </a:r>
            <a:r>
              <a:rPr lang="en-US"/>
              <a:t>    </a:t>
            </a:r>
            <a:r>
              <a:t>9511이 출력됨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2403" y="262442"/>
            <a:ext cx="4040072" cy="607653"/>
          </a:xfrm>
        </p:spPr>
        <p:txBody>
          <a:bodyPr>
            <a:spAutoFit/>
          </a:bodyPr>
          <a:lstStyle/>
          <a:p>
            <a:r>
              <a:t>원자성 배열 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t>전역 변수 q[N]</a:t>
            </a:r>
          </a:p>
          <a:p>
            <a:pPr>
              <a:lnSpc>
                <a:spcPct val="150000"/>
              </a:lnSpc>
            </a:pPr>
            <a:r>
              <a:t>원자성 전역 변수 rear</a:t>
            </a:r>
          </a:p>
          <a:p>
            <a:pPr>
              <a:lnSpc>
                <a:spcPct val="150000"/>
              </a:lnSpc>
            </a:pPr>
            <a:r>
              <a:t>함수 ENQUEUE(x):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my_slot = 원자성_누적_덧셈(rear, 1)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q[my_slot] = x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3836" y="262442"/>
            <a:ext cx="3488639" cy="607653"/>
          </a:xfrm>
        </p:spPr>
        <p:txBody>
          <a:bodyPr>
            <a:spAutoFit/>
          </a:bodyPr>
          <a:lstStyle/>
          <a:p>
            <a:r>
              <a:t>원자성 함수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t>원자성_누적_덧셈(obj, arg):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obj = obj + arg를 원자성으로 실행 </a:t>
            </a:r>
            <a:endParaRPr lang="en-US"/>
          </a:p>
          <a:p>
            <a:pPr marL="0" indent="0">
              <a:lnSpc>
                <a:spcPct val="150000"/>
              </a:lnSpc>
              <a:buNone/>
            </a:pPr>
            <a:endParaRPr/>
          </a:p>
          <a:p>
            <a:pPr>
              <a:lnSpc>
                <a:spcPct val="150000"/>
              </a:lnSpc>
            </a:pPr>
            <a:r>
              <a:t>z = 원자성_교체(obj, desired):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z = obj, obj = desired를 원자성으로 실행 </a:t>
            </a:r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22088-AFDD-C5F6-D190-5249FDDB2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CC7B9-E341-F3B4-3696-5F5879B23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3836" y="262442"/>
            <a:ext cx="3488639" cy="607653"/>
          </a:xfrm>
        </p:spPr>
        <p:txBody>
          <a:bodyPr>
            <a:spAutoFit/>
          </a:bodyPr>
          <a:lstStyle/>
          <a:p>
            <a:r>
              <a:t>원자성 함수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9B5A9-846A-B0E4-FB50-3452EE8978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t>원자성_조건부_교체(obj, expected, desired):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만약: obj와 expected를 원자성 비교해서 같으면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        obj = desired를 원자성으로 실행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그외: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        expected = obj를 원자성으로 실행</a:t>
            </a:r>
          </a:p>
        </p:txBody>
      </p:sp>
    </p:spTree>
    <p:extLst>
      <p:ext uri="{BB962C8B-B14F-4D97-AF65-F5344CB8AC3E}">
        <p14:creationId xmlns:p14="http://schemas.microsoft.com/office/powerpoint/2010/main" val="343483292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87408" y="262442"/>
            <a:ext cx="5425067" cy="607653"/>
          </a:xfrm>
        </p:spPr>
        <p:txBody>
          <a:bodyPr>
            <a:spAutoFit/>
          </a:bodyPr>
          <a:lstStyle/>
          <a:p>
            <a:r>
              <a:t>원자성 링크드 리스트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t>node 구조체: value, next</a:t>
            </a:r>
          </a:p>
          <a:p>
            <a:pPr>
              <a:lnSpc>
                <a:spcPct val="150000"/>
              </a:lnSpc>
            </a:pPr>
            <a:r>
              <a:t>원자성 전역 변수 first</a:t>
            </a:r>
          </a:p>
          <a:p>
            <a:pPr>
              <a:lnSpc>
                <a:spcPct val="150000"/>
              </a:lnSpc>
            </a:pPr>
            <a:r>
              <a:t>함수 INSERT_FIRST(x):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new_n = 새로운 node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new_n의 value = 새로운 node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old_first = 원자성_읽기(first)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700DB-7413-D605-5E98-59FC04D9E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CAFAA-39C3-6DC1-990D-737B20009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408" y="262442"/>
            <a:ext cx="5425067" cy="607653"/>
          </a:xfrm>
        </p:spPr>
        <p:txBody>
          <a:bodyPr>
            <a:spAutoFit/>
          </a:bodyPr>
          <a:lstStyle/>
          <a:p>
            <a:r>
              <a:t>원자성 링크드 리스트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67E2B-4426-F1A1-9B58-3B789AE7D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t>        반복실행: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        new_n의 next = old_first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        반복조건: 원자성_조건부_교체(</a:t>
            </a:r>
            <a:br>
              <a:rPr lang="en-US"/>
            </a:br>
            <a:r>
              <a:rPr lang="en-US"/>
              <a:t>                                               </a:t>
            </a:r>
            <a:r>
              <a:t>first, old_first, new_n)이 거짓</a:t>
            </a:r>
          </a:p>
        </p:txBody>
      </p:sp>
    </p:spTree>
    <p:extLst>
      <p:ext uri="{BB962C8B-B14F-4D97-AF65-F5344CB8AC3E}">
        <p14:creationId xmlns:p14="http://schemas.microsoft.com/office/powerpoint/2010/main" val="425929025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t>원자성 링크드 리스트 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t>pointer_t 구조체: ptr /*node_t 포인터*/, count</a:t>
            </a:r>
          </a:p>
          <a:p>
            <a:pPr>
              <a:lnSpc>
                <a:spcPct val="150000"/>
              </a:lnSpc>
            </a:pPr>
            <a:r>
              <a:t>node_t 구조체: value, next /*pointer_t*/</a:t>
            </a:r>
          </a:p>
          <a:p>
            <a:pPr>
              <a:lnSpc>
                <a:spcPct val="150000"/>
              </a:lnSpc>
            </a:pPr>
            <a:r>
              <a:t>queue_t 구조체: Head /*pointer_t*/, Tail /*pointer_t*/</a:t>
            </a:r>
          </a:p>
          <a:p>
            <a:pPr>
              <a:lnSpc>
                <a:spcPct val="150000"/>
              </a:lnSpc>
            </a:pPr>
            <a:r>
              <a:t>함수 INITIALIZE</a:t>
            </a:r>
            <a:r>
              <a:rPr lang="en-US"/>
              <a:t> </a:t>
            </a:r>
            <a:r>
              <a:t>(Q /*queue_t 포인터*/):</a:t>
            </a:r>
          </a:p>
          <a:p>
            <a:pPr marL="0" indent="0">
              <a:lnSpc>
                <a:spcPct val="130000"/>
              </a:lnSpc>
              <a:buNone/>
            </a:pPr>
            <a:r>
              <a:t>        node = 새로운 node_t</a:t>
            </a:r>
          </a:p>
          <a:p>
            <a:pPr marL="0" indent="0">
              <a:lnSpc>
                <a:spcPct val="130000"/>
              </a:lnSpc>
              <a:buNone/>
            </a:pPr>
            <a:r>
              <a:t>        node-&gt;next.ptr = NULL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Q-&gt;Head = Q-&gt;Tail = node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t>원자성 링크드 리스트 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t>함수 ENQUEUE(Q /*queue_t 포인터*/, value):</a:t>
            </a:r>
          </a:p>
          <a:p>
            <a:pPr>
              <a:lnSpc>
                <a:spcPct val="100000"/>
              </a:lnSpc>
            </a:pPr>
            <a:r>
              <a:t>        node = 새로운 node_t</a:t>
            </a:r>
          </a:p>
          <a:p>
            <a:pPr>
              <a:lnSpc>
                <a:spcPct val="100000"/>
              </a:lnSpc>
            </a:pPr>
            <a:r>
              <a:t>        node-&gt;value = value</a:t>
            </a:r>
          </a:p>
          <a:p>
            <a:pPr>
              <a:lnSpc>
                <a:spcPct val="100000"/>
              </a:lnSpc>
            </a:pPr>
            <a:r>
              <a:t>        node-&gt;next.ptr = NULL</a:t>
            </a:r>
          </a:p>
          <a:p>
            <a:pPr>
              <a:lnSpc>
                <a:spcPct val="150000"/>
              </a:lnSpc>
            </a:pPr>
            <a:r>
              <a:t>        반복: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       tail = Q-&gt;Tail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       next = tail.ptr-&gt;next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650ED-A7BC-D9BE-B88F-ECFB855DC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8B2A0-CC28-CCFB-4A2E-EA0078A0C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t>원자성 링크드 리스트 큐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F2317-62F7-C7CA-D349-BE986B6C73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t>               만약: tail == Q-&gt;Tail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               만약: next.ptr == NULL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                       만약: CAS</a:t>
            </a:r>
            <a:r>
              <a:rPr lang="en-US"/>
              <a:t> </a:t>
            </a:r>
            <a:r>
              <a:t>(&amp;tail.ptr-&gt;next, next, </a:t>
            </a:r>
            <a:br>
              <a:rPr lang="en-US"/>
            </a:br>
            <a:r>
              <a:rPr lang="en-US"/>
              <a:t>                                                       </a:t>
            </a:r>
            <a:r>
              <a:t>&lt;node, next.count+1&gt;)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                               반복 종료</a:t>
            </a:r>
          </a:p>
        </p:txBody>
      </p:sp>
    </p:spTree>
    <p:extLst>
      <p:ext uri="{BB962C8B-B14F-4D97-AF65-F5344CB8AC3E}">
        <p14:creationId xmlns:p14="http://schemas.microsoft.com/office/powerpoint/2010/main" val="404454021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CF677-D56C-30FB-6824-D4E4313C2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0EB83-3247-0AC1-7FBB-EA3DB5771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t>원자성 링크드 리스트 큐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F9F6B-CF80-CD93-7F75-CA35DFD94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t>                       그외:</a:t>
            </a:r>
            <a:r>
              <a:rPr lang="en-US"/>
              <a:t>   // next.ptr != NULL</a:t>
            </a:r>
            <a:r>
              <a:rPr lang="ko-KR" altLang="en-US"/>
              <a:t>일 때</a:t>
            </a:r>
            <a:endParaRPr/>
          </a:p>
          <a:p>
            <a:pPr marL="0" indent="0">
              <a:lnSpc>
                <a:spcPct val="150000"/>
              </a:lnSpc>
              <a:buNone/>
            </a:pPr>
            <a:r>
              <a:t>                               CAS(&amp;Q-&gt;Tail, tail, </a:t>
            </a:r>
            <a:br>
              <a:rPr lang="en-US"/>
            </a:br>
            <a:r>
              <a:rPr lang="en-US"/>
              <a:t>                                          </a:t>
            </a:r>
            <a:r>
              <a:t>&lt;next.ptr, tail.count+1&gt;)</a:t>
            </a:r>
            <a:endParaRPr lang="en-US"/>
          </a:p>
          <a:p>
            <a:pPr marL="0" indent="0">
              <a:lnSpc>
                <a:spcPct val="150000"/>
              </a:lnSpc>
              <a:buNone/>
            </a:pPr>
            <a:endParaRPr lang="en-US" altLang="ko-KR"/>
          </a:p>
          <a:p>
            <a:pPr>
              <a:lnSpc>
                <a:spcPct val="150000"/>
              </a:lnSpc>
            </a:pPr>
            <a:r>
              <a:rPr lang="en-US" altLang="ko-KR"/>
              <a:t>        </a:t>
            </a:r>
            <a:r>
              <a:t>CAS(&amp;Q-&gt;Tail, tail, &lt;node.ptr, tail.count+1&gt;)</a:t>
            </a:r>
          </a:p>
        </p:txBody>
      </p:sp>
    </p:spTree>
    <p:extLst>
      <p:ext uri="{BB962C8B-B14F-4D97-AF65-F5344CB8AC3E}">
        <p14:creationId xmlns:p14="http://schemas.microsoft.com/office/powerpoint/2010/main" val="106443943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t>원자성 링크드 리스트 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함수 DEQUEUE</a:t>
            </a:r>
            <a:r>
              <a:rPr lang="en-US"/>
              <a:t> </a:t>
            </a:r>
            <a:r>
              <a:t>(Q </a:t>
            </a:r>
            <a:r>
              <a:rPr lang="en-US"/>
              <a:t>            </a:t>
            </a:r>
            <a:r>
              <a:t>/*queue_t 포인터*/, </a:t>
            </a:r>
            <a:endParaRPr lang="en-US"/>
          </a:p>
          <a:p>
            <a:pPr marL="0" indent="0">
              <a:buNone/>
            </a:pPr>
            <a:r>
              <a:rPr lang="en-US"/>
              <a:t>                                   </a:t>
            </a:r>
            <a:r>
              <a:t>pvalue </a:t>
            </a:r>
            <a:r>
              <a:rPr lang="en-US"/>
              <a:t> </a:t>
            </a:r>
            <a:r>
              <a:t>/*데이터 타입 포인터*/):</a:t>
            </a:r>
          </a:p>
          <a:p>
            <a:pPr>
              <a:lnSpc>
                <a:spcPct val="150000"/>
              </a:lnSpc>
            </a:pPr>
            <a:r>
              <a:t>        반복: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       head = Q-&gt;Head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       tail = Q-&gt;Tail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       next = head-&gt;next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8961B-B490-9657-7929-3ED022F8D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67F40-ECD0-8FE5-9BD5-371C75A6F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t>원자성 링크드 리스트 큐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A0167-7431-BDAF-C4C4-83265AF41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t>               만약: head == Q-&gt;Head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               만약: head.ptr == tail.ptr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                       만약: next.ptr == NULL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                               반환: 거짓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                       CAS(&amp;Q-&gt;Tail, tail, </a:t>
            </a:r>
            <a:br>
              <a:rPr lang="en-US"/>
            </a:br>
            <a:r>
              <a:rPr lang="en-US"/>
              <a:t>                                          </a:t>
            </a:r>
            <a:r>
              <a:t>&lt;next.ptr, tail.count+1&gt;)</a:t>
            </a:r>
          </a:p>
        </p:txBody>
      </p:sp>
    </p:spTree>
    <p:extLst>
      <p:ext uri="{BB962C8B-B14F-4D97-AF65-F5344CB8AC3E}">
        <p14:creationId xmlns:p14="http://schemas.microsoft.com/office/powerpoint/2010/main" val="21983938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38962-0558-A04E-2A8E-DD3D9D2C0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3EB15-5929-70EB-BFDB-4B3813FD0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t>원자성 링크드 리스트 큐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F62BC-3BBA-F9EE-6F07-BB01C16DAE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t>                       그외:</a:t>
            </a:r>
            <a:r>
              <a:rPr lang="en-US"/>
              <a:t>    // head.ptr != tail.ptr</a:t>
            </a:r>
            <a:endParaRPr/>
          </a:p>
          <a:p>
            <a:pPr marL="0" indent="0">
              <a:lnSpc>
                <a:spcPct val="150000"/>
              </a:lnSpc>
              <a:buNone/>
            </a:pPr>
            <a:r>
              <a:t>                               *pvalue = next.ptr-&gt;value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                       만약: CAS(&amp;Q-&gt;Head, head, </a:t>
            </a:r>
            <a:br>
              <a:rPr lang="en-US"/>
            </a:br>
            <a:r>
              <a:rPr lang="en-US"/>
              <a:t>                                                      </a:t>
            </a:r>
            <a:r>
              <a:t>&lt;next.ptr, head.count+1&gt;)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                               반복 종료</a:t>
            </a:r>
          </a:p>
          <a:p>
            <a:pPr>
              <a:lnSpc>
                <a:spcPct val="100000"/>
              </a:lnSpc>
            </a:pPr>
            <a:r>
              <a:t>        free(head.ptr)</a:t>
            </a:r>
          </a:p>
          <a:p>
            <a:pPr>
              <a:lnSpc>
                <a:spcPct val="100000"/>
              </a:lnSpc>
            </a:pPr>
            <a:r>
              <a:t>        반환: 참</a:t>
            </a:r>
          </a:p>
        </p:txBody>
      </p:sp>
    </p:spTree>
    <p:extLst>
      <p:ext uri="{BB962C8B-B14F-4D97-AF65-F5344CB8AC3E}">
        <p14:creationId xmlns:p14="http://schemas.microsoft.com/office/powerpoint/2010/main" val="284568084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98598" y="262442"/>
            <a:ext cx="2013877" cy="607653"/>
          </a:xfrm>
        </p:spPr>
        <p:txBody>
          <a:bodyPr>
            <a:spAutoFit/>
          </a:bodyPr>
          <a:lstStyle/>
          <a:p>
            <a:r>
              <a:t>출처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t>멀티스레드: 유튜브 CppCon 2017: Fedor Pikus “C++ atomics, from basic to advanced. What do they really do?”</a:t>
            </a:r>
          </a:p>
          <a:p>
            <a:pPr>
              <a:lnSpc>
                <a:spcPct val="150000"/>
              </a:lnSpc>
            </a:pPr>
            <a:r>
              <a:t>원자성 예제 코드: https://cppreference.com/w/c/atomic/atomic_fetch_add.html</a:t>
            </a:r>
            <a:endParaRPr lang="en-US"/>
          </a:p>
          <a:p>
            <a:pPr>
              <a:lnSpc>
                <a:spcPct val="150000"/>
              </a:lnSpc>
            </a:pPr>
            <a:r>
              <a:t>멀티스레드 링크드 리스트 큐: https://cs.rochester.edu/u/scott/papers/1996_PODC_queues.pdf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12692</TotalTime>
  <Words>3019</Words>
  <Application>Microsoft Office PowerPoint</Application>
  <PresentationFormat>화면 슬라이드 쇼(4:3)</PresentationFormat>
  <Paragraphs>347</Paragraphs>
  <Slides>56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56</vt:i4>
      </vt:variant>
    </vt:vector>
  </HeadingPairs>
  <TitlesOfParts>
    <vt:vector size="62" baseType="lpstr">
      <vt:lpstr>맑은 고딕</vt:lpstr>
      <vt:lpstr>Aptos</vt:lpstr>
      <vt:lpstr>Aptos Display</vt:lpstr>
      <vt:lpstr>Arial</vt:lpstr>
      <vt:lpstr>Consolas</vt:lpstr>
      <vt:lpstr>Office 테마</vt:lpstr>
      <vt:lpstr>자료구조 (Data Structure) 4주차: 큐</vt:lpstr>
      <vt:lpstr>일차원(선형) 자료구조</vt:lpstr>
      <vt:lpstr>큐</vt:lpstr>
      <vt:lpstr>단방향 링크드 리스트로 구현한 큐</vt:lpstr>
      <vt:lpstr>노드</vt:lpstr>
      <vt:lpstr>LQUEUE_ENQUEUE(q, value)</vt:lpstr>
      <vt:lpstr>LQUEUE_DEQUEUE(q)</vt:lpstr>
      <vt:lpstr>배열로 구현한 큐</vt:lpstr>
      <vt:lpstr>배열로 구현한 큐</vt:lpstr>
      <vt:lpstr>SIMPLE_AQUEUE_ENQUEUE(q, value)</vt:lpstr>
      <vt:lpstr>SIMPLE_AQUEUE_DEQUEUE(q)</vt:lpstr>
      <vt:lpstr>원형 배열로 구현한 큐</vt:lpstr>
      <vt:lpstr>CIRCULAR_AQUEUE_EMPTY(q)</vt:lpstr>
      <vt:lpstr>CIRCULAR_AQUEUE_SIZE(q)</vt:lpstr>
      <vt:lpstr>CIRCULAR_AQUEUE_ENQUEUE(q, value)</vt:lpstr>
      <vt:lpstr>CIRCULAR_AQUEUE_DEQUEUE(q)</vt:lpstr>
      <vt:lpstr>예제: 미로 찾기 문제</vt:lpstr>
      <vt:lpstr>미로 정보: 2차원 배열 (배열의 배열)</vt:lpstr>
      <vt:lpstr>좌표 구조체</vt:lpstr>
      <vt:lpstr>STATUS(maze, point)</vt:lpstr>
      <vt:lpstr>MARK(maze, point, from)</vt:lpstr>
      <vt:lpstr>좌표 선형 큐</vt:lpstr>
      <vt:lpstr>CREATE(cap)</vt:lpstr>
      <vt:lpstr>ENQUEUE(q, point)</vt:lpstr>
      <vt:lpstr>DEQUEUE(q)</vt:lpstr>
      <vt:lpstr>미로찾기 함수</vt:lpstr>
      <vt:lpstr>PUSH_NBRS(maze, len, to_visit, point)</vt:lpstr>
      <vt:lpstr>PUSH_NBRS(maze, len, to_visit, point)</vt:lpstr>
      <vt:lpstr>STATUS/MARK 시점 정리</vt:lpstr>
      <vt:lpstr>FIND(maze, len, start, end)</vt:lpstr>
      <vt:lpstr>FIND(maze, len, start, end) 변수</vt:lpstr>
      <vt:lpstr>FIND(maze, len, start, end)  1/2</vt:lpstr>
      <vt:lpstr>FIND(maze, len, start, end)  2/2</vt:lpstr>
      <vt:lpstr>maze에서 최단 경로 복원하기</vt:lpstr>
      <vt:lpstr>DECODE_PATH(maze, len, end, path_len)</vt:lpstr>
      <vt:lpstr>미로 찾기 복잡도 분석</vt:lpstr>
      <vt:lpstr>요약</vt:lpstr>
      <vt:lpstr>단일스레드와 멀티스레드</vt:lpstr>
      <vt:lpstr>단일스레드와 멀티스레드</vt:lpstr>
      <vt:lpstr>멀티스레드 문제: 동시에 값을 읽으면?</vt:lpstr>
      <vt:lpstr>멀티스레드에서의 원자성</vt:lpstr>
      <vt:lpstr>원자성 예제   1/2</vt:lpstr>
      <vt:lpstr>원자성 예제   2/2</vt:lpstr>
      <vt:lpstr>원자성 배열 큐</vt:lpstr>
      <vt:lpstr>원자성 함수</vt:lpstr>
      <vt:lpstr>원자성 함수</vt:lpstr>
      <vt:lpstr>원자성 링크드 리스트</vt:lpstr>
      <vt:lpstr>원자성 링크드 리스트</vt:lpstr>
      <vt:lpstr>원자성 링크드 리스트 큐</vt:lpstr>
      <vt:lpstr>원자성 링크드 리스트 큐</vt:lpstr>
      <vt:lpstr>원자성 링크드 리스트 큐</vt:lpstr>
      <vt:lpstr>원자성 링크드 리스트 큐</vt:lpstr>
      <vt:lpstr>원자성 링크드 리스트 큐</vt:lpstr>
      <vt:lpstr>원자성 링크드 리스트 큐</vt:lpstr>
      <vt:lpstr>원자성 링크드 리스트 큐</vt:lpstr>
      <vt:lpstr>출처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 C</dc:creator>
  <cp:lastModifiedBy>K C</cp:lastModifiedBy>
  <cp:revision>22</cp:revision>
  <dcterms:created xsi:type="dcterms:W3CDTF">2025-07-28T15:04:23Z</dcterms:created>
  <dcterms:modified xsi:type="dcterms:W3CDTF">2025-09-22T16:37:20Z</dcterms:modified>
</cp:coreProperties>
</file>