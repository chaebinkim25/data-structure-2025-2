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38"/>
  </p:notesMasterIdLst>
  <p:sldIdLst>
    <p:sldId id="256" r:id="rId2"/>
    <p:sldId id="257" r:id="rId3"/>
    <p:sldId id="311" r:id="rId4"/>
    <p:sldId id="312" r:id="rId5"/>
    <p:sldId id="292" r:id="rId6"/>
    <p:sldId id="293" r:id="rId7"/>
    <p:sldId id="259" r:id="rId8"/>
    <p:sldId id="260" r:id="rId9"/>
    <p:sldId id="267" r:id="rId10"/>
    <p:sldId id="294" r:id="rId11"/>
    <p:sldId id="295" r:id="rId12"/>
    <p:sldId id="299" r:id="rId13"/>
    <p:sldId id="289" r:id="rId14"/>
    <p:sldId id="300" r:id="rId15"/>
    <p:sldId id="301" r:id="rId16"/>
    <p:sldId id="296" r:id="rId17"/>
    <p:sldId id="297" r:id="rId18"/>
    <p:sldId id="270" r:id="rId19"/>
    <p:sldId id="302" r:id="rId20"/>
    <p:sldId id="303" r:id="rId21"/>
    <p:sldId id="271" r:id="rId22"/>
    <p:sldId id="304" r:id="rId23"/>
    <p:sldId id="272" r:id="rId24"/>
    <p:sldId id="306" r:id="rId25"/>
    <p:sldId id="305" r:id="rId26"/>
    <p:sldId id="307" r:id="rId27"/>
    <p:sldId id="308" r:id="rId28"/>
    <p:sldId id="309" r:id="rId29"/>
    <p:sldId id="310" r:id="rId30"/>
    <p:sldId id="313" r:id="rId31"/>
    <p:sldId id="273" r:id="rId32"/>
    <p:sldId id="274" r:id="rId33"/>
    <p:sldId id="276" r:id="rId34"/>
    <p:sldId id="278" r:id="rId35"/>
    <p:sldId id="314" r:id="rId36"/>
    <p:sldId id="315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2E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537" autoAdjust="0"/>
    <p:restoredTop sz="94660"/>
  </p:normalViewPr>
  <p:slideViewPr>
    <p:cSldViewPr snapToGrid="0">
      <p:cViewPr varScale="1">
        <p:scale>
          <a:sx n="57" d="100"/>
          <a:sy n="57" d="100"/>
        </p:scale>
        <p:origin x="48" y="1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240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62DE6C-AA0F-425F-A4E6-018C05453644}" type="datetimeFigureOut">
              <a:rPr lang="ko-KR" altLang="en-US" smtClean="0"/>
              <a:t>2025-10-07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3F3005-54B2-4F13-8D6E-05C92289A9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940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431" y="4043369"/>
            <a:ext cx="8771138" cy="607653"/>
          </a:xfrm>
        </p:spPr>
        <p:txBody>
          <a:bodyPr wrap="square" anchor="b"/>
          <a:lstStyle>
            <a:lvl1pPr algn="ctr"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686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35975" y="262442"/>
            <a:ext cx="5976500" cy="607653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85153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810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44852" y="200299"/>
            <a:ext cx="5976500" cy="60765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vert="horz" wrap="none" lIns="540000" tIns="108000" rIns="540000" bIns="0" rtlCol="0" anchor="ctr">
            <a:sp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85153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10/7/2025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0888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txStyles>
    <p:titleStyle>
      <a:lvl1pPr algn="r" defTabSz="914400" rtl="0" eaLnBrk="1" latinLnBrk="1" hangingPunct="1">
        <a:lnSpc>
          <a:spcPct val="90000"/>
        </a:lnSpc>
        <a:spcBef>
          <a:spcPct val="0"/>
        </a:spcBef>
        <a:buNone/>
        <a:defRPr sz="3600" b="1" kern="1200">
          <a:solidFill>
            <a:srgbClr val="00206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431" y="3544771"/>
            <a:ext cx="8771138" cy="1106251"/>
          </a:xfrm>
        </p:spPr>
        <p:txBody>
          <a:bodyPr/>
          <a:lstStyle/>
          <a:p>
            <a:r>
              <a:t>자료구조 (Data Structure)</a:t>
            </a:r>
          </a:p>
          <a:p>
            <a:r>
              <a:t>5주차: 트리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3327" y="262442"/>
            <a:ext cx="6749148" cy="607653"/>
          </a:xfrm>
        </p:spPr>
        <p:txBody>
          <a:bodyPr>
            <a:spAutoFit/>
          </a:bodyPr>
          <a:lstStyle/>
          <a:p>
            <a:r>
              <a:rPr lang="ko-KR" altLang="en-US"/>
              <a:t>선형 </a:t>
            </a:r>
            <a:r>
              <a:rPr lang="en-US" altLang="ko-KR"/>
              <a:t>(</a:t>
            </a:r>
            <a:r>
              <a:rPr lang="ko-KR" altLang="en-US"/>
              <a:t>일차원</a:t>
            </a:r>
            <a:r>
              <a:rPr lang="en-US" altLang="ko-KR"/>
              <a:t>)</a:t>
            </a:r>
            <a:r>
              <a:rPr lang="ko-KR" altLang="en-US"/>
              <a:t> 자료구조 정리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리스트</a:t>
            </a:r>
            <a:r>
              <a:rPr lang="en-US"/>
              <a:t>: </a:t>
            </a:r>
            <a:r>
              <a:rPr lang="ko-KR" altLang="en-US"/>
              <a:t>데이터를 추가하면 순서가 유지되는 구조</a:t>
            </a:r>
            <a:endParaRPr lang="en-US" altLang="ko-KR"/>
          </a:p>
          <a:p>
            <a:endParaRPr lang="en-US"/>
          </a:p>
          <a:p>
            <a:r>
              <a:rPr lang="ko-KR" altLang="en-US"/>
              <a:t>스택</a:t>
            </a:r>
            <a:r>
              <a:rPr lang="en-US" altLang="ko-KR"/>
              <a:t>: </a:t>
            </a:r>
            <a:r>
              <a:rPr lang="ko-KR" altLang="en-US"/>
              <a:t>가장 최신 데이터만 꺼낼 수 있는 구조</a:t>
            </a:r>
            <a:endParaRPr lang="en-US" altLang="ko-KR"/>
          </a:p>
          <a:p>
            <a:endParaRPr lang="en-US"/>
          </a:p>
          <a:p>
            <a:r>
              <a:rPr lang="ko-KR" altLang="en-US"/>
              <a:t>큐</a:t>
            </a:r>
            <a:r>
              <a:rPr lang="en-US" altLang="ko-KR"/>
              <a:t>: </a:t>
            </a:r>
            <a:r>
              <a:rPr lang="ko-KR" altLang="en-US"/>
              <a:t>가장 오래된 데이터만 꺼낼 수 있는 구조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0C0CF-05BB-D0AC-A4F1-24C166B47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3DD0F-A552-910B-8266-E700B14FD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2402" y="262442"/>
            <a:ext cx="4040073" cy="607653"/>
          </a:xfrm>
        </p:spPr>
        <p:txBody>
          <a:bodyPr>
            <a:spAutoFit/>
          </a:bodyPr>
          <a:lstStyle/>
          <a:p>
            <a:r>
              <a:rPr lang="ko-KR" altLang="en-US"/>
              <a:t>이번 시간 목차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818505-417D-2BE7-C069-0EB342296B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새로운 자료구조 소개</a:t>
            </a:r>
            <a:endParaRPr lang="en-US" altLang="ko-KR"/>
          </a:p>
          <a:p>
            <a:endParaRPr/>
          </a:p>
          <a:p>
            <a:r>
              <a:rPr lang="ko-KR" altLang="en-US"/>
              <a:t>새로운 자료구조 </a:t>
            </a:r>
            <a:r>
              <a:t>예</a:t>
            </a:r>
            <a:r>
              <a:rPr lang="ko-KR" altLang="en-US"/>
              <a:t>제</a:t>
            </a:r>
            <a:endParaRPr lang="en-US" altLang="ko-KR"/>
          </a:p>
          <a:p>
            <a:endParaRPr lang="en-US"/>
          </a:p>
          <a:p>
            <a:r>
              <a:rPr lang="ko-KR" altLang="en-US"/>
              <a:t>새로운 자료구조의 데이터들에서 반복하는 방법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852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24E3B-CB18-1BA4-DD0C-9070A2793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0AE4D-3B67-164C-843E-5A97AA1D2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0738" y="262442"/>
            <a:ext cx="4501737" cy="607653"/>
          </a:xfrm>
        </p:spPr>
        <p:txBody>
          <a:bodyPr>
            <a:spAutoFit/>
          </a:bodyPr>
          <a:lstStyle/>
          <a:p>
            <a:r>
              <a:rPr lang="ko-KR" altLang="en-US"/>
              <a:t>새로운 자료 구조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251EB-7B8B-5E04-3BD3-014C876619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리스트의 노드마다 리스트를 가지고 있다면?</a:t>
            </a:r>
          </a:p>
          <a:p>
            <a:endParaRPr/>
          </a:p>
          <a:p>
            <a:r>
              <a:t>예시) 파일 시스템</a:t>
            </a:r>
            <a:r>
              <a:rPr lang="en-US"/>
              <a:t>, </a:t>
            </a:r>
            <a:r>
              <a:rPr lang="ko-KR" altLang="en-US"/>
              <a:t>소스 코드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090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E2B30-56CE-7F48-C4AA-475DB685D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B3ED7-DD6E-95DB-0B92-CB25FB3AE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0738" y="262442"/>
            <a:ext cx="4501737" cy="607653"/>
          </a:xfrm>
        </p:spPr>
        <p:txBody>
          <a:bodyPr>
            <a:spAutoFit/>
          </a:bodyPr>
          <a:lstStyle/>
          <a:p>
            <a:r>
              <a:rPr lang="ko-KR" altLang="en-US"/>
              <a:t>새로운 자료 구조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F1DE27-BF7A-3A84-D17E-C3A822355D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세부 폴더들은 폴더에 연결</a:t>
            </a:r>
            <a:r>
              <a:rPr lang="en-US" altLang="ko-KR"/>
              <a:t>. </a:t>
            </a:r>
            <a:r>
              <a:rPr lang="ko-KR" altLang="en-US"/>
              <a:t>일대다 </a:t>
            </a:r>
            <a:r>
              <a:rPr lang="en-US" altLang="ko-KR"/>
              <a:t>(</a:t>
            </a:r>
            <a:r>
              <a:rPr lang="ko-KR" altLang="en-US"/>
              <a:t>부모 자식</a:t>
            </a:r>
            <a:r>
              <a:rPr lang="en-US" altLang="ko-KR"/>
              <a:t>) </a:t>
            </a:r>
            <a:r>
              <a:rPr lang="ko-KR" altLang="en-US"/>
              <a:t>관계</a:t>
            </a:r>
          </a:p>
          <a:p>
            <a:endParaRPr/>
          </a:p>
          <a:p>
            <a:r>
              <a:rPr lang="ko-KR" altLang="en-US"/>
              <a:t>모든 폴더의 조상 </a:t>
            </a:r>
            <a:r>
              <a:rPr lang="en-US" altLang="ko-KR"/>
              <a:t>(</a:t>
            </a:r>
            <a:r>
              <a:rPr lang="ko-KR" altLang="en-US"/>
              <a:t>루트</a:t>
            </a:r>
            <a:r>
              <a:rPr lang="en-US" altLang="ko-KR"/>
              <a:t>) </a:t>
            </a:r>
            <a:r>
              <a:rPr lang="ko-KR" altLang="en-US"/>
              <a:t>존재</a:t>
            </a:r>
          </a:p>
        </p:txBody>
      </p:sp>
    </p:spTree>
    <p:extLst>
      <p:ext uri="{BB962C8B-B14F-4D97-AF65-F5344CB8AC3E}">
        <p14:creationId xmlns:p14="http://schemas.microsoft.com/office/powerpoint/2010/main" val="25716865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FDDDD-6F1B-6539-46B0-110A7310D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B8612-5400-8EC8-B70D-A78ABD45C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4499" y="262442"/>
            <a:ext cx="2707976" cy="607653"/>
          </a:xfrm>
        </p:spPr>
        <p:txBody>
          <a:bodyPr>
            <a:spAutoFit/>
          </a:bodyPr>
          <a:lstStyle/>
          <a:p>
            <a:r>
              <a:t>트리란?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6B4ABF-B2D6-7D2A-2E57-F5D4F94E44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트리 정의</a:t>
            </a:r>
            <a:r>
              <a:rPr lang="en-US" altLang="ko-KR"/>
              <a:t>: </a:t>
            </a:r>
            <a:r>
              <a:rPr lang="ko-KR" altLang="en-US"/>
              <a:t>루트로부터 부모 자식 관계로 연결된 구조</a:t>
            </a:r>
          </a:p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72589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5501" y="262442"/>
            <a:ext cx="3026974" cy="607653"/>
          </a:xfrm>
        </p:spPr>
        <p:txBody>
          <a:bodyPr>
            <a:spAutoFit/>
          </a:bodyPr>
          <a:lstStyle/>
          <a:p>
            <a:r>
              <a:t>이진 트리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자식 노드가 최대 2개인 트리</a:t>
            </a:r>
          </a:p>
          <a:p>
            <a:endParaRPr/>
          </a:p>
          <a:p>
            <a:pPr marL="0" indent="0">
              <a:buNone/>
            </a:pPr>
            <a:r>
              <a:rPr lang="en-US"/>
              <a:t>	- </a:t>
            </a:r>
            <a:r>
              <a:t>root: 트리의 시작점</a:t>
            </a:r>
            <a:r>
              <a:rPr lang="en-US"/>
              <a:t> (</a:t>
            </a:r>
            <a:r>
              <a:rPr lang="ko-KR" altLang="en-US"/>
              <a:t>타입</a:t>
            </a:r>
            <a:r>
              <a:rPr lang="en-US" altLang="ko-KR"/>
              <a:t>: </a:t>
            </a:r>
            <a:r>
              <a:rPr lang="ko-KR" altLang="en-US"/>
              <a:t>이진 트리 노드</a:t>
            </a:r>
            <a:r>
              <a:rPr lang="en-US" altLang="ko-KR"/>
              <a:t>)</a:t>
            </a:r>
          </a:p>
          <a:p>
            <a:pPr marL="0" indent="0">
              <a:buNone/>
            </a:pPr>
            <a:endParaRPr lang="en-US" altLang="ko-K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9304" y="262442"/>
            <a:ext cx="5053171" cy="607653"/>
          </a:xfrm>
        </p:spPr>
        <p:txBody>
          <a:bodyPr>
            <a:spAutoFit/>
          </a:bodyPr>
          <a:lstStyle/>
          <a:p>
            <a:r>
              <a:t>이진 트리 노드</a:t>
            </a:r>
            <a:r>
              <a:rPr lang="en-US"/>
              <a:t> </a:t>
            </a:r>
            <a:r>
              <a:rPr lang="ko-KR" altLang="en-US"/>
              <a:t>타입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자식 노드 </a:t>
            </a:r>
            <a:r>
              <a:rPr lang="en-US"/>
              <a:t>2</a:t>
            </a:r>
            <a:r>
              <a:rPr lang="ko-KR" altLang="en-US"/>
              <a:t>개 </a:t>
            </a:r>
            <a:r>
              <a:t>정보</a:t>
            </a:r>
            <a:r>
              <a:rPr lang="ko-KR" altLang="en-US"/>
              <a:t>와 데이터</a:t>
            </a:r>
            <a:r>
              <a:t>의 묶음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	 - value: </a:t>
            </a:r>
            <a:r>
              <a:rPr lang="ko-KR" altLang="en-US"/>
              <a:t>저장된 데이터</a:t>
            </a:r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r>
              <a:rPr lang="en-US"/>
              <a:t>	 - </a:t>
            </a:r>
            <a:r>
              <a:t>left: 왼쪽 자식 노드 주소 </a:t>
            </a:r>
            <a:endParaRPr lang="en-US"/>
          </a:p>
          <a:p>
            <a:endParaRPr/>
          </a:p>
          <a:p>
            <a:pPr marL="0" indent="0">
              <a:buNone/>
            </a:pPr>
            <a:r>
              <a:rPr lang="en-US"/>
              <a:t>	 - </a:t>
            </a:r>
            <a:r>
              <a:t>right: 오른쪽 자식 노드 주소 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2403" y="262442"/>
            <a:ext cx="4040072" cy="607653"/>
          </a:xfrm>
        </p:spPr>
        <p:txBody>
          <a:bodyPr>
            <a:spAutoFit/>
          </a:bodyPr>
          <a:lstStyle/>
          <a:p>
            <a:r>
              <a:t>이진 트리 예시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다음과 같은 이진 트리를 만들어보자</a:t>
            </a:r>
          </a:p>
          <a:p>
            <a:pPr marL="0" indent="0">
              <a:buNone/>
            </a:pPr>
            <a:endParaRPr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FD8EB7E1-BB31-0CF9-18C2-A6B421DFBE1C}"/>
              </a:ext>
            </a:extLst>
          </p:cNvPr>
          <p:cNvSpPr/>
          <p:nvPr/>
        </p:nvSpPr>
        <p:spPr>
          <a:xfrm>
            <a:off x="7204364" y="1825625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A</a:t>
            </a:r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8E1DB511-933A-B213-EC8B-BD76F784DD7D}"/>
              </a:ext>
            </a:extLst>
          </p:cNvPr>
          <p:cNvSpPr/>
          <p:nvPr/>
        </p:nvSpPr>
        <p:spPr>
          <a:xfrm>
            <a:off x="6631709" y="2758498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8F3737A8-84E8-FBC9-A43B-74E7351CF3CE}"/>
              </a:ext>
            </a:extLst>
          </p:cNvPr>
          <p:cNvSpPr/>
          <p:nvPr/>
        </p:nvSpPr>
        <p:spPr>
          <a:xfrm>
            <a:off x="7887854" y="2758498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C</a:t>
            </a:r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EE61CD8B-1921-00EA-4B04-CD8F0167C59F}"/>
              </a:ext>
            </a:extLst>
          </p:cNvPr>
          <p:cNvCxnSpPr>
            <a:cxnSpLocks/>
            <a:stCxn id="5" idx="0"/>
            <a:endCxn id="4" idx="3"/>
          </p:cNvCxnSpPr>
          <p:nvPr/>
        </p:nvCxnSpPr>
        <p:spPr>
          <a:xfrm flipV="1">
            <a:off x="6881091" y="2251346"/>
            <a:ext cx="396315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F132F89B-D201-EBFF-9CCD-21F949054826}"/>
              </a:ext>
            </a:extLst>
          </p:cNvPr>
          <p:cNvCxnSpPr>
            <a:cxnSpLocks/>
            <a:stCxn id="6" idx="0"/>
            <a:endCxn id="4" idx="5"/>
          </p:cNvCxnSpPr>
          <p:nvPr/>
        </p:nvCxnSpPr>
        <p:spPr>
          <a:xfrm flipH="1" flipV="1">
            <a:off x="7630085" y="2251346"/>
            <a:ext cx="507151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타원 9">
            <a:extLst>
              <a:ext uri="{FF2B5EF4-FFF2-40B4-BE49-F238E27FC236}">
                <a16:creationId xmlns:a16="http://schemas.microsoft.com/office/drawing/2014/main" id="{200BB213-97DB-2D31-8FA5-30A502292B47}"/>
              </a:ext>
            </a:extLst>
          </p:cNvPr>
          <p:cNvSpPr/>
          <p:nvPr/>
        </p:nvSpPr>
        <p:spPr>
          <a:xfrm>
            <a:off x="6034909" y="3691371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D</a:t>
            </a:r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4A7F4685-3761-7A85-0853-97772EABC8DA}"/>
              </a:ext>
            </a:extLst>
          </p:cNvPr>
          <p:cNvSpPr/>
          <p:nvPr/>
        </p:nvSpPr>
        <p:spPr>
          <a:xfrm>
            <a:off x="7291054" y="3691371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E</a:t>
            </a:r>
            <a:endParaRPr lang="ko-KR" altLang="en-US"/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AFD48622-54C7-D91A-E359-254F37FC3730}"/>
              </a:ext>
            </a:extLst>
          </p:cNvPr>
          <p:cNvCxnSpPr>
            <a:cxnSpLocks/>
            <a:stCxn id="10" idx="0"/>
            <a:endCxn id="5" idx="3"/>
          </p:cNvCxnSpPr>
          <p:nvPr/>
        </p:nvCxnSpPr>
        <p:spPr>
          <a:xfrm flipV="1">
            <a:off x="6284291" y="3184219"/>
            <a:ext cx="420460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D23CB71-A206-AD2C-B557-F544EBC1D860}"/>
              </a:ext>
            </a:extLst>
          </p:cNvPr>
          <p:cNvCxnSpPr>
            <a:cxnSpLocks/>
            <a:stCxn id="11" idx="0"/>
            <a:endCxn id="5" idx="5"/>
          </p:cNvCxnSpPr>
          <p:nvPr/>
        </p:nvCxnSpPr>
        <p:spPr>
          <a:xfrm flipH="1" flipV="1">
            <a:off x="7057430" y="3184219"/>
            <a:ext cx="483006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A34D87C-9423-A900-DE90-1DD9A4E7A39A}"/>
              </a:ext>
            </a:extLst>
          </p:cNvPr>
          <p:cNvSpPr txBox="1"/>
          <p:nvPr/>
        </p:nvSpPr>
        <p:spPr>
          <a:xfrm>
            <a:off x="6912071" y="1558893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T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64408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43918-C08D-8300-7218-BD7E58792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DD728-DB74-C56C-3519-1AE6F246E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487" y="262442"/>
            <a:ext cx="7197988" cy="607653"/>
          </a:xfrm>
        </p:spPr>
        <p:txBody>
          <a:bodyPr>
            <a:spAutoFit/>
          </a:bodyPr>
          <a:lstStyle/>
          <a:p>
            <a:r>
              <a:rPr lang="ko-KR" altLang="en-US"/>
              <a:t>예제</a:t>
            </a:r>
            <a:r>
              <a:rPr lang="en-US" altLang="ko-KR"/>
              <a:t>: </a:t>
            </a:r>
            <a:r>
              <a:rPr lang="ko-KR" altLang="en-US"/>
              <a:t>더하기</a:t>
            </a:r>
            <a:r>
              <a:rPr lang="en-US" altLang="ko-KR"/>
              <a:t>/</a:t>
            </a:r>
            <a:r>
              <a:rPr lang="ko-KR" altLang="en-US"/>
              <a:t>곱하기 수식 트리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836888-167B-3D0C-79C9-185FCE504C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1 + 2 + 3 </a:t>
            </a:r>
            <a:r>
              <a:rPr lang="ko-KR" altLang="en-US"/>
              <a:t>수식을 이진 트리로 만들면</a:t>
            </a:r>
            <a:br>
              <a:rPr lang="en-US" altLang="ko-KR"/>
            </a:br>
            <a:r>
              <a:rPr lang="ko-KR" altLang="en-US"/>
              <a:t>계산 순서가 명확히 드러난다</a:t>
            </a:r>
            <a:endParaRPr/>
          </a:p>
          <a:p>
            <a:pPr marL="0" indent="0">
              <a:buNone/>
            </a:pPr>
            <a:endParaRPr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F708818C-62D1-DBE3-E7E7-7FA4B9521D6A}"/>
              </a:ext>
            </a:extLst>
          </p:cNvPr>
          <p:cNvSpPr/>
          <p:nvPr/>
        </p:nvSpPr>
        <p:spPr>
          <a:xfrm>
            <a:off x="7204364" y="1825625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+</a:t>
            </a:r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5E1080DF-9AB5-477F-FBDA-9C3C665C3FF4}"/>
              </a:ext>
            </a:extLst>
          </p:cNvPr>
          <p:cNvSpPr/>
          <p:nvPr/>
        </p:nvSpPr>
        <p:spPr>
          <a:xfrm>
            <a:off x="6631709" y="2758498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+</a:t>
            </a:r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67C0611B-7A7A-3492-52D0-2A23AF4840D4}"/>
              </a:ext>
            </a:extLst>
          </p:cNvPr>
          <p:cNvSpPr/>
          <p:nvPr/>
        </p:nvSpPr>
        <p:spPr>
          <a:xfrm>
            <a:off x="7887854" y="2758498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3</a:t>
            </a:r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B9F04F19-2D48-D84C-B253-911B1F823A45}"/>
              </a:ext>
            </a:extLst>
          </p:cNvPr>
          <p:cNvCxnSpPr>
            <a:cxnSpLocks/>
            <a:stCxn id="5" idx="0"/>
            <a:endCxn id="4" idx="3"/>
          </p:cNvCxnSpPr>
          <p:nvPr/>
        </p:nvCxnSpPr>
        <p:spPr>
          <a:xfrm flipV="1">
            <a:off x="6881091" y="2251346"/>
            <a:ext cx="396315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A7724022-EF7B-5A32-90E4-42EA4281161C}"/>
              </a:ext>
            </a:extLst>
          </p:cNvPr>
          <p:cNvCxnSpPr>
            <a:cxnSpLocks/>
            <a:stCxn id="6" idx="0"/>
            <a:endCxn id="4" idx="5"/>
          </p:cNvCxnSpPr>
          <p:nvPr/>
        </p:nvCxnSpPr>
        <p:spPr>
          <a:xfrm flipH="1" flipV="1">
            <a:off x="7630085" y="2251346"/>
            <a:ext cx="507151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타원 9">
            <a:extLst>
              <a:ext uri="{FF2B5EF4-FFF2-40B4-BE49-F238E27FC236}">
                <a16:creationId xmlns:a16="http://schemas.microsoft.com/office/drawing/2014/main" id="{E045ECC9-CC17-971C-761E-410BB743EE61}"/>
              </a:ext>
            </a:extLst>
          </p:cNvPr>
          <p:cNvSpPr/>
          <p:nvPr/>
        </p:nvSpPr>
        <p:spPr>
          <a:xfrm>
            <a:off x="6034909" y="3691371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1</a:t>
            </a:r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525D625C-8ADD-3BAA-4611-45AD6D041ED0}"/>
              </a:ext>
            </a:extLst>
          </p:cNvPr>
          <p:cNvSpPr/>
          <p:nvPr/>
        </p:nvSpPr>
        <p:spPr>
          <a:xfrm>
            <a:off x="7291054" y="3691371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2</a:t>
            </a:r>
            <a:endParaRPr lang="ko-KR" altLang="en-US"/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F8363019-C618-82BF-57FA-E576C8058FCE}"/>
              </a:ext>
            </a:extLst>
          </p:cNvPr>
          <p:cNvCxnSpPr>
            <a:cxnSpLocks/>
            <a:stCxn id="10" idx="0"/>
            <a:endCxn id="5" idx="3"/>
          </p:cNvCxnSpPr>
          <p:nvPr/>
        </p:nvCxnSpPr>
        <p:spPr>
          <a:xfrm flipV="1">
            <a:off x="6284291" y="3184219"/>
            <a:ext cx="420460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7866833-721A-92C9-87BD-5EF4F6360FA9}"/>
              </a:ext>
            </a:extLst>
          </p:cNvPr>
          <p:cNvCxnSpPr>
            <a:cxnSpLocks/>
            <a:stCxn id="11" idx="0"/>
            <a:endCxn id="5" idx="5"/>
          </p:cNvCxnSpPr>
          <p:nvPr/>
        </p:nvCxnSpPr>
        <p:spPr>
          <a:xfrm flipH="1" flipV="1">
            <a:off x="7057430" y="3184219"/>
            <a:ext cx="483006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46915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F5ABB-F859-AC9C-CBFB-4585AECA3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C835D-4696-2747-3F61-F2E3859B7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487" y="262442"/>
            <a:ext cx="7197988" cy="607653"/>
          </a:xfrm>
        </p:spPr>
        <p:txBody>
          <a:bodyPr>
            <a:spAutoFit/>
          </a:bodyPr>
          <a:lstStyle/>
          <a:p>
            <a:r>
              <a:rPr lang="ko-KR" altLang="en-US"/>
              <a:t>예제</a:t>
            </a:r>
            <a:r>
              <a:rPr lang="en-US" altLang="ko-KR"/>
              <a:t>: </a:t>
            </a:r>
            <a:r>
              <a:rPr lang="ko-KR" altLang="en-US"/>
              <a:t>더하기</a:t>
            </a:r>
            <a:r>
              <a:rPr lang="en-US" altLang="ko-KR"/>
              <a:t>/</a:t>
            </a:r>
            <a:r>
              <a:rPr lang="ko-KR" altLang="en-US"/>
              <a:t>곱하기 수식 트리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1ACCF-7D2C-2626-F33D-36E2C9178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1 + 2 * 3 </a:t>
            </a:r>
            <a:r>
              <a:rPr lang="ko-KR" altLang="en-US"/>
              <a:t>수식을 이진 트리로 만들면</a:t>
            </a:r>
            <a:br>
              <a:rPr lang="en-US" altLang="ko-KR"/>
            </a:br>
            <a:r>
              <a:rPr lang="ko-KR" altLang="en-US"/>
              <a:t>우선순위에 의해 모양이 달라진다</a:t>
            </a:r>
            <a:endParaRPr/>
          </a:p>
          <a:p>
            <a:pPr marL="0" indent="0">
              <a:buNone/>
            </a:pPr>
            <a:endParaRPr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3299B335-F89E-B7E4-1BA0-DE27E6EBAFC6}"/>
              </a:ext>
            </a:extLst>
          </p:cNvPr>
          <p:cNvSpPr/>
          <p:nvPr/>
        </p:nvSpPr>
        <p:spPr>
          <a:xfrm>
            <a:off x="7204364" y="1825625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+</a:t>
            </a:r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55351A1A-ACBE-7345-428D-023D2A3F31AF}"/>
              </a:ext>
            </a:extLst>
          </p:cNvPr>
          <p:cNvSpPr/>
          <p:nvPr/>
        </p:nvSpPr>
        <p:spPr>
          <a:xfrm>
            <a:off x="6631709" y="2758498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1</a:t>
            </a:r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5C4A2144-204E-2C55-9C0C-F3D5356FD9CF}"/>
              </a:ext>
            </a:extLst>
          </p:cNvPr>
          <p:cNvSpPr/>
          <p:nvPr/>
        </p:nvSpPr>
        <p:spPr>
          <a:xfrm>
            <a:off x="7887854" y="2758498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*</a:t>
            </a:r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0506D116-FDE5-5F75-A63A-362BF93B2233}"/>
              </a:ext>
            </a:extLst>
          </p:cNvPr>
          <p:cNvCxnSpPr>
            <a:cxnSpLocks/>
            <a:stCxn id="5" idx="0"/>
            <a:endCxn id="4" idx="3"/>
          </p:cNvCxnSpPr>
          <p:nvPr/>
        </p:nvCxnSpPr>
        <p:spPr>
          <a:xfrm flipV="1">
            <a:off x="6881091" y="2251346"/>
            <a:ext cx="396315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0C9CCC6-691D-FDEB-1D82-D2C0B4400CF4}"/>
              </a:ext>
            </a:extLst>
          </p:cNvPr>
          <p:cNvCxnSpPr>
            <a:cxnSpLocks/>
            <a:stCxn id="6" idx="0"/>
            <a:endCxn id="4" idx="5"/>
          </p:cNvCxnSpPr>
          <p:nvPr/>
        </p:nvCxnSpPr>
        <p:spPr>
          <a:xfrm flipH="1" flipV="1">
            <a:off x="7630085" y="2251346"/>
            <a:ext cx="507151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타원 9">
            <a:extLst>
              <a:ext uri="{FF2B5EF4-FFF2-40B4-BE49-F238E27FC236}">
                <a16:creationId xmlns:a16="http://schemas.microsoft.com/office/drawing/2014/main" id="{99446FA6-7DEC-AC13-377C-D308EF684D5C}"/>
              </a:ext>
            </a:extLst>
          </p:cNvPr>
          <p:cNvSpPr/>
          <p:nvPr/>
        </p:nvSpPr>
        <p:spPr>
          <a:xfrm>
            <a:off x="7277406" y="3691371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2</a:t>
            </a:r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4BFE68C0-65F3-8FF5-CB39-AF7E51EFB7B4}"/>
              </a:ext>
            </a:extLst>
          </p:cNvPr>
          <p:cNvSpPr/>
          <p:nvPr/>
        </p:nvSpPr>
        <p:spPr>
          <a:xfrm>
            <a:off x="8533551" y="3691371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3</a:t>
            </a:r>
            <a:endParaRPr lang="ko-KR" altLang="en-US"/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F8AADF13-88C6-E5B0-1DA0-04684DA77DA6}"/>
              </a:ext>
            </a:extLst>
          </p:cNvPr>
          <p:cNvCxnSpPr>
            <a:cxnSpLocks/>
            <a:stCxn id="10" idx="0"/>
            <a:endCxn id="6" idx="3"/>
          </p:cNvCxnSpPr>
          <p:nvPr/>
        </p:nvCxnSpPr>
        <p:spPr>
          <a:xfrm flipV="1">
            <a:off x="7526788" y="3184219"/>
            <a:ext cx="434108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1A9B5036-FEAC-F354-B406-590E05C76D2D}"/>
              </a:ext>
            </a:extLst>
          </p:cNvPr>
          <p:cNvCxnSpPr>
            <a:cxnSpLocks/>
            <a:stCxn id="11" idx="0"/>
            <a:endCxn id="6" idx="5"/>
          </p:cNvCxnSpPr>
          <p:nvPr/>
        </p:nvCxnSpPr>
        <p:spPr>
          <a:xfrm flipH="1" flipV="1">
            <a:off x="8313575" y="3184219"/>
            <a:ext cx="469358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2222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84B50-19CA-6F2C-4D56-E708D5D5D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AA714-9B67-57A1-58FD-43C0FC9EA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486" y="262442"/>
            <a:ext cx="7197989" cy="607653"/>
          </a:xfrm>
        </p:spPr>
        <p:txBody>
          <a:bodyPr>
            <a:spAutoFit/>
          </a:bodyPr>
          <a:lstStyle/>
          <a:p>
            <a:r>
              <a:rPr lang="ko-KR" altLang="en-US"/>
              <a:t>예제</a:t>
            </a:r>
            <a:r>
              <a:rPr lang="en-US" altLang="ko-KR"/>
              <a:t>: </a:t>
            </a:r>
            <a:r>
              <a:rPr lang="ko-KR" altLang="en-US"/>
              <a:t>더하기</a:t>
            </a:r>
            <a:r>
              <a:rPr lang="en-US" altLang="ko-KR"/>
              <a:t>/</a:t>
            </a:r>
            <a:r>
              <a:rPr lang="ko-KR" altLang="en-US"/>
              <a:t>곱하기 수식 토큰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A188C-221C-8938-130A-7157AC6027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숫자 또는 연산자가 저장된다</a:t>
            </a:r>
            <a:endParaRPr/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	 - type: </a:t>
            </a:r>
            <a:r>
              <a:rPr lang="ko-KR" altLang="en-US"/>
              <a:t>숫자</a:t>
            </a:r>
            <a:r>
              <a:rPr lang="en-US" altLang="ko-KR"/>
              <a:t>, </a:t>
            </a:r>
            <a:r>
              <a:rPr lang="ko-KR" altLang="en-US"/>
              <a:t>더하기</a:t>
            </a:r>
            <a:r>
              <a:rPr lang="en-US" altLang="ko-KR"/>
              <a:t>, </a:t>
            </a:r>
            <a:r>
              <a:rPr lang="ko-KR" altLang="en-US"/>
              <a:t>곱하기</a:t>
            </a:r>
            <a:r>
              <a:rPr lang="en-US" altLang="ko-KR"/>
              <a:t> </a:t>
            </a:r>
            <a:r>
              <a:rPr lang="ko-KR" altLang="en-US"/>
              <a:t>구분</a:t>
            </a:r>
          </a:p>
          <a:p>
            <a:pPr marL="0" indent="0">
              <a:buNone/>
            </a:pPr>
            <a:r>
              <a:rPr lang="en-US" altLang="ko-KR"/>
              <a:t>	 - value: </a:t>
            </a:r>
            <a:r>
              <a:rPr lang="ko-KR" altLang="en-US"/>
              <a:t>숫자일 경우 값을 저장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	 - predecence: </a:t>
            </a:r>
            <a:r>
              <a:rPr lang="ko-KR" altLang="en-US"/>
              <a:t>연산자 우선순위</a:t>
            </a:r>
            <a:br>
              <a:rPr lang="en-US" altLang="ko-KR"/>
            </a:br>
            <a:r>
              <a:rPr lang="en-US" altLang="ko-KR"/>
              <a:t>                                            </a:t>
            </a:r>
            <a:r>
              <a:rPr lang="ko-KR" altLang="en-US"/>
              <a:t>더하기는 </a:t>
            </a:r>
            <a:r>
              <a:rPr lang="en-US" altLang="ko-KR"/>
              <a:t>1</a:t>
            </a:r>
            <a:br>
              <a:rPr lang="en-US" altLang="ko-KR"/>
            </a:br>
            <a:r>
              <a:rPr lang="en-US" altLang="ko-KR"/>
              <a:t>                                            </a:t>
            </a:r>
            <a:r>
              <a:rPr lang="ko-KR" altLang="en-US"/>
              <a:t>곱하기는 </a:t>
            </a:r>
            <a:r>
              <a:rPr lang="en-US" altLang="ko-KR"/>
              <a:t>2</a:t>
            </a:r>
            <a:br>
              <a:rPr lang="en-US" altLang="ko-KR"/>
            </a:br>
            <a:r>
              <a:rPr lang="en-US" altLang="ko-KR"/>
              <a:t>                                            </a:t>
            </a:r>
            <a:r>
              <a:rPr lang="ko-KR" altLang="en-US"/>
              <a:t>숫자는 </a:t>
            </a:r>
            <a:r>
              <a:rPr lang="en-US" altLang="ko-KR"/>
              <a:t>-1 (</a:t>
            </a:r>
            <a:r>
              <a:rPr lang="ko-KR" altLang="en-US"/>
              <a:t>연산자 아님</a:t>
            </a:r>
            <a:r>
              <a:rPr lang="en-US" altLang="ko-KR"/>
              <a:t>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85615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D4193-3233-B1B9-BEA5-638697BDA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1434A-CA3B-9FD2-1B7D-69D4B1B32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388" y="262442"/>
            <a:ext cx="8211087" cy="607653"/>
          </a:xfrm>
        </p:spPr>
        <p:txBody>
          <a:bodyPr>
            <a:spAutoFit/>
          </a:bodyPr>
          <a:lstStyle/>
          <a:p>
            <a:r>
              <a:t>예제: 더하기/곱하기 수식 트리</a:t>
            </a:r>
            <a:r>
              <a:rPr lang="en-US"/>
              <a:t> </a:t>
            </a:r>
            <a:r>
              <a:rPr lang="ko-KR" altLang="en-US"/>
              <a:t>생성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34AE04-866F-0E0D-2A1D-B8EE30A666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825624"/>
            <a:ext cx="8283825" cy="4769933"/>
          </a:xfrm>
        </p:spPr>
        <p:txBody>
          <a:bodyPr/>
          <a:lstStyle/>
          <a:p>
            <a:pPr marL="0" indent="0">
              <a:buNone/>
            </a:pPr>
            <a:r>
              <a:rPr lang="ko-KR" altLang="en-US"/>
              <a:t>함수 </a:t>
            </a:r>
            <a:r>
              <a:rPr lang="en-US" altLang="ko-KR"/>
              <a:t>expr_tree(</a:t>
            </a:r>
            <a:r>
              <a:rPr lang="ko-KR" altLang="en-US"/>
              <a:t>수식 토큰 큐 </a:t>
            </a:r>
            <a:r>
              <a:rPr lang="en-US" altLang="ko-KR"/>
              <a:t>Q, </a:t>
            </a:r>
            <a:r>
              <a:rPr lang="ko-KR" altLang="en-US"/>
              <a:t>최소우선순위 </a:t>
            </a:r>
            <a:r>
              <a:rPr lang="en-US" altLang="ko-KR"/>
              <a:t>min)</a:t>
            </a:r>
          </a:p>
          <a:p>
            <a:r>
              <a:rPr lang="en-US"/>
              <a:t>node = </a:t>
            </a:r>
            <a:r>
              <a:rPr lang="ko-KR" altLang="en-US"/>
              <a:t>새 노드 </a:t>
            </a:r>
            <a:r>
              <a:rPr lang="en-US" altLang="ko-KR"/>
              <a:t>(</a:t>
            </a:r>
            <a:r>
              <a:rPr lang="en-US"/>
              <a:t>dequeue(Q), NULL, NULL)</a:t>
            </a:r>
          </a:p>
          <a:p>
            <a:r>
              <a:rPr lang="ko-KR" altLang="en-US"/>
              <a:t>반복</a:t>
            </a:r>
            <a:r>
              <a:rPr lang="en-US" altLang="ko-KR"/>
              <a:t>: size(Q) &gt; 0</a:t>
            </a:r>
            <a:r>
              <a:rPr lang="ko-KR" altLang="en-US"/>
              <a:t>인 동안</a:t>
            </a:r>
            <a:endParaRPr lang="en-US" altLang="ko-KR"/>
          </a:p>
          <a:p>
            <a:pPr marL="0" indent="0">
              <a:buNone/>
            </a:pPr>
            <a:r>
              <a:rPr lang="en-US"/>
              <a:t>	op = front(Q)</a:t>
            </a:r>
          </a:p>
          <a:p>
            <a:pPr marL="0" indent="0">
              <a:buNone/>
            </a:pPr>
            <a:r>
              <a:rPr lang="en-US"/>
              <a:t>	</a:t>
            </a:r>
            <a:r>
              <a:rPr lang="ko-KR" altLang="en-US"/>
              <a:t>만약</a:t>
            </a:r>
            <a:r>
              <a:rPr lang="en-US" altLang="ko-KR"/>
              <a:t>: </a:t>
            </a:r>
            <a:r>
              <a:rPr lang="ko-KR" altLang="en-US"/>
              <a:t>우선순위</a:t>
            </a:r>
            <a:r>
              <a:rPr lang="en-US" altLang="ko-KR"/>
              <a:t>(op) &lt; min</a:t>
            </a:r>
            <a:r>
              <a:rPr lang="ko-KR" altLang="en-US"/>
              <a:t>이면 반복 종료</a:t>
            </a:r>
            <a:endParaRPr lang="en-US" altLang="ko-KR"/>
          </a:p>
          <a:p>
            <a:pPr marL="0" indent="0">
              <a:buNone/>
            </a:pPr>
            <a:r>
              <a:rPr lang="en-US"/>
              <a:t>	dequeue(Q)</a:t>
            </a:r>
          </a:p>
          <a:p>
            <a:pPr marL="0" indent="0">
              <a:buNone/>
            </a:pPr>
            <a:r>
              <a:rPr lang="en-US"/>
              <a:t>	node = </a:t>
            </a:r>
            <a:r>
              <a:rPr lang="ko-KR" altLang="en-US"/>
              <a:t>새 노드 </a:t>
            </a:r>
            <a:r>
              <a:rPr lang="en-US" altLang="ko-KR"/>
              <a:t>(op, </a:t>
            </a:r>
          </a:p>
          <a:p>
            <a:pPr marL="0" indent="0">
              <a:buNone/>
            </a:pPr>
            <a:r>
              <a:rPr lang="en-US" altLang="ko-KR"/>
              <a:t>			         node, </a:t>
            </a:r>
          </a:p>
          <a:p>
            <a:pPr marL="0" indent="0">
              <a:buNone/>
            </a:pPr>
            <a:r>
              <a:rPr lang="en-US" altLang="ko-KR"/>
              <a:t>			         expr_tree(Q, </a:t>
            </a:r>
            <a:r>
              <a:rPr lang="ko-KR" altLang="en-US"/>
              <a:t>우선순위</a:t>
            </a:r>
            <a:r>
              <a:rPr lang="en-US" altLang="ko-KR"/>
              <a:t>(op) + 1)</a:t>
            </a:r>
          </a:p>
          <a:p>
            <a:r>
              <a:rPr lang="ko-KR" altLang="en-US"/>
              <a:t>반환</a:t>
            </a:r>
            <a:r>
              <a:rPr lang="en-US" altLang="ko-KR"/>
              <a:t>: node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0192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36190-C948-7F5A-2BD9-7F6DE1DCF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D4215-1C2E-1394-E919-C68479D67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388" y="262442"/>
            <a:ext cx="8211087" cy="607653"/>
          </a:xfrm>
        </p:spPr>
        <p:txBody>
          <a:bodyPr>
            <a:spAutoFit/>
          </a:bodyPr>
          <a:lstStyle/>
          <a:p>
            <a:r>
              <a:rPr lang="ko-KR" altLang="en-US"/>
              <a:t>예제</a:t>
            </a:r>
            <a:r>
              <a:rPr lang="en-US" altLang="ko-KR"/>
              <a:t>: </a:t>
            </a:r>
            <a:r>
              <a:rPr lang="ko-KR" altLang="en-US"/>
              <a:t>더하기</a:t>
            </a:r>
            <a:r>
              <a:rPr lang="en-US" altLang="ko-KR"/>
              <a:t>/</a:t>
            </a:r>
            <a:r>
              <a:rPr lang="ko-KR" altLang="en-US"/>
              <a:t>곱하기 수식 트리 생성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26D30A-6FB0-2697-4EEA-8297ECB525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expr_tree([1, '+', '2', '+', 3], 0) </a:t>
            </a:r>
            <a:r>
              <a:rPr lang="ko-KR" altLang="en-US"/>
              <a:t>실행 과정은</a:t>
            </a:r>
            <a:r>
              <a:rPr lang="en-US" altLang="ko-KR"/>
              <a:t>?</a:t>
            </a:r>
            <a:endParaRPr/>
          </a:p>
          <a:p>
            <a:pPr marL="0" indent="0">
              <a:buNone/>
            </a:pPr>
            <a:endParaRPr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CDEB17EC-D705-849D-626B-4D4EA2396716}"/>
              </a:ext>
            </a:extLst>
          </p:cNvPr>
          <p:cNvSpPr/>
          <p:nvPr/>
        </p:nvSpPr>
        <p:spPr>
          <a:xfrm>
            <a:off x="7730222" y="1825625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+</a:t>
            </a:r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664756AE-3A7F-A11D-3F3E-723B9F9DECF4}"/>
              </a:ext>
            </a:extLst>
          </p:cNvPr>
          <p:cNvSpPr/>
          <p:nvPr/>
        </p:nvSpPr>
        <p:spPr>
          <a:xfrm>
            <a:off x="7157567" y="2758498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+</a:t>
            </a:r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197BA006-7F25-1516-DA88-DDBCBF36C289}"/>
              </a:ext>
            </a:extLst>
          </p:cNvPr>
          <p:cNvSpPr/>
          <p:nvPr/>
        </p:nvSpPr>
        <p:spPr>
          <a:xfrm>
            <a:off x="8413712" y="2758498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3</a:t>
            </a:r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D25835DB-2D90-D96E-33F0-E7A1DE7B35DF}"/>
              </a:ext>
            </a:extLst>
          </p:cNvPr>
          <p:cNvCxnSpPr>
            <a:cxnSpLocks/>
            <a:stCxn id="5" idx="0"/>
            <a:endCxn id="4" idx="3"/>
          </p:cNvCxnSpPr>
          <p:nvPr/>
        </p:nvCxnSpPr>
        <p:spPr>
          <a:xfrm flipV="1">
            <a:off x="7406949" y="2251346"/>
            <a:ext cx="396315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5F08796-1B6A-D3C4-3A5E-82A710CBA5AB}"/>
              </a:ext>
            </a:extLst>
          </p:cNvPr>
          <p:cNvCxnSpPr>
            <a:cxnSpLocks/>
            <a:stCxn id="6" idx="0"/>
            <a:endCxn id="4" idx="5"/>
          </p:cNvCxnSpPr>
          <p:nvPr/>
        </p:nvCxnSpPr>
        <p:spPr>
          <a:xfrm flipH="1" flipV="1">
            <a:off x="8155943" y="2251346"/>
            <a:ext cx="507151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타원 9">
            <a:extLst>
              <a:ext uri="{FF2B5EF4-FFF2-40B4-BE49-F238E27FC236}">
                <a16:creationId xmlns:a16="http://schemas.microsoft.com/office/drawing/2014/main" id="{6DEF85AF-A8D0-3A28-C4A4-D8220FC4B85C}"/>
              </a:ext>
            </a:extLst>
          </p:cNvPr>
          <p:cNvSpPr/>
          <p:nvPr/>
        </p:nvSpPr>
        <p:spPr>
          <a:xfrm>
            <a:off x="6560767" y="3691371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1</a:t>
            </a:r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4CC7079E-92B8-A495-7118-15AD43CA4AA2}"/>
              </a:ext>
            </a:extLst>
          </p:cNvPr>
          <p:cNvSpPr/>
          <p:nvPr/>
        </p:nvSpPr>
        <p:spPr>
          <a:xfrm>
            <a:off x="7816912" y="3691371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2</a:t>
            </a:r>
            <a:endParaRPr lang="ko-KR" altLang="en-US"/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EC795C58-813C-2DFD-3C1F-C1C94518A8D9}"/>
              </a:ext>
            </a:extLst>
          </p:cNvPr>
          <p:cNvCxnSpPr>
            <a:cxnSpLocks/>
            <a:stCxn id="10" idx="0"/>
            <a:endCxn id="5" idx="3"/>
          </p:cNvCxnSpPr>
          <p:nvPr/>
        </p:nvCxnSpPr>
        <p:spPr>
          <a:xfrm flipV="1">
            <a:off x="6810149" y="3184219"/>
            <a:ext cx="420460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0FC4093-037B-CA1C-CD50-8D2A07B6C128}"/>
              </a:ext>
            </a:extLst>
          </p:cNvPr>
          <p:cNvCxnSpPr>
            <a:cxnSpLocks/>
            <a:stCxn id="11" idx="0"/>
            <a:endCxn id="5" idx="5"/>
          </p:cNvCxnSpPr>
          <p:nvPr/>
        </p:nvCxnSpPr>
        <p:spPr>
          <a:xfrm flipH="1" flipV="1">
            <a:off x="7583288" y="3184219"/>
            <a:ext cx="483006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80501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F6897-EA05-6C57-BE2F-C7C3F4080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C8635-0186-96D5-63A3-26CB17987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388" y="262442"/>
            <a:ext cx="8211087" cy="607653"/>
          </a:xfrm>
        </p:spPr>
        <p:txBody>
          <a:bodyPr>
            <a:spAutoFit/>
          </a:bodyPr>
          <a:lstStyle/>
          <a:p>
            <a:r>
              <a:rPr lang="ko-KR" altLang="en-US"/>
              <a:t>예제</a:t>
            </a:r>
            <a:r>
              <a:rPr lang="en-US" altLang="ko-KR"/>
              <a:t>: </a:t>
            </a:r>
            <a:r>
              <a:rPr lang="ko-KR" altLang="en-US"/>
              <a:t>더하기</a:t>
            </a:r>
            <a:r>
              <a:rPr lang="en-US" altLang="ko-KR"/>
              <a:t>/</a:t>
            </a:r>
            <a:r>
              <a:rPr lang="ko-KR" altLang="en-US"/>
              <a:t>곱하기 수식 트리 생성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3AABD-39DC-105D-4320-06D91F404F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expr_tree([1, '+', '2', '*', 3], 0) </a:t>
            </a:r>
            <a:r>
              <a:rPr lang="ko-KR" altLang="en-US"/>
              <a:t>실행 과정은</a:t>
            </a:r>
            <a:r>
              <a:rPr lang="en-US" altLang="ko-KR"/>
              <a:t>?</a:t>
            </a:r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0ADFC603-E57B-ACAA-26A9-231EAE3F4DDD}"/>
              </a:ext>
            </a:extLst>
          </p:cNvPr>
          <p:cNvSpPr/>
          <p:nvPr/>
        </p:nvSpPr>
        <p:spPr>
          <a:xfrm>
            <a:off x="6978332" y="2740025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+</a:t>
            </a:r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448233B0-97BD-4020-1BAF-EDD03762DB74}"/>
              </a:ext>
            </a:extLst>
          </p:cNvPr>
          <p:cNvSpPr/>
          <p:nvPr/>
        </p:nvSpPr>
        <p:spPr>
          <a:xfrm>
            <a:off x="6405677" y="3672898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1</a:t>
            </a:r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1433650D-88F3-9B80-49FC-2637DC87ECC3}"/>
              </a:ext>
            </a:extLst>
          </p:cNvPr>
          <p:cNvSpPr/>
          <p:nvPr/>
        </p:nvSpPr>
        <p:spPr>
          <a:xfrm>
            <a:off x="7661822" y="3672898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*</a:t>
            </a:r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2A4896E9-D963-7F5F-C1AE-3242EFC73007}"/>
              </a:ext>
            </a:extLst>
          </p:cNvPr>
          <p:cNvCxnSpPr>
            <a:cxnSpLocks/>
            <a:stCxn id="5" idx="0"/>
            <a:endCxn id="4" idx="3"/>
          </p:cNvCxnSpPr>
          <p:nvPr/>
        </p:nvCxnSpPr>
        <p:spPr>
          <a:xfrm flipV="1">
            <a:off x="6655059" y="3165746"/>
            <a:ext cx="396315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9F17AF0-610E-9C66-D7EC-DEA19A981EFD}"/>
              </a:ext>
            </a:extLst>
          </p:cNvPr>
          <p:cNvCxnSpPr>
            <a:cxnSpLocks/>
            <a:stCxn id="6" idx="0"/>
            <a:endCxn id="4" idx="5"/>
          </p:cNvCxnSpPr>
          <p:nvPr/>
        </p:nvCxnSpPr>
        <p:spPr>
          <a:xfrm flipH="1" flipV="1">
            <a:off x="7404053" y="3165746"/>
            <a:ext cx="507151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타원 9">
            <a:extLst>
              <a:ext uri="{FF2B5EF4-FFF2-40B4-BE49-F238E27FC236}">
                <a16:creationId xmlns:a16="http://schemas.microsoft.com/office/drawing/2014/main" id="{3D3AB667-4FCC-F922-DA88-AD40B327A157}"/>
              </a:ext>
            </a:extLst>
          </p:cNvPr>
          <p:cNvSpPr/>
          <p:nvPr/>
        </p:nvSpPr>
        <p:spPr>
          <a:xfrm>
            <a:off x="7051374" y="4605771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2</a:t>
            </a:r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2AC3C43D-4CFF-D2B9-1814-B29A371743C4}"/>
              </a:ext>
            </a:extLst>
          </p:cNvPr>
          <p:cNvSpPr/>
          <p:nvPr/>
        </p:nvSpPr>
        <p:spPr>
          <a:xfrm>
            <a:off x="8307519" y="4605771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3</a:t>
            </a:r>
            <a:endParaRPr lang="ko-KR" altLang="en-US"/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9FEC35D1-31BF-9BE7-0073-8CD827224418}"/>
              </a:ext>
            </a:extLst>
          </p:cNvPr>
          <p:cNvCxnSpPr>
            <a:cxnSpLocks/>
            <a:stCxn id="10" idx="0"/>
            <a:endCxn id="6" idx="3"/>
          </p:cNvCxnSpPr>
          <p:nvPr/>
        </p:nvCxnSpPr>
        <p:spPr>
          <a:xfrm flipV="1">
            <a:off x="7300756" y="4098619"/>
            <a:ext cx="434108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1F9FC07E-158A-663E-2CC5-6869AC66464B}"/>
              </a:ext>
            </a:extLst>
          </p:cNvPr>
          <p:cNvCxnSpPr>
            <a:cxnSpLocks/>
            <a:stCxn id="11" idx="0"/>
            <a:endCxn id="6" idx="5"/>
          </p:cNvCxnSpPr>
          <p:nvPr/>
        </p:nvCxnSpPr>
        <p:spPr>
          <a:xfrm flipH="1" flipV="1">
            <a:off x="8087543" y="4098619"/>
            <a:ext cx="469358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32008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8A0C5-DD0E-01FD-4939-20E06B151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F96C7-C616-5AFD-691E-F22525AF4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388" y="262442"/>
            <a:ext cx="8211087" cy="607653"/>
          </a:xfrm>
        </p:spPr>
        <p:txBody>
          <a:bodyPr>
            <a:spAutoFit/>
          </a:bodyPr>
          <a:lstStyle/>
          <a:p>
            <a:r>
              <a:rPr lang="ko-KR" altLang="en-US"/>
              <a:t>예제</a:t>
            </a:r>
            <a:r>
              <a:rPr lang="en-US" altLang="ko-KR"/>
              <a:t>: </a:t>
            </a:r>
            <a:r>
              <a:rPr lang="ko-KR" altLang="en-US"/>
              <a:t>더하기</a:t>
            </a:r>
            <a:r>
              <a:rPr lang="en-US" altLang="ko-KR"/>
              <a:t>/</a:t>
            </a:r>
            <a:r>
              <a:rPr lang="ko-KR" altLang="en-US"/>
              <a:t>곱하기 수식 트리 계산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BCC85B-4F21-DB2D-AC2C-10CBD16E15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1 + 2 + 3 </a:t>
            </a:r>
            <a:r>
              <a:rPr lang="ko-KR" altLang="en-US"/>
              <a:t>수식을 계산하려면</a:t>
            </a:r>
            <a:r>
              <a:rPr lang="en-US" altLang="ko-KR"/>
              <a:t>?</a:t>
            </a:r>
            <a:endParaRPr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5D33EF6F-F128-F35F-05B6-3157F6FA49F9}"/>
              </a:ext>
            </a:extLst>
          </p:cNvPr>
          <p:cNvSpPr/>
          <p:nvPr/>
        </p:nvSpPr>
        <p:spPr>
          <a:xfrm>
            <a:off x="7204364" y="1825625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+</a:t>
            </a:r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D89B8DC6-617F-8AFB-805A-C5AE4A8A641E}"/>
              </a:ext>
            </a:extLst>
          </p:cNvPr>
          <p:cNvSpPr/>
          <p:nvPr/>
        </p:nvSpPr>
        <p:spPr>
          <a:xfrm>
            <a:off x="6631709" y="2758498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+</a:t>
            </a:r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4ACF42FF-87E9-6BB9-275E-DEF5593F99F4}"/>
              </a:ext>
            </a:extLst>
          </p:cNvPr>
          <p:cNvSpPr/>
          <p:nvPr/>
        </p:nvSpPr>
        <p:spPr>
          <a:xfrm>
            <a:off x="7887854" y="2758498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3</a:t>
            </a:r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330969B9-7A8A-B9E4-CA50-E54233419245}"/>
              </a:ext>
            </a:extLst>
          </p:cNvPr>
          <p:cNvCxnSpPr>
            <a:cxnSpLocks/>
            <a:stCxn id="5" idx="0"/>
            <a:endCxn id="4" idx="3"/>
          </p:cNvCxnSpPr>
          <p:nvPr/>
        </p:nvCxnSpPr>
        <p:spPr>
          <a:xfrm flipV="1">
            <a:off x="6881091" y="2251346"/>
            <a:ext cx="396315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0AC8569B-A45B-5A47-1E94-1BC73546A62F}"/>
              </a:ext>
            </a:extLst>
          </p:cNvPr>
          <p:cNvCxnSpPr>
            <a:cxnSpLocks/>
            <a:stCxn id="6" idx="0"/>
            <a:endCxn id="4" idx="5"/>
          </p:cNvCxnSpPr>
          <p:nvPr/>
        </p:nvCxnSpPr>
        <p:spPr>
          <a:xfrm flipH="1" flipV="1">
            <a:off x="7630085" y="2251346"/>
            <a:ext cx="507151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타원 9">
            <a:extLst>
              <a:ext uri="{FF2B5EF4-FFF2-40B4-BE49-F238E27FC236}">
                <a16:creationId xmlns:a16="http://schemas.microsoft.com/office/drawing/2014/main" id="{71ED4B42-9B9E-A0DD-94F8-C096A263813E}"/>
              </a:ext>
            </a:extLst>
          </p:cNvPr>
          <p:cNvSpPr/>
          <p:nvPr/>
        </p:nvSpPr>
        <p:spPr>
          <a:xfrm>
            <a:off x="6034909" y="3691371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1</a:t>
            </a:r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2DEB6782-853C-4B26-01D6-BA78D6AFF596}"/>
              </a:ext>
            </a:extLst>
          </p:cNvPr>
          <p:cNvSpPr/>
          <p:nvPr/>
        </p:nvSpPr>
        <p:spPr>
          <a:xfrm>
            <a:off x="7291054" y="3691371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2</a:t>
            </a:r>
            <a:endParaRPr lang="ko-KR" altLang="en-US"/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BC2A76CA-FA48-6BC3-C0A7-22647799C53A}"/>
              </a:ext>
            </a:extLst>
          </p:cNvPr>
          <p:cNvCxnSpPr>
            <a:cxnSpLocks/>
            <a:stCxn id="10" idx="0"/>
            <a:endCxn id="5" idx="3"/>
          </p:cNvCxnSpPr>
          <p:nvPr/>
        </p:nvCxnSpPr>
        <p:spPr>
          <a:xfrm flipV="1">
            <a:off x="6284291" y="3184219"/>
            <a:ext cx="420460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9D21FAA-6A87-4EEA-A5AE-CC0F8219184E}"/>
              </a:ext>
            </a:extLst>
          </p:cNvPr>
          <p:cNvCxnSpPr>
            <a:cxnSpLocks/>
            <a:stCxn id="11" idx="0"/>
            <a:endCxn id="5" idx="5"/>
          </p:cNvCxnSpPr>
          <p:nvPr/>
        </p:nvCxnSpPr>
        <p:spPr>
          <a:xfrm flipH="1" flipV="1">
            <a:off x="7057430" y="3184219"/>
            <a:ext cx="483006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25812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2ECA9-A589-5790-CDBB-5C7CB534A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DED41-D660-832A-20A8-DF85D6546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388" y="262442"/>
            <a:ext cx="8211087" cy="607653"/>
          </a:xfrm>
        </p:spPr>
        <p:txBody>
          <a:bodyPr>
            <a:spAutoFit/>
          </a:bodyPr>
          <a:lstStyle/>
          <a:p>
            <a:r>
              <a:rPr lang="ko-KR" altLang="en-US"/>
              <a:t>예제</a:t>
            </a:r>
            <a:r>
              <a:rPr lang="en-US" altLang="ko-KR"/>
              <a:t>: </a:t>
            </a:r>
            <a:r>
              <a:rPr lang="ko-KR" altLang="en-US"/>
              <a:t>더하기</a:t>
            </a:r>
            <a:r>
              <a:rPr lang="en-US" altLang="ko-KR"/>
              <a:t>/</a:t>
            </a:r>
            <a:r>
              <a:rPr lang="ko-KR" altLang="en-US"/>
              <a:t>곱하기 수식 트리 계산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9D51F-E26B-7B5F-146F-1EB8E090D3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1 + 2 * 3 </a:t>
            </a:r>
            <a:r>
              <a:rPr lang="ko-KR" altLang="en-US"/>
              <a:t>수식을 계산하려면</a:t>
            </a:r>
            <a:r>
              <a:rPr lang="en-US" altLang="ko-KR"/>
              <a:t>?</a:t>
            </a:r>
            <a:endParaRPr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E994E596-C8BA-8191-CF4C-33FE45BC4C5C}"/>
              </a:ext>
            </a:extLst>
          </p:cNvPr>
          <p:cNvSpPr/>
          <p:nvPr/>
        </p:nvSpPr>
        <p:spPr>
          <a:xfrm>
            <a:off x="7204364" y="1825625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+</a:t>
            </a:r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325504ED-2599-0B6A-4569-DB39AEB309C6}"/>
              </a:ext>
            </a:extLst>
          </p:cNvPr>
          <p:cNvSpPr/>
          <p:nvPr/>
        </p:nvSpPr>
        <p:spPr>
          <a:xfrm>
            <a:off x="6631709" y="2758498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1</a:t>
            </a:r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3388FAC6-5320-D18F-D9DB-D80DE7D4DE44}"/>
              </a:ext>
            </a:extLst>
          </p:cNvPr>
          <p:cNvSpPr/>
          <p:nvPr/>
        </p:nvSpPr>
        <p:spPr>
          <a:xfrm>
            <a:off x="7887854" y="2758498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*</a:t>
            </a:r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1EACB79F-98E0-FD76-B9D6-60E3FF7E5A65}"/>
              </a:ext>
            </a:extLst>
          </p:cNvPr>
          <p:cNvCxnSpPr>
            <a:cxnSpLocks/>
            <a:stCxn id="5" idx="0"/>
            <a:endCxn id="4" idx="3"/>
          </p:cNvCxnSpPr>
          <p:nvPr/>
        </p:nvCxnSpPr>
        <p:spPr>
          <a:xfrm flipV="1">
            <a:off x="6881091" y="2251346"/>
            <a:ext cx="396315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8A9EB79-540A-0011-6D68-04DFB936E90D}"/>
              </a:ext>
            </a:extLst>
          </p:cNvPr>
          <p:cNvCxnSpPr>
            <a:cxnSpLocks/>
            <a:stCxn id="6" idx="0"/>
            <a:endCxn id="4" idx="5"/>
          </p:cNvCxnSpPr>
          <p:nvPr/>
        </p:nvCxnSpPr>
        <p:spPr>
          <a:xfrm flipH="1" flipV="1">
            <a:off x="7630085" y="2251346"/>
            <a:ext cx="507151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타원 9">
            <a:extLst>
              <a:ext uri="{FF2B5EF4-FFF2-40B4-BE49-F238E27FC236}">
                <a16:creationId xmlns:a16="http://schemas.microsoft.com/office/drawing/2014/main" id="{FBBDC7D0-B5FF-8F26-6C74-FECA8559A7E9}"/>
              </a:ext>
            </a:extLst>
          </p:cNvPr>
          <p:cNvSpPr/>
          <p:nvPr/>
        </p:nvSpPr>
        <p:spPr>
          <a:xfrm>
            <a:off x="7277406" y="3691371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2</a:t>
            </a:r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7AC1860E-A6E9-FE8D-E92C-C073557C92E1}"/>
              </a:ext>
            </a:extLst>
          </p:cNvPr>
          <p:cNvSpPr/>
          <p:nvPr/>
        </p:nvSpPr>
        <p:spPr>
          <a:xfrm>
            <a:off x="8533551" y="3691371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3</a:t>
            </a:r>
            <a:endParaRPr lang="ko-KR" altLang="en-US"/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5D92329-D222-F86F-FCE7-1ABA8833FBB0}"/>
              </a:ext>
            </a:extLst>
          </p:cNvPr>
          <p:cNvCxnSpPr>
            <a:cxnSpLocks/>
            <a:stCxn id="10" idx="0"/>
            <a:endCxn id="6" idx="3"/>
          </p:cNvCxnSpPr>
          <p:nvPr/>
        </p:nvCxnSpPr>
        <p:spPr>
          <a:xfrm flipV="1">
            <a:off x="7526788" y="3184219"/>
            <a:ext cx="434108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12BA49B-29EE-B6B0-6327-5A9475E7DCEF}"/>
              </a:ext>
            </a:extLst>
          </p:cNvPr>
          <p:cNvCxnSpPr>
            <a:cxnSpLocks/>
            <a:stCxn id="11" idx="0"/>
            <a:endCxn id="6" idx="5"/>
          </p:cNvCxnSpPr>
          <p:nvPr/>
        </p:nvCxnSpPr>
        <p:spPr>
          <a:xfrm flipH="1" flipV="1">
            <a:off x="8313575" y="3184219"/>
            <a:ext cx="469358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98348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1389" y="262442"/>
            <a:ext cx="8211086" cy="607653"/>
          </a:xfrm>
        </p:spPr>
        <p:txBody>
          <a:bodyPr>
            <a:spAutoFit/>
          </a:bodyPr>
          <a:lstStyle/>
          <a:p>
            <a:r>
              <a:t>예제: 더하기/곱하기 수식 트리 계산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/>
              <a:t>함수 </a:t>
            </a:r>
            <a:r>
              <a:t>EVAL(</a:t>
            </a:r>
            <a:r>
              <a:rPr lang="en-US"/>
              <a:t>node</a:t>
            </a:r>
            <a:r>
              <a:t>):</a:t>
            </a:r>
          </a:p>
          <a:p>
            <a:r>
              <a:t>만약: </a:t>
            </a:r>
            <a:r>
              <a:rPr lang="en-US"/>
              <a:t>node</a:t>
            </a:r>
            <a:r>
              <a:rPr lang="ko-KR" altLang="en-US"/>
              <a:t>가</a:t>
            </a:r>
            <a:r>
              <a:t> 숫자</a:t>
            </a:r>
            <a:r>
              <a:rPr lang="en-US"/>
              <a:t> </a:t>
            </a:r>
            <a:r>
              <a:rPr lang="ko-KR" altLang="en-US"/>
              <a:t>노드</a:t>
            </a:r>
            <a:r>
              <a:t>면 </a:t>
            </a:r>
            <a:endParaRPr lang="en-US"/>
          </a:p>
          <a:p>
            <a:pPr marL="0" indent="0">
              <a:buNone/>
            </a:pPr>
            <a:r>
              <a:rPr lang="en-US" altLang="ko-KR"/>
              <a:t>	</a:t>
            </a:r>
            <a:r>
              <a:rPr lang="ko-KR" altLang="en-US"/>
              <a:t>반환</a:t>
            </a:r>
            <a:r>
              <a:rPr lang="en-US" altLang="ko-KR"/>
              <a:t>: node</a:t>
            </a:r>
            <a:r>
              <a:rPr lang="ko-KR" altLang="en-US"/>
              <a:t>의 숫자</a:t>
            </a:r>
            <a:r>
              <a:t> </a:t>
            </a:r>
            <a:r>
              <a:rPr lang="ko-KR" altLang="en-US"/>
              <a:t>값</a:t>
            </a:r>
            <a:endParaRPr/>
          </a:p>
          <a:p>
            <a:r>
              <a:rPr lang="ko-KR" altLang="en-US"/>
              <a:t>만약</a:t>
            </a:r>
            <a:r>
              <a:rPr lang="en-US" altLang="ko-KR"/>
              <a:t>: node</a:t>
            </a:r>
            <a:r>
              <a:rPr lang="ko-KR" altLang="en-US"/>
              <a:t>가 연산자 노드면</a:t>
            </a:r>
            <a:endParaRPr lang="en-US"/>
          </a:p>
          <a:p>
            <a:pPr marL="0" indent="0">
              <a:buNone/>
            </a:pPr>
            <a:r>
              <a:rPr lang="en-US"/>
              <a:t>	</a:t>
            </a:r>
            <a:r>
              <a:t>left_val </a:t>
            </a:r>
            <a:r>
              <a:rPr lang="en-US"/>
              <a:t>=</a:t>
            </a:r>
            <a:r>
              <a:t> EVAL(</a:t>
            </a:r>
            <a:r>
              <a:rPr lang="en-US"/>
              <a:t>node-&gt;left</a:t>
            </a:r>
            <a:r>
              <a:t>)</a:t>
            </a:r>
          </a:p>
          <a:p>
            <a:pPr marL="0" indent="0">
              <a:buNone/>
            </a:pPr>
            <a:r>
              <a:rPr lang="en-US"/>
              <a:t>	</a:t>
            </a:r>
            <a:r>
              <a:t>right_val </a:t>
            </a:r>
            <a:r>
              <a:rPr lang="en-US"/>
              <a:t>=</a:t>
            </a:r>
            <a:r>
              <a:t> EVAL(</a:t>
            </a:r>
            <a:r>
              <a:rPr lang="en-US"/>
              <a:t>node-&gt;right</a:t>
            </a:r>
            <a:r>
              <a:t>)</a:t>
            </a:r>
          </a:p>
          <a:p>
            <a:pPr marL="0" indent="0">
              <a:buNone/>
            </a:pPr>
            <a:r>
              <a:rPr lang="en-US"/>
              <a:t>	</a:t>
            </a:r>
            <a:r>
              <a:t>만약: </a:t>
            </a:r>
            <a:r>
              <a:rPr lang="en-US"/>
              <a:t>node</a:t>
            </a:r>
            <a:r>
              <a:rPr lang="ko-KR" altLang="en-US"/>
              <a:t>의 연산자가</a:t>
            </a:r>
            <a:r>
              <a:t> '+'</a:t>
            </a:r>
            <a:r>
              <a:rPr lang="en-US"/>
              <a:t> </a:t>
            </a:r>
            <a:r>
              <a:t>이면 </a:t>
            </a:r>
            <a:endParaRPr lang="en-US"/>
          </a:p>
          <a:p>
            <a:pPr marL="0" indent="0">
              <a:buNone/>
            </a:pPr>
            <a:r>
              <a:rPr lang="en-US"/>
              <a:t>		</a:t>
            </a:r>
            <a:r>
              <a:rPr lang="ko-KR" altLang="en-US"/>
              <a:t>반환</a:t>
            </a:r>
            <a:r>
              <a:rPr lang="en-US" altLang="ko-KR"/>
              <a:t>: </a:t>
            </a:r>
            <a:r>
              <a:t>left_val + right_val</a:t>
            </a:r>
          </a:p>
          <a:p>
            <a:pPr marL="0" indent="0">
              <a:buNone/>
            </a:pPr>
            <a:r>
              <a:rPr lang="en-US"/>
              <a:t>	</a:t>
            </a:r>
            <a:r>
              <a:t>만약: </a:t>
            </a:r>
            <a:r>
              <a:rPr lang="en-US"/>
              <a:t>node</a:t>
            </a:r>
            <a:r>
              <a:rPr lang="ko-KR" altLang="en-US"/>
              <a:t>의 연산자가</a:t>
            </a:r>
            <a:r>
              <a:t> '*'</a:t>
            </a:r>
            <a:r>
              <a:rPr lang="en-US"/>
              <a:t> </a:t>
            </a:r>
            <a:r>
              <a:t>이면 </a:t>
            </a:r>
            <a:endParaRPr lang="en-US"/>
          </a:p>
          <a:p>
            <a:pPr marL="0" indent="0">
              <a:buNone/>
            </a:pPr>
            <a:r>
              <a:rPr lang="en-US"/>
              <a:t>		</a:t>
            </a:r>
            <a:r>
              <a:rPr lang="ko-KR" altLang="en-US"/>
              <a:t>반환</a:t>
            </a:r>
            <a:r>
              <a:rPr lang="en-US" altLang="ko-KR"/>
              <a:t>: </a:t>
            </a:r>
            <a:r>
              <a:t>left_val * right_val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B24FD-1007-6883-35A7-965715FE3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8FCBC-9621-4C65-28DF-4E30F04C4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388" y="262442"/>
            <a:ext cx="8211087" cy="607653"/>
          </a:xfrm>
        </p:spPr>
        <p:txBody>
          <a:bodyPr>
            <a:spAutoFit/>
          </a:bodyPr>
          <a:lstStyle/>
          <a:p>
            <a:r>
              <a:rPr lang="ko-KR" altLang="en-US"/>
              <a:t>예제</a:t>
            </a:r>
            <a:r>
              <a:rPr lang="en-US" altLang="ko-KR"/>
              <a:t>: </a:t>
            </a:r>
            <a:r>
              <a:rPr lang="ko-KR" altLang="en-US"/>
              <a:t>더하기</a:t>
            </a:r>
            <a:r>
              <a:rPr lang="en-US" altLang="ko-KR"/>
              <a:t>/</a:t>
            </a:r>
            <a:r>
              <a:rPr lang="ko-KR" altLang="en-US"/>
              <a:t>곱하기 수식 트리 계산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8A2B8-76C1-15DE-E787-973A0752E5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EVAL(root)</a:t>
            </a:r>
            <a:r>
              <a:rPr lang="ko-KR" altLang="en-US"/>
              <a:t>의 실행 과정은</a:t>
            </a:r>
            <a:r>
              <a:rPr lang="en-US" altLang="ko-KR"/>
              <a:t>?</a:t>
            </a:r>
            <a:endParaRPr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68E68CD5-7396-D6BC-AE91-0CE86F563F97}"/>
              </a:ext>
            </a:extLst>
          </p:cNvPr>
          <p:cNvSpPr/>
          <p:nvPr/>
        </p:nvSpPr>
        <p:spPr>
          <a:xfrm>
            <a:off x="7204364" y="1825625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+</a:t>
            </a:r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F318A8ED-F4AD-E90C-9101-68F93A646621}"/>
              </a:ext>
            </a:extLst>
          </p:cNvPr>
          <p:cNvSpPr/>
          <p:nvPr/>
        </p:nvSpPr>
        <p:spPr>
          <a:xfrm>
            <a:off x="6631709" y="2758498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+</a:t>
            </a:r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B409D5F9-B950-BE10-1DAB-D97CA65B7B9A}"/>
              </a:ext>
            </a:extLst>
          </p:cNvPr>
          <p:cNvSpPr/>
          <p:nvPr/>
        </p:nvSpPr>
        <p:spPr>
          <a:xfrm>
            <a:off x="7887854" y="2758498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3</a:t>
            </a:r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892C7034-0A7A-EC25-D141-6EB984053FB2}"/>
              </a:ext>
            </a:extLst>
          </p:cNvPr>
          <p:cNvCxnSpPr>
            <a:cxnSpLocks/>
            <a:stCxn id="5" idx="0"/>
            <a:endCxn id="4" idx="3"/>
          </p:cNvCxnSpPr>
          <p:nvPr/>
        </p:nvCxnSpPr>
        <p:spPr>
          <a:xfrm flipV="1">
            <a:off x="6881091" y="2251346"/>
            <a:ext cx="396315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59CA4E3E-635B-2F15-A517-9B42B238F308}"/>
              </a:ext>
            </a:extLst>
          </p:cNvPr>
          <p:cNvCxnSpPr>
            <a:cxnSpLocks/>
            <a:stCxn id="6" idx="0"/>
            <a:endCxn id="4" idx="5"/>
          </p:cNvCxnSpPr>
          <p:nvPr/>
        </p:nvCxnSpPr>
        <p:spPr>
          <a:xfrm flipH="1" flipV="1">
            <a:off x="7630085" y="2251346"/>
            <a:ext cx="507151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타원 9">
            <a:extLst>
              <a:ext uri="{FF2B5EF4-FFF2-40B4-BE49-F238E27FC236}">
                <a16:creationId xmlns:a16="http://schemas.microsoft.com/office/drawing/2014/main" id="{8A446458-393C-1703-73FB-63796EF6CA19}"/>
              </a:ext>
            </a:extLst>
          </p:cNvPr>
          <p:cNvSpPr/>
          <p:nvPr/>
        </p:nvSpPr>
        <p:spPr>
          <a:xfrm>
            <a:off x="6034909" y="3691371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1</a:t>
            </a:r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1748157C-B848-53E0-951B-CCE808C00192}"/>
              </a:ext>
            </a:extLst>
          </p:cNvPr>
          <p:cNvSpPr/>
          <p:nvPr/>
        </p:nvSpPr>
        <p:spPr>
          <a:xfrm>
            <a:off x="7291054" y="3691371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2</a:t>
            </a:r>
            <a:endParaRPr lang="ko-KR" altLang="en-US"/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0B7C6F76-7664-C911-FA4D-25A969265CCC}"/>
              </a:ext>
            </a:extLst>
          </p:cNvPr>
          <p:cNvCxnSpPr>
            <a:cxnSpLocks/>
            <a:stCxn id="10" idx="0"/>
            <a:endCxn id="5" idx="3"/>
          </p:cNvCxnSpPr>
          <p:nvPr/>
        </p:nvCxnSpPr>
        <p:spPr>
          <a:xfrm flipV="1">
            <a:off x="6284291" y="3184219"/>
            <a:ext cx="420460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552BB47-9CDF-A845-9D83-1D0DEB0AE64F}"/>
              </a:ext>
            </a:extLst>
          </p:cNvPr>
          <p:cNvCxnSpPr>
            <a:cxnSpLocks/>
            <a:stCxn id="11" idx="0"/>
            <a:endCxn id="5" idx="5"/>
          </p:cNvCxnSpPr>
          <p:nvPr/>
        </p:nvCxnSpPr>
        <p:spPr>
          <a:xfrm flipH="1" flipV="1">
            <a:off x="7057430" y="3184219"/>
            <a:ext cx="483006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D7A8A75-2105-E5E4-167D-1C158F9AA528}"/>
              </a:ext>
            </a:extLst>
          </p:cNvPr>
          <p:cNvSpPr txBox="1"/>
          <p:nvPr/>
        </p:nvSpPr>
        <p:spPr>
          <a:xfrm>
            <a:off x="6690322" y="1525203"/>
            <a:ext cx="587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root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68134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1DF31-D8BB-85D9-F0C0-3A6714E89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131CF-19DB-ED53-BD5D-F99751886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388" y="262442"/>
            <a:ext cx="8211087" cy="607653"/>
          </a:xfrm>
        </p:spPr>
        <p:txBody>
          <a:bodyPr>
            <a:spAutoFit/>
          </a:bodyPr>
          <a:lstStyle/>
          <a:p>
            <a:r>
              <a:rPr lang="ko-KR" altLang="en-US"/>
              <a:t>예제</a:t>
            </a:r>
            <a:r>
              <a:rPr lang="en-US" altLang="ko-KR"/>
              <a:t>: </a:t>
            </a:r>
            <a:r>
              <a:rPr lang="ko-KR" altLang="en-US"/>
              <a:t>더하기</a:t>
            </a:r>
            <a:r>
              <a:rPr lang="en-US" altLang="ko-KR"/>
              <a:t>/</a:t>
            </a:r>
            <a:r>
              <a:rPr lang="ko-KR" altLang="en-US"/>
              <a:t>곱하기 수식 트리 계산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3C093-C3AE-EBF8-F041-97596637D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EVAL(root)</a:t>
            </a:r>
            <a:r>
              <a:rPr lang="ko-KR" altLang="en-US"/>
              <a:t>의 실행 과정은</a:t>
            </a:r>
            <a:r>
              <a:rPr lang="en-US" altLang="ko-KR"/>
              <a:t>?</a:t>
            </a:r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F9D3B6C7-1DC2-7D1E-87DE-AEC08582A015}"/>
              </a:ext>
            </a:extLst>
          </p:cNvPr>
          <p:cNvSpPr/>
          <p:nvPr/>
        </p:nvSpPr>
        <p:spPr>
          <a:xfrm>
            <a:off x="7204364" y="1825625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+</a:t>
            </a:r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0A12F139-2F75-3638-8312-7FDA8ABEAE03}"/>
              </a:ext>
            </a:extLst>
          </p:cNvPr>
          <p:cNvSpPr/>
          <p:nvPr/>
        </p:nvSpPr>
        <p:spPr>
          <a:xfrm>
            <a:off x="6631709" y="2758498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1</a:t>
            </a:r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0AC42A86-35FD-2AA7-B680-A8FCECF4B62F}"/>
              </a:ext>
            </a:extLst>
          </p:cNvPr>
          <p:cNvSpPr/>
          <p:nvPr/>
        </p:nvSpPr>
        <p:spPr>
          <a:xfrm>
            <a:off x="7887854" y="2758498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*</a:t>
            </a:r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26912CE9-DBD6-B16A-6572-43B7F12E92A3}"/>
              </a:ext>
            </a:extLst>
          </p:cNvPr>
          <p:cNvCxnSpPr>
            <a:cxnSpLocks/>
            <a:stCxn id="5" idx="0"/>
            <a:endCxn id="4" idx="3"/>
          </p:cNvCxnSpPr>
          <p:nvPr/>
        </p:nvCxnSpPr>
        <p:spPr>
          <a:xfrm flipV="1">
            <a:off x="6881091" y="2251346"/>
            <a:ext cx="396315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D08FBFD9-1037-76AB-FD5B-CDB0DDB4A45E}"/>
              </a:ext>
            </a:extLst>
          </p:cNvPr>
          <p:cNvCxnSpPr>
            <a:cxnSpLocks/>
            <a:stCxn id="6" idx="0"/>
            <a:endCxn id="4" idx="5"/>
          </p:cNvCxnSpPr>
          <p:nvPr/>
        </p:nvCxnSpPr>
        <p:spPr>
          <a:xfrm flipH="1" flipV="1">
            <a:off x="7630085" y="2251346"/>
            <a:ext cx="507151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타원 9">
            <a:extLst>
              <a:ext uri="{FF2B5EF4-FFF2-40B4-BE49-F238E27FC236}">
                <a16:creationId xmlns:a16="http://schemas.microsoft.com/office/drawing/2014/main" id="{38ED059D-D39D-DD71-D10D-B14C52D2B248}"/>
              </a:ext>
            </a:extLst>
          </p:cNvPr>
          <p:cNvSpPr/>
          <p:nvPr/>
        </p:nvSpPr>
        <p:spPr>
          <a:xfrm>
            <a:off x="7277406" y="3691371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2</a:t>
            </a:r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1F62329B-5F3F-D7B0-2EF5-BE9F8AD52C4B}"/>
              </a:ext>
            </a:extLst>
          </p:cNvPr>
          <p:cNvSpPr/>
          <p:nvPr/>
        </p:nvSpPr>
        <p:spPr>
          <a:xfrm>
            <a:off x="8533551" y="3691371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3</a:t>
            </a:r>
            <a:endParaRPr lang="ko-KR" altLang="en-US"/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B86AB50F-29C0-E208-BB10-678489D53883}"/>
              </a:ext>
            </a:extLst>
          </p:cNvPr>
          <p:cNvCxnSpPr>
            <a:cxnSpLocks/>
            <a:stCxn id="10" idx="0"/>
            <a:endCxn id="6" idx="3"/>
          </p:cNvCxnSpPr>
          <p:nvPr/>
        </p:nvCxnSpPr>
        <p:spPr>
          <a:xfrm flipV="1">
            <a:off x="7526788" y="3184219"/>
            <a:ext cx="434108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EBF4A6F1-F8CA-3125-5993-8DA03279790C}"/>
              </a:ext>
            </a:extLst>
          </p:cNvPr>
          <p:cNvCxnSpPr>
            <a:cxnSpLocks/>
            <a:stCxn id="11" idx="0"/>
            <a:endCxn id="6" idx="5"/>
          </p:cNvCxnSpPr>
          <p:nvPr/>
        </p:nvCxnSpPr>
        <p:spPr>
          <a:xfrm flipH="1" flipV="1">
            <a:off x="8313575" y="3184219"/>
            <a:ext cx="469358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A3BE804-96E0-1367-1301-832819A093C4}"/>
              </a:ext>
            </a:extLst>
          </p:cNvPr>
          <p:cNvSpPr txBox="1"/>
          <p:nvPr/>
        </p:nvSpPr>
        <p:spPr>
          <a:xfrm>
            <a:off x="6690322" y="1525203"/>
            <a:ext cx="587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root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22467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2403" y="262442"/>
            <a:ext cx="4040072" cy="607653"/>
          </a:xfrm>
        </p:spPr>
        <p:txBody>
          <a:bodyPr>
            <a:spAutoFit/>
          </a:bodyPr>
          <a:lstStyle/>
          <a:p>
            <a:r>
              <a:rPr lang="ko-KR" altLang="en-US"/>
              <a:t>이진 </a:t>
            </a:r>
            <a:r>
              <a:t>트리 방문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목적</a:t>
            </a:r>
            <a:r>
              <a:rPr lang="en-US" altLang="ko-KR"/>
              <a:t>: </a:t>
            </a:r>
            <a:r>
              <a:rPr lang="ko-KR" altLang="en-US"/>
              <a:t>이진 </a:t>
            </a:r>
            <a:r>
              <a:t>트리의 모든 노드</a:t>
            </a:r>
            <a:r>
              <a:rPr lang="ko-KR" altLang="en-US"/>
              <a:t>에 대해 반복하기</a:t>
            </a:r>
            <a:endParaRPr/>
          </a:p>
          <a:p>
            <a:endParaRPr/>
          </a:p>
          <a:p>
            <a:r>
              <a:t>깊이 우선: 자손들을 </a:t>
            </a:r>
            <a:r>
              <a:rPr lang="ko-KR" altLang="en-US"/>
              <a:t>다</a:t>
            </a:r>
            <a:r>
              <a:t> 방문</a:t>
            </a:r>
            <a:r>
              <a:rPr lang="ko-KR" altLang="en-US"/>
              <a:t>하고 다음 반복 진행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		 </a:t>
            </a:r>
            <a:r>
              <a:rPr lang="ko-KR" altLang="en-US"/>
              <a:t>데이터 처리 타이밍</a:t>
            </a:r>
            <a:endParaRPr/>
          </a:p>
          <a:p>
            <a:pPr marL="0" indent="0">
              <a:buNone/>
            </a:pPr>
            <a:r>
              <a:rPr lang="en-US"/>
              <a:t>		 </a:t>
            </a:r>
            <a:r>
              <a:t>- Preorder: 자손들 방문 전 작업</a:t>
            </a:r>
          </a:p>
          <a:p>
            <a:pPr marL="0" indent="0">
              <a:buNone/>
            </a:pPr>
            <a:r>
              <a:rPr lang="en-US"/>
              <a:t>		</a:t>
            </a:r>
            <a:r>
              <a:t> - Inorder: </a:t>
            </a:r>
            <a:r>
              <a:rPr lang="ko-KR" altLang="en-US"/>
              <a:t>왼</a:t>
            </a:r>
            <a:r>
              <a:t>쪽 자손들 방문 </a:t>
            </a:r>
            <a:r>
              <a:rPr lang="ko-KR" altLang="en-US"/>
              <a:t>후</a:t>
            </a:r>
            <a:r>
              <a:t> 작업</a:t>
            </a:r>
          </a:p>
          <a:p>
            <a:pPr marL="0" indent="0">
              <a:buNone/>
            </a:pPr>
            <a:r>
              <a:rPr lang="en-US"/>
              <a:t>		</a:t>
            </a:r>
            <a:r>
              <a:t> - Postorder: </a:t>
            </a:r>
            <a:r>
              <a:rPr lang="ko-KR" altLang="en-US"/>
              <a:t>모든 </a:t>
            </a:r>
            <a:r>
              <a:t>자손들 방문 후 작업</a:t>
            </a:r>
          </a:p>
          <a:p>
            <a:endParaRPr/>
          </a:p>
          <a:p>
            <a:r>
              <a:t>너비 우선: 한 세대</a:t>
            </a:r>
            <a:r>
              <a:rPr lang="ko-KR" altLang="en-US"/>
              <a:t>를</a:t>
            </a:r>
            <a:r>
              <a:t> </a:t>
            </a:r>
            <a:r>
              <a:rPr lang="ko-KR" altLang="en-US"/>
              <a:t>다</a:t>
            </a:r>
            <a:r>
              <a:t> 방문</a:t>
            </a:r>
            <a:r>
              <a:rPr lang="ko-KR" altLang="en-US"/>
              <a:t>하고</a:t>
            </a:r>
            <a:r>
              <a:t> 다음 </a:t>
            </a:r>
            <a:r>
              <a:rPr lang="ko-KR" altLang="en-US"/>
              <a:t>반복 진행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C1A90-BAC1-27D2-CDB0-2D9BA0A59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1663A-BCDB-42A5-5086-FE246C05D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3109" y="262442"/>
            <a:ext cx="7079366" cy="607653"/>
          </a:xfrm>
        </p:spPr>
        <p:txBody>
          <a:bodyPr>
            <a:spAutoFit/>
          </a:bodyPr>
          <a:lstStyle/>
          <a:p>
            <a:r>
              <a:rPr lang="ko-KR" altLang="en-US"/>
              <a:t>깊이 우선 이진 </a:t>
            </a:r>
            <a:r>
              <a:t>트리 방문</a:t>
            </a:r>
            <a:r>
              <a:rPr lang="en-US"/>
              <a:t> </a:t>
            </a:r>
            <a:r>
              <a:rPr lang="ko-KR" altLang="en-US"/>
              <a:t>구현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E59F8E-471A-D2E6-A0E7-E876857BB1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재귀 함수 호출</a:t>
            </a:r>
            <a:r>
              <a:rPr lang="en-US" altLang="ko-KR"/>
              <a:t>: </a:t>
            </a:r>
          </a:p>
          <a:p>
            <a:pPr marL="0" indent="0">
              <a:buNone/>
            </a:pPr>
            <a:r>
              <a:rPr lang="en-US" altLang="ko-KR"/>
              <a:t>		</a:t>
            </a:r>
            <a:r>
              <a:rPr lang="ko-KR" altLang="en-US"/>
              <a:t>한 노드에 대한 동작만 정하면</a:t>
            </a:r>
            <a:r>
              <a:rPr lang="en-US" altLang="ko-KR"/>
              <a:t>, </a:t>
            </a:r>
          </a:p>
          <a:p>
            <a:pPr marL="0" indent="0">
              <a:buNone/>
            </a:pPr>
            <a:r>
              <a:rPr lang="en-US" altLang="ko-KR"/>
              <a:t>		</a:t>
            </a:r>
            <a:r>
              <a:rPr lang="ko-KR" altLang="en-US"/>
              <a:t>노드들 전체에 적용된다</a:t>
            </a: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r>
              <a:rPr lang="ko-KR" altLang="en-US"/>
              <a:t>스택</a:t>
            </a:r>
            <a:r>
              <a:rPr lang="en-US" altLang="ko-KR"/>
              <a:t>:	</a:t>
            </a:r>
            <a:r>
              <a:rPr lang="ko-KR" altLang="en-US"/>
              <a:t>최적화가 가능하다</a:t>
            </a: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endParaRPr lang="en-US"/>
          </a:p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403091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30122" y="262442"/>
            <a:ext cx="9042597" cy="607653"/>
          </a:xfrm>
        </p:spPr>
        <p:txBody>
          <a:bodyPr>
            <a:spAutoFit/>
          </a:bodyPr>
          <a:lstStyle/>
          <a:p>
            <a:r>
              <a:rPr lang="ko-KR" altLang="en-US"/>
              <a:t>이진 </a:t>
            </a:r>
            <a:r>
              <a:t>트리 방문</a:t>
            </a:r>
            <a:r>
              <a:rPr lang="ko-KR" altLang="en-US"/>
              <a:t>시 작업 타이밍</a:t>
            </a:r>
            <a:r>
              <a:t> - Preorder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데이터 전처리를 하고</a:t>
            </a:r>
            <a:r>
              <a:t>, 자식들에서 반복한다</a:t>
            </a:r>
          </a:p>
          <a:p>
            <a:endParaRPr/>
          </a:p>
          <a:p>
            <a:pPr marL="0" indent="0">
              <a:buNone/>
            </a:pPr>
            <a:r>
              <a:rPr lang="ko-KR" altLang="en-US"/>
              <a:t>함수 </a:t>
            </a:r>
            <a:r>
              <a:rPr lang="en-US" altLang="ko-KR"/>
              <a:t>TRAVERSE_</a:t>
            </a:r>
            <a:r>
              <a:rPr lang="en-US"/>
              <a:t>PRE</a:t>
            </a:r>
            <a:r>
              <a:t>(</a:t>
            </a:r>
            <a:r>
              <a:rPr lang="en-US"/>
              <a:t>node</a:t>
            </a:r>
            <a:r>
              <a:t>):</a:t>
            </a:r>
          </a:p>
          <a:p>
            <a:r>
              <a:t>    만약: </a:t>
            </a:r>
            <a:r>
              <a:rPr lang="en-US"/>
              <a:t>node</a:t>
            </a:r>
            <a:r>
              <a:t> == NULL이면 반환</a:t>
            </a:r>
          </a:p>
          <a:p>
            <a:r>
              <a:t>    </a:t>
            </a:r>
            <a:r>
              <a:rPr lang="en-US"/>
              <a:t>PROCESS_PRE</a:t>
            </a:r>
            <a:r>
              <a:t>(</a:t>
            </a:r>
            <a:r>
              <a:rPr lang="en-US"/>
              <a:t>node-&gt;value</a:t>
            </a:r>
            <a:r>
              <a:t>)</a:t>
            </a:r>
          </a:p>
          <a:p>
            <a:r>
              <a:t>    </a:t>
            </a:r>
            <a:r>
              <a:rPr lang="en-US" altLang="ko-KR"/>
              <a:t>TRAVERSE_PRE</a:t>
            </a:r>
            <a:r>
              <a:t>(</a:t>
            </a:r>
            <a:r>
              <a:rPr lang="en-US"/>
              <a:t>node-&gt;left</a:t>
            </a:r>
            <a:r>
              <a:t>)</a:t>
            </a:r>
          </a:p>
          <a:p>
            <a:r>
              <a:t>    </a:t>
            </a:r>
            <a:r>
              <a:rPr lang="en-US" altLang="ko-KR"/>
              <a:t>TRAVERSE_PRE</a:t>
            </a:r>
            <a:r>
              <a:t>(</a:t>
            </a:r>
            <a:r>
              <a:rPr lang="en-US"/>
              <a:t>node-&gt;right</a:t>
            </a:r>
            <a:r>
              <a:t>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09FC3-F1C8-05F6-9CF0-52EE7DFE8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FB2BE-A945-BBC2-F4D1-C26FBA15E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0122" y="262442"/>
            <a:ext cx="9042597" cy="607653"/>
          </a:xfrm>
        </p:spPr>
        <p:txBody>
          <a:bodyPr>
            <a:spAutoFit/>
          </a:bodyPr>
          <a:lstStyle/>
          <a:p>
            <a:r>
              <a:rPr lang="ko-KR" altLang="en-US"/>
              <a:t>이진 트리 방문시 작업 타이밍 </a:t>
            </a:r>
            <a:r>
              <a:rPr lang="en-US" altLang="ko-KR"/>
              <a:t>- Preorder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5AB85-A22E-E7C1-1F83-C207FC84B0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TRAVERSE_PRE(root)</a:t>
            </a:r>
            <a:r>
              <a:rPr lang="ko-KR" altLang="en-US"/>
              <a:t>에서 </a:t>
            </a:r>
            <a:endParaRPr lang="en-US" altLang="ko-KR"/>
          </a:p>
          <a:p>
            <a:pPr marL="0" indent="0">
              <a:buNone/>
            </a:pPr>
            <a:r>
              <a:rPr lang="en-US"/>
              <a:t>   </a:t>
            </a:r>
            <a:r>
              <a:rPr lang="ko-KR" altLang="en-US"/>
              <a:t>전처리 작업이 실행되는 순서는</a:t>
            </a:r>
            <a:r>
              <a:rPr lang="en-US" altLang="ko-KR"/>
              <a:t>?</a:t>
            </a:r>
            <a:endParaRPr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586EA455-F715-3535-BFDE-33361B9CE040}"/>
              </a:ext>
            </a:extLst>
          </p:cNvPr>
          <p:cNvSpPr/>
          <p:nvPr/>
        </p:nvSpPr>
        <p:spPr>
          <a:xfrm>
            <a:off x="7204364" y="1825625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A</a:t>
            </a:r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621DDED7-9CB0-3872-194E-69131E595A72}"/>
              </a:ext>
            </a:extLst>
          </p:cNvPr>
          <p:cNvSpPr/>
          <p:nvPr/>
        </p:nvSpPr>
        <p:spPr>
          <a:xfrm>
            <a:off x="6631709" y="2758498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51D20BAD-BA07-2E8F-7258-C7335317C726}"/>
              </a:ext>
            </a:extLst>
          </p:cNvPr>
          <p:cNvSpPr/>
          <p:nvPr/>
        </p:nvSpPr>
        <p:spPr>
          <a:xfrm>
            <a:off x="7887854" y="2758498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C</a:t>
            </a:r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3E35CB6D-3943-2BD9-F319-7BA1C67C3B2C}"/>
              </a:ext>
            </a:extLst>
          </p:cNvPr>
          <p:cNvCxnSpPr>
            <a:cxnSpLocks/>
            <a:stCxn id="5" idx="0"/>
            <a:endCxn id="4" idx="3"/>
          </p:cNvCxnSpPr>
          <p:nvPr/>
        </p:nvCxnSpPr>
        <p:spPr>
          <a:xfrm flipV="1">
            <a:off x="6881091" y="2251346"/>
            <a:ext cx="396315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6F33A773-8B62-A7ED-789E-21BD9B359B37}"/>
              </a:ext>
            </a:extLst>
          </p:cNvPr>
          <p:cNvCxnSpPr>
            <a:cxnSpLocks/>
            <a:stCxn id="6" idx="0"/>
            <a:endCxn id="4" idx="5"/>
          </p:cNvCxnSpPr>
          <p:nvPr/>
        </p:nvCxnSpPr>
        <p:spPr>
          <a:xfrm flipH="1" flipV="1">
            <a:off x="7630085" y="2251346"/>
            <a:ext cx="507151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타원 9">
            <a:extLst>
              <a:ext uri="{FF2B5EF4-FFF2-40B4-BE49-F238E27FC236}">
                <a16:creationId xmlns:a16="http://schemas.microsoft.com/office/drawing/2014/main" id="{FB718844-6EF5-C101-B130-1171E1796E27}"/>
              </a:ext>
            </a:extLst>
          </p:cNvPr>
          <p:cNvSpPr/>
          <p:nvPr/>
        </p:nvSpPr>
        <p:spPr>
          <a:xfrm>
            <a:off x="6034909" y="3691371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D</a:t>
            </a:r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CA2462A7-2BBC-A53D-0AB1-6E6DF8EB6325}"/>
              </a:ext>
            </a:extLst>
          </p:cNvPr>
          <p:cNvSpPr/>
          <p:nvPr/>
        </p:nvSpPr>
        <p:spPr>
          <a:xfrm>
            <a:off x="7291054" y="3691371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E</a:t>
            </a:r>
            <a:endParaRPr lang="ko-KR" altLang="en-US"/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0E8D8342-1E13-339A-E664-8DF6A4068B00}"/>
              </a:ext>
            </a:extLst>
          </p:cNvPr>
          <p:cNvCxnSpPr>
            <a:cxnSpLocks/>
            <a:stCxn id="10" idx="0"/>
            <a:endCxn id="5" idx="3"/>
          </p:cNvCxnSpPr>
          <p:nvPr/>
        </p:nvCxnSpPr>
        <p:spPr>
          <a:xfrm flipV="1">
            <a:off x="6284291" y="3184219"/>
            <a:ext cx="420460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E6AECC70-2C79-E573-6DD5-47123EB8336E}"/>
              </a:ext>
            </a:extLst>
          </p:cNvPr>
          <p:cNvCxnSpPr>
            <a:cxnSpLocks/>
            <a:stCxn id="11" idx="0"/>
            <a:endCxn id="5" idx="5"/>
          </p:cNvCxnSpPr>
          <p:nvPr/>
        </p:nvCxnSpPr>
        <p:spPr>
          <a:xfrm flipH="1" flipV="1">
            <a:off x="7057430" y="3184219"/>
            <a:ext cx="483006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714D5FA-3FF4-2F99-698C-6A2E6F54E5F8}"/>
              </a:ext>
            </a:extLst>
          </p:cNvPr>
          <p:cNvSpPr txBox="1"/>
          <p:nvPr/>
        </p:nvSpPr>
        <p:spPr>
          <a:xfrm>
            <a:off x="6690322" y="1525203"/>
            <a:ext cx="587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root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8263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7CFE1-33BF-9409-CDAB-E076B0CF9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C4223-2966-5250-16BA-24A2E17CB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355" y="262442"/>
            <a:ext cx="8754120" cy="607653"/>
          </a:xfrm>
        </p:spPr>
        <p:txBody>
          <a:bodyPr>
            <a:spAutoFit/>
          </a:bodyPr>
          <a:lstStyle/>
          <a:p>
            <a:r>
              <a:rPr lang="ko-KR" altLang="en-US"/>
              <a:t>이진 </a:t>
            </a:r>
            <a:r>
              <a:t>트리 방문</a:t>
            </a:r>
            <a:r>
              <a:rPr lang="ko-KR" altLang="en-US"/>
              <a:t>시 작업 타이밍</a:t>
            </a:r>
            <a:r>
              <a:t> - </a:t>
            </a:r>
            <a:r>
              <a:rPr lang="en-US"/>
              <a:t>In</a:t>
            </a:r>
            <a:r>
              <a:t>order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745C3-06B3-1F73-74CA-68F076034C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왼쪽 자손들 방문이 끝나면</a:t>
            </a:r>
            <a:r>
              <a:rPr lang="en-US" altLang="ko-KR"/>
              <a:t> </a:t>
            </a:r>
            <a:r>
              <a:rPr lang="ko-KR" altLang="en-US"/>
              <a:t>데이터 중간 처리를 한다</a:t>
            </a:r>
            <a:r>
              <a:rPr lang="en-US" altLang="ko-KR"/>
              <a:t>.</a:t>
            </a:r>
          </a:p>
          <a:p>
            <a:pPr marL="0" indent="0">
              <a:buNone/>
            </a:pPr>
            <a:endParaRPr lang="ko-KR" altLang="en-US"/>
          </a:p>
          <a:p>
            <a:pPr marL="0" indent="0">
              <a:buNone/>
            </a:pPr>
            <a:r>
              <a:rPr lang="ko-KR" altLang="en-US"/>
              <a:t>함수 </a:t>
            </a:r>
            <a:r>
              <a:rPr lang="en-US" altLang="ko-KR"/>
              <a:t>TRAVERSE_</a:t>
            </a:r>
            <a:r>
              <a:rPr lang="en-US"/>
              <a:t>IN</a:t>
            </a:r>
            <a:r>
              <a:t>(</a:t>
            </a:r>
            <a:r>
              <a:rPr lang="en-US"/>
              <a:t>node</a:t>
            </a:r>
            <a:r>
              <a:t>):</a:t>
            </a:r>
          </a:p>
          <a:p>
            <a:r>
              <a:t>    만약: </a:t>
            </a:r>
            <a:r>
              <a:rPr lang="en-US"/>
              <a:t>node</a:t>
            </a:r>
            <a:r>
              <a:t> == NULL이면 반환</a:t>
            </a:r>
          </a:p>
          <a:p>
            <a:r>
              <a:t>    </a:t>
            </a:r>
            <a:r>
              <a:rPr lang="en-US" altLang="ko-KR"/>
              <a:t>TRAVERSE_IN</a:t>
            </a:r>
            <a:r>
              <a:t>(</a:t>
            </a:r>
            <a:r>
              <a:rPr lang="en-US"/>
              <a:t>node-&gt;left</a:t>
            </a:r>
            <a:r>
              <a:t>)</a:t>
            </a:r>
          </a:p>
          <a:p>
            <a:r>
              <a:rPr lang="ko-KR" altLang="en-US"/>
              <a:t>    </a:t>
            </a:r>
            <a:r>
              <a:rPr lang="en-US" altLang="ko-KR"/>
              <a:t>PROCESS_IN(node-&gt;value)</a:t>
            </a:r>
          </a:p>
          <a:p>
            <a:r>
              <a:t>    </a:t>
            </a:r>
            <a:r>
              <a:rPr lang="en-US" altLang="ko-KR"/>
              <a:t>TRAVERSE_IN</a:t>
            </a:r>
            <a:r>
              <a:t>(</a:t>
            </a:r>
            <a:r>
              <a:rPr lang="en-US"/>
              <a:t>node-&gt;right</a:t>
            </a:r>
            <a: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198478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B7C2F-4B5F-C350-882C-A47FAAC90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BF9F5-60C6-5042-DC84-4BD0E7714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355" y="262442"/>
            <a:ext cx="8754120" cy="607653"/>
          </a:xfrm>
        </p:spPr>
        <p:txBody>
          <a:bodyPr>
            <a:spAutoFit/>
          </a:bodyPr>
          <a:lstStyle/>
          <a:p>
            <a:r>
              <a:rPr lang="ko-KR" altLang="en-US"/>
              <a:t>이진 트리 방문시 작업 타이밍 </a:t>
            </a:r>
            <a:r>
              <a:rPr lang="en-US" altLang="ko-KR"/>
              <a:t>- Inorder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C78D1E-C1A2-4C28-99D0-9D50A3138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TRAVERSE_IN(root)</a:t>
            </a:r>
            <a:r>
              <a:rPr lang="ko-KR" altLang="en-US"/>
              <a:t>에서 </a:t>
            </a:r>
          </a:p>
          <a:p>
            <a:pPr marL="0" indent="0">
              <a:buNone/>
            </a:pPr>
            <a:r>
              <a:rPr lang="ko-KR" altLang="en-US"/>
              <a:t>   중간처리 작업이 실행되는 순서는</a:t>
            </a:r>
            <a:r>
              <a:rPr lang="en-US" altLang="ko-KR"/>
              <a:t>?</a:t>
            </a:r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CE1526CC-3602-256F-7CF0-73805A015590}"/>
              </a:ext>
            </a:extLst>
          </p:cNvPr>
          <p:cNvSpPr/>
          <p:nvPr/>
        </p:nvSpPr>
        <p:spPr>
          <a:xfrm>
            <a:off x="7204364" y="1825625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+</a:t>
            </a:r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2695517C-0598-9578-C611-0D23074F4B20}"/>
              </a:ext>
            </a:extLst>
          </p:cNvPr>
          <p:cNvSpPr/>
          <p:nvPr/>
        </p:nvSpPr>
        <p:spPr>
          <a:xfrm>
            <a:off x="6631709" y="2758498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1</a:t>
            </a:r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0A3F9862-F677-06D4-9207-A23CFF6A9AFF}"/>
              </a:ext>
            </a:extLst>
          </p:cNvPr>
          <p:cNvSpPr/>
          <p:nvPr/>
        </p:nvSpPr>
        <p:spPr>
          <a:xfrm>
            <a:off x="7887854" y="2758498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*</a:t>
            </a:r>
            <a:endParaRPr lang="ko-KR" altLang="en-US"/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3FEB9B10-1091-B79F-A7F0-64A74CCD7E45}"/>
              </a:ext>
            </a:extLst>
          </p:cNvPr>
          <p:cNvCxnSpPr>
            <a:cxnSpLocks/>
            <a:stCxn id="15" idx="0"/>
            <a:endCxn id="14" idx="3"/>
          </p:cNvCxnSpPr>
          <p:nvPr/>
        </p:nvCxnSpPr>
        <p:spPr>
          <a:xfrm flipV="1">
            <a:off x="6881091" y="2251346"/>
            <a:ext cx="396315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14A46F74-53ED-927C-7F2E-20AE10E78C21}"/>
              </a:ext>
            </a:extLst>
          </p:cNvPr>
          <p:cNvCxnSpPr>
            <a:cxnSpLocks/>
            <a:stCxn id="16" idx="0"/>
            <a:endCxn id="14" idx="5"/>
          </p:cNvCxnSpPr>
          <p:nvPr/>
        </p:nvCxnSpPr>
        <p:spPr>
          <a:xfrm flipH="1" flipV="1">
            <a:off x="7630085" y="2251346"/>
            <a:ext cx="507151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타원 18">
            <a:extLst>
              <a:ext uri="{FF2B5EF4-FFF2-40B4-BE49-F238E27FC236}">
                <a16:creationId xmlns:a16="http://schemas.microsoft.com/office/drawing/2014/main" id="{BB193E81-1D11-57BA-DBCD-8DAAF631DDB5}"/>
              </a:ext>
            </a:extLst>
          </p:cNvPr>
          <p:cNvSpPr/>
          <p:nvPr/>
        </p:nvSpPr>
        <p:spPr>
          <a:xfrm>
            <a:off x="7277406" y="3691371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2</a:t>
            </a:r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9D76E78F-B826-949A-CE97-548994556EBA}"/>
              </a:ext>
            </a:extLst>
          </p:cNvPr>
          <p:cNvSpPr/>
          <p:nvPr/>
        </p:nvSpPr>
        <p:spPr>
          <a:xfrm>
            <a:off x="8533551" y="3691371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3</a:t>
            </a:r>
            <a:endParaRPr lang="ko-KR" altLang="en-US"/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9114F576-31E3-0A90-6CE8-85357D0A7E56}"/>
              </a:ext>
            </a:extLst>
          </p:cNvPr>
          <p:cNvCxnSpPr>
            <a:cxnSpLocks/>
            <a:stCxn id="19" idx="0"/>
            <a:endCxn id="16" idx="3"/>
          </p:cNvCxnSpPr>
          <p:nvPr/>
        </p:nvCxnSpPr>
        <p:spPr>
          <a:xfrm flipV="1">
            <a:off x="7526788" y="3184219"/>
            <a:ext cx="434108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796DD476-5390-94C0-B380-BAE5DC434C18}"/>
              </a:ext>
            </a:extLst>
          </p:cNvPr>
          <p:cNvCxnSpPr>
            <a:cxnSpLocks/>
            <a:stCxn id="20" idx="0"/>
            <a:endCxn id="16" idx="5"/>
          </p:cNvCxnSpPr>
          <p:nvPr/>
        </p:nvCxnSpPr>
        <p:spPr>
          <a:xfrm flipH="1" flipV="1">
            <a:off x="8313575" y="3184219"/>
            <a:ext cx="469358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16E5916-C592-4793-EAC5-832CBE9BDAC6}"/>
              </a:ext>
            </a:extLst>
          </p:cNvPr>
          <p:cNvSpPr txBox="1"/>
          <p:nvPr/>
        </p:nvSpPr>
        <p:spPr>
          <a:xfrm>
            <a:off x="6690322" y="1525203"/>
            <a:ext cx="587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root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56488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E39D4-8540-C6AC-58E0-98E2F27F0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45FCB-4CE2-44D2-0E62-7B6258F3D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43000" y="262442"/>
            <a:ext cx="9255475" cy="607653"/>
          </a:xfrm>
        </p:spPr>
        <p:txBody>
          <a:bodyPr>
            <a:spAutoFit/>
          </a:bodyPr>
          <a:lstStyle/>
          <a:p>
            <a:r>
              <a:rPr lang="ko-KR" altLang="en-US"/>
              <a:t>이진 </a:t>
            </a:r>
            <a:r>
              <a:t>트리 방문</a:t>
            </a:r>
            <a:r>
              <a:rPr lang="ko-KR" altLang="en-US"/>
              <a:t>시 작업 타이밍</a:t>
            </a:r>
            <a:r>
              <a:t> - </a:t>
            </a:r>
            <a:r>
              <a:rPr lang="en-US"/>
              <a:t>Post</a:t>
            </a:r>
            <a:r>
              <a:t>order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A221C8-52F0-E436-B2D5-50F4C3996C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모든 자손들 방문이 끝나면</a:t>
            </a:r>
            <a:r>
              <a:rPr lang="en-US" altLang="ko-KR"/>
              <a:t> </a:t>
            </a:r>
            <a:r>
              <a:rPr lang="ko-KR" altLang="en-US"/>
              <a:t>데이터 후처리를 한다</a:t>
            </a:r>
            <a:r>
              <a:rPr lang="en-US" altLang="ko-KR"/>
              <a:t>.</a:t>
            </a:r>
          </a:p>
          <a:p>
            <a:pPr marL="0" indent="0">
              <a:buNone/>
            </a:pPr>
            <a:endParaRPr lang="ko-KR" altLang="en-US"/>
          </a:p>
          <a:p>
            <a:pPr marL="0" indent="0">
              <a:buNone/>
            </a:pPr>
            <a:r>
              <a:rPr lang="ko-KR" altLang="en-US"/>
              <a:t>함수 </a:t>
            </a:r>
            <a:r>
              <a:rPr lang="en-US" altLang="ko-KR"/>
              <a:t>TRAVERSE_</a:t>
            </a:r>
            <a:r>
              <a:rPr lang="en-US"/>
              <a:t>POST</a:t>
            </a:r>
            <a:r>
              <a:t>(</a:t>
            </a:r>
            <a:r>
              <a:rPr lang="en-US"/>
              <a:t>node</a:t>
            </a:r>
            <a:r>
              <a:t>):</a:t>
            </a:r>
          </a:p>
          <a:p>
            <a:r>
              <a:t>    만약: </a:t>
            </a:r>
            <a:r>
              <a:rPr lang="en-US"/>
              <a:t>node</a:t>
            </a:r>
            <a:r>
              <a:t> == NULL이면 반환</a:t>
            </a:r>
          </a:p>
          <a:p>
            <a:r>
              <a:t>    </a:t>
            </a:r>
            <a:r>
              <a:rPr lang="en-US" altLang="ko-KR"/>
              <a:t>TRAVERSE_POST</a:t>
            </a:r>
            <a:r>
              <a:t>(</a:t>
            </a:r>
            <a:r>
              <a:rPr lang="en-US"/>
              <a:t>node-&gt;left</a:t>
            </a:r>
            <a:r>
              <a:t>)</a:t>
            </a:r>
          </a:p>
          <a:p>
            <a:r>
              <a:t>    </a:t>
            </a:r>
            <a:r>
              <a:rPr lang="en-US" altLang="ko-KR"/>
              <a:t>TRAVERSE_POST</a:t>
            </a:r>
            <a:r>
              <a:t>(</a:t>
            </a:r>
            <a:r>
              <a:rPr lang="en-US"/>
              <a:t>node-&gt;right</a:t>
            </a:r>
            <a:r>
              <a:t>)</a:t>
            </a:r>
            <a:endParaRPr lang="en-US"/>
          </a:p>
          <a:p>
            <a:r>
              <a:rPr lang="ko-KR" altLang="en-US"/>
              <a:t>    </a:t>
            </a:r>
            <a:r>
              <a:rPr lang="en-US" altLang="ko-KR"/>
              <a:t>PROCESS_POST(node-&gt;value)</a:t>
            </a:r>
          </a:p>
        </p:txBody>
      </p:sp>
    </p:spTree>
    <p:extLst>
      <p:ext uri="{BB962C8B-B14F-4D97-AF65-F5344CB8AC3E}">
        <p14:creationId xmlns:p14="http://schemas.microsoft.com/office/powerpoint/2010/main" val="39361690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9141F-068D-473A-A36A-4864E3EB2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153B0-D783-732F-BEEB-07026C5E3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43000" y="262442"/>
            <a:ext cx="9255475" cy="607653"/>
          </a:xfrm>
        </p:spPr>
        <p:txBody>
          <a:bodyPr>
            <a:spAutoFit/>
          </a:bodyPr>
          <a:lstStyle/>
          <a:p>
            <a:r>
              <a:rPr lang="ko-KR" altLang="en-US"/>
              <a:t>이진 트리 방문시 작업 타이밍 </a:t>
            </a:r>
            <a:r>
              <a:rPr lang="en-US" altLang="ko-KR"/>
              <a:t>- Postorder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746EE-6159-B5BD-6E40-B7CE9FBBFB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TRAVERSE_POST(root)</a:t>
            </a:r>
            <a:r>
              <a:rPr lang="ko-KR" altLang="en-US"/>
              <a:t>에서 </a:t>
            </a:r>
          </a:p>
          <a:p>
            <a:pPr marL="0" indent="0">
              <a:buNone/>
            </a:pPr>
            <a:r>
              <a:rPr lang="ko-KR" altLang="en-US"/>
              <a:t>   후처리 작업이 실행되는 순서는</a:t>
            </a:r>
            <a:r>
              <a:rPr lang="en-US" altLang="ko-KR"/>
              <a:t>?</a:t>
            </a:r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D0047ED9-1CE0-B7DC-E1FE-F124BCDADED8}"/>
              </a:ext>
            </a:extLst>
          </p:cNvPr>
          <p:cNvSpPr/>
          <p:nvPr/>
        </p:nvSpPr>
        <p:spPr>
          <a:xfrm>
            <a:off x="7204364" y="1825625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+</a:t>
            </a:r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54004592-6ABA-649C-CC91-D7D3EC1B2A0C}"/>
              </a:ext>
            </a:extLst>
          </p:cNvPr>
          <p:cNvSpPr/>
          <p:nvPr/>
        </p:nvSpPr>
        <p:spPr>
          <a:xfrm>
            <a:off x="6631709" y="2758498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1</a:t>
            </a:r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321B4C22-743E-FEF3-6C95-222EC9D5948B}"/>
              </a:ext>
            </a:extLst>
          </p:cNvPr>
          <p:cNvSpPr/>
          <p:nvPr/>
        </p:nvSpPr>
        <p:spPr>
          <a:xfrm>
            <a:off x="7887854" y="2758498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*</a:t>
            </a:r>
            <a:endParaRPr lang="ko-KR" altLang="en-US"/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3A6EA85B-3E56-82EF-7FA7-19737CD7BA03}"/>
              </a:ext>
            </a:extLst>
          </p:cNvPr>
          <p:cNvCxnSpPr>
            <a:cxnSpLocks/>
            <a:stCxn id="15" idx="0"/>
            <a:endCxn id="14" idx="3"/>
          </p:cNvCxnSpPr>
          <p:nvPr/>
        </p:nvCxnSpPr>
        <p:spPr>
          <a:xfrm flipV="1">
            <a:off x="6881091" y="2251346"/>
            <a:ext cx="396315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030A3972-EF7B-7A6C-5744-B3DA7090476A}"/>
              </a:ext>
            </a:extLst>
          </p:cNvPr>
          <p:cNvCxnSpPr>
            <a:cxnSpLocks/>
            <a:stCxn id="16" idx="0"/>
            <a:endCxn id="14" idx="5"/>
          </p:cNvCxnSpPr>
          <p:nvPr/>
        </p:nvCxnSpPr>
        <p:spPr>
          <a:xfrm flipH="1" flipV="1">
            <a:off x="7630085" y="2251346"/>
            <a:ext cx="507151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타원 18">
            <a:extLst>
              <a:ext uri="{FF2B5EF4-FFF2-40B4-BE49-F238E27FC236}">
                <a16:creationId xmlns:a16="http://schemas.microsoft.com/office/drawing/2014/main" id="{0FFD6FC5-8084-581E-076F-C544CB951FB8}"/>
              </a:ext>
            </a:extLst>
          </p:cNvPr>
          <p:cNvSpPr/>
          <p:nvPr/>
        </p:nvSpPr>
        <p:spPr>
          <a:xfrm>
            <a:off x="7277406" y="3691371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2</a:t>
            </a:r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6086D446-BB1B-935D-AB56-87E1BCAC773E}"/>
              </a:ext>
            </a:extLst>
          </p:cNvPr>
          <p:cNvSpPr/>
          <p:nvPr/>
        </p:nvSpPr>
        <p:spPr>
          <a:xfrm>
            <a:off x="8533551" y="3691371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3</a:t>
            </a:r>
            <a:endParaRPr lang="ko-KR" altLang="en-US"/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5779F450-1FE1-75C6-E16B-666A9634EAE3}"/>
              </a:ext>
            </a:extLst>
          </p:cNvPr>
          <p:cNvCxnSpPr>
            <a:cxnSpLocks/>
            <a:stCxn id="19" idx="0"/>
            <a:endCxn id="16" idx="3"/>
          </p:cNvCxnSpPr>
          <p:nvPr/>
        </p:nvCxnSpPr>
        <p:spPr>
          <a:xfrm flipV="1">
            <a:off x="7526788" y="3184219"/>
            <a:ext cx="434108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411BFCE7-8DEF-8772-D916-7730B58686B1}"/>
              </a:ext>
            </a:extLst>
          </p:cNvPr>
          <p:cNvCxnSpPr>
            <a:cxnSpLocks/>
            <a:stCxn id="20" idx="0"/>
            <a:endCxn id="16" idx="5"/>
          </p:cNvCxnSpPr>
          <p:nvPr/>
        </p:nvCxnSpPr>
        <p:spPr>
          <a:xfrm flipH="1" flipV="1">
            <a:off x="8313575" y="3184219"/>
            <a:ext cx="469358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2E76BCD-83B0-D2AA-49A7-21CF4D74FD2A}"/>
              </a:ext>
            </a:extLst>
          </p:cNvPr>
          <p:cNvSpPr txBox="1"/>
          <p:nvPr/>
        </p:nvSpPr>
        <p:spPr>
          <a:xfrm>
            <a:off x="6690322" y="1525203"/>
            <a:ext cx="587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root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62313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9846A-920B-076D-802D-F097A9F63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34252-FD6C-5186-B588-1DEB35EB5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9305" y="262442"/>
            <a:ext cx="5053170" cy="607653"/>
          </a:xfrm>
        </p:spPr>
        <p:txBody>
          <a:bodyPr>
            <a:spAutoFit/>
          </a:bodyPr>
          <a:lstStyle/>
          <a:p>
            <a:r>
              <a:rPr lang="ko-KR" altLang="en-US"/>
              <a:t>이진 트리 방문</a:t>
            </a:r>
            <a:r>
              <a:rPr lang="en-US" altLang="ko-KR"/>
              <a:t> </a:t>
            </a:r>
            <a:r>
              <a:rPr lang="ko-KR" altLang="en-US"/>
              <a:t>퀴즈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9A7766-E8DB-9D2B-5FF9-C458B000FE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Preorder traversal	A B C D E F G</a:t>
            </a:r>
          </a:p>
          <a:p>
            <a:r>
              <a:rPr lang="en-US" altLang="ko-KR"/>
              <a:t>Inorder traversal		C D B A E G F</a:t>
            </a:r>
          </a:p>
          <a:p>
            <a:r>
              <a:rPr lang="en-US" altLang="ko-KR"/>
              <a:t>Original tree???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50600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C677B-2AE1-2813-C1D2-763FDEA24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E9F3A-FC84-F64B-B574-8EEBF1CC9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8597" y="262442"/>
            <a:ext cx="2013878" cy="607653"/>
          </a:xfrm>
        </p:spPr>
        <p:txBody>
          <a:bodyPr>
            <a:spAutoFit/>
          </a:bodyPr>
          <a:lstStyle/>
          <a:p>
            <a:r>
              <a:rPr lang="ko-KR" altLang="en-US"/>
              <a:t>요약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581020-DB57-FD74-36AF-253F58376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트리</a:t>
            </a:r>
            <a:r>
              <a:rPr lang="en-US" altLang="ko-KR"/>
              <a:t>: </a:t>
            </a:r>
            <a:r>
              <a:rPr lang="ko-KR" altLang="en-US"/>
              <a:t>루트로부터 부모 자식 관계로 연결된 구조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이진 트리</a:t>
            </a:r>
            <a:r>
              <a:rPr lang="en-US" altLang="ko-KR"/>
              <a:t>: </a:t>
            </a:r>
            <a:r>
              <a:rPr lang="ko-KR" altLang="en-US"/>
              <a:t>자식 노드가 최대 </a:t>
            </a:r>
            <a:r>
              <a:rPr lang="en-US" altLang="ko-KR"/>
              <a:t>2</a:t>
            </a:r>
            <a:r>
              <a:rPr lang="ko-KR" altLang="en-US"/>
              <a:t>개인 트리</a:t>
            </a:r>
          </a:p>
          <a:p>
            <a:endParaRPr lang="en-US" altLang="ko-KR"/>
          </a:p>
          <a:p>
            <a:r>
              <a:rPr lang="ko-KR" altLang="en-US"/>
              <a:t>이진 트리 노드</a:t>
            </a:r>
            <a:r>
              <a:rPr lang="en-US" altLang="ko-KR"/>
              <a:t>: left, right, value</a:t>
            </a:r>
          </a:p>
          <a:p>
            <a:endParaRPr lang="en-US" altLang="ko-KR"/>
          </a:p>
          <a:p>
            <a:r>
              <a:rPr lang="ko-KR" altLang="en-US"/>
              <a:t>트리 방문</a:t>
            </a:r>
            <a:r>
              <a:rPr lang="en-US" altLang="ko-KR"/>
              <a:t>: Preorder, Inorder, Postorder</a:t>
            </a:r>
          </a:p>
          <a:p>
            <a:endParaRPr lang="en-US" altLang="ko-KR"/>
          </a:p>
          <a:p>
            <a:r>
              <a:rPr lang="ko-KR" altLang="en-US"/>
              <a:t>다음 시간</a:t>
            </a:r>
            <a:r>
              <a:rPr lang="en-US" altLang="ko-KR"/>
              <a:t>: C</a:t>
            </a:r>
            <a:r>
              <a:rPr lang="ko-KR" altLang="en-US"/>
              <a:t>로 구현하기</a:t>
            </a:r>
          </a:p>
        </p:txBody>
      </p:sp>
    </p:spTree>
    <p:extLst>
      <p:ext uri="{BB962C8B-B14F-4D97-AF65-F5344CB8AC3E}">
        <p14:creationId xmlns:p14="http://schemas.microsoft.com/office/powerpoint/2010/main" val="14058116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351335" y="262442"/>
            <a:ext cx="9263810" cy="607653"/>
          </a:xfrm>
        </p:spPr>
        <p:txBody>
          <a:bodyPr>
            <a:spAutoFit/>
          </a:bodyPr>
          <a:lstStyle/>
          <a:p>
            <a:r>
              <a:rPr lang="ko-KR" altLang="en-US"/>
              <a:t>이진 </a:t>
            </a:r>
            <a:r>
              <a:t>트리 방문 - Preorder (스택으로 구현)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/>
              <a:t>함수 </a:t>
            </a:r>
            <a:r>
              <a:t>PREORDER_STACK(</a:t>
            </a:r>
            <a:r>
              <a:rPr lang="en-US"/>
              <a:t>node</a:t>
            </a:r>
            <a:r>
              <a:t>):</a:t>
            </a:r>
            <a:endParaRPr lang="en-US"/>
          </a:p>
          <a:p>
            <a:r>
              <a:rPr lang="en-US"/>
              <a:t> 	to_visit</a:t>
            </a:r>
            <a:r>
              <a:t>에 새로운 스택 저장</a:t>
            </a:r>
            <a:endParaRPr lang="en-US"/>
          </a:p>
          <a:p>
            <a:r>
              <a:rPr lang="en-US"/>
              <a:t> 	PUSH</a:t>
            </a:r>
            <a:r>
              <a:t>(</a:t>
            </a:r>
            <a:r>
              <a:rPr lang="en-US"/>
              <a:t>to_visit</a:t>
            </a:r>
            <a:r>
              <a:t>, </a:t>
            </a:r>
            <a:r>
              <a:rPr lang="en-US"/>
              <a:t>node</a:t>
            </a:r>
            <a:r>
              <a:t>)</a:t>
            </a:r>
            <a:endParaRPr lang="en-US"/>
          </a:p>
          <a:p>
            <a:r>
              <a:rPr lang="en-US"/>
              <a:t> 	</a:t>
            </a:r>
            <a:r>
              <a:t>반복: </a:t>
            </a:r>
            <a:r>
              <a:rPr lang="en-US"/>
              <a:t>!EMPTY(to_visit</a:t>
            </a:r>
            <a:r>
              <a:rPr lang="en-US" altLang="ko-KR"/>
              <a:t>)</a:t>
            </a:r>
            <a:endParaRPr/>
          </a:p>
          <a:p>
            <a:pPr marL="0" indent="0">
              <a:buNone/>
            </a:pPr>
            <a:r>
              <a:t>        </a:t>
            </a:r>
            <a:r>
              <a:rPr lang="en-US"/>
              <a:t>		node</a:t>
            </a:r>
            <a:r>
              <a:t>에 </a:t>
            </a:r>
            <a:r>
              <a:rPr lang="en-US"/>
              <a:t>POP</a:t>
            </a:r>
            <a:r>
              <a:t>(</a:t>
            </a:r>
            <a:r>
              <a:rPr lang="en-US"/>
              <a:t>to_visit</a:t>
            </a:r>
            <a:r>
              <a:t>) 저장</a:t>
            </a:r>
          </a:p>
          <a:p>
            <a:pPr marL="0" indent="0">
              <a:buNone/>
            </a:pPr>
            <a:r>
              <a:t>        </a:t>
            </a:r>
            <a:r>
              <a:rPr lang="en-US"/>
              <a:t>		</a:t>
            </a:r>
            <a:r>
              <a:t>만약: </a:t>
            </a:r>
            <a:r>
              <a:rPr lang="en-US"/>
              <a:t>node</a:t>
            </a:r>
            <a:r>
              <a:t> == NULL이면</a:t>
            </a:r>
            <a:r>
              <a:rPr lang="en-US"/>
              <a:t>, </a:t>
            </a:r>
            <a:r>
              <a:t>다음 반복으로</a:t>
            </a:r>
          </a:p>
          <a:p>
            <a:pPr marL="0" indent="0">
              <a:buNone/>
            </a:pPr>
            <a:r>
              <a:t>        </a:t>
            </a:r>
            <a:r>
              <a:rPr lang="en-US"/>
              <a:t>		</a:t>
            </a:r>
            <a:r>
              <a:rPr lang="en-US" altLang="ko-KR"/>
              <a:t>PROCESS_PRE</a:t>
            </a:r>
            <a:r>
              <a:t>(</a:t>
            </a:r>
            <a:r>
              <a:rPr lang="en-US"/>
              <a:t>node-&gt;value</a:t>
            </a:r>
            <a:r>
              <a:t>)</a:t>
            </a:r>
          </a:p>
          <a:p>
            <a:pPr marL="0" indent="0">
              <a:buNone/>
            </a:pPr>
            <a:r>
              <a:t>        </a:t>
            </a:r>
            <a:r>
              <a:rPr lang="en-US"/>
              <a:t>		PUSH</a:t>
            </a:r>
            <a:r>
              <a:t>(</a:t>
            </a:r>
            <a:r>
              <a:rPr lang="en-US"/>
              <a:t>to_visit</a:t>
            </a:r>
            <a:r>
              <a:t>, </a:t>
            </a:r>
            <a:r>
              <a:rPr lang="en-US"/>
              <a:t>node-&gt;right</a:t>
            </a:r>
            <a:r>
              <a:t>)</a:t>
            </a:r>
          </a:p>
          <a:p>
            <a:pPr marL="0" indent="0">
              <a:buNone/>
            </a:pPr>
            <a:r>
              <a:t>        </a:t>
            </a:r>
            <a:r>
              <a:rPr lang="en-US"/>
              <a:t>		PUSH</a:t>
            </a:r>
            <a:r>
              <a:t>(</a:t>
            </a:r>
            <a:r>
              <a:rPr lang="en-US"/>
              <a:t>to_visit, node-&gt;left</a:t>
            </a:r>
            <a:r>
              <a:t>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62" y="262442"/>
            <a:ext cx="8891913" cy="607653"/>
          </a:xfrm>
        </p:spPr>
        <p:txBody>
          <a:bodyPr>
            <a:spAutoFit/>
          </a:bodyPr>
          <a:lstStyle/>
          <a:p>
            <a:r>
              <a:rPr lang="ko-KR" altLang="en-US"/>
              <a:t>이진 </a:t>
            </a:r>
            <a:r>
              <a:t>트리 방문 - Preorder (</a:t>
            </a:r>
            <a:r>
              <a:rPr lang="ko-KR" altLang="en-US"/>
              <a:t>효율적</a:t>
            </a:r>
            <a:r>
              <a:t> 구현)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/>
              <a:t>함수 </a:t>
            </a:r>
            <a:r>
              <a:t>PREORDER_STACK2(</a:t>
            </a:r>
            <a:r>
              <a:rPr lang="en-US"/>
              <a:t>node</a:t>
            </a:r>
            <a:r>
              <a:t>):</a:t>
            </a:r>
          </a:p>
          <a:p>
            <a:r>
              <a:t>    </a:t>
            </a:r>
            <a:r>
              <a:rPr lang="en-US"/>
              <a:t>	stack</a:t>
            </a:r>
            <a:r>
              <a:t>에 새로운 스택 저장</a:t>
            </a:r>
          </a:p>
          <a:p>
            <a:r>
              <a:t>    </a:t>
            </a:r>
            <a:r>
              <a:rPr lang="en-US"/>
              <a:t>	</a:t>
            </a:r>
            <a:r>
              <a:t>반복: </a:t>
            </a:r>
            <a:r>
              <a:rPr lang="en-US"/>
              <a:t>node</a:t>
            </a:r>
            <a:r>
              <a:t> != NULL 또는 </a:t>
            </a:r>
            <a:r>
              <a:rPr lang="en-US"/>
              <a:t>!EMPTY(stack)</a:t>
            </a:r>
            <a:endParaRPr/>
          </a:p>
          <a:p>
            <a:pPr marL="0" indent="0">
              <a:buNone/>
            </a:pPr>
            <a:r>
              <a:t>    </a:t>
            </a:r>
            <a:r>
              <a:rPr lang="en-US"/>
              <a:t>		</a:t>
            </a:r>
            <a:r>
              <a:t>만약: </a:t>
            </a:r>
            <a:r>
              <a:rPr lang="en-US"/>
              <a:t>node</a:t>
            </a:r>
            <a:r>
              <a:t> != NULL이면</a:t>
            </a:r>
          </a:p>
          <a:p>
            <a:pPr marL="0" indent="0">
              <a:buNone/>
            </a:pPr>
            <a:r>
              <a:t>            </a:t>
            </a:r>
            <a:r>
              <a:rPr lang="en-US"/>
              <a:t> 		PROCESS_PRE</a:t>
            </a:r>
            <a:r>
              <a:t>(</a:t>
            </a:r>
            <a:r>
              <a:rPr lang="en-US"/>
              <a:t>node-&gt;value</a:t>
            </a:r>
            <a:r>
              <a:t>)</a:t>
            </a:r>
          </a:p>
          <a:p>
            <a:pPr marL="0" indent="0">
              <a:buNone/>
            </a:pPr>
            <a:r>
              <a:t>           </a:t>
            </a:r>
            <a:r>
              <a:rPr lang="en-US"/>
              <a:t>			PUSH</a:t>
            </a:r>
            <a:r>
              <a:t>(</a:t>
            </a:r>
            <a:r>
              <a:rPr lang="en-US"/>
              <a:t>stack</a:t>
            </a:r>
            <a:r>
              <a:t>, </a:t>
            </a:r>
            <a:r>
              <a:rPr lang="en-US"/>
              <a:t>node</a:t>
            </a:r>
            <a:r>
              <a:t>)</a:t>
            </a:r>
          </a:p>
          <a:p>
            <a:pPr marL="0" indent="0">
              <a:buNone/>
            </a:pPr>
            <a:r>
              <a:t>            </a:t>
            </a:r>
            <a:r>
              <a:rPr lang="en-US"/>
              <a:t>			node</a:t>
            </a:r>
            <a:r>
              <a:t>에 </a:t>
            </a:r>
            <a:r>
              <a:rPr lang="en-US"/>
              <a:t>node-&gt;left</a:t>
            </a:r>
            <a:r>
              <a:t> 저장</a:t>
            </a:r>
          </a:p>
          <a:p>
            <a:pPr marL="0" indent="0">
              <a:buNone/>
            </a:pPr>
            <a:r>
              <a:t>        </a:t>
            </a:r>
            <a:r>
              <a:rPr lang="en-US"/>
              <a:t>    		</a:t>
            </a:r>
            <a:r>
              <a:t>그렇지 않으면:</a:t>
            </a:r>
          </a:p>
          <a:p>
            <a:pPr marL="0" indent="0">
              <a:buNone/>
            </a:pPr>
            <a:r>
              <a:t>            </a:t>
            </a:r>
            <a:r>
              <a:rPr lang="en-US"/>
              <a:t>			node</a:t>
            </a:r>
            <a:r>
              <a:t>에 pop(</a:t>
            </a:r>
            <a:r>
              <a:rPr lang="en-US"/>
              <a:t>stack</a:t>
            </a:r>
            <a:r>
              <a:t>)</a:t>
            </a:r>
            <a:r>
              <a:rPr lang="en-US"/>
              <a:t>-&gt;right</a:t>
            </a:r>
            <a:r>
              <a:t> 저장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7882" y="262442"/>
            <a:ext cx="5804593" cy="607653"/>
          </a:xfrm>
        </p:spPr>
        <p:txBody>
          <a:bodyPr>
            <a:spAutoFit/>
          </a:bodyPr>
          <a:lstStyle/>
          <a:p>
            <a:r>
              <a:rPr lang="ko-KR" altLang="en-US"/>
              <a:t>이진 </a:t>
            </a:r>
            <a:r>
              <a:t>트리 방문 - Inorder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0178" y="1825625"/>
            <a:ext cx="8515350" cy="4351338"/>
          </a:xfrm>
        </p:spPr>
        <p:txBody>
          <a:bodyPr/>
          <a:lstStyle/>
          <a:p>
            <a:pPr marL="0" indent="0">
              <a:buNone/>
            </a:pPr>
            <a:r>
              <a:rPr lang="ko-KR" altLang="en-US"/>
              <a:t>함수 </a:t>
            </a:r>
            <a:r>
              <a:t>INORDER_STACK(</a:t>
            </a:r>
            <a:r>
              <a:rPr lang="en-US"/>
              <a:t>node</a:t>
            </a:r>
            <a:r>
              <a:t>):</a:t>
            </a:r>
          </a:p>
          <a:p>
            <a:r>
              <a:t>   </a:t>
            </a:r>
            <a:r>
              <a:rPr lang="en-US"/>
              <a:t>	stack</a:t>
            </a:r>
            <a:r>
              <a:t>에 새로운 스택 저장</a:t>
            </a:r>
          </a:p>
          <a:p>
            <a:r>
              <a:t>    </a:t>
            </a:r>
            <a:r>
              <a:rPr lang="en-US"/>
              <a:t>	</a:t>
            </a:r>
            <a:r>
              <a:t>반복: </a:t>
            </a:r>
            <a:r>
              <a:rPr lang="en-US"/>
              <a:t>node</a:t>
            </a:r>
            <a:r>
              <a:t> != NULL 또는 </a:t>
            </a:r>
            <a:r>
              <a:rPr lang="en-US"/>
              <a:t>!EMPTY(stack)</a:t>
            </a:r>
            <a:endParaRPr/>
          </a:p>
          <a:p>
            <a:pPr marL="0" indent="0">
              <a:buNone/>
            </a:pPr>
            <a:r>
              <a:t>        </a:t>
            </a:r>
            <a:r>
              <a:rPr lang="en-US"/>
              <a:t>		</a:t>
            </a:r>
            <a:r>
              <a:t>만약: </a:t>
            </a:r>
            <a:r>
              <a:rPr lang="en-US"/>
              <a:t>node</a:t>
            </a:r>
            <a:r>
              <a:t> != NULL이면</a:t>
            </a:r>
          </a:p>
          <a:p>
            <a:pPr marL="0" indent="0">
              <a:buNone/>
            </a:pPr>
            <a:r>
              <a:t>            </a:t>
            </a:r>
            <a:r>
              <a:rPr lang="en-US"/>
              <a:t>			PUSH</a:t>
            </a:r>
            <a:r>
              <a:t>(</a:t>
            </a:r>
            <a:r>
              <a:rPr lang="en-US"/>
              <a:t>stack</a:t>
            </a:r>
            <a:r>
              <a:t>, </a:t>
            </a:r>
            <a:r>
              <a:rPr lang="en-US"/>
              <a:t>node</a:t>
            </a:r>
            <a:r>
              <a:t>)</a:t>
            </a:r>
          </a:p>
          <a:p>
            <a:pPr marL="0" indent="0">
              <a:buNone/>
            </a:pPr>
            <a:r>
              <a:t>            </a:t>
            </a:r>
            <a:r>
              <a:rPr lang="en-US"/>
              <a:t>			node</a:t>
            </a:r>
            <a:r>
              <a:t>에 </a:t>
            </a:r>
            <a:r>
              <a:rPr lang="en-US"/>
              <a:t>node-&gt;left</a:t>
            </a:r>
            <a:r>
              <a:t> 저장</a:t>
            </a:r>
          </a:p>
          <a:p>
            <a:pPr marL="0" indent="0">
              <a:buNone/>
            </a:pPr>
            <a:r>
              <a:t>        </a:t>
            </a:r>
            <a:r>
              <a:rPr lang="en-US"/>
              <a:t>		</a:t>
            </a:r>
            <a:r>
              <a:t>그렇지 않으면:</a:t>
            </a:r>
          </a:p>
          <a:p>
            <a:pPr marL="0" indent="0">
              <a:buNone/>
            </a:pPr>
            <a:r>
              <a:t>            </a:t>
            </a:r>
            <a:r>
              <a:rPr lang="en-US"/>
              <a:t>			node</a:t>
            </a:r>
            <a:r>
              <a:t>에 </a:t>
            </a:r>
            <a:r>
              <a:rPr lang="en-US"/>
              <a:t>POP</a:t>
            </a:r>
            <a:r>
              <a:t>(</a:t>
            </a:r>
            <a:r>
              <a:rPr lang="en-US"/>
              <a:t>stack</a:t>
            </a:r>
            <a:r>
              <a:t>) 저장</a:t>
            </a:r>
          </a:p>
          <a:p>
            <a:pPr marL="0" indent="0">
              <a:buNone/>
            </a:pPr>
            <a:r>
              <a:t>            </a:t>
            </a:r>
            <a:r>
              <a:rPr lang="en-US"/>
              <a:t>			PROCESS_IN</a:t>
            </a:r>
            <a:r>
              <a:t>(</a:t>
            </a:r>
            <a:r>
              <a:rPr lang="en-US"/>
              <a:t>node</a:t>
            </a:r>
            <a:r>
              <a:t>)</a:t>
            </a:r>
          </a:p>
          <a:p>
            <a:pPr marL="0" indent="0">
              <a:buNone/>
            </a:pPr>
            <a:r>
              <a:t>   </a:t>
            </a:r>
            <a:r>
              <a:rPr lang="en-US"/>
              <a:t>			node</a:t>
            </a:r>
            <a:r>
              <a:t>에 </a:t>
            </a:r>
            <a:r>
              <a:rPr lang="en-US"/>
              <a:t>node-&gt;right</a:t>
            </a:r>
            <a:r>
              <a:t> 저장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6758" y="262442"/>
            <a:ext cx="6395717" cy="607653"/>
          </a:xfrm>
        </p:spPr>
        <p:txBody>
          <a:bodyPr>
            <a:spAutoFit/>
          </a:bodyPr>
          <a:lstStyle/>
          <a:p>
            <a:r>
              <a:rPr lang="ko-KR" altLang="en-US"/>
              <a:t>이진 </a:t>
            </a:r>
            <a:r>
              <a:t>트리 방문 - Postorder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/>
              <a:t>함수 </a:t>
            </a:r>
            <a:r>
              <a:t>POSTORDER_STACK(</a:t>
            </a:r>
            <a:r>
              <a:rPr lang="en-US"/>
              <a:t>node</a:t>
            </a:r>
            <a:r>
              <a:t>):</a:t>
            </a:r>
          </a:p>
          <a:p>
            <a:r>
              <a:t>    </a:t>
            </a:r>
            <a:r>
              <a:rPr lang="en-US"/>
              <a:t>	stack</a:t>
            </a:r>
            <a:r>
              <a:t>에 새로운 스택 저장</a:t>
            </a:r>
          </a:p>
          <a:p>
            <a:r>
              <a:t>    </a:t>
            </a:r>
            <a:r>
              <a:rPr lang="en-US"/>
              <a:t>	done</a:t>
            </a:r>
            <a:r>
              <a:rPr lang="ko-KR" altLang="en-US"/>
              <a:t>에</a:t>
            </a:r>
            <a:r>
              <a:t> NULL</a:t>
            </a:r>
            <a:r>
              <a:rPr lang="en-US"/>
              <a:t> </a:t>
            </a:r>
            <a:r>
              <a:rPr lang="ko-KR" altLang="en-US"/>
              <a:t>저장</a:t>
            </a:r>
            <a:endParaRPr/>
          </a:p>
          <a:p>
            <a:r>
              <a:t>    </a:t>
            </a:r>
            <a:r>
              <a:rPr lang="en-US"/>
              <a:t>	</a:t>
            </a:r>
            <a:r>
              <a:t>반복: </a:t>
            </a:r>
            <a:r>
              <a:rPr lang="en-US"/>
              <a:t>node</a:t>
            </a:r>
            <a:r>
              <a:t> != NULL 또는 </a:t>
            </a:r>
            <a:r>
              <a:rPr lang="en-US"/>
              <a:t>!EMPTY(stack)</a:t>
            </a:r>
            <a:endParaRPr/>
          </a:p>
          <a:p>
            <a:pPr marL="0" indent="0">
              <a:buNone/>
            </a:pPr>
            <a:r>
              <a:t>        </a:t>
            </a:r>
            <a:r>
              <a:rPr lang="en-US"/>
              <a:t>		</a:t>
            </a:r>
            <a:r>
              <a:t>만약: </a:t>
            </a:r>
            <a:r>
              <a:rPr lang="en-US"/>
              <a:t>node</a:t>
            </a:r>
            <a:r>
              <a:t> != NULL이면</a:t>
            </a:r>
          </a:p>
          <a:p>
            <a:pPr marL="0" indent="0">
              <a:buNone/>
            </a:pPr>
            <a:r>
              <a:t>            </a:t>
            </a:r>
            <a:r>
              <a:rPr lang="en-US"/>
              <a:t>			PUSH</a:t>
            </a:r>
            <a:r>
              <a:t>(</a:t>
            </a:r>
            <a:r>
              <a:rPr lang="en-US"/>
              <a:t>stack</a:t>
            </a:r>
            <a:r>
              <a:t>, </a:t>
            </a:r>
            <a:r>
              <a:rPr lang="en-US"/>
              <a:t>node</a:t>
            </a:r>
            <a:r>
              <a:t>)</a:t>
            </a:r>
          </a:p>
          <a:p>
            <a:pPr marL="0" indent="0">
              <a:buNone/>
            </a:pPr>
            <a:r>
              <a:t>            </a:t>
            </a:r>
            <a:r>
              <a:rPr lang="en-US"/>
              <a:t>			node</a:t>
            </a:r>
            <a:r>
              <a:t>에 </a:t>
            </a:r>
            <a:r>
              <a:rPr lang="en-US"/>
              <a:t>node-&gt;left</a:t>
            </a:r>
            <a:r>
              <a:t> 저장</a:t>
            </a:r>
            <a:endParaRPr lang="en-US"/>
          </a:p>
          <a:p>
            <a:pPr marL="0" indent="0">
              <a:buNone/>
            </a:pPr>
            <a:r>
              <a:rPr lang="en-US"/>
              <a:t>			</a:t>
            </a:r>
            <a:r>
              <a:rPr lang="ko-KR" altLang="en-US"/>
              <a:t>다음 반복으로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C5692-D10B-224B-3FB2-0DB3F58D5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1788B-4802-9005-321F-EC97B22F1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6526" y="262442"/>
            <a:ext cx="6305949" cy="607653"/>
          </a:xfrm>
        </p:spPr>
        <p:txBody>
          <a:bodyPr>
            <a:spAutoFit/>
          </a:bodyPr>
          <a:lstStyle/>
          <a:p>
            <a:r>
              <a:rPr lang="ko-KR" altLang="en-US"/>
              <a:t>이진 </a:t>
            </a:r>
            <a:r>
              <a:t>트리 방문 - Postorder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0DF6A-97C8-8FE0-44AF-1A56B0D58D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            </a:t>
            </a:r>
            <a:r>
              <a:rPr lang="en-US"/>
              <a:t>		node</a:t>
            </a:r>
            <a:r>
              <a:t>에 </a:t>
            </a:r>
            <a:r>
              <a:rPr lang="en-US"/>
              <a:t>PEEK</a:t>
            </a:r>
            <a:r>
              <a:t>(</a:t>
            </a:r>
            <a:r>
              <a:rPr lang="en-US"/>
              <a:t>stack</a:t>
            </a:r>
            <a:r>
              <a:t>) 저장</a:t>
            </a:r>
          </a:p>
          <a:p>
            <a:pPr marL="0" indent="0">
              <a:buNone/>
            </a:pPr>
            <a:r>
              <a:t>            </a:t>
            </a:r>
            <a:r>
              <a:rPr lang="en-US"/>
              <a:t>		</a:t>
            </a:r>
            <a:r>
              <a:t>만약: </a:t>
            </a:r>
            <a:r>
              <a:rPr lang="en-US"/>
              <a:t>	node-&gt;right</a:t>
            </a:r>
            <a:r>
              <a:t> != </a:t>
            </a:r>
            <a:r>
              <a:rPr lang="en-US"/>
              <a:t>done</a:t>
            </a:r>
            <a:r>
              <a:t> </a:t>
            </a:r>
            <a:endParaRPr lang="en-US"/>
          </a:p>
          <a:p>
            <a:pPr marL="0" indent="0">
              <a:buNone/>
            </a:pPr>
            <a:r>
              <a:rPr lang="en-US"/>
              <a:t>			</a:t>
            </a:r>
            <a:r>
              <a:rPr lang="ko-KR" altLang="en-US"/>
              <a:t>그리고 </a:t>
            </a:r>
            <a:r>
              <a:rPr lang="en-US"/>
              <a:t>node-&gt;right</a:t>
            </a:r>
            <a:r>
              <a:t> != NULL이면</a:t>
            </a:r>
          </a:p>
          <a:p>
            <a:pPr marL="0" indent="0">
              <a:buNone/>
            </a:pPr>
            <a:r>
              <a:t>                </a:t>
            </a:r>
            <a:r>
              <a:rPr lang="en-US"/>
              <a:t>		node</a:t>
            </a:r>
            <a:r>
              <a:t>에 </a:t>
            </a:r>
            <a:r>
              <a:rPr lang="en-US"/>
              <a:t>node-&gt;right</a:t>
            </a:r>
            <a:r>
              <a:t> 저장</a:t>
            </a:r>
          </a:p>
          <a:p>
            <a:pPr marL="0" indent="0">
              <a:buNone/>
            </a:pPr>
            <a:r>
              <a:t>                </a:t>
            </a:r>
            <a:r>
              <a:rPr lang="en-US"/>
              <a:t>		</a:t>
            </a:r>
            <a:r>
              <a:t>다음 반복으로            </a:t>
            </a:r>
            <a:endParaRPr lang="en-US"/>
          </a:p>
          <a:p>
            <a:pPr marL="0" indent="0">
              <a:buNone/>
            </a:pPr>
            <a:r>
              <a:rPr lang="en-US"/>
              <a:t>		PROCESS_POST</a:t>
            </a:r>
            <a:r>
              <a:t>(</a:t>
            </a:r>
            <a:r>
              <a:rPr lang="en-US"/>
              <a:t>node-&gt;value</a:t>
            </a:r>
            <a:r>
              <a:t>)</a:t>
            </a:r>
            <a:endParaRPr lang="en-US"/>
          </a:p>
          <a:p>
            <a:pPr marL="0" indent="0">
              <a:buNone/>
            </a:pPr>
            <a:r>
              <a:rPr lang="en-US"/>
              <a:t>		done</a:t>
            </a:r>
            <a:r>
              <a:t>에 </a:t>
            </a:r>
            <a:r>
              <a:rPr lang="en-US"/>
              <a:t>node</a:t>
            </a:r>
            <a:r>
              <a:t> 저장</a:t>
            </a:r>
          </a:p>
          <a:p>
            <a:pPr marL="0" indent="0">
              <a:buNone/>
            </a:pPr>
            <a:r>
              <a:t>            </a:t>
            </a:r>
            <a:r>
              <a:rPr lang="en-US"/>
              <a:t>		POP</a:t>
            </a:r>
            <a:r>
              <a:t>(</a:t>
            </a:r>
            <a:r>
              <a:rPr lang="en-US"/>
              <a:t>stack</a:t>
            </a:r>
            <a:r>
              <a:t>)</a:t>
            </a:r>
          </a:p>
          <a:p>
            <a:pPr marL="0" indent="0">
              <a:buNone/>
            </a:pPr>
            <a:r>
              <a:t>            </a:t>
            </a:r>
            <a:r>
              <a:rPr lang="en-US"/>
              <a:t>		node</a:t>
            </a:r>
            <a:r>
              <a:t>에 NULL 저장</a:t>
            </a:r>
          </a:p>
        </p:txBody>
      </p:sp>
    </p:spTree>
    <p:extLst>
      <p:ext uri="{BB962C8B-B14F-4D97-AF65-F5344CB8AC3E}">
        <p14:creationId xmlns:p14="http://schemas.microsoft.com/office/powerpoint/2010/main" val="24517323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3D8F0-5D8C-BA9B-120A-454180258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D429B-1BE0-D0DB-8E4E-867F2A1AA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945" y="262442"/>
            <a:ext cx="8661530" cy="607653"/>
          </a:xfrm>
        </p:spPr>
        <p:txBody>
          <a:bodyPr>
            <a:spAutoFit/>
          </a:bodyPr>
          <a:lstStyle/>
          <a:p>
            <a:r>
              <a:rPr lang="ko-KR" altLang="en-US"/>
              <a:t>이진 </a:t>
            </a:r>
            <a:r>
              <a:t>트리 방문 - </a:t>
            </a:r>
            <a:r>
              <a:rPr lang="ko-KR" altLang="en-US"/>
              <a:t>너비 우선</a:t>
            </a:r>
            <a:r>
              <a:t> (</a:t>
            </a:r>
            <a:r>
              <a:rPr lang="ko-KR" altLang="en-US"/>
              <a:t>큐</a:t>
            </a:r>
            <a:r>
              <a:t>로 구현)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DE0851-AEA2-9682-AF46-05C4F61798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/>
              <a:t>함수 </a:t>
            </a:r>
            <a:r>
              <a:rPr lang="en-US"/>
              <a:t>LEVEL</a:t>
            </a:r>
            <a:r>
              <a:t>ORDER_STACK(</a:t>
            </a:r>
            <a:r>
              <a:rPr lang="en-US"/>
              <a:t>node</a:t>
            </a:r>
            <a:r>
              <a:t>):</a:t>
            </a:r>
          </a:p>
          <a:p>
            <a:r>
              <a:t>    </a:t>
            </a:r>
            <a:r>
              <a:rPr lang="en-US"/>
              <a:t>	q</a:t>
            </a:r>
            <a:r>
              <a:t>에 새로운 </a:t>
            </a:r>
            <a:r>
              <a:rPr lang="ko-KR" altLang="en-US"/>
              <a:t>큐</a:t>
            </a:r>
            <a:r>
              <a:t> 저장</a:t>
            </a:r>
          </a:p>
          <a:p>
            <a:r>
              <a:t>    </a:t>
            </a:r>
            <a:r>
              <a:rPr lang="en-US"/>
              <a:t>	ENQUEUE(q, node)</a:t>
            </a:r>
            <a:endParaRPr/>
          </a:p>
          <a:p>
            <a:r>
              <a:t>    </a:t>
            </a:r>
            <a:r>
              <a:rPr lang="en-US"/>
              <a:t>	</a:t>
            </a:r>
            <a:r>
              <a:t>반복: </a:t>
            </a:r>
            <a:r>
              <a:rPr lang="en-US"/>
              <a:t>!EMPTY(q)</a:t>
            </a:r>
          </a:p>
          <a:p>
            <a:pPr marL="0" indent="0">
              <a:buNone/>
            </a:pPr>
            <a:r>
              <a:rPr lang="en-US"/>
              <a:t>		node</a:t>
            </a:r>
            <a:r>
              <a:rPr lang="ko-KR" altLang="en-US"/>
              <a:t>에 </a:t>
            </a:r>
            <a:r>
              <a:rPr lang="en-US" altLang="ko-KR"/>
              <a:t>DEQUEUE(q) </a:t>
            </a:r>
            <a:r>
              <a:rPr lang="ko-KR" altLang="en-US"/>
              <a:t>저장</a:t>
            </a:r>
            <a:endParaRPr/>
          </a:p>
          <a:p>
            <a:pPr marL="0" indent="0">
              <a:buNone/>
            </a:pPr>
            <a:r>
              <a:t>        </a:t>
            </a:r>
            <a:r>
              <a:rPr lang="en-US"/>
              <a:t>		</a:t>
            </a:r>
            <a:r>
              <a:t>만약: </a:t>
            </a:r>
            <a:r>
              <a:rPr lang="en-US"/>
              <a:t>node</a:t>
            </a:r>
            <a:r>
              <a:t> != NULL이면</a:t>
            </a:r>
            <a:endParaRPr lang="en-US"/>
          </a:p>
          <a:p>
            <a:pPr marL="0" indent="0">
              <a:buNone/>
            </a:pPr>
            <a:r>
              <a:rPr lang="en-US"/>
              <a:t>			PROCESS_LEVEL(node-&gt;value)</a:t>
            </a:r>
          </a:p>
          <a:p>
            <a:pPr marL="0" indent="0">
              <a:buNone/>
            </a:pPr>
            <a:r>
              <a:rPr lang="en-US"/>
              <a:t>			ENQUEUE(q, node-&gt;left)</a:t>
            </a:r>
            <a:endParaRPr/>
          </a:p>
          <a:p>
            <a:pPr marL="0" indent="0">
              <a:buNone/>
            </a:pPr>
            <a:r>
              <a:rPr lang="en-US" altLang="ko-KR"/>
              <a:t>			ENQUEUE(q, node-&gt;right)</a:t>
            </a:r>
          </a:p>
        </p:txBody>
      </p:sp>
    </p:spTree>
    <p:extLst>
      <p:ext uri="{BB962C8B-B14F-4D97-AF65-F5344CB8AC3E}">
        <p14:creationId xmlns:p14="http://schemas.microsoft.com/office/powerpoint/2010/main" val="2191737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17281</TotalTime>
  <Words>1593</Words>
  <Application>Microsoft Office PowerPoint</Application>
  <PresentationFormat>화면 슬라이드 쇼(4:3)</PresentationFormat>
  <Paragraphs>272</Paragraphs>
  <Slides>36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41" baseType="lpstr">
      <vt:lpstr>맑은 고딕</vt:lpstr>
      <vt:lpstr>Aptos</vt:lpstr>
      <vt:lpstr>Aptos Display</vt:lpstr>
      <vt:lpstr>Arial</vt:lpstr>
      <vt:lpstr>Office 테마</vt:lpstr>
      <vt:lpstr>자료구조 (Data Structure) 5주차: 트리</vt:lpstr>
      <vt:lpstr>선형 (일차원) 자료구조 정리</vt:lpstr>
      <vt:lpstr>이번 시간 목차</vt:lpstr>
      <vt:lpstr>새로운 자료 구조</vt:lpstr>
      <vt:lpstr>새로운 자료 구조</vt:lpstr>
      <vt:lpstr>트리란?</vt:lpstr>
      <vt:lpstr>이진 트리</vt:lpstr>
      <vt:lpstr>이진 트리 노드 타입</vt:lpstr>
      <vt:lpstr>이진 트리 예시</vt:lpstr>
      <vt:lpstr>예제: 더하기/곱하기 수식 트리</vt:lpstr>
      <vt:lpstr>예제: 더하기/곱하기 수식 트리</vt:lpstr>
      <vt:lpstr>예제: 더하기/곱하기 수식 토큰</vt:lpstr>
      <vt:lpstr>예제: 더하기/곱하기 수식 트리 생성</vt:lpstr>
      <vt:lpstr>예제: 더하기/곱하기 수식 트리 생성</vt:lpstr>
      <vt:lpstr>예제: 더하기/곱하기 수식 트리 생성</vt:lpstr>
      <vt:lpstr>예제: 더하기/곱하기 수식 트리 계산</vt:lpstr>
      <vt:lpstr>예제: 더하기/곱하기 수식 트리 계산</vt:lpstr>
      <vt:lpstr>예제: 더하기/곱하기 수식 트리 계산</vt:lpstr>
      <vt:lpstr>예제: 더하기/곱하기 수식 트리 계산</vt:lpstr>
      <vt:lpstr>예제: 더하기/곱하기 수식 트리 계산</vt:lpstr>
      <vt:lpstr>이진 트리 방문</vt:lpstr>
      <vt:lpstr>깊이 우선 이진 트리 방문 구현</vt:lpstr>
      <vt:lpstr>이진 트리 방문시 작업 타이밍 - Preorder</vt:lpstr>
      <vt:lpstr>이진 트리 방문시 작업 타이밍 - Preorder</vt:lpstr>
      <vt:lpstr>이진 트리 방문시 작업 타이밍 - Inorder</vt:lpstr>
      <vt:lpstr>이진 트리 방문시 작업 타이밍 - Inorder</vt:lpstr>
      <vt:lpstr>이진 트리 방문시 작업 타이밍 - Postorder</vt:lpstr>
      <vt:lpstr>이진 트리 방문시 작업 타이밍 - Postorder</vt:lpstr>
      <vt:lpstr>이진 트리 방문 퀴즈</vt:lpstr>
      <vt:lpstr>요약</vt:lpstr>
      <vt:lpstr>이진 트리 방문 - Preorder (스택으로 구현)</vt:lpstr>
      <vt:lpstr>이진 트리 방문 - Preorder (효율적 구현)</vt:lpstr>
      <vt:lpstr>이진 트리 방문 - Inorder</vt:lpstr>
      <vt:lpstr>이진 트리 방문 - Postorder</vt:lpstr>
      <vt:lpstr>이진 트리 방문 - Postorder</vt:lpstr>
      <vt:lpstr>이진 트리 방문 - 너비 우선 (큐로 구현)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 C</dc:creator>
  <cp:lastModifiedBy>K C</cp:lastModifiedBy>
  <cp:revision>48</cp:revision>
  <dcterms:created xsi:type="dcterms:W3CDTF">2025-07-28T15:04:23Z</dcterms:created>
  <dcterms:modified xsi:type="dcterms:W3CDTF">2025-10-08T09:40:07Z</dcterms:modified>
</cp:coreProperties>
</file>