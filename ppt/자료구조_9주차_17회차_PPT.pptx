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85" r:id="rId6"/>
    <p:sldId id="260" r:id="rId7"/>
    <p:sldId id="261" r:id="rId8"/>
    <p:sldId id="262" r:id="rId9"/>
    <p:sldId id="263" r:id="rId10"/>
    <p:sldId id="286" r:id="rId11"/>
    <p:sldId id="264" r:id="rId12"/>
    <p:sldId id="288" r:id="rId13"/>
    <p:sldId id="287" r:id="rId14"/>
    <p:sldId id="265" r:id="rId15"/>
    <p:sldId id="266" r:id="rId16"/>
    <p:sldId id="267" r:id="rId17"/>
    <p:sldId id="268" r:id="rId18"/>
    <p:sldId id="289" r:id="rId19"/>
    <p:sldId id="290" r:id="rId20"/>
    <p:sldId id="291" r:id="rId21"/>
    <p:sldId id="292" r:id="rId22"/>
    <p:sldId id="293" r:id="rId23"/>
    <p:sldId id="269" r:id="rId24"/>
    <p:sldId id="270" r:id="rId25"/>
    <p:sldId id="271" r:id="rId26"/>
    <p:sldId id="272" r:id="rId27"/>
    <p:sldId id="294" r:id="rId28"/>
    <p:sldId id="295" r:id="rId29"/>
    <p:sldId id="273" r:id="rId30"/>
    <p:sldId id="296" r:id="rId31"/>
    <p:sldId id="297" r:id="rId32"/>
    <p:sldId id="298" r:id="rId33"/>
    <p:sldId id="274" r:id="rId34"/>
    <p:sldId id="299" r:id="rId35"/>
    <p:sldId id="300" r:id="rId36"/>
    <p:sldId id="276" r:id="rId37"/>
    <p:sldId id="277" r:id="rId38"/>
    <p:sldId id="278" r:id="rId39"/>
    <p:sldId id="301" r:id="rId40"/>
    <p:sldId id="302" r:id="rId41"/>
    <p:sldId id="279" r:id="rId42"/>
    <p:sldId id="280" r:id="rId43"/>
    <p:sldId id="281" r:id="rId44"/>
    <p:sldId id="282" r:id="rId45"/>
    <p:sldId id="303" r:id="rId46"/>
    <p:sldId id="283" r:id="rId47"/>
    <p:sldId id="284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2" y="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</a:t>
            </a:r>
          </a:p>
          <a:p>
            <a:r>
              <a:t>9주차: 그래프 최단경로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34" y="262442"/>
            <a:ext cx="2475541" cy="607653"/>
          </a:xfrm>
        </p:spPr>
        <p:txBody>
          <a:bodyPr>
            <a:spAutoFit/>
          </a:bodyPr>
          <a:lstStyle/>
          <a:p>
            <a:r>
              <a:t>그래프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그래프는 노드와 연결선을 모은 것이다</a:t>
            </a:r>
          </a:p>
          <a:p>
            <a:endParaRPr/>
          </a:p>
          <a:p>
            <a:pPr marL="0" indent="0">
              <a:buNone/>
            </a:pPr>
            <a:r>
              <a:t>	 - vertexes: 전체 노드 리스트</a:t>
            </a:r>
          </a:p>
          <a:p>
            <a:endParaRPr/>
          </a:p>
          <a:p>
            <a:pPr marL="0" indent="0">
              <a:buNone/>
            </a:pPr>
            <a:r>
              <a:t>	 - edges: 전체 연결선 리스트</a:t>
            </a:r>
          </a:p>
          <a:p>
            <a:endParaRPr/>
          </a:p>
          <a:p>
            <a:pPr marL="0" indent="0">
              <a:buNone/>
            </a:pPr>
            <a:r>
              <a:t>	 - adj_matrix: 연결선 이차원 배열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그래프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 노드는 </a:t>
            </a:r>
            <a:r>
              <a:rPr lang="ko-KR" altLang="en-US"/>
              <a:t>데이터</a:t>
            </a:r>
            <a:r>
              <a:t>와 이웃 리스트를 갖고 있다</a:t>
            </a:r>
          </a:p>
          <a:p>
            <a:endParaRPr/>
          </a:p>
          <a:p>
            <a:pPr marL="0" indent="0">
              <a:buNone/>
            </a:pPr>
            <a:r>
              <a:t>	 - distance: 특정 노드로부터의 최단 거리</a:t>
            </a:r>
          </a:p>
          <a:p>
            <a:endParaRPr/>
          </a:p>
          <a:p>
            <a:pPr marL="0" indent="0">
              <a:buNone/>
            </a:pPr>
            <a:r>
              <a:t>	 - parent: 최단 경로 상에서 이전 노드</a:t>
            </a:r>
          </a:p>
          <a:p>
            <a:endParaRPr/>
          </a:p>
          <a:p>
            <a:pPr marL="0" indent="0">
              <a:buNone/>
            </a:pPr>
            <a:r>
              <a:t>	 - status: 방문 상태</a:t>
            </a:r>
          </a:p>
          <a:p>
            <a:endParaRPr/>
          </a:p>
          <a:p>
            <a:pPr marL="0" indent="0">
              <a:buNone/>
            </a:pPr>
            <a:r>
              <a:t>	 - adj_list: 연결선 이차원 리스트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그래프 연결선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 연결선</a:t>
            </a:r>
            <a:r>
              <a:rPr lang="ko-KR" altLang="en-US"/>
              <a:t>에는</a:t>
            </a:r>
            <a:r>
              <a:t> 연결</a:t>
            </a:r>
            <a:r>
              <a:rPr lang="ko-KR" altLang="en-US"/>
              <a:t>되</a:t>
            </a:r>
            <a:r>
              <a:t>는 노드와 </a:t>
            </a:r>
            <a:r>
              <a:rPr lang="ko-KR" altLang="en-US"/>
              <a:t>데이터가</a:t>
            </a:r>
            <a:r>
              <a:t> 있다</a:t>
            </a:r>
          </a:p>
          <a:p>
            <a:endParaRPr/>
          </a:p>
          <a:p>
            <a:pPr marL="0" indent="0">
              <a:buNone/>
            </a:pPr>
            <a:r>
              <a:t>	 - length: 연결선의 비용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 - node1: 연결선의 노드</a:t>
            </a:r>
          </a:p>
          <a:p>
            <a:endParaRPr/>
          </a:p>
          <a:p>
            <a:pPr marL="0" indent="0">
              <a:buNone/>
            </a:pPr>
            <a:r>
              <a:t>	 - node2: 연결선의 노드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6AE7-0429-D7DA-2C24-9E48F50B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8EDF-5C7F-D40D-D75F-759AF5D77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06" y="262442"/>
            <a:ext cx="4411969" cy="607653"/>
          </a:xfrm>
        </p:spPr>
        <p:txBody>
          <a:bodyPr>
            <a:spAutoFit/>
          </a:bodyPr>
          <a:lstStyle/>
          <a:p>
            <a:r>
              <a:t>그래프 </a:t>
            </a:r>
            <a:r>
              <a:rPr lang="ko-KR" altLang="en-US"/>
              <a:t>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B244E-15B6-3B8E-A2CD-9F42E8CE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</a:t>
            </a:r>
            <a:r>
              <a:rPr lang="ko-KR" altLang="en-US"/>
              <a:t>에서 한 노드에서 다른 노드로의 최단거리를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구해야할 경우는</a:t>
            </a:r>
            <a:r>
              <a:rPr lang="en-US"/>
              <a:t>?</a:t>
            </a:r>
            <a:endParaRPr/>
          </a:p>
          <a:p>
            <a:endParaRPr lang="en-US"/>
          </a:p>
          <a:p>
            <a:r>
              <a:rPr lang="ko-KR" altLang="en-US"/>
              <a:t>예시</a:t>
            </a:r>
            <a:r>
              <a:rPr lang="en-US" altLang="ko-KR"/>
              <a:t>) </a:t>
            </a:r>
            <a:r>
              <a:rPr lang="ko-KR" altLang="en-US"/>
              <a:t>네비게이션</a:t>
            </a:r>
            <a:r>
              <a:rPr lang="en-US" altLang="ko-KR"/>
              <a:t>, </a:t>
            </a:r>
            <a:r>
              <a:rPr lang="ko-KR" altLang="en-US"/>
              <a:t>인터넷 통신</a:t>
            </a:r>
            <a:r>
              <a:rPr lang="en-US" altLang="ko-KR"/>
              <a:t>, </a:t>
            </a:r>
            <a:r>
              <a:rPr lang="ko-KR" altLang="en-US"/>
              <a:t>공격 경로 분석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197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이번 시간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그래프의 한 </a:t>
            </a:r>
            <a:r>
              <a:rPr lang="ko-KR" altLang="en-US"/>
              <a:t>노드</a:t>
            </a:r>
            <a:r>
              <a:t>에서 다른 모든 노드까지 최단거리</a:t>
            </a:r>
          </a:p>
          <a:p>
            <a:endParaRPr/>
          </a:p>
          <a:p>
            <a:pPr marL="0" indent="0">
              <a:buNone/>
            </a:pPr>
            <a:r>
              <a:t>	 - 연결선 비용이 모두 1일 때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 - 연결선 비용이 0 또는 1일 때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 - 연결선 비용이 0 또는 양수일 때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 - 연결선 비용에 음수가 있을 때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139" y="262442"/>
            <a:ext cx="6316336" cy="607653"/>
          </a:xfrm>
        </p:spPr>
        <p:txBody>
          <a:bodyPr>
            <a:spAutoFit/>
          </a:bodyPr>
          <a:lstStyle/>
          <a:p>
            <a:r>
              <a:t>연결선 비용이 모두 1일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최단거리가 0인 노드는?</a:t>
            </a:r>
          </a:p>
          <a:p>
            <a:endParaRPr/>
          </a:p>
          <a:p>
            <a:r>
              <a:t>최단거리가 1인 노드는?</a:t>
            </a:r>
          </a:p>
          <a:p>
            <a:endParaRPr/>
          </a:p>
          <a:p>
            <a:r>
              <a:t>최단거리가 </a:t>
            </a:r>
            <a:r>
              <a:rPr lang="en-US"/>
              <a:t>2</a:t>
            </a:r>
            <a:r>
              <a:t>인 노드는?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2386AB2-100E-31A9-FA36-FFB78F2C7EC6}"/>
              </a:ext>
            </a:extLst>
          </p:cNvPr>
          <p:cNvSpPr/>
          <p:nvPr/>
        </p:nvSpPr>
        <p:spPr>
          <a:xfrm>
            <a:off x="7176189" y="19047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FBE3B40-228F-D77F-0C34-8BE2AA97F143}"/>
              </a:ext>
            </a:extLst>
          </p:cNvPr>
          <p:cNvSpPr/>
          <p:nvPr/>
        </p:nvSpPr>
        <p:spPr>
          <a:xfrm>
            <a:off x="6603534" y="283764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CA20B2F-719B-F194-E470-A57EBF9F2225}"/>
              </a:ext>
            </a:extLst>
          </p:cNvPr>
          <p:cNvSpPr/>
          <p:nvPr/>
        </p:nvSpPr>
        <p:spPr>
          <a:xfrm>
            <a:off x="7859679" y="283764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26C361E-6F6E-2735-4C13-55B585E57A7C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233049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E2E12E-FD03-B363-F912-89212D57C803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233049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DABED755-D374-DEFF-F553-17BBBAB69497}"/>
              </a:ext>
            </a:extLst>
          </p:cNvPr>
          <p:cNvSpPr/>
          <p:nvPr/>
        </p:nvSpPr>
        <p:spPr>
          <a:xfrm>
            <a:off x="6006734" y="377051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7B7AECA-76F7-C7C3-92A8-03699F9560FC}"/>
              </a:ext>
            </a:extLst>
          </p:cNvPr>
          <p:cNvSpPr/>
          <p:nvPr/>
        </p:nvSpPr>
        <p:spPr>
          <a:xfrm>
            <a:off x="7262879" y="377051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9BFBAFC-711F-5AD3-7A4A-98C44C0A550D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3263365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FD7A5A-7D5A-7161-6963-E19CA3E74D84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4019899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74CF6E9-3EB1-A201-4E87-B3396D349AF9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308702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545A4B-E8AF-D4E3-0CFE-A4F33EC3969E}"/>
              </a:ext>
            </a:extLst>
          </p:cNvPr>
          <p:cNvSpPr txBox="1"/>
          <p:nvPr/>
        </p:nvSpPr>
        <p:spPr>
          <a:xfrm>
            <a:off x="6710102" y="15792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시작점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69CA4E8-D466-B54F-8A39-979292082EDE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3263365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139" y="262442"/>
            <a:ext cx="6316336" cy="607653"/>
          </a:xfrm>
        </p:spPr>
        <p:txBody>
          <a:bodyPr>
            <a:spAutoFit/>
          </a:bodyPr>
          <a:lstStyle/>
          <a:p>
            <a:r>
              <a:t>연결선 비용이 모두 1일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최단거리가 n인 노드들을 전부 알고 있을 때, 최단거리가 n + 1인 노드들을 찾는 방법은?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567D221-5318-C5AD-6DB2-1BEBEC7E54B4}"/>
              </a:ext>
            </a:extLst>
          </p:cNvPr>
          <p:cNvSpPr/>
          <p:nvPr/>
        </p:nvSpPr>
        <p:spPr>
          <a:xfrm>
            <a:off x="7176189" y="31508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FB673D2-D566-4662-C208-2D8896026416}"/>
              </a:ext>
            </a:extLst>
          </p:cNvPr>
          <p:cNvSpPr/>
          <p:nvPr/>
        </p:nvSpPr>
        <p:spPr>
          <a:xfrm>
            <a:off x="6603534" y="408373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E254810-AF2D-18EC-20AB-012CA0E64D66}"/>
              </a:ext>
            </a:extLst>
          </p:cNvPr>
          <p:cNvSpPr/>
          <p:nvPr/>
        </p:nvSpPr>
        <p:spPr>
          <a:xfrm>
            <a:off x="7859679" y="408373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CE25259-7847-59EB-9002-B52C99CE5B03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357658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8F68052-AE34-FD67-C2A5-1031EAA73A17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357658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D6FCDA39-BCFC-2C79-6DDD-CA0C7D7D9A33}"/>
              </a:ext>
            </a:extLst>
          </p:cNvPr>
          <p:cNvSpPr/>
          <p:nvPr/>
        </p:nvSpPr>
        <p:spPr>
          <a:xfrm>
            <a:off x="6006734" y="501661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856AD5A-65CE-26E6-10CC-CFEE61AED2BB}"/>
              </a:ext>
            </a:extLst>
          </p:cNvPr>
          <p:cNvSpPr/>
          <p:nvPr/>
        </p:nvSpPr>
        <p:spPr>
          <a:xfrm>
            <a:off x="7262879" y="501661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840B745-FEF7-B5B5-DF7D-BE2F30A0C417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450945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434E8F5-CE69-C596-29B7-9884B5E1973C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526599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58A6E9-049F-DB1F-AABF-4B22BDFE25E1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433312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46A216F-0BCE-81A2-360C-7C78B0FC7E6D}"/>
              </a:ext>
            </a:extLst>
          </p:cNvPr>
          <p:cNvSpPr txBox="1"/>
          <p:nvPr/>
        </p:nvSpPr>
        <p:spPr>
          <a:xfrm>
            <a:off x="6710102" y="28253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시작점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2F3F169-3A26-EC18-B5F4-B0AE70BEEECF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450945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86" y="262442"/>
            <a:ext cx="8212689" cy="607653"/>
          </a:xfrm>
        </p:spPr>
        <p:txBody>
          <a:bodyPr>
            <a:spAutoFit/>
          </a:bodyPr>
          <a:lstStyle/>
          <a:p>
            <a:r>
              <a:t>연결선 비용이 모두 1일 때</a:t>
            </a:r>
            <a:r>
              <a:rPr lang="en-US"/>
              <a:t> - BFS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BFS(그래프 G, 시작 노드 s):</a:t>
            </a:r>
          </a:p>
          <a:p>
            <a:r>
              <a:t>to_visit = 새로운 큐</a:t>
            </a:r>
          </a:p>
          <a:p>
            <a:r>
              <a:t>반복: G의 모든 노드 u에 대해,</a:t>
            </a:r>
          </a:p>
          <a:p>
            <a:pPr marL="0" indent="0">
              <a:buNone/>
            </a:pPr>
            <a:r>
              <a:t>	u-&gt;distance = 아주 큰 수</a:t>
            </a:r>
          </a:p>
          <a:p>
            <a:pPr marL="0" indent="0">
              <a:buNone/>
            </a:pPr>
            <a:r>
              <a:t>	u-&gt;parent = 없음</a:t>
            </a:r>
          </a:p>
          <a:p>
            <a:pPr marL="0" indent="0">
              <a:buNone/>
            </a:pPr>
            <a:r>
              <a:t>	u-&gt;status = </a:t>
            </a:r>
            <a:r>
              <a:rPr lang="ko-KR" altLang="en-US"/>
              <a:t>추가된적없음</a:t>
            </a:r>
            <a:endParaRPr/>
          </a:p>
          <a:p>
            <a:r>
              <a:t>s-&gt;distance = 0</a:t>
            </a:r>
            <a:endParaRPr lang="en-US"/>
          </a:p>
          <a:p>
            <a:r>
              <a:rPr lang="en-US"/>
              <a:t>s-&gt;status = </a:t>
            </a:r>
            <a:r>
              <a:rPr lang="ko-KR" altLang="en-US"/>
              <a:t>추가된적있음</a:t>
            </a:r>
            <a:endParaRPr/>
          </a:p>
          <a:p>
            <a:r>
              <a:t>to_visit에 s 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8FFE-8AEA-CA26-BA69-D224EF7E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DBCDE-7E41-C3A4-7ED5-471690673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86" y="262442"/>
            <a:ext cx="8212689" cy="607653"/>
          </a:xfrm>
        </p:spPr>
        <p:txBody>
          <a:bodyPr>
            <a:spAutoFit/>
          </a:bodyPr>
          <a:lstStyle/>
          <a:p>
            <a:r>
              <a:t>연결선 비용이 모두 1일 때</a:t>
            </a:r>
            <a:r>
              <a:rPr lang="en-US" altLang="ko-KR"/>
              <a:t> - BFS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3BC60-5834-0F47-353B-09694D3BC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반복: to_visit에 데이터가 있는 동안</a:t>
            </a:r>
          </a:p>
          <a:p>
            <a:pPr marL="0" indent="0">
              <a:buNone/>
            </a:pPr>
            <a:r>
              <a:t>	u = DEQUEUE(to_visit)</a:t>
            </a:r>
          </a:p>
          <a:p>
            <a:pPr marL="0" indent="0">
              <a:buNone/>
            </a:pPr>
            <a:r>
              <a:t>	반복: u의 모든 이웃 노드 v에 대해,</a:t>
            </a:r>
          </a:p>
          <a:p>
            <a:pPr marL="0" indent="0">
              <a:buNone/>
            </a:pPr>
            <a:r>
              <a:t>		만약: v-&gt;status가 방문전</a:t>
            </a:r>
            <a:r>
              <a:rPr lang="ko-KR" altLang="en-US"/>
              <a:t>이</a:t>
            </a:r>
            <a:r>
              <a:t>면,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		v-&gt;parent = u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		v-&gt;distance = u-&gt;distance + 1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		v-&gt;status = </a:t>
            </a:r>
            <a:r>
              <a:rPr lang="ko-KR" altLang="en-US"/>
              <a:t>추가된적있음</a:t>
            </a:r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		to_visit에 v 추가</a:t>
            </a:r>
          </a:p>
        </p:txBody>
      </p:sp>
    </p:spTree>
    <p:extLst>
      <p:ext uri="{BB962C8B-B14F-4D97-AF65-F5344CB8AC3E}">
        <p14:creationId xmlns:p14="http://schemas.microsoft.com/office/powerpoint/2010/main" val="404519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139" y="262442"/>
            <a:ext cx="6316336" cy="607653"/>
          </a:xfrm>
        </p:spPr>
        <p:txBody>
          <a:bodyPr>
            <a:spAutoFit/>
          </a:bodyPr>
          <a:lstStyle/>
          <a:p>
            <a:r>
              <a:t>연결선 비용이 모두 1일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BFS(G, s)</a:t>
            </a:r>
            <a:r>
              <a:rPr lang="ko-KR" altLang="en-US"/>
              <a:t>에서 최단거리가 보장되는 이유는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75255AF-9412-F4EE-684A-A9AF519C38AE}"/>
              </a:ext>
            </a:extLst>
          </p:cNvPr>
          <p:cNvSpPr/>
          <p:nvPr/>
        </p:nvSpPr>
        <p:spPr>
          <a:xfrm>
            <a:off x="7176189" y="31508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011DC38-CE17-C4F3-F698-C1CBD2ECF00D}"/>
              </a:ext>
            </a:extLst>
          </p:cNvPr>
          <p:cNvSpPr/>
          <p:nvPr/>
        </p:nvSpPr>
        <p:spPr>
          <a:xfrm>
            <a:off x="6603534" y="408373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AA88EE4-827C-A66F-7D6E-BAE3C0EE1A50}"/>
              </a:ext>
            </a:extLst>
          </p:cNvPr>
          <p:cNvSpPr/>
          <p:nvPr/>
        </p:nvSpPr>
        <p:spPr>
          <a:xfrm>
            <a:off x="7859679" y="408373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4456F86-71CD-9A4D-986C-A6B4D6939BD6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357658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EC6DC3B-F3EA-AA95-55E7-F149DC43E898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357658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638D8723-E612-F383-14B8-14F79479483C}"/>
              </a:ext>
            </a:extLst>
          </p:cNvPr>
          <p:cNvSpPr/>
          <p:nvPr/>
        </p:nvSpPr>
        <p:spPr>
          <a:xfrm>
            <a:off x="6006734" y="501661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6D8B047-2105-7762-1DCF-74B5AC3991F5}"/>
              </a:ext>
            </a:extLst>
          </p:cNvPr>
          <p:cNvSpPr/>
          <p:nvPr/>
        </p:nvSpPr>
        <p:spPr>
          <a:xfrm>
            <a:off x="7262879" y="501661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16B2E4-170A-9A7B-45DE-5CD4A7AD692E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450945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D656460-A5F9-E0C2-ACA2-8FCD309B0234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526599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FAF5069-7112-8DF3-DDB4-B1EBDEE3DD9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433312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377A345-0B53-476E-9AA5-AF2CDC074CC1}"/>
              </a:ext>
            </a:extLst>
          </p:cNvPr>
          <p:cNvSpPr txBox="1"/>
          <p:nvPr/>
        </p:nvSpPr>
        <p:spPr>
          <a:xfrm>
            <a:off x="7029255" y="282538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3C573C8-4AF9-3D76-6922-91F17F932EEA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450945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4739F-2C6D-2A6C-7AD0-FC3FE6A0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F193-CF8F-68B7-4303-9E694BC5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139" y="262442"/>
            <a:ext cx="6316336" cy="607653"/>
          </a:xfrm>
        </p:spPr>
        <p:txBody>
          <a:bodyPr>
            <a:spAutoFit/>
          </a:bodyPr>
          <a:lstStyle/>
          <a:p>
            <a:r>
              <a:t>연결선 비용이 모두 1일 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7002-D9D9-C062-8D7A-2D295947F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그래프에서 BFS(G, s)를 실행하면?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D43FE2E-B604-14C7-4695-1895953CC0AA}"/>
              </a:ext>
            </a:extLst>
          </p:cNvPr>
          <p:cNvSpPr/>
          <p:nvPr/>
        </p:nvSpPr>
        <p:spPr>
          <a:xfrm>
            <a:off x="7176189" y="31508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FE48EE1-53BD-B219-5D5D-717CBF7F9E83}"/>
              </a:ext>
            </a:extLst>
          </p:cNvPr>
          <p:cNvSpPr/>
          <p:nvPr/>
        </p:nvSpPr>
        <p:spPr>
          <a:xfrm>
            <a:off x="6603534" y="408373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BEB86EF-1E3F-F9E4-055A-B5C6E0E60DC5}"/>
              </a:ext>
            </a:extLst>
          </p:cNvPr>
          <p:cNvSpPr/>
          <p:nvPr/>
        </p:nvSpPr>
        <p:spPr>
          <a:xfrm>
            <a:off x="7859679" y="408373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C3906CB-9298-1D03-3E6C-90F6F7A2D989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357658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084D21E-3AB3-437F-5B6D-89CBE2D30867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357658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8BBB4B35-B94E-FAA9-05B4-95A2605E4BE0}"/>
              </a:ext>
            </a:extLst>
          </p:cNvPr>
          <p:cNvSpPr/>
          <p:nvPr/>
        </p:nvSpPr>
        <p:spPr>
          <a:xfrm>
            <a:off x="6006734" y="501661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623C9EC-2504-2498-00B9-5AEDFA43831F}"/>
              </a:ext>
            </a:extLst>
          </p:cNvPr>
          <p:cNvSpPr/>
          <p:nvPr/>
        </p:nvSpPr>
        <p:spPr>
          <a:xfrm>
            <a:off x="7262879" y="501661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11E99D3-E9B9-1164-8F0F-DC0F333C94C7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450945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BC899C-CA5F-3129-1778-B3C2D4BC8F59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526599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CF42DBE-0D51-34E9-1106-13C8D43C883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433312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1089968-74D0-EC87-F6DF-12B9ABBBC5F4}"/>
              </a:ext>
            </a:extLst>
          </p:cNvPr>
          <p:cNvSpPr txBox="1"/>
          <p:nvPr/>
        </p:nvSpPr>
        <p:spPr>
          <a:xfrm>
            <a:off x="7029255" y="282538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CA14038-5635-9CDA-107A-D9A0195DA9DB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450945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622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2215-B3D6-80F8-77EC-7EB3B0A0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293B-FA47-2E00-DC83-64ABD68F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038" y="262442"/>
            <a:ext cx="8972513" cy="607653"/>
          </a:xfrm>
        </p:spPr>
        <p:txBody>
          <a:bodyPr>
            <a:spAutoFit/>
          </a:bodyPr>
          <a:lstStyle/>
          <a:p>
            <a:r>
              <a:t>연결선 비용이 모두 1일 때</a:t>
            </a:r>
            <a:r>
              <a:rPr lang="en-US"/>
              <a:t> - </a:t>
            </a:r>
            <a:r>
              <a:rPr lang="ko-KR" altLang="en-US"/>
              <a:t>시간복잡도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B7B90-E7D8-25B8-62F7-BA164FC43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초기화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모든 노드 </a:t>
            </a:r>
            <a:r>
              <a:rPr lang="en-US" altLang="ko-KR"/>
              <a:t>V</a:t>
            </a:r>
            <a:r>
              <a:rPr lang="ko-KR" altLang="en-US"/>
              <a:t>에 값 설정</a:t>
            </a:r>
            <a:r>
              <a:rPr lang="en-US" altLang="ko-KR"/>
              <a:t>. O(V)</a:t>
            </a:r>
          </a:p>
          <a:p>
            <a:endParaRPr lang="en-US"/>
          </a:p>
          <a:p>
            <a:r>
              <a:rPr lang="ko-KR" altLang="en-US"/>
              <a:t>큐 연산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모든 노드가 한번 큐에 들어가고 나옴</a:t>
            </a:r>
            <a:r>
              <a:rPr lang="en-US" altLang="ko-KR"/>
              <a:t>. O(V)</a:t>
            </a:r>
          </a:p>
          <a:p>
            <a:endParaRPr lang="en-US"/>
          </a:p>
          <a:p>
            <a:r>
              <a:rPr lang="ko-KR" altLang="en-US"/>
              <a:t>이웃 탐색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모든 노드의 이웃을 방문</a:t>
            </a:r>
            <a:r>
              <a:rPr lang="en-US" altLang="ko-KR"/>
              <a:t>. </a:t>
            </a:r>
            <a:r>
              <a:rPr lang="ko-KR" altLang="en-US"/>
              <a:t>연결선 전체</a:t>
            </a:r>
            <a:r>
              <a:rPr lang="en-US" altLang="ko-KR"/>
              <a:t>. O(E)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ko-KR" altLang="en-US"/>
              <a:t>총 </a:t>
            </a:r>
            <a:r>
              <a:rPr lang="en-US" altLang="ko-KR"/>
              <a:t>O(V + E)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917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302" y="262442"/>
            <a:ext cx="6656173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최단거리가 0인 노드는?</a:t>
            </a:r>
          </a:p>
          <a:p>
            <a:endParaRPr/>
          </a:p>
          <a:p>
            <a:r>
              <a:t>최단거리가 1인 노드는?</a:t>
            </a:r>
          </a:p>
          <a:p>
            <a:endParaRPr/>
          </a:p>
          <a:p>
            <a:r>
              <a:t>최단거리가 </a:t>
            </a:r>
            <a:r>
              <a:rPr lang="en-US"/>
              <a:t>2</a:t>
            </a:r>
            <a:r>
              <a:t>인 노드는?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217BED5-C255-BC4E-BF8D-43D66DB4FD9F}"/>
              </a:ext>
            </a:extLst>
          </p:cNvPr>
          <p:cNvSpPr/>
          <p:nvPr/>
        </p:nvSpPr>
        <p:spPr>
          <a:xfrm>
            <a:off x="7176189" y="19047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239BE9-51B9-D132-DDE4-921E4EF85C69}"/>
              </a:ext>
            </a:extLst>
          </p:cNvPr>
          <p:cNvSpPr/>
          <p:nvPr/>
        </p:nvSpPr>
        <p:spPr>
          <a:xfrm>
            <a:off x="6603534" y="283764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514E509-EA6C-2A9E-FCAD-105E0DD75993}"/>
              </a:ext>
            </a:extLst>
          </p:cNvPr>
          <p:cNvSpPr/>
          <p:nvPr/>
        </p:nvSpPr>
        <p:spPr>
          <a:xfrm>
            <a:off x="7859679" y="283764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995D6C2-EA3C-7954-2D3E-4230C3BEB53A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233049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FCFD88-44D9-DDC4-046C-17664C3D1D67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233049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E819E22B-48DC-064B-4578-6DD8D55F8981}"/>
              </a:ext>
            </a:extLst>
          </p:cNvPr>
          <p:cNvSpPr/>
          <p:nvPr/>
        </p:nvSpPr>
        <p:spPr>
          <a:xfrm>
            <a:off x="6006734" y="377051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21C2520-2256-DE89-C809-2714C8A05AE8}"/>
              </a:ext>
            </a:extLst>
          </p:cNvPr>
          <p:cNvSpPr/>
          <p:nvPr/>
        </p:nvSpPr>
        <p:spPr>
          <a:xfrm>
            <a:off x="7262879" y="377051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BEFA8BE-ED36-81B1-1A54-435D6F4FF7EA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3263365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29A75B5-AACB-9813-8644-41544BB39E05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4019899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C26674D-9619-2D7D-5D7C-DBBAFFA248A1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308702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770737-9622-1ECD-E8F4-7ACBFF623DF6}"/>
              </a:ext>
            </a:extLst>
          </p:cNvPr>
          <p:cNvSpPr txBox="1"/>
          <p:nvPr/>
        </p:nvSpPr>
        <p:spPr>
          <a:xfrm>
            <a:off x="6710102" y="15792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시작점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13B8151-FAF4-FE48-9569-2D118FAB0E0D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3263365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3663FDE-308D-76BE-A7AF-C1F010970F09}"/>
              </a:ext>
            </a:extLst>
          </p:cNvPr>
          <p:cNvSpPr txBox="1"/>
          <p:nvPr/>
        </p:nvSpPr>
        <p:spPr>
          <a:xfrm>
            <a:off x="6717712" y="22884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4CBA2-EE14-0727-E657-EE627A6BA718}"/>
              </a:ext>
            </a:extLst>
          </p:cNvPr>
          <p:cNvSpPr txBox="1"/>
          <p:nvPr/>
        </p:nvSpPr>
        <p:spPr>
          <a:xfrm>
            <a:off x="7925654" y="22884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771FEB-3250-5AE3-65D8-1DBA1744FACF}"/>
              </a:ext>
            </a:extLst>
          </p:cNvPr>
          <p:cNvSpPr txBox="1"/>
          <p:nvPr/>
        </p:nvSpPr>
        <p:spPr>
          <a:xfrm>
            <a:off x="7344564" y="280337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3477F9-2355-5AD1-D629-E15ABE261C76}"/>
              </a:ext>
            </a:extLst>
          </p:cNvPr>
          <p:cNvSpPr txBox="1"/>
          <p:nvPr/>
        </p:nvSpPr>
        <p:spPr>
          <a:xfrm>
            <a:off x="6170324" y="32780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0936C7-BCEB-1A9B-C87A-7940E59DC583}"/>
              </a:ext>
            </a:extLst>
          </p:cNvPr>
          <p:cNvSpPr txBox="1"/>
          <p:nvPr/>
        </p:nvSpPr>
        <p:spPr>
          <a:xfrm>
            <a:off x="7279909" y="32869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8BD28A-467B-220D-0018-937A73EA524C}"/>
              </a:ext>
            </a:extLst>
          </p:cNvPr>
          <p:cNvSpPr txBox="1"/>
          <p:nvPr/>
        </p:nvSpPr>
        <p:spPr>
          <a:xfrm>
            <a:off x="6750338" y="37105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302" y="262442"/>
            <a:ext cx="6656173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최단거리를 구한 노드들로부터 다른 노드들의 최단 거리를 구하는 방법은?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302" y="262442"/>
            <a:ext cx="6656173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양방향 큐</a:t>
            </a:r>
          </a:p>
          <a:p>
            <a:endParaRPr/>
          </a:p>
          <a:p>
            <a:pPr marL="0" indent="0">
              <a:buNone/>
            </a:pPr>
            <a:r>
              <a:t>	 - PUSH_FRONT(): 제일 앞에 데이터 추가</a:t>
            </a:r>
          </a:p>
          <a:p>
            <a:pPr marL="0" indent="0">
              <a:buNone/>
            </a:pPr>
            <a:r>
              <a:t>	 - PUSH_REAR(): 제일 뒤에 데이터 추가</a:t>
            </a:r>
          </a:p>
          <a:p>
            <a:endParaRPr/>
          </a:p>
          <a:p>
            <a:pPr marL="0" indent="0">
              <a:buNone/>
            </a:pPr>
            <a:r>
              <a:t>	 - POP_FRONT: 제일 앞 데이터 삭제</a:t>
            </a:r>
          </a:p>
          <a:p>
            <a:pPr marL="0" indent="0">
              <a:buNone/>
            </a:pPr>
            <a:r>
              <a:t>	 - POP_REAR: 제일 뒤 데이터 삭제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63381" y="262442"/>
            <a:ext cx="9475856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  <a:r>
              <a:rPr lang="en-US"/>
              <a:t> - BFS_0_1 1/3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BFS_0_1(그래프 G, 시작 노드 s):</a:t>
            </a:r>
          </a:p>
          <a:p>
            <a:r>
              <a:t>to_visit = 새로운 양방향 큐</a:t>
            </a:r>
          </a:p>
          <a:p>
            <a:r>
              <a:t>반복: G의 모든 노드 u에 대해,</a:t>
            </a:r>
          </a:p>
          <a:p>
            <a:pPr marL="0" indent="0">
              <a:buNone/>
            </a:pPr>
            <a:r>
              <a:t>	u-&gt;distance = 아주 큰 수</a:t>
            </a:r>
          </a:p>
          <a:p>
            <a:pPr marL="0" indent="0">
              <a:buNone/>
            </a:pPr>
            <a:r>
              <a:t>	u-&gt;parent = 없음</a:t>
            </a:r>
          </a:p>
          <a:p>
            <a:pPr marL="0" indent="0">
              <a:buNone/>
            </a:pPr>
            <a:r>
              <a:t>	u-&gt;status = </a:t>
            </a:r>
            <a:r>
              <a:rPr lang="ko-KR" altLang="en-US">
                <a:solidFill>
                  <a:srgbClr val="FF0000"/>
                </a:solidFill>
              </a:rPr>
              <a:t>최단거리발견</a:t>
            </a:r>
            <a:r>
              <a:rPr>
                <a:solidFill>
                  <a:srgbClr val="FF0000"/>
                </a:solidFill>
              </a:rPr>
              <a:t>전</a:t>
            </a:r>
          </a:p>
          <a:p>
            <a:endParaRPr lang="en-US"/>
          </a:p>
          <a:p>
            <a:r>
              <a:t>s-&gt;distance = 0</a:t>
            </a:r>
          </a:p>
          <a:p>
            <a:r>
              <a:t>PUSH_FRONT(to_visit, 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D416-524D-DEA9-9CD0-50CA8DBA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3711-27F1-C19B-F7D0-AA6A041A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63381" y="262442"/>
            <a:ext cx="9475856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  <a:r>
              <a:rPr lang="en-US" altLang="ko-KR"/>
              <a:t> - BFS_0_1 2/3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EAB33-E1B5-C408-1FAA-32AF1A98D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반복: to_visit에 데이터가 있는 동안</a:t>
            </a:r>
          </a:p>
          <a:p>
            <a:pPr marL="0" indent="0">
              <a:buNone/>
            </a:pPr>
            <a:r>
              <a:t>	u = POP_FRONT(to_visit)</a:t>
            </a:r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	만약: u-&gt;status </a:t>
            </a:r>
            <a:r>
              <a:rPr lang="en-US">
                <a:solidFill>
                  <a:srgbClr val="FF0000"/>
                </a:solidFill>
              </a:rPr>
              <a:t>!</a:t>
            </a:r>
            <a:r>
              <a:rPr>
                <a:solidFill>
                  <a:srgbClr val="FF0000"/>
                </a:solidFill>
              </a:rPr>
              <a:t>= </a:t>
            </a:r>
            <a:r>
              <a:rPr lang="ko-KR" altLang="en-US">
                <a:solidFill>
                  <a:srgbClr val="FF0000"/>
                </a:solidFill>
              </a:rPr>
              <a:t>최단거리발견전</a:t>
            </a:r>
            <a:r>
              <a:rPr>
                <a:solidFill>
                  <a:srgbClr val="FF0000"/>
                </a:solidFill>
              </a:rPr>
              <a:t>이면,		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	</a:t>
            </a:r>
            <a:r>
              <a:rPr>
                <a:solidFill>
                  <a:srgbClr val="FF0000"/>
                </a:solidFill>
              </a:rPr>
              <a:t>다음 반복으로</a:t>
            </a:r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	u-&gt;status = </a:t>
            </a:r>
            <a:r>
              <a:rPr lang="ko-KR" altLang="en-US">
                <a:solidFill>
                  <a:srgbClr val="FF0000"/>
                </a:solidFill>
              </a:rPr>
              <a:t>최단거리발견됨</a:t>
            </a:r>
            <a:endParaRPr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t>	반복: u의 모든 이웃 v와 (u, v)를 연결</a:t>
            </a:r>
            <a:r>
              <a:rPr lang="ko-KR" altLang="en-US"/>
              <a:t>선</a:t>
            </a:r>
            <a:r>
              <a:t> e에 대해,</a:t>
            </a:r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		만약: v-&gt;distance 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			</a:t>
            </a:r>
            <a:r>
              <a:rPr>
                <a:solidFill>
                  <a:srgbClr val="FF0000"/>
                </a:solidFill>
              </a:rPr>
              <a:t>≤ u-&gt;distance + e-&gt;len</a:t>
            </a:r>
            <a:r>
              <a:rPr lang="en-US">
                <a:solidFill>
                  <a:srgbClr val="FF0000"/>
                </a:solidFill>
              </a:rPr>
              <a:t>gth</a:t>
            </a:r>
            <a:r>
              <a:rPr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			다음 반복으로</a:t>
            </a:r>
          </a:p>
        </p:txBody>
      </p:sp>
    </p:spTree>
    <p:extLst>
      <p:ext uri="{BB962C8B-B14F-4D97-AF65-F5344CB8AC3E}">
        <p14:creationId xmlns:p14="http://schemas.microsoft.com/office/powerpoint/2010/main" val="370466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E589-DD75-2D50-6604-1AE43703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C5E3-84A4-AF17-EB64-3FA13770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63381" y="262442"/>
            <a:ext cx="9475856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  <a:r>
              <a:rPr lang="en-US" altLang="ko-KR"/>
              <a:t> - BFS_0_1 3/3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BA5BB-B969-59D9-94FD-BCE0C42CB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v-&gt;parent = u</a:t>
            </a:r>
          </a:p>
          <a:p>
            <a:pPr marL="0" indent="0">
              <a:buNone/>
            </a:pPr>
            <a:r>
              <a:t>		v-&gt;distance = u-&gt;distance + e-&gt;len</a:t>
            </a:r>
            <a:r>
              <a:rPr lang="en-US"/>
              <a:t>gth</a:t>
            </a:r>
            <a:endParaRPr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		만약: e-&gt;len</a:t>
            </a:r>
            <a:r>
              <a:rPr lang="en-US">
                <a:solidFill>
                  <a:srgbClr val="FF0000"/>
                </a:solidFill>
              </a:rPr>
              <a:t>gth</a:t>
            </a:r>
            <a:r>
              <a:rPr>
                <a:solidFill>
                  <a:srgbClr val="FF0000"/>
                </a:solidFill>
              </a:rPr>
              <a:t> == 0이면,	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	</a:t>
            </a:r>
            <a:r>
              <a:rPr>
                <a:solidFill>
                  <a:srgbClr val="FF0000"/>
                </a:solidFill>
              </a:rPr>
              <a:t>	PUSH_FRONT(to_visit, v)</a:t>
            </a:r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		그 외에:			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		</a:t>
            </a:r>
            <a:r>
              <a:rPr>
                <a:solidFill>
                  <a:srgbClr val="FF0000"/>
                </a:solidFill>
              </a:rPr>
              <a:t>PUSH_REAR(to_visit, v)</a:t>
            </a:r>
          </a:p>
        </p:txBody>
      </p:sp>
    </p:spTree>
    <p:extLst>
      <p:ext uri="{BB962C8B-B14F-4D97-AF65-F5344CB8AC3E}">
        <p14:creationId xmlns:p14="http://schemas.microsoft.com/office/powerpoint/2010/main" val="1055677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A1E77-FCCC-BEAD-49DC-23D7B677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55D1-4FA1-AA7F-DEB5-7625CF02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302" y="262442"/>
            <a:ext cx="6656173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9B31-D405-2107-8CB7-3C5E875F7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BFS_0_1(G, s)</a:t>
            </a:r>
            <a:r>
              <a:rPr lang="ko-KR" altLang="en-US"/>
              <a:t>와 </a:t>
            </a:r>
            <a:r>
              <a:rPr lang="en-US" altLang="ko-KR"/>
              <a:t>BFS(G, s)</a:t>
            </a:r>
            <a:r>
              <a:rPr lang="ko-KR" altLang="en-US"/>
              <a:t>의 차이점은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CDFA714-91D2-D73D-C004-512552CB9412}"/>
              </a:ext>
            </a:extLst>
          </p:cNvPr>
          <p:cNvSpPr/>
          <p:nvPr/>
        </p:nvSpPr>
        <p:spPr>
          <a:xfrm>
            <a:off x="7176189" y="307914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6651F67-6150-70F7-8DC8-8033BAA917ED}"/>
              </a:ext>
            </a:extLst>
          </p:cNvPr>
          <p:cNvSpPr/>
          <p:nvPr/>
        </p:nvSpPr>
        <p:spPr>
          <a:xfrm>
            <a:off x="6603534" y="40120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F005422-4C68-29F2-3F38-3B9320FED0B0}"/>
              </a:ext>
            </a:extLst>
          </p:cNvPr>
          <p:cNvSpPr/>
          <p:nvPr/>
        </p:nvSpPr>
        <p:spPr>
          <a:xfrm>
            <a:off x="7859679" y="40120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C224F9A-DC5C-1C92-F557-30EE7226E999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3504869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CD1EBF5-BF4F-C48A-6640-065781784A79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3504869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E4EFD888-9C5A-ADD9-58A6-26027877FA9A}"/>
              </a:ext>
            </a:extLst>
          </p:cNvPr>
          <p:cNvSpPr/>
          <p:nvPr/>
        </p:nvSpPr>
        <p:spPr>
          <a:xfrm>
            <a:off x="6006734" y="494489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2F3FA2-2443-F828-DFA9-E69C88F105B8}"/>
              </a:ext>
            </a:extLst>
          </p:cNvPr>
          <p:cNvSpPr/>
          <p:nvPr/>
        </p:nvSpPr>
        <p:spPr>
          <a:xfrm>
            <a:off x="7262879" y="494489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469E9E0-747E-2457-9E76-F257B7331B2A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4437742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17E6140-DD18-F222-6955-7B5CF88AE5D5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519427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E2FB9C6-DEB9-06C8-AD2A-EDAAB6EF708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426140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AEE37F-C722-D88D-9C9C-668EA1EBDC42}"/>
              </a:ext>
            </a:extLst>
          </p:cNvPr>
          <p:cNvSpPr txBox="1"/>
          <p:nvPr/>
        </p:nvSpPr>
        <p:spPr>
          <a:xfrm>
            <a:off x="6925487" y="289448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F4E6ED0-B504-9FE1-727E-882B1BFF887D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4437742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D6AD40B-4A8C-E16C-286C-42DEA7D472E6}"/>
              </a:ext>
            </a:extLst>
          </p:cNvPr>
          <p:cNvSpPr txBox="1"/>
          <p:nvPr/>
        </p:nvSpPr>
        <p:spPr>
          <a:xfrm>
            <a:off x="6717712" y="34628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DDA769-753E-D931-1E85-390846709965}"/>
              </a:ext>
            </a:extLst>
          </p:cNvPr>
          <p:cNvSpPr txBox="1"/>
          <p:nvPr/>
        </p:nvSpPr>
        <p:spPr>
          <a:xfrm>
            <a:off x="7925654" y="34628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18B3B-B9F5-14DE-99F8-873677633133}"/>
              </a:ext>
            </a:extLst>
          </p:cNvPr>
          <p:cNvSpPr txBox="1"/>
          <p:nvPr/>
        </p:nvSpPr>
        <p:spPr>
          <a:xfrm>
            <a:off x="7344564" y="39777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CD9936-9912-D739-413C-5851D867F58A}"/>
              </a:ext>
            </a:extLst>
          </p:cNvPr>
          <p:cNvSpPr txBox="1"/>
          <p:nvPr/>
        </p:nvSpPr>
        <p:spPr>
          <a:xfrm>
            <a:off x="6170324" y="44523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7A3D8B-4D67-0A69-FB48-10EB87CB29AC}"/>
              </a:ext>
            </a:extLst>
          </p:cNvPr>
          <p:cNvSpPr txBox="1"/>
          <p:nvPr/>
        </p:nvSpPr>
        <p:spPr>
          <a:xfrm>
            <a:off x="7279909" y="44613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CC123C-3003-E6C3-290C-9C0CE9D1A0FF}"/>
              </a:ext>
            </a:extLst>
          </p:cNvPr>
          <p:cNvSpPr txBox="1"/>
          <p:nvPr/>
        </p:nvSpPr>
        <p:spPr>
          <a:xfrm>
            <a:off x="6750338" y="48849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19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2F6D-BCD0-95C4-62C2-CBCC8F90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78C4-A061-1DC0-3B0F-B615219D7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302" y="262442"/>
            <a:ext cx="6656173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AF22-4A6C-6436-C4F5-55763DC0A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BFS_0_1(G, s)</a:t>
            </a:r>
            <a:r>
              <a:rPr lang="ko-KR" altLang="en-US"/>
              <a:t>에서 최단거리가 보장되는 이유는</a:t>
            </a:r>
            <a:r>
              <a:t>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9A46D10-67DA-B581-1F9F-6A5959F3D435}"/>
              </a:ext>
            </a:extLst>
          </p:cNvPr>
          <p:cNvSpPr/>
          <p:nvPr/>
        </p:nvSpPr>
        <p:spPr>
          <a:xfrm>
            <a:off x="7176189" y="307914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D581671-7DC6-ECDE-DE5D-E775D70C3080}"/>
              </a:ext>
            </a:extLst>
          </p:cNvPr>
          <p:cNvSpPr/>
          <p:nvPr/>
        </p:nvSpPr>
        <p:spPr>
          <a:xfrm>
            <a:off x="6603534" y="40120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B427456-D61D-8BD0-2625-5ED84AECABDD}"/>
              </a:ext>
            </a:extLst>
          </p:cNvPr>
          <p:cNvSpPr/>
          <p:nvPr/>
        </p:nvSpPr>
        <p:spPr>
          <a:xfrm>
            <a:off x="7859679" y="40120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6C25793-0B69-DE0D-3BB3-7A8A7949C601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3504869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11C8461-130F-CA1C-CCD0-0E5A9980459E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3504869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C1EAB732-1566-7F38-6076-96A361DDFE5B}"/>
              </a:ext>
            </a:extLst>
          </p:cNvPr>
          <p:cNvSpPr/>
          <p:nvPr/>
        </p:nvSpPr>
        <p:spPr>
          <a:xfrm>
            <a:off x="6006734" y="494489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1FD6A37-6909-6661-6167-BD1F7A0A6357}"/>
              </a:ext>
            </a:extLst>
          </p:cNvPr>
          <p:cNvSpPr/>
          <p:nvPr/>
        </p:nvSpPr>
        <p:spPr>
          <a:xfrm>
            <a:off x="7262879" y="494489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A7111EE-A618-4900-86C9-13CE8C1A2DB9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4437742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41F9EE6-DF5B-21A0-B2CF-2059B2716C8A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519427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2E066D3-E6B1-AE8F-C2E3-2630B59C859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426140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EFDA855-EC95-D6ED-240C-A65C85542C12}"/>
              </a:ext>
            </a:extLst>
          </p:cNvPr>
          <p:cNvSpPr txBox="1"/>
          <p:nvPr/>
        </p:nvSpPr>
        <p:spPr>
          <a:xfrm>
            <a:off x="6925487" y="289448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AAD044A-27BB-F63B-AD65-6FE80CA681D3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4437742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FB002E-9FF3-8603-0FF6-A824AF17E738}"/>
              </a:ext>
            </a:extLst>
          </p:cNvPr>
          <p:cNvSpPr txBox="1"/>
          <p:nvPr/>
        </p:nvSpPr>
        <p:spPr>
          <a:xfrm>
            <a:off x="6717712" y="34628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D446F-0E56-0519-7049-E67514457A6B}"/>
              </a:ext>
            </a:extLst>
          </p:cNvPr>
          <p:cNvSpPr txBox="1"/>
          <p:nvPr/>
        </p:nvSpPr>
        <p:spPr>
          <a:xfrm>
            <a:off x="7925654" y="34628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DC6290-3DB5-AAB6-30FC-B77F22864B7C}"/>
              </a:ext>
            </a:extLst>
          </p:cNvPr>
          <p:cNvSpPr txBox="1"/>
          <p:nvPr/>
        </p:nvSpPr>
        <p:spPr>
          <a:xfrm>
            <a:off x="7344564" y="39777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9EB2E5-343F-A320-C1E2-FA8D92951706}"/>
              </a:ext>
            </a:extLst>
          </p:cNvPr>
          <p:cNvSpPr txBox="1"/>
          <p:nvPr/>
        </p:nvSpPr>
        <p:spPr>
          <a:xfrm>
            <a:off x="6170324" y="44523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BF4E1A-6D0F-E1D8-929E-93285E8D7BD7}"/>
              </a:ext>
            </a:extLst>
          </p:cNvPr>
          <p:cNvSpPr txBox="1"/>
          <p:nvPr/>
        </p:nvSpPr>
        <p:spPr>
          <a:xfrm>
            <a:off x="7279909" y="44613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82F8CF-C68F-ED34-B511-3AC6F0BF2B8A}"/>
              </a:ext>
            </a:extLst>
          </p:cNvPr>
          <p:cNvSpPr txBox="1"/>
          <p:nvPr/>
        </p:nvSpPr>
        <p:spPr>
          <a:xfrm>
            <a:off x="6750338" y="48849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378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2569-B3D2-6AE1-CC56-ACCB7827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DB6A8-6C3A-01C0-6E3A-4A903C2C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9874" y="262442"/>
            <a:ext cx="9312349" cy="607653"/>
          </a:xfrm>
        </p:spPr>
        <p:txBody>
          <a:bodyPr>
            <a:spAutoFit/>
          </a:bodyPr>
          <a:lstStyle/>
          <a:p>
            <a:r>
              <a:t>연결선 비용이 </a:t>
            </a:r>
            <a:r>
              <a:rPr lang="en-US"/>
              <a:t>0 </a:t>
            </a:r>
            <a:r>
              <a:rPr lang="ko-KR" altLang="en-US"/>
              <a:t>또는</a:t>
            </a:r>
            <a:r>
              <a:t> 1일 때</a:t>
            </a:r>
            <a:r>
              <a:rPr lang="en-US"/>
              <a:t> - </a:t>
            </a:r>
            <a:r>
              <a:rPr lang="ko-KR" altLang="en-US"/>
              <a:t>시간복잡도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E18B5-2B30-A6CA-4F69-05DE20D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초기화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모든 노드 </a:t>
            </a:r>
            <a:r>
              <a:rPr lang="en-US" altLang="ko-KR"/>
              <a:t>V</a:t>
            </a:r>
            <a:r>
              <a:rPr lang="ko-KR" altLang="en-US"/>
              <a:t>에 값 설정</a:t>
            </a:r>
            <a:r>
              <a:rPr lang="en-US" altLang="ko-KR"/>
              <a:t>. O(V)</a:t>
            </a:r>
          </a:p>
          <a:p>
            <a:endParaRPr lang="en-US" altLang="ko-KR"/>
          </a:p>
          <a:p>
            <a:r>
              <a:rPr lang="ko-KR" altLang="en-US"/>
              <a:t>이웃 탐색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모든 노드의 이웃을 방문</a:t>
            </a:r>
            <a:r>
              <a:rPr lang="en-US" altLang="ko-KR"/>
              <a:t>.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최악 방문할 때마다 큐에 추가</a:t>
            </a:r>
            <a:r>
              <a:rPr lang="en-US" altLang="ko-KR"/>
              <a:t>. O(E)</a:t>
            </a:r>
          </a:p>
          <a:p>
            <a:endParaRPr lang="en-US"/>
          </a:p>
          <a:p>
            <a:r>
              <a:rPr lang="ko-KR" altLang="en-US"/>
              <a:t>큐에서 삭제</a:t>
            </a:r>
            <a:r>
              <a:rPr lang="en-US" altLang="ko-KR"/>
              <a:t>:</a:t>
            </a:r>
            <a:r>
              <a:rPr lang="ko-KR" altLang="en-US"/>
              <a:t> 한번 삭제</a:t>
            </a:r>
            <a:r>
              <a:rPr lang="en-US" altLang="ko-KR"/>
              <a:t>. O(E)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ko-KR" altLang="en-US"/>
              <a:t>총 </a:t>
            </a:r>
            <a:r>
              <a:rPr lang="en-US" altLang="ko-KR"/>
              <a:t>O(V + E)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7361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302" y="262442"/>
            <a:ext cx="6656173" cy="607653"/>
          </a:xfrm>
        </p:spPr>
        <p:txBody>
          <a:bodyPr>
            <a:spAutoFit/>
          </a:bodyPr>
          <a:lstStyle/>
          <a:p>
            <a:r>
              <a:t>연결선 비용이 0 또는 1일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그래프에서 BFS_0_1(G, s)를 실행하면?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2EC4BB1-3BFA-EE1F-8C78-45F1EDCE97B7}"/>
              </a:ext>
            </a:extLst>
          </p:cNvPr>
          <p:cNvSpPr/>
          <p:nvPr/>
        </p:nvSpPr>
        <p:spPr>
          <a:xfrm>
            <a:off x="7176189" y="307914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EE9A220-58A6-C04B-6833-50FB5BE141EB}"/>
              </a:ext>
            </a:extLst>
          </p:cNvPr>
          <p:cNvSpPr/>
          <p:nvPr/>
        </p:nvSpPr>
        <p:spPr>
          <a:xfrm>
            <a:off x="6603534" y="40120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90743B-ECD2-D3D7-13E4-62CF65782FB0}"/>
              </a:ext>
            </a:extLst>
          </p:cNvPr>
          <p:cNvSpPr/>
          <p:nvPr/>
        </p:nvSpPr>
        <p:spPr>
          <a:xfrm>
            <a:off x="7859679" y="40120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534D50C-A55C-26AE-1234-103349765766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52916" y="3504869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B08D711-0BE2-1D86-B1B3-63856B3BF205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01910" y="3504869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BF635EEE-96A0-702B-BAC5-58D113F4DEB4}"/>
              </a:ext>
            </a:extLst>
          </p:cNvPr>
          <p:cNvSpPr/>
          <p:nvPr/>
        </p:nvSpPr>
        <p:spPr>
          <a:xfrm>
            <a:off x="6006734" y="494489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972DCA4-61E7-8FBF-C3ED-8AD91617F855}"/>
              </a:ext>
            </a:extLst>
          </p:cNvPr>
          <p:cNvSpPr/>
          <p:nvPr/>
        </p:nvSpPr>
        <p:spPr>
          <a:xfrm>
            <a:off x="7262879" y="494489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B2BC509-6939-E4A8-E7CC-4B00C6451396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56116" y="4437742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7ECBC7B-D003-39A1-BE5E-62F20ACFDE65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05497" y="519427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DAD1B2D-C9C0-77E9-824E-78559808479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02297" y="426140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225EB5-63F5-903D-6D92-8A1A12979993}"/>
              </a:ext>
            </a:extLst>
          </p:cNvPr>
          <p:cNvSpPr txBox="1"/>
          <p:nvPr/>
        </p:nvSpPr>
        <p:spPr>
          <a:xfrm>
            <a:off x="6925487" y="289448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EA081AF-5444-44B8-36CD-0946281A1FC8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29255" y="4437742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8FE499-947C-65E6-E43E-7B292727C8FA}"/>
              </a:ext>
            </a:extLst>
          </p:cNvPr>
          <p:cNvSpPr txBox="1"/>
          <p:nvPr/>
        </p:nvSpPr>
        <p:spPr>
          <a:xfrm>
            <a:off x="6717712" y="34628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2CA64-48C9-3281-1359-C3F6D6A2B896}"/>
              </a:ext>
            </a:extLst>
          </p:cNvPr>
          <p:cNvSpPr txBox="1"/>
          <p:nvPr/>
        </p:nvSpPr>
        <p:spPr>
          <a:xfrm>
            <a:off x="7925654" y="34628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39AAA8-2999-82EC-B9C9-4F27A197EBF7}"/>
              </a:ext>
            </a:extLst>
          </p:cNvPr>
          <p:cNvSpPr txBox="1"/>
          <p:nvPr/>
        </p:nvSpPr>
        <p:spPr>
          <a:xfrm>
            <a:off x="7344564" y="39777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5D808-85A1-10BB-28FA-7C9FCA56874E}"/>
              </a:ext>
            </a:extLst>
          </p:cNvPr>
          <p:cNvSpPr txBox="1"/>
          <p:nvPr/>
        </p:nvSpPr>
        <p:spPr>
          <a:xfrm>
            <a:off x="6170324" y="44523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B79BDF-F006-60AF-7F44-A376EE9FEC5A}"/>
              </a:ext>
            </a:extLst>
          </p:cNvPr>
          <p:cNvSpPr txBox="1"/>
          <p:nvPr/>
        </p:nvSpPr>
        <p:spPr>
          <a:xfrm>
            <a:off x="7279909" y="44613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13951D-B06A-B5E8-9A51-1B8BF5DDB4D3}"/>
              </a:ext>
            </a:extLst>
          </p:cNvPr>
          <p:cNvSpPr txBox="1"/>
          <p:nvPr/>
        </p:nvSpPr>
        <p:spPr>
          <a:xfrm>
            <a:off x="6750338" y="48849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1066" y="262442"/>
            <a:ext cx="5181410" cy="607653"/>
          </a:xfrm>
        </p:spPr>
        <p:txBody>
          <a:bodyPr>
            <a:spAutoFit/>
          </a:bodyPr>
          <a:lstStyle/>
          <a:p>
            <a:r>
              <a:t>연결선 비용</a:t>
            </a:r>
            <a:r>
              <a:rPr lang="en-US"/>
              <a:t> </a:t>
            </a:r>
            <a:r>
              <a:rPr lang="ko-KR" altLang="en-US"/>
              <a:t>≥</a:t>
            </a:r>
            <a:r>
              <a:t> 0</a:t>
            </a:r>
            <a:r>
              <a:rPr lang="ko-KR" altLang="en-US"/>
              <a:t>일 때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최단거리가 가장 작은 노드는?</a:t>
            </a:r>
          </a:p>
          <a:p>
            <a:endParaRPr/>
          </a:p>
          <a:p>
            <a:r>
              <a:t>최단거리가 두번째로 작은 노드는?</a:t>
            </a:r>
          </a:p>
          <a:p>
            <a:endParaRPr/>
          </a:p>
          <a:p>
            <a:r>
              <a:t>최단거리가 세번째로 작은 노드는?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CC7AA5A-316E-FCC5-794A-762BDFF9C0CE}"/>
              </a:ext>
            </a:extLst>
          </p:cNvPr>
          <p:cNvSpPr/>
          <p:nvPr/>
        </p:nvSpPr>
        <p:spPr>
          <a:xfrm>
            <a:off x="7730222" y="199441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C9D2D3F-1B14-AF7D-725C-61C15342C0EA}"/>
              </a:ext>
            </a:extLst>
          </p:cNvPr>
          <p:cNvSpPr/>
          <p:nvPr/>
        </p:nvSpPr>
        <p:spPr>
          <a:xfrm>
            <a:off x="7157567" y="292729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E31B9B-E5D4-D155-4872-FEB0C3E09850}"/>
              </a:ext>
            </a:extLst>
          </p:cNvPr>
          <p:cNvSpPr/>
          <p:nvPr/>
        </p:nvSpPr>
        <p:spPr>
          <a:xfrm>
            <a:off x="8413712" y="292729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6CE9893-A223-4BCD-8C5B-EE2393590747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406949" y="2420139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D62E1BE-CE3C-E65B-F480-3382E9BFDC2B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155943" y="2420139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BDBB7DA6-A98D-D084-C370-53F42E924366}"/>
              </a:ext>
            </a:extLst>
          </p:cNvPr>
          <p:cNvSpPr/>
          <p:nvPr/>
        </p:nvSpPr>
        <p:spPr>
          <a:xfrm>
            <a:off x="6560767" y="38601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EBD5B16-A78B-C412-6FB6-F29F5EC906A7}"/>
              </a:ext>
            </a:extLst>
          </p:cNvPr>
          <p:cNvSpPr/>
          <p:nvPr/>
        </p:nvSpPr>
        <p:spPr>
          <a:xfrm>
            <a:off x="7816912" y="38601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1AC62D-D2AF-9746-254E-C88D818D3400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810149" y="3353012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2E668CE-39FD-5AF2-1C6A-8E909F428F5B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7059530" y="410954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3F39410-568F-A91A-DC76-4B5D1E0417F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656330" y="317667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C67F18E-5913-B849-F979-FC479CA22DD3}"/>
              </a:ext>
            </a:extLst>
          </p:cNvPr>
          <p:cNvSpPr txBox="1"/>
          <p:nvPr/>
        </p:nvSpPr>
        <p:spPr>
          <a:xfrm>
            <a:off x="7264135" y="16689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시작점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9DCCDAA-2159-415C-C5BF-CBC7D8245E29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583288" y="3353012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FD0CC2-EE49-C3B0-6D28-D4332BA5F30A}"/>
              </a:ext>
            </a:extLst>
          </p:cNvPr>
          <p:cNvSpPr txBox="1"/>
          <p:nvPr/>
        </p:nvSpPr>
        <p:spPr>
          <a:xfrm>
            <a:off x="7271745" y="23781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CE54C-9936-EAD5-EF68-940E43EE532A}"/>
              </a:ext>
            </a:extLst>
          </p:cNvPr>
          <p:cNvSpPr txBox="1"/>
          <p:nvPr/>
        </p:nvSpPr>
        <p:spPr>
          <a:xfrm>
            <a:off x="8479687" y="23781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BC91D3-3EFA-3BA7-11C7-CEE4879A43F3}"/>
              </a:ext>
            </a:extLst>
          </p:cNvPr>
          <p:cNvSpPr txBox="1"/>
          <p:nvPr/>
        </p:nvSpPr>
        <p:spPr>
          <a:xfrm>
            <a:off x="7898597" y="28930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32B115-0868-53EE-9C6D-EDCB9CFA5649}"/>
              </a:ext>
            </a:extLst>
          </p:cNvPr>
          <p:cNvSpPr txBox="1"/>
          <p:nvPr/>
        </p:nvSpPr>
        <p:spPr>
          <a:xfrm>
            <a:off x="6724357" y="33676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C5B5E8-0F35-72C4-970E-2B727C586D98}"/>
              </a:ext>
            </a:extLst>
          </p:cNvPr>
          <p:cNvSpPr txBox="1"/>
          <p:nvPr/>
        </p:nvSpPr>
        <p:spPr>
          <a:xfrm>
            <a:off x="7833942" y="33765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F4A9B3-6614-4501-80F1-5C434F55E03F}"/>
              </a:ext>
            </a:extLst>
          </p:cNvPr>
          <p:cNvSpPr txBox="1"/>
          <p:nvPr/>
        </p:nvSpPr>
        <p:spPr>
          <a:xfrm>
            <a:off x="7304371" y="38001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1065" y="262442"/>
            <a:ext cx="5181410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최단거리를 구한 노드들로부터 다른 노드들의 최단 거리를 구하는 방법은?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8B76801-F381-8ECF-5406-32371E124B09}"/>
              </a:ext>
            </a:extLst>
          </p:cNvPr>
          <p:cNvSpPr/>
          <p:nvPr/>
        </p:nvSpPr>
        <p:spPr>
          <a:xfrm>
            <a:off x="7730222" y="300743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B3B36B6-A263-6A51-A2D1-6A21C5F47437}"/>
              </a:ext>
            </a:extLst>
          </p:cNvPr>
          <p:cNvSpPr/>
          <p:nvPr/>
        </p:nvSpPr>
        <p:spPr>
          <a:xfrm>
            <a:off x="7157567" y="394030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C69C3B5-C802-C1CA-805D-F2D24AAB54E0}"/>
              </a:ext>
            </a:extLst>
          </p:cNvPr>
          <p:cNvSpPr/>
          <p:nvPr/>
        </p:nvSpPr>
        <p:spPr>
          <a:xfrm>
            <a:off x="8413712" y="394030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6B601FC-66D4-9A9C-F3C5-8A63FB203033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406949" y="3433151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278452A-F77D-F444-D174-64966796DFFF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155943" y="3433151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D8EC27E9-B238-8D26-50B2-AECFD647374E}"/>
              </a:ext>
            </a:extLst>
          </p:cNvPr>
          <p:cNvSpPr/>
          <p:nvPr/>
        </p:nvSpPr>
        <p:spPr>
          <a:xfrm>
            <a:off x="6560767" y="487317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CD6526E-DA30-8E71-7299-B62BA9DFF807}"/>
              </a:ext>
            </a:extLst>
          </p:cNvPr>
          <p:cNvSpPr/>
          <p:nvPr/>
        </p:nvSpPr>
        <p:spPr>
          <a:xfrm>
            <a:off x="7816912" y="487317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450A4A5-33CD-0540-4F5A-712863CA9339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810149" y="4366024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C996D78-465C-A31B-C151-8E3CB9539714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7059530" y="5122558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A076B2-F074-B067-5770-786162273A3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656330" y="418968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8C2592-C5DA-90AB-BED0-BAB3EE6F617B}"/>
              </a:ext>
            </a:extLst>
          </p:cNvPr>
          <p:cNvSpPr txBox="1"/>
          <p:nvPr/>
        </p:nvSpPr>
        <p:spPr>
          <a:xfrm>
            <a:off x="7264135" y="268195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시작점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BA02F81-6DA7-63A2-3D5E-D02210D882B6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583288" y="4366024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D9CE6F7-A612-123A-B99E-1D4A9A73FBDE}"/>
              </a:ext>
            </a:extLst>
          </p:cNvPr>
          <p:cNvSpPr txBox="1"/>
          <p:nvPr/>
        </p:nvSpPr>
        <p:spPr>
          <a:xfrm>
            <a:off x="7271745" y="33911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252DCB-D632-AA99-A325-060A8C20A5F5}"/>
              </a:ext>
            </a:extLst>
          </p:cNvPr>
          <p:cNvSpPr txBox="1"/>
          <p:nvPr/>
        </p:nvSpPr>
        <p:spPr>
          <a:xfrm>
            <a:off x="8479687" y="33911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BBA023-5A3D-3F7C-07EF-A7DD65B58585}"/>
              </a:ext>
            </a:extLst>
          </p:cNvPr>
          <p:cNvSpPr txBox="1"/>
          <p:nvPr/>
        </p:nvSpPr>
        <p:spPr>
          <a:xfrm>
            <a:off x="7898597" y="39060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B591D1-34E1-79EE-9D9A-0779A999267F}"/>
              </a:ext>
            </a:extLst>
          </p:cNvPr>
          <p:cNvSpPr txBox="1"/>
          <p:nvPr/>
        </p:nvSpPr>
        <p:spPr>
          <a:xfrm>
            <a:off x="6724357" y="438067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8D26C9-B24F-1C3F-24AC-D956AE30AB48}"/>
              </a:ext>
            </a:extLst>
          </p:cNvPr>
          <p:cNvSpPr txBox="1"/>
          <p:nvPr/>
        </p:nvSpPr>
        <p:spPr>
          <a:xfrm>
            <a:off x="7833942" y="43896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257C4C-550D-9D9F-0C83-0DFDFFAF0CB6}"/>
              </a:ext>
            </a:extLst>
          </p:cNvPr>
          <p:cNvSpPr txBox="1"/>
          <p:nvPr/>
        </p:nvSpPr>
        <p:spPr>
          <a:xfrm>
            <a:off x="7304371" y="48132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234" y="262442"/>
            <a:ext cx="8217241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 </a:t>
            </a:r>
            <a:r>
              <a:rPr lang="en-US" altLang="ko-KR"/>
              <a:t>- DIJKSTRA 1/3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DIJKSTRA(그래프 G, 시작 노드 s):</a:t>
            </a:r>
          </a:p>
          <a:p>
            <a:r>
              <a:rPr>
                <a:solidFill>
                  <a:srgbClr val="FF0000"/>
                </a:solidFill>
              </a:rPr>
              <a:t>to_visit = 우선순위 큐 (최소 length)</a:t>
            </a:r>
          </a:p>
          <a:p>
            <a:r>
              <a:t>반복: G의 모든 노드 u에 대해,</a:t>
            </a:r>
            <a:endParaRPr lang="en-US"/>
          </a:p>
          <a:p>
            <a:pPr marL="0" indent="0">
              <a:buNone/>
            </a:pPr>
            <a:r>
              <a:t>	u-&gt;distance = 아주 큰 수</a:t>
            </a:r>
            <a:endParaRPr lang="en-US"/>
          </a:p>
          <a:p>
            <a:pPr marL="0" indent="0">
              <a:buNone/>
            </a:pPr>
            <a:r>
              <a:t>	u-&gt;parent = 없음</a:t>
            </a:r>
            <a:endParaRPr lang="en-US"/>
          </a:p>
          <a:p>
            <a:pPr marL="0" indent="0">
              <a:buNone/>
            </a:pPr>
            <a:r>
              <a:t>	u-&gt;status = </a:t>
            </a:r>
            <a:r>
              <a:rPr lang="ko-KR" altLang="en-US"/>
              <a:t>최단거리발견</a:t>
            </a:r>
            <a:r>
              <a:t>전</a:t>
            </a:r>
          </a:p>
          <a:p>
            <a:endParaRPr lang="en-US"/>
          </a:p>
          <a:p>
            <a:r>
              <a:t>s-&gt;distance = 0</a:t>
            </a:r>
          </a:p>
          <a:p>
            <a:r>
              <a:t>to_visit에 s 추가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1B1A-A3A1-C40A-8114-3A8B75CF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2618-CC22-D23B-B56A-A13B785F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234" y="262442"/>
            <a:ext cx="8217241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 </a:t>
            </a:r>
            <a:r>
              <a:rPr lang="en-US" altLang="ko-KR"/>
              <a:t>- DIJKSTRA 2/3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9AA74-8F91-7A98-1427-9B6568409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t>반복: to_visit에 데이터가 있는 동안</a:t>
            </a:r>
            <a:endParaRPr lang="en-US"/>
          </a:p>
          <a:p>
            <a:pPr marL="0" indent="0">
              <a:buNone/>
            </a:pPr>
            <a:r>
              <a:t>	u = DEQUEUE(to_visit)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만약: u-&gt;status </a:t>
            </a:r>
            <a:r>
              <a:rPr lang="en-US"/>
              <a:t>=</a:t>
            </a:r>
            <a:r>
              <a:t>= </a:t>
            </a:r>
            <a:r>
              <a:rPr lang="ko-KR" altLang="en-US"/>
              <a:t>최단거리발견됨</a:t>
            </a:r>
            <a:r>
              <a:t>이면,</a:t>
            </a:r>
            <a:endParaRPr lang="en-US"/>
          </a:p>
          <a:p>
            <a:pPr marL="0" indent="0">
              <a:buNone/>
            </a:pPr>
            <a:r>
              <a:t>		다음 반복으로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u-&gt;status = </a:t>
            </a:r>
            <a:r>
              <a:rPr lang="ko-KR" altLang="en-US"/>
              <a:t>최단거리발견됨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2452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3B55-4783-CE93-6D32-374E40B8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0C9A-07A6-FED5-A1B8-E66FD8DE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233" y="262442"/>
            <a:ext cx="8217242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 </a:t>
            </a:r>
            <a:r>
              <a:rPr lang="en-US" altLang="ko-KR"/>
              <a:t>- DIJKSTRA 3/3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6891-4364-650D-687D-E7BC37B8D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반복: u의 모든 이웃 노드 v와 (u, v)를 연결</a:t>
            </a:r>
            <a:r>
              <a:rPr lang="ko-KR" altLang="en-US"/>
              <a:t>선</a:t>
            </a:r>
            <a:r>
              <a:t> e,</a:t>
            </a:r>
          </a:p>
          <a:p>
            <a:pPr marL="0" indent="0">
              <a:buNone/>
            </a:pPr>
            <a:r>
              <a:t>		만약: v-&gt;distance 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≤ u-&gt;distance + e-&gt;length이면,</a:t>
            </a:r>
          </a:p>
          <a:p>
            <a:pPr marL="0" indent="0">
              <a:buNone/>
            </a:pPr>
            <a:r>
              <a:t>			다음 반복으로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v-&gt;parent = u</a:t>
            </a:r>
          </a:p>
          <a:p>
            <a:pPr marL="0" indent="0">
              <a:buNone/>
            </a:pPr>
            <a:r>
              <a:t>		v-&gt;distance = u-&gt;distance + e-&gt;length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</a:t>
            </a:r>
            <a:r>
              <a:rPr>
                <a:solidFill>
                  <a:srgbClr val="FF0000"/>
                </a:solidFill>
              </a:rPr>
              <a:t>ENQUEUE(to_visit, v)</a:t>
            </a:r>
          </a:p>
        </p:txBody>
      </p:sp>
    </p:spTree>
    <p:extLst>
      <p:ext uri="{BB962C8B-B14F-4D97-AF65-F5344CB8AC3E}">
        <p14:creationId xmlns:p14="http://schemas.microsoft.com/office/powerpoint/2010/main" val="3920161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1065" y="262442"/>
            <a:ext cx="5181410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DIJKSTRA(G, s)</a:t>
            </a:r>
            <a:r>
              <a:rPr lang="ko-KR" altLang="en-US"/>
              <a:t>와 </a:t>
            </a:r>
            <a:r>
              <a:rPr lang="en-US" altLang="ko-KR"/>
              <a:t>BFS_0_1(G, s)</a:t>
            </a:r>
            <a:r>
              <a:rPr lang="ko-KR" altLang="en-US"/>
              <a:t>의 차이점은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714E63D-CF83-70BB-0987-931A40EE9DA6}"/>
              </a:ext>
            </a:extLst>
          </p:cNvPr>
          <p:cNvSpPr/>
          <p:nvPr/>
        </p:nvSpPr>
        <p:spPr>
          <a:xfrm>
            <a:off x="7730222" y="295364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8CA756-5D5E-39A2-D90D-D4AE7F51918C}"/>
              </a:ext>
            </a:extLst>
          </p:cNvPr>
          <p:cNvSpPr/>
          <p:nvPr/>
        </p:nvSpPr>
        <p:spPr>
          <a:xfrm>
            <a:off x="7157567" y="388651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663EC25-A50E-EDA3-77F9-3638F27BB2E8}"/>
              </a:ext>
            </a:extLst>
          </p:cNvPr>
          <p:cNvSpPr/>
          <p:nvPr/>
        </p:nvSpPr>
        <p:spPr>
          <a:xfrm>
            <a:off x="8413712" y="388651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C8031C1-3E0F-C362-6C23-4DF3587E4F14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406949" y="3379363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7B8EA1C-CBC5-DD7D-60ED-5CF2E6BF1873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155943" y="3379363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DF244FF8-5D40-9034-515F-6A192B50C659}"/>
              </a:ext>
            </a:extLst>
          </p:cNvPr>
          <p:cNvSpPr/>
          <p:nvPr/>
        </p:nvSpPr>
        <p:spPr>
          <a:xfrm>
            <a:off x="6560767" y="481938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738BB62-C074-7FFD-73B8-F6C885803593}"/>
              </a:ext>
            </a:extLst>
          </p:cNvPr>
          <p:cNvSpPr/>
          <p:nvPr/>
        </p:nvSpPr>
        <p:spPr>
          <a:xfrm>
            <a:off x="7816912" y="481938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6B75BA0-F0AA-F6CA-9894-72D1B47421E3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810149" y="4312236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596C531-B9CE-A259-3E2C-0FE3EABB54FC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7059530" y="506877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E70270-AA56-A3B4-D04D-DFC5CA6F503A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656330" y="4135897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17BDE8-27F7-E635-71DC-930F446D3805}"/>
              </a:ext>
            </a:extLst>
          </p:cNvPr>
          <p:cNvSpPr txBox="1"/>
          <p:nvPr/>
        </p:nvSpPr>
        <p:spPr>
          <a:xfrm>
            <a:off x="7648970" y="262816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D595ED5-EE6E-C8F3-8B16-784FD9098F90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583288" y="4312236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CA87A54-B742-1E8C-D40F-151D03275C64}"/>
              </a:ext>
            </a:extLst>
          </p:cNvPr>
          <p:cNvSpPr txBox="1"/>
          <p:nvPr/>
        </p:nvSpPr>
        <p:spPr>
          <a:xfrm>
            <a:off x="7271745" y="3337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04332-3FA0-7367-87DF-86FA8EB28013}"/>
              </a:ext>
            </a:extLst>
          </p:cNvPr>
          <p:cNvSpPr txBox="1"/>
          <p:nvPr/>
        </p:nvSpPr>
        <p:spPr>
          <a:xfrm>
            <a:off x="8479687" y="3337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D96300-5AF1-B13B-5532-DBFCFD7FDA02}"/>
              </a:ext>
            </a:extLst>
          </p:cNvPr>
          <p:cNvSpPr txBox="1"/>
          <p:nvPr/>
        </p:nvSpPr>
        <p:spPr>
          <a:xfrm>
            <a:off x="7898597" y="38522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7FC99B-35A9-A690-A227-55055581CC84}"/>
              </a:ext>
            </a:extLst>
          </p:cNvPr>
          <p:cNvSpPr txBox="1"/>
          <p:nvPr/>
        </p:nvSpPr>
        <p:spPr>
          <a:xfrm>
            <a:off x="6724357" y="43268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E41F27-CBEA-3905-1893-F0A38A907408}"/>
              </a:ext>
            </a:extLst>
          </p:cNvPr>
          <p:cNvSpPr txBox="1"/>
          <p:nvPr/>
        </p:nvSpPr>
        <p:spPr>
          <a:xfrm>
            <a:off x="7833942" y="43358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CAF6ED-918D-CFCB-DBA0-CD1F715A94A8}"/>
              </a:ext>
            </a:extLst>
          </p:cNvPr>
          <p:cNvSpPr txBox="1"/>
          <p:nvPr/>
        </p:nvSpPr>
        <p:spPr>
          <a:xfrm>
            <a:off x="7304371" y="47594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C28CC-E71B-7AEF-6258-327C59BA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9FAB-8B7E-6C9F-BFCC-4BB14E74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065" y="262442"/>
            <a:ext cx="5181410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7EE3A-70FC-E433-700D-58A871BF5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DIJKSTRA(G, s)</a:t>
            </a:r>
            <a:r>
              <a:rPr lang="ko-KR" altLang="en-US"/>
              <a:t>에서 최단 거리가 보장되는 이유는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1FAD4D4-3053-CDCC-89F8-8A479750A408}"/>
              </a:ext>
            </a:extLst>
          </p:cNvPr>
          <p:cNvSpPr/>
          <p:nvPr/>
        </p:nvSpPr>
        <p:spPr>
          <a:xfrm>
            <a:off x="7730222" y="295364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87DAD29-BF49-40B1-2A71-54638C635B82}"/>
              </a:ext>
            </a:extLst>
          </p:cNvPr>
          <p:cNvSpPr/>
          <p:nvPr/>
        </p:nvSpPr>
        <p:spPr>
          <a:xfrm>
            <a:off x="7157567" y="388651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2CDDDBC-CBB7-958F-5A39-7770C72890CB}"/>
              </a:ext>
            </a:extLst>
          </p:cNvPr>
          <p:cNvSpPr/>
          <p:nvPr/>
        </p:nvSpPr>
        <p:spPr>
          <a:xfrm>
            <a:off x="8413712" y="388651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99CB499-7A8E-7422-7F66-E4F04FE62EFC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406949" y="3379363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A1A8CC3-9C6A-759E-9E11-90FC5D819159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155943" y="3379363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6635154-74AD-2206-6FE2-889632A876A1}"/>
              </a:ext>
            </a:extLst>
          </p:cNvPr>
          <p:cNvSpPr/>
          <p:nvPr/>
        </p:nvSpPr>
        <p:spPr>
          <a:xfrm>
            <a:off x="6560767" y="481938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E183A66-3AAB-BBA4-C323-DF9AF5EBBD35}"/>
              </a:ext>
            </a:extLst>
          </p:cNvPr>
          <p:cNvSpPr/>
          <p:nvPr/>
        </p:nvSpPr>
        <p:spPr>
          <a:xfrm>
            <a:off x="7816912" y="481938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2B53AF6-A682-8D15-3384-621D057117CF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810149" y="4312236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A45F6AF-A861-654D-A02C-2DE20C266445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7059530" y="506877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699494-236B-2810-4CE8-4FA330D4E07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656330" y="4135897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3D9B397-278D-7860-5314-A959A6DF15E8}"/>
              </a:ext>
            </a:extLst>
          </p:cNvPr>
          <p:cNvSpPr txBox="1"/>
          <p:nvPr/>
        </p:nvSpPr>
        <p:spPr>
          <a:xfrm>
            <a:off x="7648970" y="262816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FA7CAB4-E07F-0A23-BDD3-D85E7AF489EF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583288" y="4312236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E9D8277-8577-3ADE-1098-B41263D1B62B}"/>
              </a:ext>
            </a:extLst>
          </p:cNvPr>
          <p:cNvSpPr txBox="1"/>
          <p:nvPr/>
        </p:nvSpPr>
        <p:spPr>
          <a:xfrm>
            <a:off x="7271745" y="3337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F62591-C3AA-DB6D-DE8D-670FE936E3E3}"/>
              </a:ext>
            </a:extLst>
          </p:cNvPr>
          <p:cNvSpPr txBox="1"/>
          <p:nvPr/>
        </p:nvSpPr>
        <p:spPr>
          <a:xfrm>
            <a:off x="8479687" y="3337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B9E517-E5BA-C389-1C66-C7255173A657}"/>
              </a:ext>
            </a:extLst>
          </p:cNvPr>
          <p:cNvSpPr txBox="1"/>
          <p:nvPr/>
        </p:nvSpPr>
        <p:spPr>
          <a:xfrm>
            <a:off x="7898597" y="38522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63DD3E-4AB0-AE4C-3DF4-558CF3F9D27D}"/>
              </a:ext>
            </a:extLst>
          </p:cNvPr>
          <p:cNvSpPr txBox="1"/>
          <p:nvPr/>
        </p:nvSpPr>
        <p:spPr>
          <a:xfrm>
            <a:off x="6724357" y="43268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21591-005C-F7EC-D282-A30D83F8A4B9}"/>
              </a:ext>
            </a:extLst>
          </p:cNvPr>
          <p:cNvSpPr txBox="1"/>
          <p:nvPr/>
        </p:nvSpPr>
        <p:spPr>
          <a:xfrm>
            <a:off x="7833942" y="43358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F50BCE-F5B2-A203-BF75-75BCBD3D7B90}"/>
              </a:ext>
            </a:extLst>
          </p:cNvPr>
          <p:cNvSpPr txBox="1"/>
          <p:nvPr/>
        </p:nvSpPr>
        <p:spPr>
          <a:xfrm>
            <a:off x="7304371" y="47594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1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EF16-66D2-257B-36B5-F3BC4881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8EDB-8C90-6AF6-4912-96D3D4AE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888" y="262442"/>
            <a:ext cx="7837587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t>일 때</a:t>
            </a:r>
            <a:r>
              <a:rPr lang="en-US"/>
              <a:t> - </a:t>
            </a:r>
            <a:r>
              <a:rPr lang="ko-KR" altLang="en-US"/>
              <a:t>시간복잡도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9C957-1F67-E98F-B16D-A88C075C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초기화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- </a:t>
            </a:r>
            <a:r>
              <a:rPr lang="ko-KR" altLang="en-US"/>
              <a:t>모든 노드 </a:t>
            </a:r>
            <a:r>
              <a:rPr lang="en-US" altLang="ko-KR"/>
              <a:t>V</a:t>
            </a:r>
            <a:r>
              <a:rPr lang="ko-KR" altLang="en-US"/>
              <a:t>에 값 설정</a:t>
            </a:r>
            <a:r>
              <a:rPr lang="en-US" altLang="ko-KR"/>
              <a:t>. O(V)</a:t>
            </a:r>
          </a:p>
          <a:p>
            <a:endParaRPr lang="en-US" altLang="ko-KR"/>
          </a:p>
          <a:p>
            <a:r>
              <a:rPr lang="ko-KR" altLang="en-US"/>
              <a:t>이웃 탐색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- </a:t>
            </a:r>
            <a:r>
              <a:rPr lang="ko-KR" altLang="en-US"/>
              <a:t>모든 노드의 이웃을 방문</a:t>
            </a:r>
            <a:r>
              <a:rPr lang="en-US" altLang="ko-KR"/>
              <a:t>.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최악 방문할 때마다 큐에 추가</a:t>
            </a:r>
            <a:r>
              <a:rPr lang="en-US" altLang="ko-KR"/>
              <a:t>. O(E log E)</a:t>
            </a:r>
          </a:p>
          <a:p>
            <a:endParaRPr lang="en-US" altLang="ko-KR"/>
          </a:p>
          <a:p>
            <a:r>
              <a:rPr lang="ko-KR" altLang="en-US"/>
              <a:t>큐에서 삭제</a:t>
            </a:r>
            <a:r>
              <a:rPr lang="en-US" altLang="ko-KR"/>
              <a:t>:</a:t>
            </a:r>
            <a:r>
              <a:rPr lang="ko-KR" altLang="en-US"/>
              <a:t> 한번 삭제</a:t>
            </a:r>
            <a:r>
              <a:rPr lang="en-US" altLang="ko-KR"/>
              <a:t>. O(E log E)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총 </a:t>
            </a:r>
            <a:r>
              <a:rPr lang="en-US" altLang="ko-KR"/>
              <a:t>O(E log E) = O(E log V)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76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0B84-E823-27C7-8578-06EB3D0C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20D4-A262-C030-417D-3646F4DB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065" y="262442"/>
            <a:ext cx="5181410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4E644-F662-7E89-567E-13DD23C0C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DIJKSTRA(G, s)</a:t>
            </a:r>
            <a:r>
              <a:rPr lang="ko-KR" altLang="en-US"/>
              <a:t>가 실행되는 순서는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B369706-00EF-C31D-A697-E54376CD2D38}"/>
              </a:ext>
            </a:extLst>
          </p:cNvPr>
          <p:cNvSpPr/>
          <p:nvPr/>
        </p:nvSpPr>
        <p:spPr>
          <a:xfrm>
            <a:off x="7730222" y="295364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069C548-2183-38A9-8CEB-7BCC98CDB4D7}"/>
              </a:ext>
            </a:extLst>
          </p:cNvPr>
          <p:cNvSpPr/>
          <p:nvPr/>
        </p:nvSpPr>
        <p:spPr>
          <a:xfrm>
            <a:off x="7157567" y="388651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799B006-A2FB-324B-A1BB-C5016BD5A39D}"/>
              </a:ext>
            </a:extLst>
          </p:cNvPr>
          <p:cNvSpPr/>
          <p:nvPr/>
        </p:nvSpPr>
        <p:spPr>
          <a:xfrm>
            <a:off x="8413712" y="388651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FB09BD-B4CC-D0D0-F2B6-CDF367F9ED29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406949" y="3379363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8763DDF-3E50-16E8-4418-F02B232E922E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155943" y="3379363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6BA1615-DB78-3F06-CFE8-A2C91385C345}"/>
              </a:ext>
            </a:extLst>
          </p:cNvPr>
          <p:cNvSpPr/>
          <p:nvPr/>
        </p:nvSpPr>
        <p:spPr>
          <a:xfrm>
            <a:off x="6560767" y="481938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70D35DD-7C87-025C-8B78-AF68CA03E52C}"/>
              </a:ext>
            </a:extLst>
          </p:cNvPr>
          <p:cNvSpPr/>
          <p:nvPr/>
        </p:nvSpPr>
        <p:spPr>
          <a:xfrm>
            <a:off x="7816912" y="481938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44AD89C-9350-D84E-B18E-1CE6AF477AC7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810149" y="4312236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959B699-7DF4-A8D7-1D8D-A1B6C763C267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7059530" y="506877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B0EEF1-4476-C9F0-FF11-EEEDE003231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656330" y="4135897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08AF5B-1688-BC79-17D1-FDD156964D0E}"/>
              </a:ext>
            </a:extLst>
          </p:cNvPr>
          <p:cNvSpPr txBox="1"/>
          <p:nvPr/>
        </p:nvSpPr>
        <p:spPr>
          <a:xfrm>
            <a:off x="7648970" y="262816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45D0E71-59F3-84EA-0306-2AA386621A4C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583288" y="4312236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B31C7A-77E9-6B34-1140-C9E1D6562AB5}"/>
              </a:ext>
            </a:extLst>
          </p:cNvPr>
          <p:cNvSpPr txBox="1"/>
          <p:nvPr/>
        </p:nvSpPr>
        <p:spPr>
          <a:xfrm>
            <a:off x="7271745" y="3337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3BE29-B989-C127-71CB-07514AA8838C}"/>
              </a:ext>
            </a:extLst>
          </p:cNvPr>
          <p:cNvSpPr txBox="1"/>
          <p:nvPr/>
        </p:nvSpPr>
        <p:spPr>
          <a:xfrm>
            <a:off x="8479687" y="3337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FDB59D-97E8-CC91-B6C5-56F82BC1D715}"/>
              </a:ext>
            </a:extLst>
          </p:cNvPr>
          <p:cNvSpPr txBox="1"/>
          <p:nvPr/>
        </p:nvSpPr>
        <p:spPr>
          <a:xfrm>
            <a:off x="7898597" y="38522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77AD47-FC69-8E9F-FC9F-47B2F0B3DA3E}"/>
              </a:ext>
            </a:extLst>
          </p:cNvPr>
          <p:cNvSpPr txBox="1"/>
          <p:nvPr/>
        </p:nvSpPr>
        <p:spPr>
          <a:xfrm>
            <a:off x="6724357" y="43268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AFD852-B6AF-1CF6-F6C6-C839789042AA}"/>
              </a:ext>
            </a:extLst>
          </p:cNvPr>
          <p:cNvSpPr txBox="1"/>
          <p:nvPr/>
        </p:nvSpPr>
        <p:spPr>
          <a:xfrm>
            <a:off x="7833942" y="43358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F0A3F-C59D-3AD2-F98E-9D25ABDCB01F}"/>
              </a:ext>
            </a:extLst>
          </p:cNvPr>
          <p:cNvSpPr txBox="1"/>
          <p:nvPr/>
        </p:nvSpPr>
        <p:spPr>
          <a:xfrm>
            <a:off x="7304371" y="47594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56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5103" y="262442"/>
            <a:ext cx="9677578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 </a:t>
            </a:r>
            <a:r>
              <a:rPr lang="en-US" altLang="ko-KR"/>
              <a:t>DIJKSTRA_SIMPLE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DIJKSTRA_</a:t>
            </a:r>
            <a:r>
              <a:rPr lang="en-US"/>
              <a:t>NOHEAP</a:t>
            </a:r>
            <a:r>
              <a:t>(그래프 G, 시작 노드 s):</a:t>
            </a:r>
          </a:p>
          <a:p>
            <a:r>
              <a:t>반복: G의 모든 노드 u에 대해,</a:t>
            </a:r>
            <a:endParaRPr lang="en-US"/>
          </a:p>
          <a:p>
            <a:pPr marL="0" indent="0">
              <a:buNone/>
            </a:pPr>
            <a:r>
              <a:t>	u-&gt;distance = 아주 큰 수</a:t>
            </a:r>
            <a:endParaRPr lang="en-US"/>
          </a:p>
          <a:p>
            <a:pPr marL="0" indent="0">
              <a:buNone/>
            </a:pPr>
            <a:r>
              <a:t>	u-&gt;parent = 없음</a:t>
            </a:r>
            <a:endParaRPr lang="en-US"/>
          </a:p>
          <a:p>
            <a:pPr marL="0" indent="0">
              <a:buNone/>
            </a:pPr>
            <a:r>
              <a:rPr lang="en-US"/>
              <a:t>	u-&gt;status = </a:t>
            </a:r>
            <a:r>
              <a:rPr lang="ko-KR" altLang="en-US"/>
              <a:t>최단거리발견전</a:t>
            </a:r>
          </a:p>
          <a:p>
            <a:endParaRPr lang="en-US"/>
          </a:p>
          <a:p>
            <a:r>
              <a:t>s-&gt;distance = 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79EB-BD31-BCFA-7B0C-9B6AFC18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3B67-895F-D194-1968-3898AE69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5103" y="262442"/>
            <a:ext cx="9677578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rPr lang="ko-KR" altLang="en-US"/>
              <a:t>일 때 </a:t>
            </a:r>
            <a:r>
              <a:rPr lang="en-US" altLang="ko-KR"/>
              <a:t>DIJKSTRA_SIMPLE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C962-0C54-5C78-1C54-46E78F3AA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</a:rPr>
              <a:t>반복: G에 </a:t>
            </a:r>
            <a:r>
              <a:rPr lang="ko-KR" altLang="en-US">
                <a:solidFill>
                  <a:srgbClr val="FF0000"/>
                </a:solidFill>
              </a:rPr>
              <a:t>최단거리발견</a:t>
            </a:r>
            <a:r>
              <a:rPr>
                <a:solidFill>
                  <a:srgbClr val="FF0000"/>
                </a:solidFill>
              </a:rPr>
              <a:t>전인 노드가 있는 동안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	u = G의 </a:t>
            </a:r>
            <a:r>
              <a:rPr lang="ko-KR" altLang="en-US">
                <a:solidFill>
                  <a:srgbClr val="FF0000"/>
                </a:solidFill>
              </a:rPr>
              <a:t>최단거리발견</a:t>
            </a:r>
            <a:r>
              <a:rPr>
                <a:solidFill>
                  <a:srgbClr val="FF0000"/>
                </a:solidFill>
              </a:rPr>
              <a:t>전 노드 중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ko-KR" altLang="en-US">
                <a:solidFill>
                  <a:srgbClr val="FF0000"/>
                </a:solidFill>
              </a:rPr>
              <a:t>최소</a:t>
            </a:r>
            <a:r>
              <a:rPr>
                <a:solidFill>
                  <a:srgbClr val="FF0000"/>
                </a:solidFill>
              </a:rPr>
              <a:t> distanc</a:t>
            </a:r>
            <a:r>
              <a:rPr lang="en-US">
                <a:solidFill>
                  <a:srgbClr val="FF0000"/>
                </a:solidFill>
              </a:rPr>
              <a:t>e</a:t>
            </a:r>
          </a:p>
          <a:p>
            <a:pPr marL="0" indent="0">
              <a:buNone/>
            </a:pPr>
            <a:r>
              <a:t>	u-&gt;status = </a:t>
            </a:r>
            <a:r>
              <a:rPr lang="ko-KR" altLang="en-US"/>
              <a:t>최단거리발견됨</a:t>
            </a:r>
            <a:endParaRPr/>
          </a:p>
          <a:p>
            <a:pPr marL="0" indent="0">
              <a:buNone/>
            </a:pPr>
            <a:r>
              <a:t>	반복: u의 모든 이웃 v와 (u, v) 연결</a:t>
            </a:r>
            <a:r>
              <a:rPr lang="ko-KR" altLang="en-US"/>
              <a:t>선</a:t>
            </a:r>
            <a:r>
              <a:t> e,</a:t>
            </a:r>
          </a:p>
          <a:p>
            <a:pPr marL="0" indent="0">
              <a:buNone/>
            </a:pPr>
            <a:r>
              <a:t>		만약: v-&gt;distance 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≤ u-&gt;distance + e-&gt;length이면,</a:t>
            </a:r>
          </a:p>
          <a:p>
            <a:pPr marL="0" indent="0">
              <a:buNone/>
            </a:pPr>
            <a:r>
              <a:t>			다음 반복으로</a:t>
            </a:r>
          </a:p>
          <a:p>
            <a:pPr marL="0" indent="0">
              <a:buNone/>
            </a:pPr>
            <a:r>
              <a:t>		v-&gt;parent = u</a:t>
            </a:r>
          </a:p>
          <a:p>
            <a:pPr marL="0" indent="0">
              <a:buNone/>
            </a:pPr>
            <a:r>
              <a:t>		v-&gt;distance = u-&gt;distance + e-&gt;length</a:t>
            </a:r>
          </a:p>
        </p:txBody>
      </p:sp>
    </p:spTree>
    <p:extLst>
      <p:ext uri="{BB962C8B-B14F-4D97-AF65-F5344CB8AC3E}">
        <p14:creationId xmlns:p14="http://schemas.microsoft.com/office/powerpoint/2010/main" val="1616161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D551E-53B0-FBA3-45BC-C36E5B35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B659-533A-C5D0-467F-0B60DA1C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0106" y="262442"/>
            <a:ext cx="9222581" cy="607653"/>
          </a:xfrm>
        </p:spPr>
        <p:txBody>
          <a:bodyPr>
            <a:spAutoFit/>
          </a:bodyPr>
          <a:lstStyle/>
          <a:p>
            <a:r>
              <a:rPr lang="ko-KR" altLang="en-US"/>
              <a:t>연결선 비용 ≥ </a:t>
            </a:r>
            <a:r>
              <a:rPr lang="en-US" altLang="ko-KR"/>
              <a:t>0</a:t>
            </a:r>
            <a:r>
              <a:t>일 때</a:t>
            </a:r>
            <a:r>
              <a:rPr lang="en-US"/>
              <a:t> - </a:t>
            </a:r>
            <a:r>
              <a:rPr lang="ko-KR" altLang="en-US"/>
              <a:t>힙없이 시간복잡도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A28F4-A6E6-1CBB-30BE-697AD0B2B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초기화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- </a:t>
            </a:r>
            <a:r>
              <a:rPr lang="ko-KR" altLang="en-US"/>
              <a:t>모든 노드 </a:t>
            </a:r>
            <a:r>
              <a:rPr lang="en-US" altLang="ko-KR"/>
              <a:t>V</a:t>
            </a:r>
            <a:r>
              <a:rPr lang="ko-KR" altLang="en-US"/>
              <a:t>에 값 설정</a:t>
            </a:r>
            <a:r>
              <a:rPr lang="en-US" altLang="ko-KR"/>
              <a:t>. O(V)</a:t>
            </a:r>
          </a:p>
          <a:p>
            <a:endParaRPr lang="en-US" altLang="ko-KR"/>
          </a:p>
          <a:p>
            <a:r>
              <a:rPr lang="ko-KR" altLang="en-US"/>
              <a:t>이웃 탐색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- </a:t>
            </a:r>
            <a:r>
              <a:rPr lang="ko-KR" altLang="en-US"/>
              <a:t>이웃 행렬에서 모든 노드의 이웃 확인</a:t>
            </a:r>
            <a:r>
              <a:rPr lang="en-US" altLang="ko-KR"/>
              <a:t>. O(E)</a:t>
            </a:r>
          </a:p>
          <a:p>
            <a:endParaRPr lang="en-US" altLang="ko-KR"/>
          </a:p>
          <a:p>
            <a:r>
              <a:rPr lang="ko-KR" altLang="en-US"/>
              <a:t>노드 선택</a:t>
            </a:r>
            <a:r>
              <a:rPr lang="en-US" altLang="ko-KR"/>
              <a:t>: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- </a:t>
            </a:r>
            <a:r>
              <a:rPr lang="ko-KR" altLang="en-US"/>
              <a:t>모든 노드 확인을 </a:t>
            </a:r>
            <a:r>
              <a:rPr lang="en-US" altLang="ko-KR"/>
              <a:t>V</a:t>
            </a:r>
            <a:r>
              <a:rPr lang="ko-KR" altLang="en-US"/>
              <a:t>번 반복</a:t>
            </a:r>
            <a:r>
              <a:rPr lang="en-US" altLang="ko-KR"/>
              <a:t>. O(V²)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총 </a:t>
            </a:r>
            <a:r>
              <a:rPr lang="en-US" altLang="ko-KR"/>
              <a:t>O(E + V²) = O(V²)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20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일반적인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1회차에서 시작점부터 노드 A까지 최단거리는?</a:t>
            </a:r>
          </a:p>
          <a:p>
            <a:r>
              <a:t>2회차에서 시작점부터 노드 A까지 최단거리는?</a:t>
            </a:r>
          </a:p>
          <a:p>
            <a:r>
              <a:t>3회차에서 시작점부터 노드 A까지 최단거리는?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61AB00F-D5BD-CB71-CB8A-8716F22A4ACD}"/>
              </a:ext>
            </a:extLst>
          </p:cNvPr>
          <p:cNvSpPr/>
          <p:nvPr/>
        </p:nvSpPr>
        <p:spPr>
          <a:xfrm>
            <a:off x="7156482" y="39615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394DD7F-A907-6529-A418-C3468A064011}"/>
              </a:ext>
            </a:extLst>
          </p:cNvPr>
          <p:cNvSpPr/>
          <p:nvPr/>
        </p:nvSpPr>
        <p:spPr>
          <a:xfrm>
            <a:off x="6583827" y="489446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6F102AB-9BBC-D1CE-822E-2E72FE9559B8}"/>
              </a:ext>
            </a:extLst>
          </p:cNvPr>
          <p:cNvSpPr/>
          <p:nvPr/>
        </p:nvSpPr>
        <p:spPr>
          <a:xfrm>
            <a:off x="7839972" y="489446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617BBC2-CF74-A615-5D2B-B1A8EE8594DE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33209" y="4387314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C54A5A3-BBFE-39E5-B08B-8E16A6A8FBA3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582203" y="4387314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AF8CC857-E9F9-2418-34B5-1D05CC411D5A}"/>
              </a:ext>
            </a:extLst>
          </p:cNvPr>
          <p:cNvSpPr/>
          <p:nvPr/>
        </p:nvSpPr>
        <p:spPr>
          <a:xfrm>
            <a:off x="5987027" y="5827339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E1AB1A8-7571-FC62-0DB9-FA2DBCAD6D3F}"/>
              </a:ext>
            </a:extLst>
          </p:cNvPr>
          <p:cNvSpPr/>
          <p:nvPr/>
        </p:nvSpPr>
        <p:spPr>
          <a:xfrm>
            <a:off x="7243172" y="5827339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3577E89-11EE-FCB9-4D58-B27E6BA3983E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36409" y="5320187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D7039C3-F818-2CA4-0893-B63BE1DACF8B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485790" y="6076721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78C401-2397-B3BF-992F-1FCB627B1771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082590" y="5143848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035E7A-4DA6-FF34-9ACA-29889006E0D5}"/>
              </a:ext>
            </a:extLst>
          </p:cNvPr>
          <p:cNvSpPr txBox="1"/>
          <p:nvPr/>
        </p:nvSpPr>
        <p:spPr>
          <a:xfrm>
            <a:off x="6464852" y="3636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시작점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8FBCD82-CE93-3986-6A1A-3A55E398489F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09548" y="5320187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E016C98-F7CD-B803-D6FF-2AD0B2F96F2A}"/>
              </a:ext>
            </a:extLst>
          </p:cNvPr>
          <p:cNvSpPr txBox="1"/>
          <p:nvPr/>
        </p:nvSpPr>
        <p:spPr>
          <a:xfrm>
            <a:off x="6698005" y="43453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51461A-E925-C54B-AA34-7BD6B3648E67}"/>
              </a:ext>
            </a:extLst>
          </p:cNvPr>
          <p:cNvSpPr txBox="1"/>
          <p:nvPr/>
        </p:nvSpPr>
        <p:spPr>
          <a:xfrm>
            <a:off x="7905947" y="43453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A9BF28-1096-C420-1514-712639633735}"/>
              </a:ext>
            </a:extLst>
          </p:cNvPr>
          <p:cNvSpPr txBox="1"/>
          <p:nvPr/>
        </p:nvSpPr>
        <p:spPr>
          <a:xfrm>
            <a:off x="7324857" y="486019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88245-8D59-B22E-792B-B14560167D37}"/>
              </a:ext>
            </a:extLst>
          </p:cNvPr>
          <p:cNvSpPr txBox="1"/>
          <p:nvPr/>
        </p:nvSpPr>
        <p:spPr>
          <a:xfrm>
            <a:off x="6150617" y="53348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88FAB2-7342-6837-F6C1-06EAB5D193FC}"/>
              </a:ext>
            </a:extLst>
          </p:cNvPr>
          <p:cNvSpPr txBox="1"/>
          <p:nvPr/>
        </p:nvSpPr>
        <p:spPr>
          <a:xfrm>
            <a:off x="7260202" y="534376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055B2F-D747-5CE2-BEDA-01FFD371BC50}"/>
              </a:ext>
            </a:extLst>
          </p:cNvPr>
          <p:cNvSpPr txBox="1"/>
          <p:nvPr/>
        </p:nvSpPr>
        <p:spPr>
          <a:xfrm>
            <a:off x="6730631" y="5767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일반적인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최대 반복해야할 횟수는?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8C7D39-ADEC-1A92-51A7-3DD410A6C73B}"/>
              </a:ext>
            </a:extLst>
          </p:cNvPr>
          <p:cNvSpPr/>
          <p:nvPr/>
        </p:nvSpPr>
        <p:spPr>
          <a:xfrm>
            <a:off x="7156482" y="247345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E411088-8EC3-CD86-D276-FA73D65E6A15}"/>
              </a:ext>
            </a:extLst>
          </p:cNvPr>
          <p:cNvSpPr/>
          <p:nvPr/>
        </p:nvSpPr>
        <p:spPr>
          <a:xfrm>
            <a:off x="6583827" y="34063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719D9B6-727D-4F9F-AE75-B0CE637276ED}"/>
              </a:ext>
            </a:extLst>
          </p:cNvPr>
          <p:cNvSpPr/>
          <p:nvPr/>
        </p:nvSpPr>
        <p:spPr>
          <a:xfrm>
            <a:off x="7839972" y="34063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6232AE-B387-F587-327D-8304984FB57F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33209" y="2899173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A758B83-A12A-23E4-4CDF-8DD4C382003D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582203" y="2899173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CD2164F8-87FD-CEEC-4B69-6208F3EB73A7}"/>
              </a:ext>
            </a:extLst>
          </p:cNvPr>
          <p:cNvSpPr/>
          <p:nvPr/>
        </p:nvSpPr>
        <p:spPr>
          <a:xfrm>
            <a:off x="5987027" y="43391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AEEF005-B270-FFA4-5202-6541CF7E8692}"/>
              </a:ext>
            </a:extLst>
          </p:cNvPr>
          <p:cNvSpPr/>
          <p:nvPr/>
        </p:nvSpPr>
        <p:spPr>
          <a:xfrm>
            <a:off x="7243172" y="43391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CD75076-98AA-8F9C-C620-D9CB8FF71240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36409" y="3832046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B629AF-95E6-A40B-6D7F-EB6D0EAE720E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485790" y="458858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E07DD87-AFCA-8A15-9B55-A18F95F2B72B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082590" y="3655707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9ECAEA-5827-0F2D-44DC-9656594683CC}"/>
              </a:ext>
            </a:extLst>
          </p:cNvPr>
          <p:cNvSpPr txBox="1"/>
          <p:nvPr/>
        </p:nvSpPr>
        <p:spPr>
          <a:xfrm>
            <a:off x="6464852" y="21479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시작점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2447651-37FB-F60F-3990-B525C7E557D7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09548" y="3832046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1C5FAE2-A447-ACC1-7408-0BD1BB85F2CB}"/>
              </a:ext>
            </a:extLst>
          </p:cNvPr>
          <p:cNvSpPr txBox="1"/>
          <p:nvPr/>
        </p:nvSpPr>
        <p:spPr>
          <a:xfrm>
            <a:off x="6698005" y="28571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395401-5985-775E-C239-1C6513FC9735}"/>
              </a:ext>
            </a:extLst>
          </p:cNvPr>
          <p:cNvSpPr txBox="1"/>
          <p:nvPr/>
        </p:nvSpPr>
        <p:spPr>
          <a:xfrm>
            <a:off x="7905947" y="28571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66EB0B-4690-19F1-FB1C-917F42FF0B8A}"/>
              </a:ext>
            </a:extLst>
          </p:cNvPr>
          <p:cNvSpPr txBox="1"/>
          <p:nvPr/>
        </p:nvSpPr>
        <p:spPr>
          <a:xfrm>
            <a:off x="7324857" y="337205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6FEF00-E21B-A7E2-E9C4-A4B3D8EFE3C6}"/>
              </a:ext>
            </a:extLst>
          </p:cNvPr>
          <p:cNvSpPr txBox="1"/>
          <p:nvPr/>
        </p:nvSpPr>
        <p:spPr>
          <a:xfrm>
            <a:off x="6150617" y="38467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FE1DCF-CAC6-C234-C043-9728EE7A8F19}"/>
              </a:ext>
            </a:extLst>
          </p:cNvPr>
          <p:cNvSpPr txBox="1"/>
          <p:nvPr/>
        </p:nvSpPr>
        <p:spPr>
          <a:xfrm>
            <a:off x="7260202" y="385562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C1AB3F-A5F2-F728-F63C-B0F93AA1B7CF}"/>
              </a:ext>
            </a:extLst>
          </p:cNvPr>
          <p:cNvSpPr txBox="1"/>
          <p:nvPr/>
        </p:nvSpPr>
        <p:spPr>
          <a:xfrm>
            <a:off x="6730631" y="427922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90" y="262442"/>
            <a:ext cx="8391585" cy="607653"/>
          </a:xfrm>
        </p:spPr>
        <p:txBody>
          <a:bodyPr>
            <a:spAutoFit/>
          </a:bodyPr>
          <a:lstStyle/>
          <a:p>
            <a:r>
              <a:t>일반적인 경우</a:t>
            </a:r>
            <a:r>
              <a:rPr lang="en-US"/>
              <a:t> - BELLMAN_FORD 1/3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BELLMAN_FORD(그래프 G, 시작 노드 s):</a:t>
            </a:r>
          </a:p>
          <a:p>
            <a:r>
              <a:t>반복: G의 모든 노드 u에 대해,</a:t>
            </a:r>
          </a:p>
          <a:p>
            <a:pPr marL="0" indent="0">
              <a:buNone/>
            </a:pPr>
            <a:r>
              <a:t>	u-&gt;distance = 아주 큰 수</a:t>
            </a:r>
          </a:p>
          <a:p>
            <a:pPr marL="0" indent="0">
              <a:buNone/>
            </a:pPr>
            <a:r>
              <a:t>	u-&gt;parent = 없음</a:t>
            </a:r>
          </a:p>
          <a:p>
            <a:r>
              <a:t>s-&gt;distance = 0</a:t>
            </a:r>
          </a:p>
          <a:p>
            <a:r>
              <a:t>반복: G의 노드 개수 - 1번</a:t>
            </a:r>
          </a:p>
          <a:p>
            <a:pPr marL="0" indent="0">
              <a:buNone/>
            </a:pPr>
            <a:r>
              <a:t>	반복: G의 모든 연결선 e에 대해,</a:t>
            </a:r>
          </a:p>
          <a:p>
            <a:pPr marL="0" indent="0">
              <a:buNone/>
            </a:pPr>
            <a:r>
              <a:t>		u = e-&gt;node1</a:t>
            </a:r>
          </a:p>
          <a:p>
            <a:pPr marL="0" indent="0">
              <a:buNone/>
            </a:pPr>
            <a:r>
              <a:t>		v = e-&gt;node2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39F2A-263A-C00A-DFE6-BD3CD4F0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80AD-4CEE-87FA-1B4C-1CB94E64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90" y="262442"/>
            <a:ext cx="8391585" cy="607653"/>
          </a:xfrm>
        </p:spPr>
        <p:txBody>
          <a:bodyPr>
            <a:spAutoFit/>
          </a:bodyPr>
          <a:lstStyle/>
          <a:p>
            <a:r>
              <a:t>일반적인 경우</a:t>
            </a:r>
            <a:r>
              <a:rPr lang="en-US" altLang="ko-KR"/>
              <a:t> - BELLMAN_FORD 2/3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7A0A-6A65-F800-82FE-261031DC2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만약: u-&gt;distance &lt; 아주 큰수이고, </a:t>
            </a:r>
            <a:endParaRPr lang="en-US"/>
          </a:p>
          <a:p>
            <a:pPr marL="0" indent="0">
              <a:buNone/>
            </a:pPr>
            <a:r>
              <a:rPr lang="en-US"/>
              <a:t>				</a:t>
            </a:r>
            <a:r>
              <a:t>v-&gt;distance </a:t>
            </a:r>
            <a:endParaRPr lang="en-US"/>
          </a:p>
          <a:p>
            <a:pPr marL="0" indent="0">
              <a:buNone/>
            </a:pPr>
            <a:r>
              <a:rPr lang="en-US"/>
              <a:t>				</a:t>
            </a:r>
            <a:r>
              <a:t>&gt; u-&gt;distance + e-&gt;length면,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	v-&gt;distance</a:t>
            </a:r>
            <a:endParaRPr lang="en-US"/>
          </a:p>
          <a:p>
            <a:pPr marL="0" indent="0">
              <a:buNone/>
            </a:pPr>
            <a:r>
              <a:rPr lang="en-US"/>
              <a:t>				</a:t>
            </a:r>
            <a:r>
              <a:t> = u-&gt;distance + e-&gt;length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	v-&gt;parent = u</a:t>
            </a:r>
          </a:p>
        </p:txBody>
      </p:sp>
    </p:spTree>
    <p:extLst>
      <p:ext uri="{BB962C8B-B14F-4D97-AF65-F5344CB8AC3E}">
        <p14:creationId xmlns:p14="http://schemas.microsoft.com/office/powerpoint/2010/main" val="347990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1BF4-B55C-DE83-7EA8-D14423BAE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69E2-66A4-F55D-EE61-893DFD7B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90" y="262442"/>
            <a:ext cx="8391585" cy="607653"/>
          </a:xfrm>
        </p:spPr>
        <p:txBody>
          <a:bodyPr>
            <a:spAutoFit/>
          </a:bodyPr>
          <a:lstStyle/>
          <a:p>
            <a:r>
              <a:t>일반적인 경우</a:t>
            </a:r>
            <a:r>
              <a:rPr lang="en-US" altLang="ko-KR"/>
              <a:t> - BELLMAN_FORD 3/3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B3389-6B1F-D2FE-AC53-612EDA531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만약: v-&gt;distance &lt; 아주 큰수이고, </a:t>
            </a:r>
            <a:endParaRPr lang="en-US"/>
          </a:p>
          <a:p>
            <a:pPr marL="0" indent="0">
              <a:buNone/>
            </a:pPr>
            <a:r>
              <a:rPr lang="en-US"/>
              <a:t>				</a:t>
            </a:r>
            <a:r>
              <a:t>u-&gt;distance</a:t>
            </a:r>
            <a:endParaRPr lang="en-US"/>
          </a:p>
          <a:p>
            <a:pPr marL="0" indent="0">
              <a:buNone/>
            </a:pPr>
            <a:r>
              <a:rPr lang="en-US"/>
              <a:t>				</a:t>
            </a:r>
            <a:r>
              <a:t>&gt; v-&gt;distance + e-&gt;length면,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	u-&gt;distance</a:t>
            </a:r>
            <a:endParaRPr lang="en-US"/>
          </a:p>
          <a:p>
            <a:pPr marL="0" indent="0">
              <a:buNone/>
            </a:pPr>
            <a:r>
              <a:rPr lang="en-US"/>
              <a:t>				</a:t>
            </a:r>
            <a:r>
              <a:t> = v-&gt;distance + e-&gt;length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	u-&gt;parent = v</a:t>
            </a:r>
          </a:p>
        </p:txBody>
      </p:sp>
    </p:spTree>
    <p:extLst>
      <p:ext uri="{BB962C8B-B14F-4D97-AF65-F5344CB8AC3E}">
        <p14:creationId xmlns:p14="http://schemas.microsoft.com/office/powerpoint/2010/main" val="1043727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rPr lang="ko-KR" altLang="en-US"/>
              <a:t>일반적인 경우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그래프에서 BELLMAN_FORD(G, s)를 실행하면?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1DA6035-F3D1-B2D1-66A5-9513D98833E0}"/>
              </a:ext>
            </a:extLst>
          </p:cNvPr>
          <p:cNvSpPr/>
          <p:nvPr/>
        </p:nvSpPr>
        <p:spPr>
          <a:xfrm>
            <a:off x="7156482" y="295754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529D2FD-04E6-97FB-9D7C-EE71FA2CA908}"/>
              </a:ext>
            </a:extLst>
          </p:cNvPr>
          <p:cNvSpPr/>
          <p:nvPr/>
        </p:nvSpPr>
        <p:spPr>
          <a:xfrm>
            <a:off x="6583827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6B8F548-6B7A-A640-CD29-45F95DB0721F}"/>
              </a:ext>
            </a:extLst>
          </p:cNvPr>
          <p:cNvSpPr/>
          <p:nvPr/>
        </p:nvSpPr>
        <p:spPr>
          <a:xfrm>
            <a:off x="7839972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9013778-6D71-23B1-8D83-0E8290E7A589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33209" y="3383268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9BDC04-1391-29EE-ED45-9372C8B91A14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582203" y="3383268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6494DB61-CABD-E88B-DE7C-35B203F486B7}"/>
              </a:ext>
            </a:extLst>
          </p:cNvPr>
          <p:cNvSpPr/>
          <p:nvPr/>
        </p:nvSpPr>
        <p:spPr>
          <a:xfrm>
            <a:off x="5987027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63A5CD4-D208-8240-D5A6-72DE71A6B944}"/>
              </a:ext>
            </a:extLst>
          </p:cNvPr>
          <p:cNvSpPr/>
          <p:nvPr/>
        </p:nvSpPr>
        <p:spPr>
          <a:xfrm>
            <a:off x="7243172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A47B0E-7A71-343A-79D5-9E30F118AF87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36409" y="4316141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D32C77F-8C4B-615E-2B12-1BF9A1A70730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485790" y="507267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BBFFB41-E569-5DFE-6432-A52A030C9A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082590" y="4139802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BD6879-18CF-CFA8-833A-BA7934A8E575}"/>
              </a:ext>
            </a:extLst>
          </p:cNvPr>
          <p:cNvSpPr txBox="1"/>
          <p:nvPr/>
        </p:nvSpPr>
        <p:spPr>
          <a:xfrm>
            <a:off x="7050464" y="263207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EE7848-B5D2-AB4D-7824-CA6F41EB3B78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09548" y="4316141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D21A349-502E-B085-3FB5-04C99D898167}"/>
              </a:ext>
            </a:extLst>
          </p:cNvPr>
          <p:cNvSpPr txBox="1"/>
          <p:nvPr/>
        </p:nvSpPr>
        <p:spPr>
          <a:xfrm>
            <a:off x="6698005" y="33412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8CDDC-8031-792A-6F56-C556532C52BC}"/>
              </a:ext>
            </a:extLst>
          </p:cNvPr>
          <p:cNvSpPr txBox="1"/>
          <p:nvPr/>
        </p:nvSpPr>
        <p:spPr>
          <a:xfrm>
            <a:off x="7905947" y="33412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AE6227-F93E-51F6-CFDC-9D27CB434B2D}"/>
              </a:ext>
            </a:extLst>
          </p:cNvPr>
          <p:cNvSpPr txBox="1"/>
          <p:nvPr/>
        </p:nvSpPr>
        <p:spPr>
          <a:xfrm>
            <a:off x="7324857" y="385615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4F08A2-56BC-1292-EBF5-51E6C36F4D8C}"/>
              </a:ext>
            </a:extLst>
          </p:cNvPr>
          <p:cNvSpPr txBox="1"/>
          <p:nvPr/>
        </p:nvSpPr>
        <p:spPr>
          <a:xfrm>
            <a:off x="6150617" y="43307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8626D8-D823-FC5F-9FB1-8B9E868BB326}"/>
              </a:ext>
            </a:extLst>
          </p:cNvPr>
          <p:cNvSpPr txBox="1"/>
          <p:nvPr/>
        </p:nvSpPr>
        <p:spPr>
          <a:xfrm>
            <a:off x="7260202" y="433972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79A8E0-A51D-B18D-37C9-89F0879EC61E}"/>
              </a:ext>
            </a:extLst>
          </p:cNvPr>
          <p:cNvSpPr txBox="1"/>
          <p:nvPr/>
        </p:nvSpPr>
        <p:spPr>
          <a:xfrm>
            <a:off x="6730631" y="4763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일반적인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음수 사이클이 있다면?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59CA125-CB2B-A834-70C0-CE7D0BFF5C6E}"/>
              </a:ext>
            </a:extLst>
          </p:cNvPr>
          <p:cNvSpPr/>
          <p:nvPr/>
        </p:nvSpPr>
        <p:spPr>
          <a:xfrm>
            <a:off x="7156482" y="295754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C60A218-C8DB-3D17-F5B9-2E2D734FBF72}"/>
              </a:ext>
            </a:extLst>
          </p:cNvPr>
          <p:cNvSpPr/>
          <p:nvPr/>
        </p:nvSpPr>
        <p:spPr>
          <a:xfrm>
            <a:off x="6583827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72FEA54-BF6F-C085-77E1-12AF05218E17}"/>
              </a:ext>
            </a:extLst>
          </p:cNvPr>
          <p:cNvSpPr/>
          <p:nvPr/>
        </p:nvSpPr>
        <p:spPr>
          <a:xfrm>
            <a:off x="7839972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70F3C8-628C-7D45-96B4-8C99AE41C9B1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33209" y="3383268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AFFA8E4-4F2C-BFB8-67AA-0D62EC6E9C72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582203" y="3383268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FF123B75-BCA7-C369-BD32-E04D50BEE647}"/>
              </a:ext>
            </a:extLst>
          </p:cNvPr>
          <p:cNvSpPr/>
          <p:nvPr/>
        </p:nvSpPr>
        <p:spPr>
          <a:xfrm>
            <a:off x="5987027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999E1EA-F126-A441-2349-C87C6B707B3F}"/>
              </a:ext>
            </a:extLst>
          </p:cNvPr>
          <p:cNvSpPr/>
          <p:nvPr/>
        </p:nvSpPr>
        <p:spPr>
          <a:xfrm>
            <a:off x="7243172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2473E29-EA8B-A2DD-8661-A8ACD8A54377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36409" y="4316141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9BCADCA-3AE6-2FE5-5BD6-681F16A41711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485790" y="507267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AFA4B75-9937-3B92-CE42-33E8F19047D4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082590" y="4139802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D882F7C-1DE4-094D-46D7-61104F3F0AA6}"/>
              </a:ext>
            </a:extLst>
          </p:cNvPr>
          <p:cNvSpPr txBox="1"/>
          <p:nvPr/>
        </p:nvSpPr>
        <p:spPr>
          <a:xfrm>
            <a:off x="7050464" y="263207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436ED50-19CA-4827-4FFF-5B8A06E9EC13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09548" y="4316141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2105BD-4E49-5194-02AF-0A3B9608F86F}"/>
              </a:ext>
            </a:extLst>
          </p:cNvPr>
          <p:cNvSpPr txBox="1"/>
          <p:nvPr/>
        </p:nvSpPr>
        <p:spPr>
          <a:xfrm>
            <a:off x="6698005" y="33412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D5BD8B-E653-166D-AD05-D224502CC77C}"/>
              </a:ext>
            </a:extLst>
          </p:cNvPr>
          <p:cNvSpPr txBox="1"/>
          <p:nvPr/>
        </p:nvSpPr>
        <p:spPr>
          <a:xfrm>
            <a:off x="7905947" y="334126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47F5FA-0D78-E625-DFC5-650D3E2E1A28}"/>
              </a:ext>
            </a:extLst>
          </p:cNvPr>
          <p:cNvSpPr txBox="1"/>
          <p:nvPr/>
        </p:nvSpPr>
        <p:spPr>
          <a:xfrm>
            <a:off x="7324857" y="385615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D89F7-BCDA-C7C1-4EB1-E77698A5A181}"/>
              </a:ext>
            </a:extLst>
          </p:cNvPr>
          <p:cNvSpPr txBox="1"/>
          <p:nvPr/>
        </p:nvSpPr>
        <p:spPr>
          <a:xfrm>
            <a:off x="6150617" y="43307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8A1C4-E22D-3E89-49E9-F58E24847445}"/>
              </a:ext>
            </a:extLst>
          </p:cNvPr>
          <p:cNvSpPr txBox="1"/>
          <p:nvPr/>
        </p:nvSpPr>
        <p:spPr>
          <a:xfrm>
            <a:off x="7260202" y="433972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5529E5-B4AD-FD10-DEB2-54C26E9BCA99}"/>
              </a:ext>
            </a:extLst>
          </p:cNvPr>
          <p:cNvSpPr txBox="1"/>
          <p:nvPr/>
        </p:nvSpPr>
        <p:spPr>
          <a:xfrm>
            <a:off x="6730631" y="4763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일반적인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음수 사이클이 있는 경우와 없는 경우 |V|번째 반복에서 일어나는 일은?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DAA6814-6F57-F5C5-515C-B3CA791928F1}"/>
              </a:ext>
            </a:extLst>
          </p:cNvPr>
          <p:cNvSpPr/>
          <p:nvPr/>
        </p:nvSpPr>
        <p:spPr>
          <a:xfrm>
            <a:off x="7156482" y="295754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945FC22-0BE8-731A-F6ED-7F3386D30A92}"/>
              </a:ext>
            </a:extLst>
          </p:cNvPr>
          <p:cNvSpPr/>
          <p:nvPr/>
        </p:nvSpPr>
        <p:spPr>
          <a:xfrm>
            <a:off x="6583827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5D306DC-1D38-1157-1401-61F15E563D1A}"/>
              </a:ext>
            </a:extLst>
          </p:cNvPr>
          <p:cNvSpPr/>
          <p:nvPr/>
        </p:nvSpPr>
        <p:spPr>
          <a:xfrm>
            <a:off x="7839972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046520-D549-5F35-462F-80A5AB0B293C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33209" y="3383268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62F15F7-D874-4541-62EF-06C597E3E2AF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582203" y="3383268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0CC5C35F-5357-A81C-392A-6E0594900D13}"/>
              </a:ext>
            </a:extLst>
          </p:cNvPr>
          <p:cNvSpPr/>
          <p:nvPr/>
        </p:nvSpPr>
        <p:spPr>
          <a:xfrm>
            <a:off x="5987027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ACF9F08-7F42-7EA0-3A45-81428434DFEA}"/>
              </a:ext>
            </a:extLst>
          </p:cNvPr>
          <p:cNvSpPr/>
          <p:nvPr/>
        </p:nvSpPr>
        <p:spPr>
          <a:xfrm>
            <a:off x="7243172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6D2A7D-5865-EB87-E7FB-A2F9622055F6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36409" y="4316141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927D197-D691-AEDD-6BB2-7A990504D775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485790" y="507267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82A8792-566E-4EE8-35E7-E6B5EA88C074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082590" y="4139802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2A410CE-0CA9-AB12-74C2-070C1907F2F8}"/>
              </a:ext>
            </a:extLst>
          </p:cNvPr>
          <p:cNvSpPr txBox="1"/>
          <p:nvPr/>
        </p:nvSpPr>
        <p:spPr>
          <a:xfrm>
            <a:off x="7050464" y="263207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C63BE2F-2817-7B2E-44BA-4D17449DEA44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09548" y="4316141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3127A59-C743-8801-257B-FA4587A813CB}"/>
              </a:ext>
            </a:extLst>
          </p:cNvPr>
          <p:cNvSpPr txBox="1"/>
          <p:nvPr/>
        </p:nvSpPr>
        <p:spPr>
          <a:xfrm>
            <a:off x="6698005" y="33412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D3195-923F-E495-B301-EFFAB76D120E}"/>
              </a:ext>
            </a:extLst>
          </p:cNvPr>
          <p:cNvSpPr txBox="1"/>
          <p:nvPr/>
        </p:nvSpPr>
        <p:spPr>
          <a:xfrm>
            <a:off x="7905947" y="334126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CC182-B01B-016D-5872-877DA1B76E06}"/>
              </a:ext>
            </a:extLst>
          </p:cNvPr>
          <p:cNvSpPr txBox="1"/>
          <p:nvPr/>
        </p:nvSpPr>
        <p:spPr>
          <a:xfrm>
            <a:off x="7324857" y="385615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C75B60-FE56-1EA7-7700-AB36A83E20F7}"/>
              </a:ext>
            </a:extLst>
          </p:cNvPr>
          <p:cNvSpPr txBox="1"/>
          <p:nvPr/>
        </p:nvSpPr>
        <p:spPr>
          <a:xfrm>
            <a:off x="6150617" y="43307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DB2951-FA56-48F9-66EA-5AC6829C1E12}"/>
              </a:ext>
            </a:extLst>
          </p:cNvPr>
          <p:cNvSpPr txBox="1"/>
          <p:nvPr/>
        </p:nvSpPr>
        <p:spPr>
          <a:xfrm>
            <a:off x="7260202" y="433972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F3FCD6-B8F0-3541-3D21-EE055A009E79}"/>
              </a:ext>
            </a:extLst>
          </p:cNvPr>
          <p:cNvSpPr txBox="1"/>
          <p:nvPr/>
        </p:nvSpPr>
        <p:spPr>
          <a:xfrm>
            <a:off x="6730631" y="4763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4" cy="607653"/>
          </a:xfrm>
        </p:spPr>
        <p:txBody>
          <a:bodyPr>
            <a:spAutoFit/>
          </a:bodyPr>
          <a:lstStyle/>
          <a:p>
            <a:r>
              <a:t>일반적인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음수 사이클을 찾는 방법은?</a:t>
            </a:r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B37BB7A-078F-457B-F97D-5C62F3A0BBAB}"/>
              </a:ext>
            </a:extLst>
          </p:cNvPr>
          <p:cNvSpPr/>
          <p:nvPr/>
        </p:nvSpPr>
        <p:spPr>
          <a:xfrm>
            <a:off x="7156482" y="295754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359B36C-4BE3-D518-A6FC-438F3922D15F}"/>
              </a:ext>
            </a:extLst>
          </p:cNvPr>
          <p:cNvSpPr/>
          <p:nvPr/>
        </p:nvSpPr>
        <p:spPr>
          <a:xfrm>
            <a:off x="6583827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CC7C9E6-D229-09B4-3F91-87CE4C0C2B29}"/>
              </a:ext>
            </a:extLst>
          </p:cNvPr>
          <p:cNvSpPr/>
          <p:nvPr/>
        </p:nvSpPr>
        <p:spPr>
          <a:xfrm>
            <a:off x="7839972" y="389042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00C4A9-8F7A-102D-E7B7-A67E6DEFC47E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33209" y="3383268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807D339-5417-5B09-B5EC-9DD112FE0792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582203" y="3383268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5973CAA7-F0F1-5119-2862-5B3671DD28E7}"/>
              </a:ext>
            </a:extLst>
          </p:cNvPr>
          <p:cNvSpPr/>
          <p:nvPr/>
        </p:nvSpPr>
        <p:spPr>
          <a:xfrm>
            <a:off x="5987027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C71C93E-3DDC-4DC5-F13B-A90670D38931}"/>
              </a:ext>
            </a:extLst>
          </p:cNvPr>
          <p:cNvSpPr/>
          <p:nvPr/>
        </p:nvSpPr>
        <p:spPr>
          <a:xfrm>
            <a:off x="7243172" y="482329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09FC243-6D17-E88E-7FEF-6CB5CDFF9AA9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36409" y="4316141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43929CA-9D3E-FD81-A721-64AE6B648AC8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485790" y="507267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7BFCEB9-2A0F-9893-8CD8-CC5E4B4459C1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082590" y="4139802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017635-BCCA-1331-2347-7ADFBDFAD42F}"/>
              </a:ext>
            </a:extLst>
          </p:cNvPr>
          <p:cNvSpPr txBox="1"/>
          <p:nvPr/>
        </p:nvSpPr>
        <p:spPr>
          <a:xfrm>
            <a:off x="7050464" y="263207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83750D3-79C7-3AEC-B426-F6ECF326896D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09548" y="4316141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2A5FA0-938D-A06E-F009-545CF27A4996}"/>
              </a:ext>
            </a:extLst>
          </p:cNvPr>
          <p:cNvSpPr txBox="1"/>
          <p:nvPr/>
        </p:nvSpPr>
        <p:spPr>
          <a:xfrm>
            <a:off x="6698005" y="33412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AFB52-7A77-8176-9C7F-011693A8E270}"/>
              </a:ext>
            </a:extLst>
          </p:cNvPr>
          <p:cNvSpPr txBox="1"/>
          <p:nvPr/>
        </p:nvSpPr>
        <p:spPr>
          <a:xfrm>
            <a:off x="7905947" y="334126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FCD531-751B-0BDC-3BA0-BC03AA41A010}"/>
              </a:ext>
            </a:extLst>
          </p:cNvPr>
          <p:cNvSpPr txBox="1"/>
          <p:nvPr/>
        </p:nvSpPr>
        <p:spPr>
          <a:xfrm>
            <a:off x="7324857" y="385615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646D45-BA18-DBE6-E7D0-20FE3A8436DB}"/>
              </a:ext>
            </a:extLst>
          </p:cNvPr>
          <p:cNvSpPr txBox="1"/>
          <p:nvPr/>
        </p:nvSpPr>
        <p:spPr>
          <a:xfrm>
            <a:off x="6150617" y="43307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265866-630E-6CF5-90C6-B7F00CFFAAA5}"/>
              </a:ext>
            </a:extLst>
          </p:cNvPr>
          <p:cNvSpPr txBox="1"/>
          <p:nvPr/>
        </p:nvSpPr>
        <p:spPr>
          <a:xfrm>
            <a:off x="7260202" y="433972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-4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B0ADB7-21DB-B1BC-A2C8-8AEF04EAD8E3}"/>
              </a:ext>
            </a:extLst>
          </p:cNvPr>
          <p:cNvSpPr txBox="1"/>
          <p:nvPr/>
        </p:nvSpPr>
        <p:spPr>
          <a:xfrm>
            <a:off x="6730631" y="4763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</a:t>
            </a:r>
            <a:endParaRPr lang="ko-KR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D401-7481-3070-0DFA-58F6433A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B330-801B-4AF7-4FDC-685C8461D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332" y="262442"/>
            <a:ext cx="4718143" cy="607653"/>
          </a:xfrm>
        </p:spPr>
        <p:txBody>
          <a:bodyPr>
            <a:spAutoFit/>
          </a:bodyPr>
          <a:lstStyle/>
          <a:p>
            <a:r>
              <a:t>일반적인 경우</a:t>
            </a:r>
            <a:r>
              <a:rPr lang="en-US"/>
              <a:t> 1/2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96264-B249-7815-2D8A-69741D73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 BELLMAN_FORD_SAFE(그래프 G, 시작 노드 s):</a:t>
            </a:r>
          </a:p>
          <a:p>
            <a:r>
              <a:rPr lang="en-US"/>
              <a:t>BELLMAN_FORD(G, s)</a:t>
            </a:r>
            <a:endParaRPr/>
          </a:p>
          <a:p>
            <a:r>
              <a:t>반복: G의 모든 연결선 e에 대해,</a:t>
            </a:r>
          </a:p>
          <a:p>
            <a:pPr marL="0" indent="0">
              <a:buNone/>
            </a:pPr>
            <a:r>
              <a:t>	u = e-&gt;node1</a:t>
            </a:r>
          </a:p>
          <a:p>
            <a:pPr marL="0" indent="0">
              <a:buNone/>
            </a:pPr>
            <a:r>
              <a:t>	v = e-&gt;node2</a:t>
            </a:r>
            <a:endParaRPr lang="en-US"/>
          </a:p>
          <a:p>
            <a:pPr marL="0" indent="0">
              <a:buNone/>
            </a:pPr>
            <a:r>
              <a:t>		만약: u-&gt;distance &lt; 아주 큰수이고, 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v-&gt;distance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 &gt; u-&gt;distance + e-&gt;length이면,</a:t>
            </a:r>
          </a:p>
          <a:p>
            <a:pPr marL="0" indent="0">
              <a:buNone/>
            </a:pPr>
            <a:r>
              <a:t>			</a:t>
            </a:r>
            <a:r>
              <a:rPr lang="ko-KR" altLang="en-US"/>
              <a:t>반환</a:t>
            </a:r>
            <a:r>
              <a:rPr lang="en-US" altLang="ko-KR"/>
              <a:t>: </a:t>
            </a:r>
            <a:r>
              <a:rPr lang="ko-KR" altLang="en-US"/>
              <a:t>음수사이클발견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5983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332" y="262442"/>
            <a:ext cx="4718143" cy="607653"/>
          </a:xfrm>
        </p:spPr>
        <p:txBody>
          <a:bodyPr>
            <a:spAutoFit/>
          </a:bodyPr>
          <a:lstStyle/>
          <a:p>
            <a:r>
              <a:t>일반적인 경우</a:t>
            </a:r>
            <a:r>
              <a:rPr lang="en-US"/>
              <a:t> 2</a:t>
            </a:r>
            <a:r>
              <a:rPr lang="en-US" altLang="ko-KR"/>
              <a:t>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만약: </a:t>
            </a:r>
            <a:r>
              <a:rPr lang="en-US"/>
              <a:t>v</a:t>
            </a:r>
            <a:r>
              <a:t>-&gt;distance &lt; 아주 큰수이고, </a:t>
            </a:r>
            <a:endParaRPr lang="en-US"/>
          </a:p>
          <a:p>
            <a:pPr marL="0" indent="0">
              <a:buNone/>
            </a:pPr>
            <a:r>
              <a:rPr lang="en-US"/>
              <a:t>			u</a:t>
            </a:r>
            <a:r>
              <a:t>-&gt;distance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 &gt; </a:t>
            </a:r>
            <a:r>
              <a:rPr lang="en-US"/>
              <a:t>v</a:t>
            </a:r>
            <a:r>
              <a:t>-&gt;distance + e-&gt;length이면,</a:t>
            </a:r>
          </a:p>
          <a:p>
            <a:pPr marL="0" indent="0">
              <a:buNone/>
            </a:pPr>
            <a:r>
              <a:t>			</a:t>
            </a:r>
            <a:r>
              <a:rPr lang="ko-KR" altLang="en-US"/>
              <a:t>반환</a:t>
            </a:r>
            <a:r>
              <a:rPr lang="en-US" altLang="ko-KR"/>
              <a:t>: </a:t>
            </a:r>
            <a:r>
              <a:rPr lang="ko-KR" altLang="en-US"/>
              <a:t>음수사이클발견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너비 우선 탐색: 연결선의 비용이 모두 1일 때, 최단 거리 계산</a:t>
            </a:r>
          </a:p>
          <a:p>
            <a:endParaRPr/>
          </a:p>
          <a:p>
            <a:r>
              <a:t>DIJKSTRA: 연결선의 비용이 0 또는 양수일 때</a:t>
            </a:r>
          </a:p>
          <a:p>
            <a:r>
              <a:t>BELLMAN-FORD: 연결선의 비용에 음수가 있을 때도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12741</TotalTime>
  <Words>2222</Words>
  <Application>Microsoft Office PowerPoint</Application>
  <PresentationFormat>화면 슬라이드 쇼(4:3)</PresentationFormat>
  <Paragraphs>495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2" baseType="lpstr">
      <vt:lpstr>맑은 고딕</vt:lpstr>
      <vt:lpstr>Aptos</vt:lpstr>
      <vt:lpstr>Aptos Display</vt:lpstr>
      <vt:lpstr>Arial</vt:lpstr>
      <vt:lpstr>Office 테마</vt:lpstr>
      <vt:lpstr>자료구조 (Data Structure 9주차: 그래프 최단경로</vt:lpstr>
      <vt:lpstr>그래프</vt:lpstr>
      <vt:lpstr>그래프 노드</vt:lpstr>
      <vt:lpstr>그래프 연결선</vt:lpstr>
      <vt:lpstr>그래프 최단거리</vt:lpstr>
      <vt:lpstr>이번 시간 목차</vt:lpstr>
      <vt:lpstr>연결선 비용이 모두 1일 때</vt:lpstr>
      <vt:lpstr>연결선 비용이 모두 1일 때</vt:lpstr>
      <vt:lpstr>연결선 비용이 모두 1일 때 - BFS 1/2</vt:lpstr>
      <vt:lpstr>연결선 비용이 모두 1일 때 - BFS 2/2</vt:lpstr>
      <vt:lpstr>연결선 비용이 모두 1일 때</vt:lpstr>
      <vt:lpstr>연결선 비용이 모두 1일 때</vt:lpstr>
      <vt:lpstr>연결선 비용이 모두 1일 때 - 시간복잡도</vt:lpstr>
      <vt:lpstr>연결선 비용이 0 또는 1일 때</vt:lpstr>
      <vt:lpstr>연결선 비용이 0 또는 1일 때</vt:lpstr>
      <vt:lpstr>연결선 비용이 0 또는 1일 때</vt:lpstr>
      <vt:lpstr>연결선 비용이 0 또는 1일 때 - BFS_0_1 1/3</vt:lpstr>
      <vt:lpstr>연결선 비용이 0 또는 1일 때 - BFS_0_1 2/3</vt:lpstr>
      <vt:lpstr>연결선 비용이 0 또는 1일 때 - BFS_0_1 3/3</vt:lpstr>
      <vt:lpstr>연결선 비용이 0 또는 1일 때</vt:lpstr>
      <vt:lpstr>연결선 비용이 0 또는 1일 때</vt:lpstr>
      <vt:lpstr>연결선 비용이 0 또는 1일 때 - 시간복잡도</vt:lpstr>
      <vt:lpstr>연결선 비용이 0 또는 1일 때</vt:lpstr>
      <vt:lpstr>연결선 비용 ≥ 0일 때</vt:lpstr>
      <vt:lpstr>연결선 비용 ≥ 0일 때</vt:lpstr>
      <vt:lpstr>연결선 비용 ≥ 0일 때 - DIJKSTRA 1/3</vt:lpstr>
      <vt:lpstr>연결선 비용 ≥ 0일 때 - DIJKSTRA 2/3</vt:lpstr>
      <vt:lpstr>연결선 비용 ≥ 0일 때 - DIJKSTRA 3/3</vt:lpstr>
      <vt:lpstr>연결선 비용 ≥ 0일 때</vt:lpstr>
      <vt:lpstr>연결선 비용 ≥ 0일 때</vt:lpstr>
      <vt:lpstr>연결선 비용 ≥ 0일 때 - 시간복잡도</vt:lpstr>
      <vt:lpstr>연결선 비용 ≥ 0일 때</vt:lpstr>
      <vt:lpstr>연결선 비용 ≥ 0일 때 DIJKSTRA_SIMPLE 1/2</vt:lpstr>
      <vt:lpstr>연결선 비용 ≥ 0일 때 DIJKSTRA_SIMPLE 2/2</vt:lpstr>
      <vt:lpstr>연결선 비용 ≥ 0일 때 - 힙없이 시간복잡도</vt:lpstr>
      <vt:lpstr>일반적인 경우</vt:lpstr>
      <vt:lpstr>일반적인 경우</vt:lpstr>
      <vt:lpstr>일반적인 경우 - BELLMAN_FORD 1/3</vt:lpstr>
      <vt:lpstr>일반적인 경우 - BELLMAN_FORD 2/3</vt:lpstr>
      <vt:lpstr>일반적인 경우 - BELLMAN_FORD 3/3</vt:lpstr>
      <vt:lpstr>일반적인 경우</vt:lpstr>
      <vt:lpstr>일반적인 경우</vt:lpstr>
      <vt:lpstr>일반적인 경우</vt:lpstr>
      <vt:lpstr>일반적인 경우</vt:lpstr>
      <vt:lpstr>일반적인 경우 1/2</vt:lpstr>
      <vt:lpstr>일반적인 경우 2/2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26</cp:revision>
  <dcterms:created xsi:type="dcterms:W3CDTF">2025-07-28T15:04:23Z</dcterms:created>
  <dcterms:modified xsi:type="dcterms:W3CDTF">2025-11-10T23:04:08Z</dcterms:modified>
</cp:coreProperties>
</file>