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76"/>
  </p:notesMasterIdLst>
  <p:sldIdLst>
    <p:sldId id="256" r:id="rId2"/>
    <p:sldId id="257" r:id="rId3"/>
    <p:sldId id="258" r:id="rId4"/>
    <p:sldId id="262" r:id="rId5"/>
    <p:sldId id="261" r:id="rId6"/>
    <p:sldId id="326" r:id="rId7"/>
    <p:sldId id="325" r:id="rId8"/>
    <p:sldId id="328" r:id="rId9"/>
    <p:sldId id="327" r:id="rId10"/>
    <p:sldId id="335" r:id="rId11"/>
    <p:sldId id="334" r:id="rId12"/>
    <p:sldId id="337" r:id="rId13"/>
    <p:sldId id="443" r:id="rId14"/>
    <p:sldId id="362" r:id="rId15"/>
    <p:sldId id="444" r:id="rId16"/>
    <p:sldId id="363" r:id="rId17"/>
    <p:sldId id="445" r:id="rId18"/>
    <p:sldId id="446" r:id="rId19"/>
    <p:sldId id="447" r:id="rId20"/>
    <p:sldId id="448" r:id="rId21"/>
    <p:sldId id="449" r:id="rId22"/>
    <p:sldId id="450" r:id="rId23"/>
    <p:sldId id="451" r:id="rId24"/>
    <p:sldId id="452" r:id="rId25"/>
    <p:sldId id="453" r:id="rId26"/>
    <p:sldId id="454" r:id="rId27"/>
    <p:sldId id="455" r:id="rId28"/>
    <p:sldId id="456" r:id="rId29"/>
    <p:sldId id="457" r:id="rId30"/>
    <p:sldId id="458" r:id="rId31"/>
    <p:sldId id="459" r:id="rId32"/>
    <p:sldId id="460" r:id="rId33"/>
    <p:sldId id="461" r:id="rId34"/>
    <p:sldId id="462" r:id="rId35"/>
    <p:sldId id="465" r:id="rId36"/>
    <p:sldId id="466" r:id="rId37"/>
    <p:sldId id="463" r:id="rId38"/>
    <p:sldId id="464" r:id="rId39"/>
    <p:sldId id="467" r:id="rId40"/>
    <p:sldId id="468" r:id="rId41"/>
    <p:sldId id="259" r:id="rId42"/>
    <p:sldId id="434" r:id="rId43"/>
    <p:sldId id="264" r:id="rId44"/>
    <p:sldId id="329" r:id="rId45"/>
    <p:sldId id="436" r:id="rId46"/>
    <p:sldId id="330" r:id="rId47"/>
    <p:sldId id="435" r:id="rId48"/>
    <p:sldId id="331" r:id="rId49"/>
    <p:sldId id="437" r:id="rId50"/>
    <p:sldId id="336" r:id="rId51"/>
    <p:sldId id="340" r:id="rId52"/>
    <p:sldId id="338" r:id="rId53"/>
    <p:sldId id="341" r:id="rId54"/>
    <p:sldId id="349" r:id="rId55"/>
    <p:sldId id="342" r:id="rId56"/>
    <p:sldId id="438" r:id="rId57"/>
    <p:sldId id="343" r:id="rId58"/>
    <p:sldId id="344" r:id="rId59"/>
    <p:sldId id="345" r:id="rId60"/>
    <p:sldId id="356" r:id="rId61"/>
    <p:sldId id="350" r:id="rId62"/>
    <p:sldId id="383" r:id="rId63"/>
    <p:sldId id="439" r:id="rId64"/>
    <p:sldId id="352" r:id="rId65"/>
    <p:sldId id="441" r:id="rId66"/>
    <p:sldId id="353" r:id="rId67"/>
    <p:sldId id="354" r:id="rId68"/>
    <p:sldId id="355" r:id="rId69"/>
    <p:sldId id="442" r:id="rId70"/>
    <p:sldId id="357" r:id="rId71"/>
    <p:sldId id="358" r:id="rId72"/>
    <p:sldId id="359" r:id="rId73"/>
    <p:sldId id="360" r:id="rId74"/>
    <p:sldId id="469" r:id="rId7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2E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99" d="100"/>
          <a:sy n="99" d="100"/>
        </p:scale>
        <p:origin x="112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3240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2DE6C-AA0F-425F-A4E6-018C05453644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3F3005-54B2-4F13-8D6E-05C92289A9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940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1965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431" y="4043369"/>
            <a:ext cx="8771138" cy="607653"/>
          </a:xfrm>
        </p:spPr>
        <p:txBody>
          <a:bodyPr wrap="square" anchor="b"/>
          <a:lstStyle>
            <a:lvl1pPr algn="ctr"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68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5975" y="262442"/>
            <a:ext cx="5976500" cy="607653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85153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10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44852" y="200299"/>
            <a:ext cx="5976500" cy="60765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vert="horz" wrap="none" lIns="540000" tIns="108000" rIns="540000" bIns="0" rtlCol="0" anchor="ctr">
            <a:sp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85153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888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>
      <a:lvl1pPr algn="r" defTabSz="914400" rtl="0" eaLnBrk="1" latinLnBrk="1" hangingPunct="1">
        <a:lnSpc>
          <a:spcPct val="90000"/>
        </a:lnSpc>
        <a:spcBef>
          <a:spcPct val="0"/>
        </a:spcBef>
        <a:buNone/>
        <a:defRPr sz="3600" b="1" kern="1200">
          <a:solidFill>
            <a:srgbClr val="00206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431" y="3544771"/>
            <a:ext cx="8771138" cy="1106251"/>
          </a:xfrm>
        </p:spPr>
        <p:txBody>
          <a:bodyPr/>
          <a:lstStyle/>
          <a:p>
            <a:r>
              <a:t>자료구조 (Data Structure)</a:t>
            </a:r>
          </a:p>
          <a:p>
            <a:r>
              <a:rPr lang="en-US"/>
              <a:t>10</a:t>
            </a:r>
            <a:r>
              <a:t>주차: </a:t>
            </a:r>
            <a:r>
              <a:rPr lang="ko-KR" altLang="en-US"/>
              <a:t>그래프의 최소 길이 트리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2402" y="262442"/>
            <a:ext cx="4040073" cy="607653"/>
          </a:xfrm>
        </p:spPr>
        <p:txBody>
          <a:bodyPr>
            <a:spAutoFit/>
          </a:bodyPr>
          <a:lstStyle/>
          <a:p>
            <a:r>
              <a:t>지난 시간 </a:t>
            </a:r>
            <a:r>
              <a:rPr lang="ko-KR" altLang="en-US"/>
              <a:t>내용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최소길이트리</a:t>
            </a:r>
            <a:r>
              <a:t>: </a:t>
            </a:r>
            <a:r>
              <a:rPr lang="ko-KR" altLang="en-US"/>
              <a:t>연결선 합계가 가장 작은 트리 </a:t>
            </a:r>
            <a:r>
              <a:rPr lang="en-US" altLang="ko-KR"/>
              <a:t>(MST)</a:t>
            </a:r>
            <a:endParaRPr lang="en-US"/>
          </a:p>
          <a:p>
            <a:endParaRPr lang="en-US"/>
          </a:p>
          <a:p>
            <a:r>
              <a:rPr lang="en-US" altLang="ko-KR"/>
              <a:t>PRIM: </a:t>
            </a:r>
            <a:r>
              <a:rPr lang="ko-KR" altLang="en-US"/>
              <a:t>트리에서 나가는 연결선 중 작은 것부터 추가</a:t>
            </a:r>
            <a:endParaRPr lang="en-US" altLang="ko-KR"/>
          </a:p>
          <a:p>
            <a:endParaRPr lang="en-US" altLang="ko-KR"/>
          </a:p>
          <a:p>
            <a:r>
              <a:rPr lang="en-US" altLang="ko-KR"/>
              <a:t>KRUSKAL: </a:t>
            </a:r>
            <a:r>
              <a:rPr lang="ko-KR" altLang="en-US"/>
              <a:t>전체 연결선 중 작은 것부터 트리 합치기</a:t>
            </a:r>
            <a:endParaRPr lang="en-US" altLang="ko-K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3836" y="262442"/>
            <a:ext cx="3488639" cy="607653"/>
          </a:xfrm>
        </p:spPr>
        <p:txBody>
          <a:bodyPr>
            <a:spAutoFit/>
          </a:bodyPr>
          <a:lstStyle/>
          <a:p>
            <a:r>
              <a:t>오늘의 목차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PRIM</a:t>
            </a:r>
            <a:r>
              <a:rPr lang="ko-KR" altLang="en-US"/>
              <a:t> 구현하기</a:t>
            </a:r>
            <a:endParaRPr lang="en-US" altLang="ko-KR"/>
          </a:p>
          <a:p>
            <a:endParaRPr lang="en-US"/>
          </a:p>
          <a:p>
            <a:r>
              <a:rPr lang="en-US"/>
              <a:t>KRUSKAL </a:t>
            </a:r>
            <a:r>
              <a:rPr lang="ko-KR" altLang="en-US"/>
              <a:t>구현하기</a:t>
            </a:r>
            <a:endParaRPr lang="en-US" altLang="ko-KR"/>
          </a:p>
          <a:p>
            <a:endParaRPr lang="en-US"/>
          </a:p>
          <a:p>
            <a:r>
              <a:rPr lang="ko-KR" altLang="en-US"/>
              <a:t>그래프 출력하기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0757" y="262442"/>
            <a:ext cx="5131718" cy="607653"/>
          </a:xfrm>
        </p:spPr>
        <p:txBody>
          <a:bodyPr>
            <a:spAutoFit/>
          </a:bodyPr>
          <a:lstStyle/>
          <a:p>
            <a:r>
              <a:rPr lang="ko-KR" altLang="en-US"/>
              <a:t>구조체 </a:t>
            </a:r>
            <a:r>
              <a:rPr lang="en-US" altLang="ko-KR"/>
              <a:t>- </a:t>
            </a:r>
            <a:r>
              <a:rPr lang="ko-KR" altLang="en-US"/>
              <a:t>인접리스트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링크드 리스트 형태</a:t>
            </a:r>
            <a:endParaRPr lang="en-US" altLang="ko-KR"/>
          </a:p>
          <a:p>
            <a:pPr marL="0" indent="0">
              <a:buNone/>
            </a:pPr>
            <a:r>
              <a:rPr lang="en-US"/>
              <a:t>	- </a:t>
            </a:r>
            <a:r>
              <a:rPr lang="ko-KR" altLang="en-US"/>
              <a:t>데이터</a:t>
            </a:r>
            <a:r>
              <a:rPr lang="en-US" altLang="ko-KR"/>
              <a:t>: 	</a:t>
            </a:r>
            <a:r>
              <a:rPr lang="ko-KR" altLang="en-US"/>
              <a:t>연결선의 주소</a:t>
            </a:r>
            <a:endParaRPr lang="en-US" altLang="ko-KR"/>
          </a:p>
          <a:p>
            <a:pPr marL="0" indent="0">
              <a:buNone/>
            </a:pPr>
            <a:r>
              <a:rPr lang="en-US"/>
              <a:t>	- </a:t>
            </a:r>
            <a:r>
              <a:rPr lang="ko-KR" altLang="en-US"/>
              <a:t>링크</a:t>
            </a:r>
            <a:r>
              <a:rPr lang="en-US" altLang="ko-KR"/>
              <a:t>: 	</a:t>
            </a:r>
            <a:r>
              <a:rPr lang="ko-KR" altLang="en-US"/>
              <a:t>다음 인접리스트 노드의 주소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0758" y="262442"/>
            <a:ext cx="5131717" cy="607653"/>
          </a:xfrm>
        </p:spPr>
        <p:txBody>
          <a:bodyPr>
            <a:spAutoFit/>
          </a:bodyPr>
          <a:lstStyle/>
          <a:p>
            <a:r>
              <a:rPr lang="ko-KR" altLang="en-US"/>
              <a:t>구조체 </a:t>
            </a:r>
            <a:r>
              <a:rPr lang="en-US" altLang="ko-KR"/>
              <a:t>- </a:t>
            </a:r>
            <a:r>
              <a:rPr lang="ko-KR" altLang="en-US"/>
              <a:t>인접리스트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struct edge;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struct elist {</a:t>
            </a:r>
          </a:p>
          <a:p>
            <a:pPr marL="0" indent="0">
              <a:buNone/>
            </a:pPr>
            <a:r>
              <a:rPr lang="en-US"/>
              <a:t>	struct edge *edge;</a:t>
            </a:r>
          </a:p>
          <a:p>
            <a:pPr marL="0" indent="0">
              <a:buNone/>
            </a:pPr>
            <a:r>
              <a:rPr lang="en-US"/>
              <a:t>	struct elist *next;</a:t>
            </a:r>
          </a:p>
          <a:p>
            <a:pPr marL="0" indent="0">
              <a:buNone/>
            </a:pPr>
            <a:r>
              <a:rPr lang="en-US"/>
              <a:t>};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D3A43-5CC0-A1A7-0973-28EED015C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FAC56-6846-1CB1-759E-0BAE1EFAF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5752" y="262442"/>
            <a:ext cx="3746723" cy="607653"/>
          </a:xfrm>
        </p:spPr>
        <p:txBody>
          <a:bodyPr>
            <a:spAutoFit/>
          </a:bodyPr>
          <a:lstStyle/>
          <a:p>
            <a:r>
              <a:rPr lang="ko-KR" altLang="en-US"/>
              <a:t>구조체 </a:t>
            </a:r>
            <a:r>
              <a:rPr lang="en-US" altLang="ko-KR"/>
              <a:t>- </a:t>
            </a:r>
            <a:r>
              <a:rPr lang="ko-KR" altLang="en-US"/>
              <a:t>노드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C6B9C-D419-A44B-C214-59998A9E54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그래프 노드</a:t>
            </a:r>
            <a:endParaRPr lang="en-US" altLang="ko-KR"/>
          </a:p>
          <a:p>
            <a:pPr marL="0" indent="0">
              <a:buNone/>
            </a:pPr>
            <a:r>
              <a:rPr lang="en-US"/>
              <a:t>	- </a:t>
            </a:r>
            <a:r>
              <a:rPr lang="ko-KR" altLang="en-US"/>
              <a:t>데이터</a:t>
            </a:r>
            <a:r>
              <a:rPr lang="en-US" altLang="ko-KR"/>
              <a:t>: 	</a:t>
            </a:r>
            <a:r>
              <a:rPr lang="ko-KR" altLang="en-US"/>
              <a:t>문자</a:t>
            </a:r>
            <a:endParaRPr lang="en-US" altLang="ko-KR"/>
          </a:p>
          <a:p>
            <a:pPr marL="0" indent="0">
              <a:buNone/>
            </a:pPr>
            <a:r>
              <a:rPr lang="en-US"/>
              <a:t>	- </a:t>
            </a:r>
            <a:r>
              <a:rPr lang="ko-KR" altLang="en-US"/>
              <a:t>인덱스</a:t>
            </a:r>
            <a:r>
              <a:rPr lang="en-US" altLang="ko-KR"/>
              <a:t>: 	</a:t>
            </a:r>
            <a:r>
              <a:rPr lang="ko-KR" altLang="en-US"/>
              <a:t>그래프의 노드 리스트에서 몇번째</a:t>
            </a:r>
            <a:endParaRPr lang="en-US" altLang="ko-KR"/>
          </a:p>
          <a:p>
            <a:pPr marL="0" indent="0">
              <a:buNone/>
            </a:pPr>
            <a:r>
              <a:rPr lang="en-US"/>
              <a:t>	- </a:t>
            </a:r>
            <a:r>
              <a:rPr lang="ko-KR" altLang="en-US"/>
              <a:t>상태</a:t>
            </a:r>
            <a:r>
              <a:rPr lang="en-US" altLang="ko-KR"/>
              <a:t>:	</a:t>
            </a:r>
            <a:r>
              <a:rPr lang="en-US" altLang="ko-KR">
                <a:solidFill>
                  <a:srgbClr val="FF0000"/>
                </a:solidFill>
              </a:rPr>
              <a:t>MST</a:t>
            </a:r>
            <a:r>
              <a:rPr lang="ko-KR" altLang="en-US">
                <a:solidFill>
                  <a:srgbClr val="FF0000"/>
                </a:solidFill>
              </a:rPr>
              <a:t>에 들어갔는지 여부</a:t>
            </a:r>
            <a:endParaRPr lang="en-US" altLang="ko-KR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	- </a:t>
            </a:r>
            <a:r>
              <a:rPr lang="ko-KR" altLang="en-US">
                <a:solidFill>
                  <a:srgbClr val="FF0000"/>
                </a:solidFill>
              </a:rPr>
              <a:t>키</a:t>
            </a:r>
            <a:r>
              <a:rPr lang="en-US" altLang="ko-KR">
                <a:solidFill>
                  <a:srgbClr val="FF0000"/>
                </a:solidFill>
              </a:rPr>
              <a:t>:		MST</a:t>
            </a:r>
            <a:r>
              <a:rPr lang="ko-KR" altLang="en-US">
                <a:solidFill>
                  <a:srgbClr val="FF0000"/>
                </a:solidFill>
              </a:rPr>
              <a:t>와의 최단 연결선 길이</a:t>
            </a:r>
            <a:endParaRPr lang="en-US" altLang="ko-KR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	- </a:t>
            </a:r>
            <a:r>
              <a:rPr lang="ko-KR" altLang="en-US">
                <a:solidFill>
                  <a:srgbClr val="FF0000"/>
                </a:solidFill>
              </a:rPr>
              <a:t>연결선</a:t>
            </a:r>
            <a:r>
              <a:rPr lang="en-US" altLang="ko-KR">
                <a:solidFill>
                  <a:srgbClr val="FF0000"/>
                </a:solidFill>
              </a:rPr>
              <a:t>:	MST</a:t>
            </a:r>
            <a:r>
              <a:rPr lang="ko-KR" altLang="en-US">
                <a:solidFill>
                  <a:srgbClr val="FF0000"/>
                </a:solidFill>
              </a:rPr>
              <a:t>에 들어가게한 연결선</a:t>
            </a:r>
            <a:endParaRPr lang="en-US" altLang="ko-KR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/>
              <a:t>	- </a:t>
            </a:r>
            <a:r>
              <a:rPr lang="ko-KR" altLang="en-US"/>
              <a:t>이웃들</a:t>
            </a:r>
            <a:r>
              <a:rPr lang="en-US" altLang="ko-KR"/>
              <a:t>:	</a:t>
            </a:r>
            <a:r>
              <a:rPr lang="ko-KR" altLang="en-US"/>
              <a:t>연결선 정보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60741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A32AB-533C-4CCB-A59E-87AA3714C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F497C-4223-C552-1212-157F9F6ED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5752" y="262442"/>
            <a:ext cx="3746723" cy="607653"/>
          </a:xfrm>
        </p:spPr>
        <p:txBody>
          <a:bodyPr>
            <a:spAutoFit/>
          </a:bodyPr>
          <a:lstStyle/>
          <a:p>
            <a:r>
              <a:rPr lang="ko-KR" altLang="en-US"/>
              <a:t>구조체 </a:t>
            </a:r>
            <a:r>
              <a:rPr lang="en-US" altLang="ko-KR"/>
              <a:t>- </a:t>
            </a:r>
            <a:r>
              <a:rPr lang="ko-KR" altLang="en-US"/>
              <a:t>노드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07964-1F44-7A39-14D8-A53A595D54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struct node {</a:t>
            </a:r>
          </a:p>
          <a:p>
            <a:pPr marL="0" indent="0">
              <a:buNone/>
            </a:pPr>
            <a:r>
              <a:rPr lang="en-US"/>
              <a:t>	char data;</a:t>
            </a:r>
          </a:p>
          <a:p>
            <a:pPr marL="0" indent="0">
              <a:buNone/>
            </a:pPr>
            <a:r>
              <a:rPr lang="en-US"/>
              <a:t>	int index;</a:t>
            </a:r>
          </a:p>
          <a:p>
            <a:pPr marL="0" indent="0">
              <a:buNone/>
            </a:pPr>
            <a:r>
              <a:rPr lang="en-US"/>
              <a:t>	int status;		    /* </a:t>
            </a:r>
            <a:r>
              <a:rPr lang="en-US">
                <a:solidFill>
                  <a:srgbClr val="FF0000"/>
                </a:solidFill>
              </a:rPr>
              <a:t>0: MST</a:t>
            </a:r>
            <a:r>
              <a:rPr lang="ko-KR" altLang="en-US">
                <a:solidFill>
                  <a:srgbClr val="FF0000"/>
                </a:solidFill>
              </a:rPr>
              <a:t>에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 lang="ko-KR" altLang="en-US">
                <a:solidFill>
                  <a:srgbClr val="FF0000"/>
                </a:solidFill>
              </a:rPr>
              <a:t>없음</a:t>
            </a:r>
            <a:r>
              <a:rPr lang="en-US" altLang="ko-KR">
                <a:solidFill>
                  <a:srgbClr val="FF0000"/>
                </a:solidFill>
              </a:rPr>
              <a:t>, 1: </a:t>
            </a:r>
            <a:r>
              <a:rPr lang="ko-KR" altLang="en-US">
                <a:solidFill>
                  <a:srgbClr val="FF0000"/>
                </a:solidFill>
              </a:rPr>
              <a:t>있음</a:t>
            </a:r>
            <a:r>
              <a:rPr lang="ko-KR" altLang="en-US"/>
              <a:t> </a:t>
            </a:r>
            <a:r>
              <a:rPr lang="en-US" altLang="ko-KR"/>
              <a:t>*/</a:t>
            </a:r>
          </a:p>
          <a:p>
            <a:pPr marL="0" indent="0">
              <a:buNone/>
            </a:pPr>
            <a:r>
              <a:rPr lang="en-US">
                <a:solidFill>
                  <a:srgbClr val="FF0000"/>
                </a:solidFill>
              </a:rPr>
              <a:t>	int key;		    /* MST</a:t>
            </a:r>
            <a:r>
              <a:rPr lang="ko-KR" altLang="en-US">
                <a:solidFill>
                  <a:srgbClr val="FF0000"/>
                </a:solidFill>
              </a:rPr>
              <a:t>와 최단 연결 길이 </a:t>
            </a:r>
            <a:r>
              <a:rPr lang="en-US" altLang="ko-KR">
                <a:solidFill>
                  <a:srgbClr val="FF0000"/>
                </a:solidFill>
              </a:rPr>
              <a:t>*/</a:t>
            </a:r>
            <a:endParaRPr 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>
                <a:solidFill>
                  <a:srgbClr val="FF0000"/>
                </a:solidFill>
              </a:rPr>
              <a:t>	struct edge* tree_edge;		/* MST </a:t>
            </a:r>
            <a:r>
              <a:rPr lang="ko-KR" altLang="en-US">
                <a:solidFill>
                  <a:srgbClr val="FF0000"/>
                </a:solidFill>
              </a:rPr>
              <a:t>연결선 </a:t>
            </a:r>
            <a:r>
              <a:rPr lang="en-US" altLang="ko-KR">
                <a:solidFill>
                  <a:srgbClr val="FF0000"/>
                </a:solidFill>
              </a:rPr>
              <a:t>*/</a:t>
            </a:r>
            <a:endParaRPr 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/>
              <a:t>	struct elist *adj;</a:t>
            </a:r>
          </a:p>
          <a:p>
            <a:pPr marL="0" indent="0">
              <a:buNone/>
            </a:pPr>
            <a:r>
              <a:rPr lang="en-US"/>
              <a:t>};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24192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66B17-1DB9-7FFB-359E-B7B264D46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38F00-78F3-9210-0305-AE2B5AEFF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4087" y="262442"/>
            <a:ext cx="4208388" cy="607653"/>
          </a:xfrm>
        </p:spPr>
        <p:txBody>
          <a:bodyPr>
            <a:spAutoFit/>
          </a:bodyPr>
          <a:lstStyle/>
          <a:p>
            <a:r>
              <a:rPr lang="ko-KR" altLang="en-US"/>
              <a:t>구조체 </a:t>
            </a:r>
            <a:r>
              <a:rPr lang="en-US" altLang="ko-KR"/>
              <a:t>- </a:t>
            </a:r>
            <a:r>
              <a:rPr lang="ko-KR" altLang="en-US"/>
              <a:t>연결선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2EA64-D02E-0846-C421-7BDFF5C34A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연결선 </a:t>
            </a:r>
            <a:endParaRPr lang="en-US" altLang="ko-KR"/>
          </a:p>
          <a:p>
            <a:pPr marL="0" indent="0">
              <a:buNone/>
            </a:pPr>
            <a:r>
              <a:rPr lang="en-US"/>
              <a:t>	- </a:t>
            </a:r>
            <a:r>
              <a:rPr lang="ko-KR" altLang="en-US"/>
              <a:t>노드</a:t>
            </a:r>
            <a:r>
              <a:rPr lang="en-US" altLang="ko-KR"/>
              <a:t>1: 	</a:t>
            </a:r>
            <a:r>
              <a:rPr lang="ko-KR" altLang="en-US"/>
              <a:t>연결선의 한쪽 노드</a:t>
            </a:r>
            <a:endParaRPr lang="en-US" altLang="ko-KR"/>
          </a:p>
          <a:p>
            <a:pPr marL="0" indent="0">
              <a:buNone/>
            </a:pPr>
            <a:r>
              <a:rPr lang="en-US"/>
              <a:t>	- </a:t>
            </a:r>
            <a:r>
              <a:rPr lang="ko-KR" altLang="en-US"/>
              <a:t>노드</a:t>
            </a:r>
            <a:r>
              <a:rPr lang="en-US" altLang="ko-KR"/>
              <a:t>2: 	</a:t>
            </a:r>
            <a:r>
              <a:rPr lang="ko-KR" altLang="en-US"/>
              <a:t>연결선의 다른쪽 노드</a:t>
            </a:r>
            <a:endParaRPr lang="en-US" altLang="ko-KR"/>
          </a:p>
          <a:p>
            <a:pPr marL="0" indent="0">
              <a:buNone/>
            </a:pPr>
            <a:r>
              <a:rPr lang="en-US"/>
              <a:t>	- </a:t>
            </a:r>
            <a:r>
              <a:rPr lang="ko-KR" altLang="en-US"/>
              <a:t>모양</a:t>
            </a:r>
            <a:r>
              <a:rPr lang="en-US" altLang="ko-KR"/>
              <a:t>:	</a:t>
            </a:r>
            <a:r>
              <a:rPr lang="ko-KR" altLang="en-US"/>
              <a:t>화면에 표시할 모양</a:t>
            </a:r>
            <a:r>
              <a:rPr lang="en-US" altLang="ko-KR"/>
              <a:t>. </a:t>
            </a:r>
            <a:r>
              <a:rPr lang="ko-KR" altLang="en-US"/>
              <a:t>선의 방향</a:t>
            </a:r>
            <a:r>
              <a:rPr lang="en-US" altLang="ko-KR"/>
              <a:t>.</a:t>
            </a:r>
          </a:p>
          <a:p>
            <a:pPr marL="0" indent="0">
              <a:buNone/>
            </a:pPr>
            <a:r>
              <a:rPr lang="en-US"/>
              <a:t>	- </a:t>
            </a:r>
            <a:r>
              <a:rPr lang="ko-KR" altLang="en-US"/>
              <a:t>길이</a:t>
            </a:r>
            <a:r>
              <a:rPr lang="en-US" altLang="ko-KR"/>
              <a:t>:</a:t>
            </a:r>
            <a:r>
              <a:rPr lang="en-US" altLang="ko-KR">
                <a:solidFill>
                  <a:srgbClr val="FF0000"/>
                </a:solidFill>
              </a:rPr>
              <a:t>	</a:t>
            </a:r>
            <a:r>
              <a:rPr lang="ko-KR" altLang="en-US">
                <a:solidFill>
                  <a:srgbClr val="FF0000"/>
                </a:solidFill>
              </a:rPr>
              <a:t>최적화 대상</a:t>
            </a:r>
            <a:endParaRPr lang="en-US" altLang="ko-KR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>
                <a:solidFill>
                  <a:srgbClr val="FF0000"/>
                </a:solidFill>
              </a:rPr>
              <a:t>	</a:t>
            </a:r>
            <a:r>
              <a:rPr lang="en-US"/>
              <a:t>- </a:t>
            </a:r>
            <a:r>
              <a:rPr lang="ko-KR" altLang="en-US"/>
              <a:t>종류</a:t>
            </a:r>
            <a:r>
              <a:rPr lang="en-US" altLang="ko-KR"/>
              <a:t>:</a:t>
            </a:r>
            <a:r>
              <a:rPr lang="en-US" altLang="ko-KR">
                <a:solidFill>
                  <a:srgbClr val="FF0000"/>
                </a:solidFill>
              </a:rPr>
              <a:t> 	0</a:t>
            </a:r>
            <a:r>
              <a:rPr lang="ko-KR" altLang="en-US">
                <a:solidFill>
                  <a:srgbClr val="FF0000"/>
                </a:solidFill>
              </a:rPr>
              <a:t> </a:t>
            </a:r>
            <a:r>
              <a:rPr lang="en-US" altLang="ko-KR">
                <a:solidFill>
                  <a:srgbClr val="FF0000"/>
                </a:solidFill>
              </a:rPr>
              <a:t>:</a:t>
            </a:r>
            <a:r>
              <a:rPr lang="ko-KR" altLang="en-US">
                <a:solidFill>
                  <a:srgbClr val="FF0000"/>
                </a:solidFill>
              </a:rPr>
              <a:t> 확인 전</a:t>
            </a:r>
            <a:endParaRPr lang="en-US" altLang="ko-KR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>
                <a:solidFill>
                  <a:srgbClr val="FF0000"/>
                </a:solidFill>
              </a:rPr>
              <a:t>			1 : </a:t>
            </a:r>
            <a:r>
              <a:rPr lang="en-US" altLang="ko-KR">
                <a:solidFill>
                  <a:srgbClr val="FF0000"/>
                </a:solidFill>
              </a:rPr>
              <a:t>MST</a:t>
            </a:r>
            <a:r>
              <a:rPr lang="ko-KR" altLang="en-US">
                <a:solidFill>
                  <a:srgbClr val="FF0000"/>
                </a:solidFill>
              </a:rPr>
              <a:t>에서 그 노드까지 최소 길이</a:t>
            </a:r>
            <a:endParaRPr lang="en-US" altLang="ko-KR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>
                <a:solidFill>
                  <a:srgbClr val="FF0000"/>
                </a:solidFill>
              </a:rPr>
              <a:t>			2 : </a:t>
            </a:r>
            <a:r>
              <a:rPr lang="ko-KR" altLang="en-US">
                <a:solidFill>
                  <a:srgbClr val="FF0000"/>
                </a:solidFill>
              </a:rPr>
              <a:t>최소 길이 아님</a:t>
            </a:r>
            <a:endParaRPr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47278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305C1-D0FE-BA99-A36F-22CF28B44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108E9-4DA3-6145-B3A6-438006F7C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4087" y="262442"/>
            <a:ext cx="4208388" cy="607653"/>
          </a:xfrm>
        </p:spPr>
        <p:txBody>
          <a:bodyPr>
            <a:spAutoFit/>
          </a:bodyPr>
          <a:lstStyle/>
          <a:p>
            <a:r>
              <a:rPr lang="ko-KR" altLang="en-US"/>
              <a:t>구조체 </a:t>
            </a:r>
            <a:r>
              <a:rPr lang="en-US" altLang="ko-KR"/>
              <a:t>- </a:t>
            </a:r>
            <a:r>
              <a:rPr lang="ko-KR" altLang="en-US"/>
              <a:t>연결선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E4C13-F642-6791-3F6D-B9C735E5C5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struct edge {</a:t>
            </a:r>
          </a:p>
          <a:p>
            <a:pPr marL="0" indent="0">
              <a:buNone/>
            </a:pPr>
            <a:r>
              <a:rPr lang="en-US"/>
              <a:t>	struct node *node1;</a:t>
            </a:r>
          </a:p>
          <a:p>
            <a:pPr marL="0" indent="0">
              <a:buNone/>
            </a:pPr>
            <a:r>
              <a:rPr lang="en-US" altLang="ko-KR"/>
              <a:t>	struct node *node2;</a:t>
            </a:r>
          </a:p>
          <a:p>
            <a:pPr marL="0" indent="0">
              <a:buNone/>
            </a:pPr>
            <a:r>
              <a:rPr lang="en-US" altLang="ko-KR"/>
              <a:t>	char shape;			/* '-', '/', '|' */</a:t>
            </a:r>
          </a:p>
          <a:p>
            <a:pPr marL="0" indent="0">
              <a:buNone/>
            </a:pPr>
            <a:r>
              <a:rPr lang="en-US" altLang="ko-KR"/>
              <a:t>	int</a:t>
            </a:r>
            <a:r>
              <a:rPr lang="ko-KR" altLang="en-US"/>
              <a:t> </a:t>
            </a:r>
            <a:r>
              <a:rPr lang="en-US" altLang="ko-KR"/>
              <a:t>length;			/*</a:t>
            </a:r>
            <a:r>
              <a:rPr lang="ko-KR" altLang="en-US"/>
              <a:t> 연결선의 길이 </a:t>
            </a:r>
            <a:r>
              <a:rPr lang="en-US" altLang="ko-KR"/>
              <a:t>*/</a:t>
            </a:r>
          </a:p>
          <a:p>
            <a:pPr marL="0" indent="0">
              <a:buNone/>
            </a:pPr>
            <a:r>
              <a:rPr lang="en-US" altLang="ko-KR"/>
              <a:t>	int type;</a:t>
            </a:r>
            <a:r>
              <a:rPr lang="en-US" altLang="ko-KR">
                <a:solidFill>
                  <a:srgbClr val="FF0000"/>
                </a:solidFill>
              </a:rPr>
              <a:t>			/*  0: </a:t>
            </a:r>
            <a:r>
              <a:rPr lang="ko-KR" altLang="en-US">
                <a:solidFill>
                  <a:srgbClr val="FF0000"/>
                </a:solidFill>
              </a:rPr>
              <a:t>체크 전</a:t>
            </a:r>
            <a:endParaRPr lang="en-US" altLang="ko-KR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					      1: MST </a:t>
            </a:r>
            <a:r>
              <a:rPr lang="ko-KR" altLang="en-US">
                <a:solidFill>
                  <a:srgbClr val="FF0000"/>
                </a:solidFill>
              </a:rPr>
              <a:t>후보</a:t>
            </a:r>
            <a:endParaRPr lang="en-US" altLang="ko-KR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					      2: MST </a:t>
            </a:r>
            <a:r>
              <a:rPr lang="ko-KR" altLang="en-US">
                <a:solidFill>
                  <a:srgbClr val="FF0000"/>
                </a:solidFill>
              </a:rPr>
              <a:t>아님 </a:t>
            </a:r>
            <a:r>
              <a:rPr lang="en-US" altLang="ko-KR">
                <a:solidFill>
                  <a:srgbClr val="FF0000"/>
                </a:solidFill>
              </a:rPr>
              <a:t>*/</a:t>
            </a:r>
          </a:p>
          <a:p>
            <a:pPr marL="0" indent="0">
              <a:buNone/>
            </a:pPr>
            <a:r>
              <a:rPr lang="en-US"/>
              <a:t>};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454682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A06B5-C9EE-4DD3-2148-6F5F16C26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9ABA4-79BF-E963-211B-7299DFE66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4319" y="262442"/>
            <a:ext cx="4298156" cy="607653"/>
          </a:xfrm>
        </p:spPr>
        <p:txBody>
          <a:bodyPr>
            <a:spAutoFit/>
          </a:bodyPr>
          <a:lstStyle/>
          <a:p>
            <a:r>
              <a:rPr lang="ko-KR" altLang="en-US"/>
              <a:t>구조체 </a:t>
            </a:r>
            <a:r>
              <a:rPr lang="en-US" altLang="ko-KR"/>
              <a:t>- </a:t>
            </a:r>
            <a:r>
              <a:rPr lang="ko-KR" altLang="en-US"/>
              <a:t>그래프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77DF2-1612-3C08-F260-2D0933BA8C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그래프</a:t>
            </a:r>
            <a:endParaRPr lang="en-US" altLang="ko-KR"/>
          </a:p>
          <a:p>
            <a:pPr marL="0" indent="0">
              <a:buNone/>
            </a:pPr>
            <a:r>
              <a:rPr lang="en-US"/>
              <a:t>	- V</a:t>
            </a:r>
            <a:r>
              <a:rPr lang="en-US" altLang="ko-KR"/>
              <a:t>: 		</a:t>
            </a:r>
            <a:r>
              <a:rPr lang="ko-KR" altLang="en-US"/>
              <a:t>노드 배열의 주소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	- n_V:		</a:t>
            </a:r>
            <a:r>
              <a:rPr lang="ko-KR" altLang="en-US"/>
              <a:t>노드 개수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	- E:		</a:t>
            </a:r>
            <a:r>
              <a:rPr lang="ko-KR" altLang="en-US"/>
              <a:t>연결선 배열의 주소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	- E_V:		</a:t>
            </a:r>
            <a:r>
              <a:rPr lang="ko-KR" altLang="en-US"/>
              <a:t>연결선 개수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	- adj:		</a:t>
            </a:r>
            <a:r>
              <a:rPr lang="ko-KR" altLang="en-US"/>
              <a:t>노드 인덱스 두개에 대한 연결선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			</a:t>
            </a:r>
            <a:r>
              <a:rPr lang="ko-KR" altLang="en-US"/>
              <a:t>이차원 배열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93395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E2D3F-EFAD-E727-4EA7-6FDA3E55B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252CD-019C-86C6-6C0E-D0F3CAE5D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4088" y="262442"/>
            <a:ext cx="4208387" cy="607653"/>
          </a:xfrm>
        </p:spPr>
        <p:txBody>
          <a:bodyPr>
            <a:spAutoFit/>
          </a:bodyPr>
          <a:lstStyle/>
          <a:p>
            <a:r>
              <a:rPr lang="ko-KR" altLang="en-US"/>
              <a:t>구조체 </a:t>
            </a:r>
            <a:r>
              <a:rPr lang="en-US" altLang="ko-KR"/>
              <a:t>- </a:t>
            </a:r>
            <a:r>
              <a:rPr lang="ko-KR" altLang="en-US"/>
              <a:t>그래프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87384-2270-0F58-FB3B-BAEB905FD1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struct graph {</a:t>
            </a:r>
          </a:p>
          <a:p>
            <a:pPr marL="0" indent="0">
              <a:buNone/>
            </a:pPr>
            <a:r>
              <a:rPr lang="en-US"/>
              <a:t>	struct node *vertexes;</a:t>
            </a:r>
          </a:p>
          <a:p>
            <a:pPr marL="0" indent="0">
              <a:buNone/>
            </a:pPr>
            <a:r>
              <a:rPr lang="en-US"/>
              <a:t>	int n_vertexes;</a:t>
            </a:r>
          </a:p>
          <a:p>
            <a:pPr marL="0" indent="0">
              <a:buNone/>
            </a:pPr>
            <a:r>
              <a:rPr lang="en-US" altLang="ko-KR"/>
              <a:t>	struct edge *edges;</a:t>
            </a:r>
          </a:p>
          <a:p>
            <a:pPr marL="0" indent="0">
              <a:buNone/>
            </a:pPr>
            <a:r>
              <a:rPr lang="en-US" altLang="ko-KR"/>
              <a:t>	int n_edges;</a:t>
            </a:r>
          </a:p>
          <a:p>
            <a:pPr marL="0" indent="0">
              <a:buNone/>
            </a:pPr>
            <a:r>
              <a:rPr lang="en-US" altLang="ko-KR"/>
              <a:t>	struct edge ***adj;</a:t>
            </a:r>
          </a:p>
          <a:p>
            <a:pPr marL="0" indent="0">
              <a:buNone/>
            </a:pPr>
            <a:r>
              <a:rPr lang="en-US"/>
              <a:t>};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977833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7546A-29ED-BA2E-6D65-625E15573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AE567-C06E-174D-6C5B-C635E0FCD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8374" y="260839"/>
            <a:ext cx="2134102" cy="610859"/>
          </a:xfrm>
        </p:spPr>
        <p:txBody>
          <a:bodyPr>
            <a:spAutoFit/>
          </a:bodyPr>
          <a:lstStyle/>
          <a:p>
            <a:r>
              <a:rPr lang="en-US"/>
              <a:t>PRIM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44CA9-116D-406F-61FB-DE023576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시작</a:t>
            </a:r>
            <a:r>
              <a:rPr lang="en-US" altLang="ko-KR"/>
              <a:t>: </a:t>
            </a:r>
          </a:p>
          <a:p>
            <a:pPr marL="0" indent="0">
              <a:buNone/>
            </a:pPr>
            <a:r>
              <a:rPr lang="en-US" altLang="ko-KR"/>
              <a:t>	- </a:t>
            </a:r>
            <a:r>
              <a:rPr lang="ko-KR" altLang="en-US"/>
              <a:t>어떤 한 노드로 부터 시작</a:t>
            </a:r>
            <a:endParaRPr lang="en-US" altLang="ko-KR"/>
          </a:p>
          <a:p>
            <a:pPr marL="0" indent="0">
              <a:buNone/>
            </a:pPr>
            <a:endParaRPr lang="en-US"/>
          </a:p>
          <a:p>
            <a:r>
              <a:rPr lang="ko-KR" altLang="en-US"/>
              <a:t>반복되는 내용</a:t>
            </a:r>
            <a:r>
              <a:rPr lang="en-US" altLang="ko-KR"/>
              <a:t>: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	- </a:t>
            </a:r>
            <a:r>
              <a:rPr lang="en-US" altLang="ko-KR"/>
              <a:t>MST</a:t>
            </a:r>
            <a:r>
              <a:rPr lang="ko-KR" altLang="en-US"/>
              <a:t>에 없는 노드들 중</a:t>
            </a:r>
            <a:r>
              <a:rPr lang="en-US" altLang="ko-KR"/>
              <a:t>, </a:t>
            </a:r>
          </a:p>
          <a:p>
            <a:pPr marL="0" indent="0">
              <a:buNone/>
            </a:pPr>
            <a:r>
              <a:rPr lang="en-US" altLang="ko-KR"/>
              <a:t>		MST</a:t>
            </a:r>
            <a:r>
              <a:rPr lang="ko-KR" altLang="en-US"/>
              <a:t>와 제일 가까운 노드가 </a:t>
            </a:r>
            <a:r>
              <a:rPr lang="en-US" altLang="ko-KR"/>
              <a:t>MST</a:t>
            </a:r>
            <a:r>
              <a:rPr lang="ko-KR" altLang="en-US"/>
              <a:t>에 추가됨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	- </a:t>
            </a:r>
            <a:r>
              <a:rPr lang="ko-KR" altLang="en-US"/>
              <a:t>추가된 노드의 이웃들 거리 업데이트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954818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8DE38-584D-62E3-C37B-0B3182057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9044A-6982-976B-3C3C-76E918FA0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3862" y="262442"/>
            <a:ext cx="4328614" cy="607653"/>
          </a:xfrm>
        </p:spPr>
        <p:txBody>
          <a:bodyPr>
            <a:spAutoFit/>
          </a:bodyPr>
          <a:lstStyle/>
          <a:p>
            <a:r>
              <a:rPr lang="en-US"/>
              <a:t>PRIM - </a:t>
            </a:r>
            <a:r>
              <a:rPr lang="ko-KR" altLang="en-US"/>
              <a:t>자료구조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EAEBE-1C0B-69F9-2026-0313A0739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우선순위 큐</a:t>
            </a:r>
            <a:r>
              <a:rPr lang="en-US" altLang="ko-KR"/>
              <a:t>: </a:t>
            </a:r>
          </a:p>
          <a:p>
            <a:endParaRPr lang="en-US" altLang="ko-KR"/>
          </a:p>
          <a:p>
            <a:pPr marL="0" indent="0">
              <a:buNone/>
            </a:pPr>
            <a:r>
              <a:rPr lang="en-US" altLang="ko-KR"/>
              <a:t>	- </a:t>
            </a:r>
            <a:r>
              <a:rPr lang="ko-KR" altLang="en-US"/>
              <a:t>노드들 저장</a:t>
            </a: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	- MST</a:t>
            </a:r>
            <a:r>
              <a:rPr lang="ko-KR" altLang="en-US"/>
              <a:t>와의 거리 기준</a:t>
            </a: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	- </a:t>
            </a:r>
            <a:r>
              <a:rPr lang="ko-KR" altLang="en-US"/>
              <a:t>최소 거리 노드가 꺼내짐 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835022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90BD3-CFB2-ED6C-DC5F-081942D5E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28895-A92F-8450-F563-D45456977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3862" y="262442"/>
            <a:ext cx="4328613" cy="607653"/>
          </a:xfrm>
        </p:spPr>
        <p:txBody>
          <a:bodyPr>
            <a:spAutoFit/>
          </a:bodyPr>
          <a:lstStyle/>
          <a:p>
            <a:r>
              <a:rPr lang="en-US" altLang="ko-KR"/>
              <a:t>PRIM - </a:t>
            </a:r>
            <a:r>
              <a:rPr lang="ko-KR" altLang="en-US"/>
              <a:t>자료구조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5639E-25AC-AFAB-FDB7-189BA8C6AF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/* </a:t>
            </a:r>
            <a:r>
              <a:rPr lang="ko-KR" altLang="en-US"/>
              <a:t>우선순위 큐 구조체 </a:t>
            </a:r>
            <a:r>
              <a:rPr lang="en-US" altLang="ko-KR"/>
              <a:t>*/</a:t>
            </a:r>
          </a:p>
          <a:p>
            <a:pPr marL="0" indent="0">
              <a:buNone/>
            </a:pPr>
            <a:r>
              <a:rPr lang="en-US" altLang="ko-KR"/>
              <a:t>struct pqueue {</a:t>
            </a:r>
          </a:p>
          <a:p>
            <a:pPr marL="0" indent="0">
              <a:buNone/>
            </a:pPr>
            <a:r>
              <a:rPr lang="en-US" altLang="ko-KR"/>
              <a:t>	struct node *data[100];</a:t>
            </a:r>
          </a:p>
          <a:p>
            <a:pPr marL="0" indent="0">
              <a:buNone/>
            </a:pPr>
            <a:r>
              <a:rPr lang="en-US" altLang="ko-KR"/>
              <a:t>	int capacity;</a:t>
            </a:r>
          </a:p>
          <a:p>
            <a:pPr marL="0" indent="0">
              <a:buNone/>
            </a:pPr>
            <a:r>
              <a:rPr lang="en-US" altLang="ko-KR"/>
              <a:t>	int size;</a:t>
            </a:r>
          </a:p>
          <a:p>
            <a:pPr marL="0" indent="0">
              <a:buNone/>
            </a:pPr>
            <a:r>
              <a:rPr lang="en-US" altLang="ko-KR"/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6417370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FE131-0D47-FBE0-BC30-D7911A743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174B1-CC81-C38F-5F51-F3F9B4F68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3862" y="262442"/>
            <a:ext cx="4328614" cy="607653"/>
          </a:xfrm>
        </p:spPr>
        <p:txBody>
          <a:bodyPr>
            <a:spAutoFit/>
          </a:bodyPr>
          <a:lstStyle/>
          <a:p>
            <a:r>
              <a:rPr lang="en-US"/>
              <a:t>PRIM - </a:t>
            </a:r>
            <a:r>
              <a:rPr lang="ko-KR" altLang="en-US"/>
              <a:t>자료구조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8E1C0-9A4C-4E1E-80DC-8134913E75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우선순위 큐에 전체 데이터 추가</a:t>
            </a:r>
            <a:r>
              <a:rPr lang="en-US" altLang="ko-KR"/>
              <a:t>: </a:t>
            </a:r>
          </a:p>
          <a:p>
            <a:endParaRPr lang="en-US" altLang="ko-KR"/>
          </a:p>
          <a:p>
            <a:pPr marL="0" indent="0">
              <a:buNone/>
            </a:pPr>
            <a:r>
              <a:rPr lang="en-US" altLang="ko-KR"/>
              <a:t>	- </a:t>
            </a:r>
            <a:r>
              <a:rPr lang="ko-KR" altLang="en-US"/>
              <a:t>데이터 모두 복사한다</a:t>
            </a: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	- size</a:t>
            </a:r>
            <a:r>
              <a:rPr lang="ko-KR" altLang="en-US"/>
              <a:t>를 데이터 개수만큼</a:t>
            </a:r>
            <a:r>
              <a:rPr lang="en-US" altLang="ko-KR"/>
              <a:t> </a:t>
            </a:r>
            <a:r>
              <a:rPr lang="ko-KR" altLang="en-US"/>
              <a:t>증가시킨다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921459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1A079-1B97-7802-D18B-23F3B7BE3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39E4D-C5AB-6FF5-B2AF-177B33A20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3862" y="262442"/>
            <a:ext cx="4328613" cy="607653"/>
          </a:xfrm>
        </p:spPr>
        <p:txBody>
          <a:bodyPr>
            <a:spAutoFit/>
          </a:bodyPr>
          <a:lstStyle/>
          <a:p>
            <a:r>
              <a:rPr lang="en-US" altLang="ko-KR"/>
              <a:t>PRIM - </a:t>
            </a:r>
            <a:r>
              <a:rPr lang="ko-KR" altLang="en-US"/>
              <a:t>자료구조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622DB-BE5F-94FC-2AB7-34356DC57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void init_pqueue(struct pqueue *pq, struct node *data,</a:t>
            </a:r>
          </a:p>
          <a:p>
            <a:pPr marL="0" indent="0">
              <a:buNone/>
            </a:pPr>
            <a:r>
              <a:rPr lang="en-US" altLang="ko-KR"/>
              <a:t>	int n)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	for (int i = 0; i &lt; n; i++)</a:t>
            </a:r>
          </a:p>
          <a:p>
            <a:pPr marL="0" indent="0">
              <a:buNone/>
            </a:pPr>
            <a:r>
              <a:rPr lang="en-US" altLang="ko-KR"/>
              <a:t>		pq-&gt;data[i] = data[i];</a:t>
            </a:r>
          </a:p>
          <a:p>
            <a:pPr marL="0" indent="0">
              <a:buNone/>
            </a:pPr>
            <a:r>
              <a:rPr lang="en-US" altLang="ko-KR"/>
              <a:t>	pq-&gt;size = n;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428985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F4748-9B38-996E-B985-3BC5CD397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731C6-9534-4E20-5827-984C87E4E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3862" y="262442"/>
            <a:ext cx="4328614" cy="607653"/>
          </a:xfrm>
        </p:spPr>
        <p:txBody>
          <a:bodyPr>
            <a:spAutoFit/>
          </a:bodyPr>
          <a:lstStyle/>
          <a:p>
            <a:r>
              <a:rPr lang="en-US"/>
              <a:t>PRIM - </a:t>
            </a:r>
            <a:r>
              <a:rPr lang="ko-KR" altLang="en-US"/>
              <a:t>자료구조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35C02-2901-E000-4A25-8978D0DFA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우선순위 큐에서 데이터 꺼내기</a:t>
            </a:r>
            <a:r>
              <a:rPr lang="en-US" altLang="ko-KR"/>
              <a:t>: </a:t>
            </a:r>
          </a:p>
          <a:p>
            <a:endParaRPr lang="en-US" altLang="ko-KR"/>
          </a:p>
          <a:p>
            <a:pPr marL="0" indent="0">
              <a:buNone/>
            </a:pPr>
            <a:r>
              <a:rPr lang="en-US" altLang="ko-KR"/>
              <a:t>	- key</a:t>
            </a:r>
            <a:r>
              <a:rPr lang="ko-KR" altLang="en-US"/>
              <a:t>가 최소인 데이터를 찾는다</a:t>
            </a: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	- </a:t>
            </a:r>
            <a:r>
              <a:rPr lang="ko-KR" altLang="en-US"/>
              <a:t>그 데이터를 삭제하고</a:t>
            </a:r>
            <a:r>
              <a:rPr lang="en-US" altLang="ko-KR"/>
              <a:t>, </a:t>
            </a:r>
            <a:r>
              <a:rPr lang="ko-KR" altLang="en-US"/>
              <a:t>반환한다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654218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54C9A-F057-54F3-3184-E48AD5515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8249A-6591-A73F-D810-4817B9A51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3862" y="262442"/>
            <a:ext cx="4328613" cy="607653"/>
          </a:xfrm>
        </p:spPr>
        <p:txBody>
          <a:bodyPr>
            <a:spAutoFit/>
          </a:bodyPr>
          <a:lstStyle/>
          <a:p>
            <a:r>
              <a:rPr lang="en-US" altLang="ko-KR"/>
              <a:t>PRIM - </a:t>
            </a:r>
            <a:r>
              <a:rPr lang="ko-KR" altLang="en-US"/>
              <a:t>자료구조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CA490-B0E0-A885-BF07-2CA1C0441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struct node *dequeue(struct pqueue *pq)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	/* </a:t>
            </a:r>
            <a:r>
              <a:rPr lang="ko-KR" altLang="en-US"/>
              <a:t>최소 키 노드 찾기 </a:t>
            </a:r>
            <a:r>
              <a:rPr lang="en-US" altLang="ko-KR"/>
              <a:t>*/</a:t>
            </a:r>
          </a:p>
          <a:p>
            <a:pPr marL="0" indent="0">
              <a:buNone/>
            </a:pPr>
            <a:r>
              <a:rPr lang="en-US" altLang="ko-KR"/>
              <a:t>	int m = 0;</a:t>
            </a:r>
          </a:p>
          <a:p>
            <a:pPr marL="0" indent="0">
              <a:buNone/>
            </a:pPr>
            <a:r>
              <a:rPr lang="en-US" altLang="ko-KR"/>
              <a:t>	for (int i = 1; i &lt; pq-&gt;size; i++) {</a:t>
            </a:r>
          </a:p>
          <a:p>
            <a:pPr marL="0" indent="0">
              <a:buNone/>
            </a:pPr>
            <a:r>
              <a:rPr lang="en-US" altLang="ko-KR"/>
              <a:t>		if (pq-&gt;data[i]-&gt;key &lt; pq-&gt;data[m]-&gt;key) </a:t>
            </a:r>
          </a:p>
          <a:p>
            <a:pPr marL="0" indent="0">
              <a:buNone/>
            </a:pPr>
            <a:r>
              <a:rPr lang="en-US" altLang="ko-KR"/>
              <a:t>			m = i;</a:t>
            </a:r>
          </a:p>
          <a:p>
            <a:pPr marL="0" indent="0">
              <a:buNone/>
            </a:pPr>
            <a:r>
              <a:rPr lang="en-US" altLang="ko-KR"/>
              <a:t>	}</a:t>
            </a:r>
          </a:p>
          <a:p>
            <a:pPr marL="0" indent="0">
              <a:buNone/>
            </a:pPr>
            <a:r>
              <a:rPr lang="en-US" altLang="ko-KR"/>
              <a:t>	struct node *min_node = pq-&gt;data[m];</a:t>
            </a:r>
          </a:p>
          <a:p>
            <a:pPr marL="0" indent="0">
              <a:buNone/>
            </a:pPr>
            <a:r>
              <a:rPr lang="en-US" altLang="ko-KR"/>
              <a:t>	min_node-&gt;pq_index = -1;</a:t>
            </a:r>
          </a:p>
        </p:txBody>
      </p:sp>
    </p:spTree>
    <p:extLst>
      <p:ext uri="{BB962C8B-B14F-4D97-AF65-F5344CB8AC3E}">
        <p14:creationId xmlns:p14="http://schemas.microsoft.com/office/powerpoint/2010/main" val="33621920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DA4CF-E2D0-9986-1575-8DE85CEC0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DC1EC-DD19-E5A4-ABEC-EBAB58BE8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3862" y="262442"/>
            <a:ext cx="4328613" cy="607653"/>
          </a:xfrm>
        </p:spPr>
        <p:txBody>
          <a:bodyPr>
            <a:spAutoFit/>
          </a:bodyPr>
          <a:lstStyle/>
          <a:p>
            <a:r>
              <a:rPr lang="en-US" altLang="ko-KR"/>
              <a:t>PRIM - </a:t>
            </a:r>
            <a:r>
              <a:rPr lang="ko-KR" altLang="en-US"/>
              <a:t>자료구조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4C96A-0E3A-B0C0-13A3-604A693A5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	/* </a:t>
            </a:r>
            <a:r>
              <a:rPr lang="ko-KR" altLang="en-US"/>
              <a:t>노드 삭제하기 </a:t>
            </a:r>
            <a:r>
              <a:rPr lang="en-US" altLang="ko-KR"/>
              <a:t>*/</a:t>
            </a:r>
          </a:p>
          <a:p>
            <a:pPr marL="0" indent="0">
              <a:buNone/>
            </a:pPr>
            <a:r>
              <a:rPr lang="en-US" altLang="ko-KR"/>
              <a:t>	for (int i = m; i &lt; pq-&gt;size - 1; i++) {</a:t>
            </a:r>
          </a:p>
          <a:p>
            <a:pPr marL="0" indent="0">
              <a:buNone/>
            </a:pPr>
            <a:r>
              <a:rPr lang="en-US" altLang="ko-KR"/>
              <a:t>		pq-&gt;data[i] = pq-&gt;data[i + 1];</a:t>
            </a:r>
          </a:p>
          <a:p>
            <a:pPr marL="0" indent="0">
              <a:buNone/>
            </a:pPr>
            <a:r>
              <a:rPr lang="en-US" altLang="ko-KR"/>
              <a:t>		pq-&gt;data[i]-&gt;pq_index = i;</a:t>
            </a:r>
          </a:p>
          <a:p>
            <a:pPr marL="0" indent="0">
              <a:buNone/>
            </a:pPr>
            <a:r>
              <a:rPr lang="en-US" altLang="ko-KR"/>
              <a:t>	}</a:t>
            </a:r>
          </a:p>
          <a:p>
            <a:pPr marL="0" indent="0">
              <a:buNone/>
            </a:pPr>
            <a:r>
              <a:rPr lang="en-US" altLang="ko-KR"/>
              <a:t>	pq -&gt;size -= 1;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	/* </a:t>
            </a:r>
            <a:r>
              <a:rPr lang="ko-KR" altLang="en-US"/>
              <a:t>노드 반환하기 </a:t>
            </a:r>
            <a:r>
              <a:rPr lang="en-US" altLang="ko-KR"/>
              <a:t>*/</a:t>
            </a:r>
          </a:p>
          <a:p>
            <a:pPr marL="0" indent="0">
              <a:buNone/>
            </a:pPr>
            <a:r>
              <a:rPr lang="en-US" altLang="ko-KR"/>
              <a:t>	return min_node;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657593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CA164-696D-44CB-988C-6F0A66F3A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3CCE2-837F-02DF-05E0-04BF32E8B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3862" y="262442"/>
            <a:ext cx="4328614" cy="607653"/>
          </a:xfrm>
        </p:spPr>
        <p:txBody>
          <a:bodyPr>
            <a:spAutoFit/>
          </a:bodyPr>
          <a:lstStyle/>
          <a:p>
            <a:r>
              <a:rPr lang="en-US"/>
              <a:t>PRIM - </a:t>
            </a:r>
            <a:r>
              <a:rPr lang="ko-KR" altLang="en-US"/>
              <a:t>자료구조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A9B26-C891-41BA-E08E-BEAAB4FAB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우선순위 큐에서 데이터 키를 더 작게하기</a:t>
            </a:r>
            <a:r>
              <a:rPr lang="en-US" altLang="ko-KR"/>
              <a:t>: </a:t>
            </a:r>
          </a:p>
          <a:p>
            <a:endParaRPr lang="en-US" altLang="ko-KR"/>
          </a:p>
          <a:p>
            <a:pPr marL="0" indent="0">
              <a:buNone/>
            </a:pPr>
            <a:r>
              <a:rPr lang="en-US" altLang="ko-KR"/>
              <a:t>	- </a:t>
            </a:r>
            <a:r>
              <a:rPr lang="ko-KR" altLang="en-US"/>
              <a:t>아무 일도 하지 않는다</a:t>
            </a: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	- (</a:t>
            </a:r>
            <a:r>
              <a:rPr lang="ko-KR" altLang="en-US"/>
              <a:t>힙으로 구현할 때 힙 속성을 회복시킨다</a:t>
            </a:r>
            <a:r>
              <a:rPr lang="en-US" altLang="ko-KR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259605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42EF0-86F9-1687-DD91-D1F720611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72822-A8FE-8D6D-1A54-041720CFC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3862" y="262442"/>
            <a:ext cx="4328613" cy="607653"/>
          </a:xfrm>
        </p:spPr>
        <p:txBody>
          <a:bodyPr>
            <a:spAutoFit/>
          </a:bodyPr>
          <a:lstStyle/>
          <a:p>
            <a:r>
              <a:rPr lang="en-US" altLang="ko-KR"/>
              <a:t>PRIM - </a:t>
            </a:r>
            <a:r>
              <a:rPr lang="ko-KR" altLang="en-US"/>
              <a:t>자료구조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D09F0-4B51-749C-9CAA-C96AC56A71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void decrease_key(struct pqueue *pq)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20747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E04BE-419F-5BF8-D8B6-D203E80AC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0C8EA-4A85-143A-4493-1C59F28E6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5276" y="262442"/>
            <a:ext cx="3147200" cy="607653"/>
          </a:xfrm>
        </p:spPr>
        <p:txBody>
          <a:bodyPr>
            <a:spAutoFit/>
          </a:bodyPr>
          <a:lstStyle/>
          <a:p>
            <a:r>
              <a:rPr lang="en-US"/>
              <a:t>PRIM </a:t>
            </a:r>
            <a:r>
              <a:rPr lang="ko-KR" altLang="en-US"/>
              <a:t>구현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6B20D-EDD8-7978-DD78-701F72F1F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초기값</a:t>
            </a:r>
            <a:r>
              <a:rPr lang="en-US" altLang="ko-KR"/>
              <a:t>: </a:t>
            </a:r>
          </a:p>
          <a:p>
            <a:pPr marL="0" indent="0">
              <a:buNone/>
            </a:pPr>
            <a:r>
              <a:rPr lang="en-US" altLang="ko-KR"/>
              <a:t>	- </a:t>
            </a:r>
            <a:r>
              <a:rPr lang="ko-KR" altLang="en-US"/>
              <a:t>연결선 타입 </a:t>
            </a:r>
            <a:r>
              <a:rPr lang="en-US" altLang="ko-KR"/>
              <a:t>= 0, </a:t>
            </a:r>
          </a:p>
          <a:p>
            <a:pPr marL="0" indent="0">
              <a:buNone/>
            </a:pPr>
            <a:r>
              <a:rPr lang="en-US" altLang="ko-KR"/>
              <a:t>	- </a:t>
            </a:r>
            <a:r>
              <a:rPr lang="ko-KR" altLang="en-US"/>
              <a:t>노드 상태 </a:t>
            </a:r>
            <a:r>
              <a:rPr lang="en-US" altLang="ko-KR"/>
              <a:t>= 0, </a:t>
            </a:r>
            <a:r>
              <a:rPr lang="ko-KR" altLang="en-US"/>
              <a:t>키 </a:t>
            </a:r>
            <a:r>
              <a:rPr lang="en-US" altLang="ko-KR"/>
              <a:t>= </a:t>
            </a:r>
            <a:r>
              <a:rPr lang="ko-KR" altLang="en-US"/>
              <a:t>∞</a:t>
            </a:r>
            <a:r>
              <a:rPr lang="en-US" altLang="ko-KR"/>
              <a:t>, mst</a:t>
            </a:r>
            <a:r>
              <a:rPr lang="ko-KR" altLang="en-US"/>
              <a:t>선 </a:t>
            </a:r>
            <a:r>
              <a:rPr lang="en-US" altLang="ko-KR"/>
              <a:t>= </a:t>
            </a:r>
            <a:r>
              <a:rPr lang="ko-KR" altLang="en-US"/>
              <a:t>없음</a:t>
            </a:r>
            <a:r>
              <a:rPr lang="en-US" altLang="ko-KR"/>
              <a:t>, pq_i = i </a:t>
            </a:r>
          </a:p>
          <a:p>
            <a:pPr marL="0" indent="0">
              <a:buNone/>
            </a:pPr>
            <a:r>
              <a:rPr lang="en-US"/>
              <a:t>	- </a:t>
            </a:r>
            <a:r>
              <a:rPr lang="ko-KR" altLang="en-US"/>
              <a:t>시작점 키 </a:t>
            </a:r>
            <a:r>
              <a:rPr lang="en-US" altLang="ko-KR"/>
              <a:t>= 0</a:t>
            </a:r>
            <a:endParaRPr lang="en-US"/>
          </a:p>
          <a:p>
            <a:pPr marL="0" indent="0">
              <a:buNone/>
            </a:pPr>
            <a:r>
              <a:rPr lang="en-US" altLang="ko-KR"/>
              <a:t>	- </a:t>
            </a:r>
            <a:r>
              <a:rPr lang="ko-KR" altLang="en-US"/>
              <a:t>모든 노드 </a:t>
            </a:r>
            <a:r>
              <a:rPr lang="en-US" altLang="ko-KR"/>
              <a:t>pq</a:t>
            </a:r>
            <a:r>
              <a:rPr lang="ko-KR" altLang="en-US"/>
              <a:t>에 추가</a:t>
            </a: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r>
              <a:rPr lang="ko-KR" altLang="en-US"/>
              <a:t>반복되는 내용</a:t>
            </a:r>
            <a:r>
              <a:rPr lang="en-US" altLang="ko-KR"/>
              <a:t>:</a:t>
            </a:r>
          </a:p>
          <a:p>
            <a:pPr marL="0" indent="0">
              <a:buNone/>
            </a:pPr>
            <a:r>
              <a:rPr lang="en-US"/>
              <a:t>	- pq</a:t>
            </a:r>
            <a:r>
              <a:rPr lang="ko-KR" altLang="en-US"/>
              <a:t>에서 노드 꺼내기</a:t>
            </a:r>
            <a:endParaRPr lang="en-US" altLang="ko-KR"/>
          </a:p>
          <a:p>
            <a:pPr marL="0" indent="0">
              <a:buNone/>
            </a:pPr>
            <a:r>
              <a:rPr lang="en-US"/>
              <a:t>	- </a:t>
            </a:r>
            <a:r>
              <a:rPr lang="ko-KR" altLang="en-US"/>
              <a:t>노드를 </a:t>
            </a:r>
            <a:r>
              <a:rPr lang="en-US" altLang="ko-KR"/>
              <a:t>MST</a:t>
            </a:r>
            <a:r>
              <a:rPr lang="ko-KR" altLang="en-US"/>
              <a:t>에 추가</a:t>
            </a:r>
            <a:endParaRPr lang="en-US" altLang="ko-KR"/>
          </a:p>
          <a:p>
            <a:pPr marL="0" indent="0">
              <a:buNone/>
            </a:pPr>
            <a:r>
              <a:rPr lang="en-US"/>
              <a:t>	- </a:t>
            </a:r>
            <a:r>
              <a:rPr lang="ko-KR" altLang="en-US"/>
              <a:t>노드의 이웃들 </a:t>
            </a:r>
            <a:r>
              <a:rPr lang="en-US" altLang="ko-KR"/>
              <a:t>pq</a:t>
            </a:r>
            <a:r>
              <a:rPr lang="ko-KR" altLang="en-US"/>
              <a:t>에 추가 또는 업데이트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875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D1A32-7785-43CE-9A8C-83A418033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C0548-063B-684C-E937-E21C872A9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7191" y="262442"/>
            <a:ext cx="3405284" cy="607653"/>
          </a:xfrm>
        </p:spPr>
        <p:txBody>
          <a:bodyPr>
            <a:spAutoFit/>
          </a:bodyPr>
          <a:lstStyle/>
          <a:p>
            <a:r>
              <a:rPr lang="en-US" altLang="ko-KR"/>
              <a:t>PRIM - </a:t>
            </a:r>
            <a:r>
              <a:rPr lang="ko-KR" altLang="en-US"/>
              <a:t>구현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47FC9-D086-662B-0F7B-858D4D75E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void prim(struct graph *g, struct node *start_node)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	/* </a:t>
            </a:r>
            <a:r>
              <a:rPr lang="ko-KR" altLang="en-US"/>
              <a:t>연결선 초기화 </a:t>
            </a:r>
            <a:r>
              <a:rPr lang="en-US" altLang="ko-KR"/>
              <a:t>*/</a:t>
            </a:r>
          </a:p>
          <a:p>
            <a:pPr marL="0" indent="0">
              <a:buNone/>
            </a:pPr>
            <a:r>
              <a:rPr lang="en-US" altLang="ko-KR"/>
              <a:t>	for (int i = 0; i &lt; g-&gt;n_edges; i++) {</a:t>
            </a:r>
          </a:p>
          <a:p>
            <a:pPr marL="0" indent="0">
              <a:buNone/>
            </a:pPr>
            <a:r>
              <a:rPr lang="en-US" altLang="ko-KR"/>
              <a:t>		struct edge *e = g-&gt;edges + i;</a:t>
            </a:r>
          </a:p>
          <a:p>
            <a:pPr marL="0" indent="0">
              <a:buNone/>
            </a:pPr>
            <a:r>
              <a:rPr lang="en-US" altLang="ko-KR"/>
              <a:t>		e-&gt;type = 0;</a:t>
            </a:r>
          </a:p>
          <a:p>
            <a:pPr marL="0" indent="0">
              <a:buNone/>
            </a:pPr>
            <a:r>
              <a:rPr lang="en-US" altLang="ko-KR"/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103873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1AE43-4C99-4997-EA2F-9F4A88DEE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95048-44F6-AAB4-FAB8-1970B4AE7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7191" y="262442"/>
            <a:ext cx="3405284" cy="607653"/>
          </a:xfrm>
        </p:spPr>
        <p:txBody>
          <a:bodyPr>
            <a:spAutoFit/>
          </a:bodyPr>
          <a:lstStyle/>
          <a:p>
            <a:r>
              <a:rPr lang="en-US" altLang="ko-KR"/>
              <a:t>PRIM - </a:t>
            </a:r>
            <a:r>
              <a:rPr lang="ko-KR" altLang="en-US"/>
              <a:t>구현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9B8AF-F43D-AF46-6821-97E00DCE8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	/* </a:t>
            </a:r>
            <a:r>
              <a:rPr lang="ko-KR" altLang="en-US"/>
              <a:t>노드 초기화 </a:t>
            </a:r>
            <a:r>
              <a:rPr lang="en-US" altLang="ko-KR"/>
              <a:t>*/</a:t>
            </a:r>
          </a:p>
          <a:p>
            <a:pPr marL="0" indent="0">
              <a:buNone/>
            </a:pPr>
            <a:r>
              <a:rPr lang="en-US" altLang="ko-KR"/>
              <a:t>	for (int i = 0; i &lt; g-&gt;n_vertexes; i++) {</a:t>
            </a:r>
          </a:p>
          <a:p>
            <a:pPr marL="0" indent="0">
              <a:buNone/>
            </a:pPr>
            <a:r>
              <a:rPr lang="en-US" altLang="ko-KR"/>
              <a:t>		struct node *n = g-&gt;vertexes + i;</a:t>
            </a:r>
          </a:p>
          <a:p>
            <a:pPr marL="0" indent="0">
              <a:buNone/>
            </a:pPr>
            <a:r>
              <a:rPr lang="en-US" altLang="ko-KR"/>
              <a:t>		n-&gt;status = 0;</a:t>
            </a:r>
          </a:p>
          <a:p>
            <a:pPr marL="0" indent="0">
              <a:buNone/>
            </a:pPr>
            <a:r>
              <a:rPr lang="en-US" altLang="ko-KR"/>
              <a:t>		n-&gt;key = 9;</a:t>
            </a:r>
          </a:p>
          <a:p>
            <a:pPr marL="0" indent="0">
              <a:buNone/>
            </a:pPr>
            <a:r>
              <a:rPr lang="en-US" altLang="ko-KR"/>
              <a:t>		n-&gt;tree_edge = NULL;</a:t>
            </a:r>
          </a:p>
          <a:p>
            <a:pPr marL="0" indent="0">
              <a:buNone/>
            </a:pPr>
            <a:r>
              <a:rPr lang="en-US" altLang="ko-KR"/>
              <a:t>		n-&gt;pq_index = i;</a:t>
            </a:r>
          </a:p>
          <a:p>
            <a:pPr marL="0" indent="0">
              <a:buNone/>
            </a:pPr>
            <a:r>
              <a:rPr lang="en-US" altLang="ko-KR"/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9264352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FDD62-DEE7-3576-7A79-070B7E505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DC2E5-7848-ACF2-E2BC-CC926D66E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7191" y="262442"/>
            <a:ext cx="3405284" cy="607653"/>
          </a:xfrm>
        </p:spPr>
        <p:txBody>
          <a:bodyPr>
            <a:spAutoFit/>
          </a:bodyPr>
          <a:lstStyle/>
          <a:p>
            <a:r>
              <a:rPr lang="en-US" altLang="ko-KR"/>
              <a:t>PRIM - </a:t>
            </a:r>
            <a:r>
              <a:rPr lang="ko-KR" altLang="en-US"/>
              <a:t>구현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F623D-F774-2940-A364-CBEA0F7D2C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	/* </a:t>
            </a:r>
            <a:r>
              <a:rPr lang="ko-KR" altLang="en-US"/>
              <a:t>시작점 초기화 </a:t>
            </a:r>
            <a:r>
              <a:rPr lang="en-US" altLang="ko-KR"/>
              <a:t>*/</a:t>
            </a:r>
          </a:p>
          <a:p>
            <a:pPr marL="0" indent="0">
              <a:buNone/>
            </a:pPr>
            <a:r>
              <a:rPr lang="en-US" altLang="ko-KR"/>
              <a:t>	start_node-&gt;key = 0;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	/* </a:t>
            </a:r>
            <a:r>
              <a:rPr lang="ko-KR" altLang="en-US"/>
              <a:t>우선순위 큐 만들고</a:t>
            </a:r>
            <a:r>
              <a:rPr lang="en-US" altLang="ko-KR"/>
              <a:t>, </a:t>
            </a:r>
            <a:r>
              <a:rPr lang="ko-KR" altLang="en-US"/>
              <a:t>노드들 추가 </a:t>
            </a:r>
            <a:r>
              <a:rPr lang="en-US" altLang="ko-KR"/>
              <a:t>*/</a:t>
            </a:r>
          </a:p>
          <a:p>
            <a:pPr marL="0" indent="0">
              <a:buNone/>
            </a:pPr>
            <a:r>
              <a:rPr lang="en-US" altLang="ko-KR"/>
              <a:t>	struct pqueue _pq = {.size = 0, .capacity = 5};</a:t>
            </a:r>
          </a:p>
          <a:p>
            <a:pPr marL="0" indent="0">
              <a:buNone/>
            </a:pPr>
            <a:r>
              <a:rPr lang="en-US" altLang="ko-KR"/>
              <a:t>	struct pqueue *pq = &amp;_pq;</a:t>
            </a:r>
          </a:p>
          <a:p>
            <a:pPr marL="0" indent="0">
              <a:buNone/>
            </a:pPr>
            <a:r>
              <a:rPr lang="en-US" altLang="ko-KR"/>
              <a:t>	init_pqueue(pq, v-&gt;vertexes, v-&gt;n_vertexes);</a:t>
            </a:r>
          </a:p>
        </p:txBody>
      </p:sp>
    </p:spTree>
    <p:extLst>
      <p:ext uri="{BB962C8B-B14F-4D97-AF65-F5344CB8AC3E}">
        <p14:creationId xmlns:p14="http://schemas.microsoft.com/office/powerpoint/2010/main" val="40632622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39050-E222-A06E-2A21-276F70332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9890A-1947-29A5-CB78-EAEC655A6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7191" y="262442"/>
            <a:ext cx="3405284" cy="607653"/>
          </a:xfrm>
        </p:spPr>
        <p:txBody>
          <a:bodyPr>
            <a:spAutoFit/>
          </a:bodyPr>
          <a:lstStyle/>
          <a:p>
            <a:r>
              <a:rPr lang="en-US" altLang="ko-KR"/>
              <a:t>PRIM - </a:t>
            </a:r>
            <a:r>
              <a:rPr lang="ko-KR" altLang="en-US"/>
              <a:t>구현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528B0-CB88-B05B-D3A5-DBB9F7F59C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	/* mst</a:t>
            </a:r>
            <a:r>
              <a:rPr lang="ko-KR" altLang="en-US"/>
              <a:t>에 가장 가까운 노드 </a:t>
            </a:r>
            <a:r>
              <a:rPr lang="en-US" altLang="ko-KR"/>
              <a:t>u</a:t>
            </a:r>
            <a:r>
              <a:rPr lang="ko-KR" altLang="en-US"/>
              <a:t>에서 반복 </a:t>
            </a:r>
            <a:r>
              <a:rPr lang="en-US" altLang="ko-KR"/>
              <a:t>*/</a:t>
            </a:r>
          </a:p>
          <a:p>
            <a:pPr marL="0" indent="0">
              <a:buNone/>
            </a:pPr>
            <a:r>
              <a:rPr lang="en-US" altLang="ko-KR"/>
              <a:t>	while (pq-&gt;size &gt; 0) {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		struct node *u = dequeue(pq);</a:t>
            </a:r>
          </a:p>
          <a:p>
            <a:pPr marL="0" indent="0">
              <a:buNone/>
            </a:pPr>
            <a:r>
              <a:rPr lang="en-US" altLang="ko-KR"/>
              <a:t>		if (u-&gt;status != 0) continue;</a:t>
            </a:r>
          </a:p>
          <a:p>
            <a:pPr marL="0" indent="0">
              <a:buNone/>
            </a:pPr>
            <a:r>
              <a:rPr lang="en-US" altLang="ko-KR"/>
              <a:t>		</a:t>
            </a:r>
          </a:p>
          <a:p>
            <a:pPr marL="0" indent="0">
              <a:buNone/>
            </a:pPr>
            <a:r>
              <a:rPr lang="en-US" altLang="ko-KR"/>
              <a:t>		u-&gt;status = 1;</a:t>
            </a:r>
          </a:p>
        </p:txBody>
      </p:sp>
    </p:spTree>
    <p:extLst>
      <p:ext uri="{BB962C8B-B14F-4D97-AF65-F5344CB8AC3E}">
        <p14:creationId xmlns:p14="http://schemas.microsoft.com/office/powerpoint/2010/main" val="34881894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95D75-EA0B-558F-FA08-4642CE6CF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B4499-546D-372A-17F0-31814FBFD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7191" y="262442"/>
            <a:ext cx="3405284" cy="607653"/>
          </a:xfrm>
        </p:spPr>
        <p:txBody>
          <a:bodyPr>
            <a:spAutoFit/>
          </a:bodyPr>
          <a:lstStyle/>
          <a:p>
            <a:r>
              <a:rPr lang="en-US" altLang="ko-KR"/>
              <a:t>PRIM - </a:t>
            </a:r>
            <a:r>
              <a:rPr lang="ko-KR" altLang="en-US"/>
              <a:t>구현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4E7A6-0059-CEFD-F013-5C4F88E12E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		if (v-&gt;key &lt;= e-&gt;length) {</a:t>
            </a:r>
          </a:p>
          <a:p>
            <a:pPr marL="0" indent="0">
              <a:buNone/>
            </a:pPr>
            <a:r>
              <a:rPr lang="en-US" altLang="ko-KR"/>
              <a:t>			e-&gt;type = 2;</a:t>
            </a:r>
          </a:p>
          <a:p>
            <a:pPr marL="0" indent="0">
              <a:buNone/>
            </a:pPr>
            <a:r>
              <a:rPr lang="en-US" altLang="ko-KR"/>
              <a:t>		} else</a:t>
            </a:r>
            <a:r>
              <a:rPr lang="ko-KR" altLang="en-US"/>
              <a:t> </a:t>
            </a: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			v-&gt;key = e-&gt;length;</a:t>
            </a:r>
          </a:p>
          <a:p>
            <a:pPr marL="0" indent="0">
              <a:buNone/>
            </a:pPr>
            <a:r>
              <a:rPr lang="en-US" altLang="ko-KR"/>
              <a:t>			e-&gt;type = 1;</a:t>
            </a:r>
          </a:p>
          <a:p>
            <a:pPr marL="0" indent="0">
              <a:buNone/>
            </a:pPr>
            <a:r>
              <a:rPr lang="en-US" altLang="ko-KR"/>
              <a:t>			if (v-&gt;tree_edge != NULL)</a:t>
            </a:r>
          </a:p>
          <a:p>
            <a:pPr marL="0" indent="0">
              <a:buNone/>
            </a:pPr>
            <a:r>
              <a:rPr lang="en-US" altLang="ko-KR"/>
              <a:t>				v-&gt;tree_edge-&gt;type = 2;</a:t>
            </a:r>
          </a:p>
          <a:p>
            <a:pPr marL="0" indent="0">
              <a:buNone/>
            </a:pPr>
            <a:r>
              <a:rPr lang="en-US" altLang="ko-KR"/>
              <a:t>			v-&gt;tree_edge = e;</a:t>
            </a:r>
          </a:p>
          <a:p>
            <a:pPr marL="0" indent="0">
              <a:buNone/>
            </a:pPr>
            <a:r>
              <a:rPr lang="en-US" altLang="ko-KR"/>
              <a:t>			decrease_key(pq, v);</a:t>
            </a:r>
          </a:p>
          <a:p>
            <a:pPr marL="0" indent="0">
              <a:lnSpc>
                <a:spcPct val="30000"/>
              </a:lnSpc>
              <a:spcBef>
                <a:spcPts val="0"/>
              </a:spcBef>
              <a:buNone/>
            </a:pPr>
            <a:r>
              <a:rPr lang="en-US" altLang="ko-KR"/>
              <a:t>		}</a:t>
            </a:r>
          </a:p>
          <a:p>
            <a:pPr marL="0" indent="0">
              <a:lnSpc>
                <a:spcPct val="30000"/>
              </a:lnSpc>
              <a:spcBef>
                <a:spcPts val="0"/>
              </a:spcBef>
              <a:buNone/>
            </a:pPr>
            <a:r>
              <a:rPr lang="en-US" altLang="ko-KR"/>
              <a:t>	}</a:t>
            </a:r>
          </a:p>
          <a:p>
            <a:pPr marL="0" indent="0">
              <a:lnSpc>
                <a:spcPct val="30000"/>
              </a:lnSpc>
              <a:spcBef>
                <a:spcPts val="0"/>
              </a:spcBef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700790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65E44-4252-97E0-2953-48857CD72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AD2FE-AFAB-B2FD-0192-0E32538F2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8326" y="260839"/>
            <a:ext cx="3014150" cy="610859"/>
          </a:xfrm>
        </p:spPr>
        <p:txBody>
          <a:bodyPr>
            <a:spAutoFit/>
          </a:bodyPr>
          <a:lstStyle/>
          <a:p>
            <a:r>
              <a:rPr lang="en-US" altLang="ko-KR"/>
              <a:t>KRUSKAL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CA550-29E6-688F-A404-4DE47B9C7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시작</a:t>
            </a:r>
            <a:r>
              <a:rPr lang="en-US" altLang="ko-KR"/>
              <a:t>: </a:t>
            </a:r>
          </a:p>
          <a:p>
            <a:pPr marL="0" indent="0">
              <a:buNone/>
            </a:pPr>
            <a:r>
              <a:rPr lang="en-US" altLang="ko-KR"/>
              <a:t>	- </a:t>
            </a:r>
            <a:r>
              <a:rPr lang="ko-KR" altLang="en-US"/>
              <a:t>연결선을 정렬한다</a:t>
            </a:r>
            <a:endParaRPr lang="en-US" altLang="ko-KR"/>
          </a:p>
          <a:p>
            <a:pPr marL="0" indent="0">
              <a:buNone/>
            </a:pPr>
            <a:endParaRPr lang="en-US"/>
          </a:p>
          <a:p>
            <a:r>
              <a:rPr lang="ko-KR" altLang="en-US"/>
              <a:t>반복되는 내용</a:t>
            </a:r>
            <a:r>
              <a:rPr lang="en-US" altLang="ko-KR"/>
              <a:t>: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	- </a:t>
            </a:r>
            <a:r>
              <a:rPr lang="ko-KR" altLang="en-US"/>
              <a:t>연결선의 두 노드의 소속 트리를 확인한다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	- </a:t>
            </a:r>
            <a:r>
              <a:rPr lang="ko-KR" altLang="en-US"/>
              <a:t>소속 트리가 다르면 합친다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484852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FE0AC-9566-595A-7E88-FAB8AC26A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2AB22-9698-F784-8D94-CF16CDC17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2380" y="262442"/>
            <a:ext cx="5760095" cy="607653"/>
          </a:xfrm>
        </p:spPr>
        <p:txBody>
          <a:bodyPr>
            <a:spAutoFit/>
          </a:bodyPr>
          <a:lstStyle/>
          <a:p>
            <a:r>
              <a:rPr lang="en-US" altLang="ko-KR"/>
              <a:t>KRUSKAL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그래프 노드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40EA2-CC0E-D19B-90CD-EB5F9304E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그래프 노드</a:t>
            </a:r>
            <a:endParaRPr lang="en-US" altLang="ko-KR"/>
          </a:p>
          <a:p>
            <a:pPr marL="0" indent="0">
              <a:buNone/>
            </a:pPr>
            <a:r>
              <a:rPr lang="en-US"/>
              <a:t>	- </a:t>
            </a:r>
            <a:r>
              <a:rPr lang="ko-KR" altLang="en-US"/>
              <a:t>데이터</a:t>
            </a:r>
            <a:r>
              <a:rPr lang="en-US" altLang="ko-KR"/>
              <a:t>: 	</a:t>
            </a:r>
            <a:r>
              <a:rPr lang="ko-KR" altLang="en-US"/>
              <a:t>문자</a:t>
            </a:r>
            <a:endParaRPr lang="en-US" altLang="ko-KR"/>
          </a:p>
          <a:p>
            <a:pPr marL="0" indent="0">
              <a:buNone/>
            </a:pPr>
            <a:r>
              <a:rPr lang="en-US"/>
              <a:t>	- </a:t>
            </a:r>
            <a:r>
              <a:rPr lang="ko-KR" altLang="en-US"/>
              <a:t>인덱스</a:t>
            </a:r>
            <a:r>
              <a:rPr lang="en-US" altLang="ko-KR"/>
              <a:t>: 	</a:t>
            </a:r>
            <a:r>
              <a:rPr lang="ko-KR" altLang="en-US"/>
              <a:t>그래프의 노드 리스트에서 몇번째</a:t>
            </a:r>
            <a:endParaRPr lang="en-US" altLang="ko-KR"/>
          </a:p>
          <a:p>
            <a:pPr marL="0" indent="0">
              <a:buNone/>
            </a:pPr>
            <a:r>
              <a:rPr lang="en-US">
                <a:solidFill>
                  <a:srgbClr val="FF0000"/>
                </a:solidFill>
              </a:rPr>
              <a:t>	- </a:t>
            </a:r>
            <a:r>
              <a:rPr lang="ko-KR" altLang="en-US">
                <a:solidFill>
                  <a:srgbClr val="FF0000"/>
                </a:solidFill>
              </a:rPr>
              <a:t>규모</a:t>
            </a:r>
            <a:r>
              <a:rPr lang="en-US" altLang="ko-KR">
                <a:solidFill>
                  <a:srgbClr val="FF0000"/>
                </a:solidFill>
              </a:rPr>
              <a:t>:	</a:t>
            </a:r>
            <a:r>
              <a:rPr lang="ko-KR" altLang="en-US">
                <a:solidFill>
                  <a:srgbClr val="FF0000"/>
                </a:solidFill>
              </a:rPr>
              <a:t>같은 규모 크기를 흡수하면 커짐</a:t>
            </a:r>
            <a:endParaRPr lang="en-US" altLang="ko-KR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	- </a:t>
            </a:r>
            <a:r>
              <a:rPr lang="ko-KR" altLang="en-US">
                <a:solidFill>
                  <a:srgbClr val="FF0000"/>
                </a:solidFill>
              </a:rPr>
              <a:t>루트</a:t>
            </a:r>
            <a:r>
              <a:rPr lang="en-US" altLang="ko-KR">
                <a:solidFill>
                  <a:srgbClr val="FF0000"/>
                </a:solidFill>
              </a:rPr>
              <a:t>:	MST</a:t>
            </a:r>
            <a:r>
              <a:rPr lang="ko-KR" altLang="en-US">
                <a:solidFill>
                  <a:srgbClr val="FF0000"/>
                </a:solidFill>
              </a:rPr>
              <a:t>의 루트</a:t>
            </a:r>
            <a:endParaRPr lang="en-US" altLang="ko-KR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2753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6CE90-E813-6283-A395-D776F7699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47865-22BA-F9C3-05B7-2F782A138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2380" y="262442"/>
            <a:ext cx="5760095" cy="607653"/>
          </a:xfrm>
        </p:spPr>
        <p:txBody>
          <a:bodyPr>
            <a:spAutoFit/>
          </a:bodyPr>
          <a:lstStyle/>
          <a:p>
            <a:r>
              <a:rPr lang="en-US" altLang="ko-KR"/>
              <a:t>KRUSKAL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그래프 노드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BBD10-4BA9-4E67-3B7C-1AD5DE9A3D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struct node {</a:t>
            </a:r>
          </a:p>
          <a:p>
            <a:pPr marL="0" indent="0">
              <a:buNone/>
            </a:pPr>
            <a:r>
              <a:rPr lang="en-US"/>
              <a:t>	char data;</a:t>
            </a:r>
          </a:p>
          <a:p>
            <a:pPr marL="0" indent="0">
              <a:buNone/>
            </a:pPr>
            <a:r>
              <a:rPr lang="en-US"/>
              <a:t>	int index;</a:t>
            </a:r>
          </a:p>
          <a:p>
            <a:pPr marL="0" indent="0">
              <a:buNone/>
            </a:pPr>
            <a:r>
              <a:rPr lang="en-US">
                <a:solidFill>
                  <a:srgbClr val="FF0000"/>
                </a:solidFill>
              </a:rPr>
              <a:t>	int rank;		    	/* </a:t>
            </a:r>
            <a:r>
              <a:rPr lang="ko-KR" altLang="en-US">
                <a:solidFill>
                  <a:srgbClr val="FF0000"/>
                </a:solidFill>
              </a:rPr>
              <a:t>서브 </a:t>
            </a:r>
            <a:r>
              <a:rPr lang="en-US">
                <a:solidFill>
                  <a:srgbClr val="FF0000"/>
                </a:solidFill>
              </a:rPr>
              <a:t>MST</a:t>
            </a:r>
            <a:r>
              <a:rPr lang="ko-KR" altLang="en-US">
                <a:solidFill>
                  <a:srgbClr val="FF0000"/>
                </a:solidFill>
              </a:rPr>
              <a:t> 규모 </a:t>
            </a:r>
            <a:r>
              <a:rPr lang="en-US" altLang="ko-KR">
                <a:solidFill>
                  <a:srgbClr val="FF0000"/>
                </a:solidFill>
              </a:rPr>
              <a:t>*/</a:t>
            </a:r>
            <a:endParaRPr 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	struct node* root;		/* </a:t>
            </a:r>
            <a:r>
              <a:rPr lang="ko-KR" altLang="en-US">
                <a:solidFill>
                  <a:srgbClr val="FF0000"/>
                </a:solidFill>
              </a:rPr>
              <a:t>소속된 </a:t>
            </a:r>
            <a:r>
              <a:rPr lang="en-US" altLang="ko-KR">
                <a:solidFill>
                  <a:srgbClr val="FF0000"/>
                </a:solidFill>
              </a:rPr>
              <a:t>MST</a:t>
            </a:r>
            <a:r>
              <a:rPr lang="ko-KR" altLang="en-US">
                <a:solidFill>
                  <a:srgbClr val="FF0000"/>
                </a:solidFill>
              </a:rPr>
              <a:t>의 루트 </a:t>
            </a:r>
            <a:r>
              <a:rPr lang="en-US" altLang="ko-KR">
                <a:solidFill>
                  <a:srgbClr val="FF0000"/>
                </a:solidFill>
              </a:rPr>
              <a:t>*/</a:t>
            </a:r>
          </a:p>
          <a:p>
            <a:pPr marL="0" indent="0">
              <a:buNone/>
            </a:pPr>
            <a:r>
              <a:rPr lang="en-US"/>
              <a:t>};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072465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DE7E9-80E6-E575-BD6E-A151C58C9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A387C-CAA2-AA2B-CA44-23A1F88CB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4046" y="262442"/>
            <a:ext cx="5298430" cy="607653"/>
          </a:xfrm>
        </p:spPr>
        <p:txBody>
          <a:bodyPr>
            <a:spAutoFit/>
          </a:bodyPr>
          <a:lstStyle/>
          <a:p>
            <a:r>
              <a:rPr lang="en-US" altLang="ko-KR"/>
              <a:t>KRUSKAL - </a:t>
            </a:r>
            <a:r>
              <a:rPr lang="ko-KR" altLang="en-US"/>
              <a:t>소속 확인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88197-CE88-442D-EFCB-F78CD23B48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소속 </a:t>
            </a:r>
            <a:r>
              <a:rPr lang="en-US" altLang="ko-KR"/>
              <a:t>MST</a:t>
            </a:r>
            <a:r>
              <a:rPr lang="ko-KR" altLang="en-US"/>
              <a:t>의 루트인 경우</a:t>
            </a:r>
            <a:r>
              <a:rPr lang="en-US" altLang="ko-KR"/>
              <a:t>: </a:t>
            </a:r>
          </a:p>
          <a:p>
            <a:pPr marL="0" indent="0">
              <a:buNone/>
            </a:pPr>
            <a:r>
              <a:rPr lang="en-US" altLang="ko-KR"/>
              <a:t>	- </a:t>
            </a:r>
            <a:r>
              <a:rPr lang="ko-KR" altLang="en-US"/>
              <a:t>자신의 주소를 반환</a:t>
            </a:r>
            <a:endParaRPr lang="en-US" altLang="ko-KR"/>
          </a:p>
          <a:p>
            <a:pPr marL="0" indent="0">
              <a:buNone/>
            </a:pPr>
            <a:endParaRPr lang="en-US"/>
          </a:p>
          <a:p>
            <a:r>
              <a:rPr lang="ko-KR" altLang="en-US"/>
              <a:t>루트가 아닌 경우</a:t>
            </a:r>
            <a:r>
              <a:rPr lang="en-US" altLang="ko-KR"/>
              <a:t>:</a:t>
            </a:r>
            <a:endParaRPr lang="en-US"/>
          </a:p>
          <a:p>
            <a:pPr marL="0" indent="0">
              <a:buNone/>
            </a:pPr>
            <a:r>
              <a:rPr lang="en-US"/>
              <a:t>	- </a:t>
            </a:r>
            <a:r>
              <a:rPr lang="ko-KR" altLang="en-US"/>
              <a:t>저장된 루트들을 따라가서 최종 루트를 확인</a:t>
            </a:r>
            <a:endParaRPr lang="en-US" altLang="ko-KR"/>
          </a:p>
          <a:p>
            <a:pPr marL="0" indent="0">
              <a:buNone/>
            </a:pPr>
            <a:r>
              <a:rPr lang="en-US"/>
              <a:t>	- </a:t>
            </a:r>
            <a:r>
              <a:rPr lang="ko-KR" altLang="en-US"/>
              <a:t>최종 루트를 저장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974471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EA536-96E0-6177-572E-6EA6A77D8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B3984-63E7-70C2-E5E4-0627FFA6A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4046" y="262442"/>
            <a:ext cx="5298429" cy="607653"/>
          </a:xfrm>
        </p:spPr>
        <p:txBody>
          <a:bodyPr>
            <a:spAutoFit/>
          </a:bodyPr>
          <a:lstStyle/>
          <a:p>
            <a:r>
              <a:rPr lang="en-US" altLang="ko-KR"/>
              <a:t>KRUSKAL - </a:t>
            </a:r>
            <a:r>
              <a:rPr lang="ko-KR" altLang="en-US"/>
              <a:t>소속 확인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814A8-CB5D-3B72-2A2D-F9A0EC78B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struct node *find_root(struct node* n)</a:t>
            </a:r>
          </a:p>
          <a:p>
            <a:pPr marL="0" indent="0">
              <a:buNone/>
            </a:pPr>
            <a:r>
              <a:rPr lang="en-US"/>
              <a:t>{</a:t>
            </a:r>
          </a:p>
          <a:p>
            <a:pPr marL="0" indent="0">
              <a:buNone/>
            </a:pPr>
            <a:r>
              <a:rPr lang="en-US"/>
              <a:t>	if (n-&gt;root != n) {</a:t>
            </a:r>
          </a:p>
          <a:p>
            <a:pPr marL="0" indent="0">
              <a:buNone/>
            </a:pPr>
            <a:r>
              <a:rPr lang="en-US"/>
              <a:t>		n-&gt;root = find_root(n-&gt;root);</a:t>
            </a:r>
          </a:p>
          <a:p>
            <a:pPr marL="0" indent="0">
              <a:buNone/>
            </a:pPr>
            <a:r>
              <a:rPr lang="en-US"/>
              <a:t>	}</a:t>
            </a:r>
          </a:p>
          <a:p>
            <a:pPr marL="0" indent="0">
              <a:buNone/>
            </a:pPr>
            <a:r>
              <a:rPr lang="en-US"/>
              <a:t>	return n-&gt;root;</a:t>
            </a:r>
          </a:p>
          <a:p>
            <a:pPr marL="0" indent="0">
              <a:buNone/>
            </a:pPr>
            <a:r>
              <a:rPr lang="en-US"/>
              <a:t>}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793113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99ADF-F49F-F4E6-3700-9FA6ABC60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51837-BA7C-EF2A-2CDA-C96DFB01E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5479" y="262442"/>
            <a:ext cx="4746997" cy="607653"/>
          </a:xfrm>
        </p:spPr>
        <p:txBody>
          <a:bodyPr>
            <a:spAutoFit/>
          </a:bodyPr>
          <a:lstStyle/>
          <a:p>
            <a:r>
              <a:rPr lang="en-US" altLang="ko-KR"/>
              <a:t>KRUSKAL - </a:t>
            </a:r>
            <a:r>
              <a:rPr lang="ko-KR" altLang="en-US"/>
              <a:t>합치기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67F16-312A-8728-E814-A79C2BC118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MST </a:t>
            </a:r>
            <a:r>
              <a:rPr lang="ko-KR" altLang="en-US"/>
              <a:t>두개의</a:t>
            </a:r>
            <a:r>
              <a:rPr lang="en-US" altLang="ko-KR"/>
              <a:t> </a:t>
            </a:r>
            <a:r>
              <a:rPr lang="ko-KR" altLang="en-US"/>
              <a:t>루트 </a:t>
            </a:r>
            <a:r>
              <a:rPr lang="en-US" altLang="ko-KR"/>
              <a:t>x, y</a:t>
            </a:r>
            <a:r>
              <a:rPr lang="ko-KR" altLang="en-US"/>
              <a:t>에 대해</a:t>
            </a:r>
            <a:r>
              <a:rPr lang="en-US" altLang="ko-KR"/>
              <a:t>,</a:t>
            </a:r>
          </a:p>
          <a:p>
            <a:endParaRPr lang="en-US"/>
          </a:p>
          <a:p>
            <a:r>
              <a:rPr lang="ko-KR" altLang="en-US"/>
              <a:t>더 큰 규모의 </a:t>
            </a:r>
            <a:r>
              <a:rPr lang="en-US" altLang="ko-KR"/>
              <a:t>MST</a:t>
            </a:r>
            <a:r>
              <a:rPr lang="ko-KR" altLang="en-US"/>
              <a:t>가 다른 </a:t>
            </a:r>
            <a:r>
              <a:rPr lang="en-US" altLang="ko-KR"/>
              <a:t>MST</a:t>
            </a:r>
            <a:r>
              <a:rPr lang="ko-KR" altLang="en-US"/>
              <a:t>를 흡수한다</a:t>
            </a:r>
            <a:r>
              <a:rPr lang="en-US" altLang="ko-KR"/>
              <a:t>.</a:t>
            </a:r>
          </a:p>
          <a:p>
            <a:endParaRPr lang="en-US"/>
          </a:p>
          <a:p>
            <a:r>
              <a:rPr lang="ko-KR" altLang="en-US"/>
              <a:t>규모가 같을 경우 흡수한 </a:t>
            </a:r>
            <a:r>
              <a:rPr lang="en-US" altLang="ko-KR"/>
              <a:t>MST</a:t>
            </a:r>
            <a:r>
              <a:rPr lang="ko-KR" altLang="en-US"/>
              <a:t>의 </a:t>
            </a:r>
            <a:r>
              <a:rPr lang="en-US" altLang="ko-KR"/>
              <a:t>rank</a:t>
            </a:r>
            <a:r>
              <a:rPr lang="ko-KR" altLang="en-US"/>
              <a:t>가 증가한다</a:t>
            </a:r>
            <a:r>
              <a:rPr lang="en-US" altLang="ko-KR"/>
              <a:t>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198948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019C8-E746-D63B-D425-70C3F6CF3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ED645-A447-D78D-99F9-B36B8E2D3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5478" y="262442"/>
            <a:ext cx="4746997" cy="607653"/>
          </a:xfrm>
        </p:spPr>
        <p:txBody>
          <a:bodyPr>
            <a:spAutoFit/>
          </a:bodyPr>
          <a:lstStyle/>
          <a:p>
            <a:r>
              <a:rPr lang="en-US" altLang="ko-KR"/>
              <a:t>KRUSKAL - </a:t>
            </a:r>
            <a:r>
              <a:rPr lang="ko-KR" altLang="en-US"/>
              <a:t>합치기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54075-A074-394C-6EE8-58DA79539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void union_mst(struct node* x, struct node *y)</a:t>
            </a:r>
          </a:p>
          <a:p>
            <a:pPr marL="0" indent="0">
              <a:buNone/>
            </a:pPr>
            <a:r>
              <a:rPr lang="en-US"/>
              <a:t>{</a:t>
            </a:r>
          </a:p>
          <a:p>
            <a:pPr marL="0" indent="0">
              <a:buNone/>
            </a:pPr>
            <a:r>
              <a:rPr lang="en-US"/>
              <a:t>	if (x-&gt;rank &lt; y-&gt;rank) {</a:t>
            </a:r>
          </a:p>
          <a:p>
            <a:pPr marL="0" indent="0">
              <a:buNone/>
            </a:pPr>
            <a:r>
              <a:rPr lang="en-US"/>
              <a:t>		x-&gt;root = y;</a:t>
            </a:r>
          </a:p>
          <a:p>
            <a:pPr marL="0" indent="0">
              <a:buNone/>
            </a:pPr>
            <a:r>
              <a:rPr lang="en-US"/>
              <a:t>	} else {</a:t>
            </a:r>
          </a:p>
          <a:p>
            <a:pPr marL="0" indent="0">
              <a:buNone/>
            </a:pPr>
            <a:r>
              <a:rPr lang="en-US"/>
              <a:t>		y-&gt;root = x;</a:t>
            </a:r>
          </a:p>
          <a:p>
            <a:pPr marL="0" indent="0">
              <a:buNone/>
            </a:pPr>
            <a:r>
              <a:rPr lang="en-US"/>
              <a:t>		if (x-&gt;rank == y-&gt;rank)</a:t>
            </a:r>
          </a:p>
          <a:p>
            <a:pPr marL="0" indent="0">
              <a:buNone/>
            </a:pPr>
            <a:r>
              <a:rPr lang="en-US"/>
              <a:t>			x-&gt;rank += 1;</a:t>
            </a:r>
          </a:p>
          <a:p>
            <a:pPr marL="0" indent="0">
              <a:buNone/>
            </a:pPr>
            <a:r>
              <a:rPr lang="en-US"/>
              <a:t>	}</a:t>
            </a:r>
          </a:p>
          <a:p>
            <a:pPr marL="0" indent="0">
              <a:buNone/>
            </a:pPr>
            <a:r>
              <a:rPr lang="en-US"/>
              <a:t>}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63676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A0E8C-146F-E972-090B-73479F2EC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47A17-BEEA-0759-DB6D-EC7F14F3A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2381" y="262442"/>
            <a:ext cx="5760095" cy="607653"/>
          </a:xfrm>
        </p:spPr>
        <p:txBody>
          <a:bodyPr>
            <a:spAutoFit/>
          </a:bodyPr>
          <a:lstStyle/>
          <a:p>
            <a:r>
              <a:rPr lang="en-US" altLang="ko-KR"/>
              <a:t>KRUSKAL - </a:t>
            </a:r>
            <a:r>
              <a:rPr lang="ko-KR" altLang="en-US"/>
              <a:t>연결선 정렬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F7CAF-E2ED-B59B-53B9-BB604C037B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개수가 작아서 </a:t>
            </a:r>
            <a:r>
              <a:rPr lang="en-US" altLang="ko-KR"/>
              <a:t>insertion sort </a:t>
            </a:r>
            <a:r>
              <a:rPr lang="ko-KR" altLang="en-US"/>
              <a:t>사용</a:t>
            </a:r>
            <a:endParaRPr lang="en-US" altLang="ko-KR"/>
          </a:p>
          <a:p>
            <a:endParaRPr lang="en-US"/>
          </a:p>
          <a:p>
            <a:endParaRPr lang="en-US"/>
          </a:p>
          <a:p>
            <a:r>
              <a:rPr lang="ko-KR" altLang="en-US"/>
              <a:t>정렬되지 않은 구간의 가장 왼쪽 데이터를</a:t>
            </a:r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r>
              <a:rPr lang="en-US"/>
              <a:t>	</a:t>
            </a:r>
            <a:r>
              <a:rPr lang="ko-KR" altLang="en-US"/>
              <a:t>정렬된 구간의 적절한 자리로 이동시킨다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789095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E0EF9-EC22-C05F-53F8-3681424EF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BF194-79F0-FE53-9E62-867FE462D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2380" y="262442"/>
            <a:ext cx="5760095" cy="607653"/>
          </a:xfrm>
        </p:spPr>
        <p:txBody>
          <a:bodyPr>
            <a:spAutoFit/>
          </a:bodyPr>
          <a:lstStyle/>
          <a:p>
            <a:r>
              <a:rPr lang="en-US" altLang="ko-KR"/>
              <a:t>KRUSKAL - </a:t>
            </a:r>
            <a:r>
              <a:rPr lang="ko-KR" altLang="en-US"/>
              <a:t>연결선 정렬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1B2AA-868A-63F9-A3E9-B9828AD60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void sort_edges(struct edge **edges, int n)</a:t>
            </a:r>
          </a:p>
          <a:p>
            <a:pPr marL="0" indent="0">
              <a:buNone/>
            </a:pPr>
            <a:r>
              <a:rPr lang="en-US"/>
              <a:t>{</a:t>
            </a:r>
          </a:p>
          <a:p>
            <a:pPr marL="0" indent="0">
              <a:buNone/>
            </a:pPr>
            <a:r>
              <a:rPr lang="en-US"/>
              <a:t>	for (int i = 0; i &lt; n; i++) {</a:t>
            </a:r>
          </a:p>
          <a:p>
            <a:pPr marL="0" indent="0">
              <a:buNone/>
            </a:pPr>
            <a:r>
              <a:rPr lang="en-US"/>
              <a:t>		int j = i, d = edges[j]-&gt;distance;</a:t>
            </a:r>
          </a:p>
          <a:p>
            <a:pPr marL="0" indent="0">
              <a:buNone/>
            </a:pPr>
            <a:r>
              <a:rPr lang="en-US"/>
              <a:t>		while (j &gt; 0 &amp;&amp; edges[j - 1]-&gt;distance &gt; d) {</a:t>
            </a:r>
          </a:p>
          <a:p>
            <a:pPr marL="0" indent="0">
              <a:buNone/>
            </a:pPr>
            <a:r>
              <a:rPr lang="en-US"/>
              <a:t>			edges[j] = edges[j - 1];</a:t>
            </a:r>
          </a:p>
          <a:p>
            <a:pPr marL="0" indent="0">
              <a:buNone/>
            </a:pPr>
            <a:r>
              <a:rPr lang="en-US"/>
              <a:t>			j -= 1;</a:t>
            </a:r>
          </a:p>
          <a:p>
            <a:pPr marL="0" indent="0">
              <a:buNone/>
            </a:pPr>
            <a:r>
              <a:rPr lang="en-US"/>
              <a:t>		}</a:t>
            </a:r>
          </a:p>
          <a:p>
            <a:pPr marL="0" indent="0">
              <a:buNone/>
            </a:pPr>
            <a:r>
              <a:rPr lang="en-US"/>
              <a:t>		sorted[j] = edges[i];</a:t>
            </a:r>
          </a:p>
          <a:p>
            <a:pPr marL="0" indent="0">
              <a:lnSpc>
                <a:spcPct val="50000"/>
              </a:lnSpc>
              <a:spcBef>
                <a:spcPts val="0"/>
              </a:spcBef>
              <a:buNone/>
            </a:pPr>
            <a:r>
              <a:rPr lang="en-US"/>
              <a:t>	} </a:t>
            </a:r>
          </a:p>
          <a:p>
            <a:pPr marL="0" indent="0">
              <a:lnSpc>
                <a:spcPct val="50000"/>
              </a:lnSpc>
              <a:spcBef>
                <a:spcPts val="0"/>
              </a:spcBef>
              <a:buNone/>
            </a:pPr>
            <a:r>
              <a:rPr lang="en-US"/>
              <a:t>}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821826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FFE51-680D-08A6-366D-258D821AB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C239C-7A41-C5C1-E57F-2CA7674BB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5227" y="262442"/>
            <a:ext cx="4027249" cy="607653"/>
          </a:xfrm>
        </p:spPr>
        <p:txBody>
          <a:bodyPr>
            <a:spAutoFit/>
          </a:bodyPr>
          <a:lstStyle/>
          <a:p>
            <a:r>
              <a:rPr lang="en-US"/>
              <a:t>KRUSKAL </a:t>
            </a:r>
            <a:r>
              <a:rPr lang="ko-KR" altLang="en-US"/>
              <a:t>구현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C8C3A-24B0-3CD0-910E-48CFC2C07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초기값</a:t>
            </a:r>
            <a:r>
              <a:rPr lang="en-US" altLang="ko-KR"/>
              <a:t>: </a:t>
            </a:r>
          </a:p>
          <a:p>
            <a:pPr marL="0" indent="0">
              <a:buNone/>
            </a:pPr>
            <a:r>
              <a:rPr lang="en-US" altLang="ko-KR"/>
              <a:t>	- </a:t>
            </a:r>
            <a:r>
              <a:rPr lang="ko-KR" altLang="en-US"/>
              <a:t>연결선 타입 </a:t>
            </a:r>
            <a:r>
              <a:rPr lang="en-US" altLang="ko-KR"/>
              <a:t>= 0, </a:t>
            </a:r>
            <a:r>
              <a:rPr lang="ko-KR" altLang="en-US"/>
              <a:t>오름차순 정렬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	- </a:t>
            </a:r>
            <a:r>
              <a:rPr lang="ko-KR" altLang="en-US"/>
              <a:t>노드 규모 </a:t>
            </a:r>
            <a:r>
              <a:rPr lang="en-US" altLang="ko-KR"/>
              <a:t>= 0, </a:t>
            </a:r>
            <a:r>
              <a:rPr lang="ko-KR" altLang="en-US"/>
              <a:t>루트 </a:t>
            </a:r>
            <a:r>
              <a:rPr lang="en-US" altLang="ko-KR"/>
              <a:t>= </a:t>
            </a:r>
            <a:r>
              <a:rPr lang="ko-KR" altLang="en-US"/>
              <a:t>자신</a:t>
            </a: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r>
              <a:rPr lang="ko-KR" altLang="en-US"/>
              <a:t>반복되는 내용</a:t>
            </a:r>
            <a:r>
              <a:rPr lang="en-US" altLang="ko-KR"/>
              <a:t>:</a:t>
            </a:r>
          </a:p>
          <a:p>
            <a:pPr marL="0" indent="0">
              <a:buNone/>
            </a:pPr>
            <a:r>
              <a:rPr lang="en-US"/>
              <a:t>	- </a:t>
            </a:r>
            <a:r>
              <a:rPr lang="ko-KR" altLang="en-US"/>
              <a:t>연결선의 두 노드가 소속이 같으면</a:t>
            </a:r>
            <a:r>
              <a:rPr lang="en-US" altLang="ko-KR"/>
              <a:t>,</a:t>
            </a:r>
          </a:p>
          <a:p>
            <a:pPr marL="0" indent="0">
              <a:buNone/>
            </a:pPr>
            <a:r>
              <a:rPr lang="en-US" altLang="ko-KR"/>
              <a:t>		</a:t>
            </a:r>
            <a:r>
              <a:rPr lang="ko-KR" altLang="en-US"/>
              <a:t>연결선은 </a:t>
            </a:r>
            <a:r>
              <a:rPr lang="en-US" altLang="ko-KR"/>
              <a:t>MST</a:t>
            </a:r>
            <a:r>
              <a:rPr lang="ko-KR" altLang="en-US"/>
              <a:t>가 아님</a:t>
            </a:r>
            <a:endParaRPr lang="en-US" altLang="ko-KR"/>
          </a:p>
          <a:p>
            <a:pPr marL="0" indent="0">
              <a:buNone/>
            </a:pPr>
            <a:r>
              <a:rPr lang="en-US"/>
              <a:t>	- </a:t>
            </a:r>
            <a:r>
              <a:rPr lang="ko-KR" altLang="en-US"/>
              <a:t>소속이 다르면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		</a:t>
            </a:r>
            <a:r>
              <a:rPr lang="ko-KR" altLang="en-US"/>
              <a:t>연결선은 </a:t>
            </a:r>
            <a:r>
              <a:rPr lang="en-US" altLang="ko-KR"/>
              <a:t>MST</a:t>
            </a:r>
          </a:p>
        </p:txBody>
      </p:sp>
    </p:spTree>
    <p:extLst>
      <p:ext uri="{BB962C8B-B14F-4D97-AF65-F5344CB8AC3E}">
        <p14:creationId xmlns:p14="http://schemas.microsoft.com/office/powerpoint/2010/main" val="25625862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78D67-BD28-D8F2-B58F-1B40EE0A6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3C15F-B442-C135-C52E-632C3F81D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7143" y="262442"/>
            <a:ext cx="4285332" cy="607653"/>
          </a:xfrm>
        </p:spPr>
        <p:txBody>
          <a:bodyPr>
            <a:spAutoFit/>
          </a:bodyPr>
          <a:lstStyle/>
          <a:p>
            <a:r>
              <a:rPr lang="en-US" altLang="ko-KR"/>
              <a:t>KRUSKAL - </a:t>
            </a:r>
            <a:r>
              <a:rPr lang="ko-KR" altLang="en-US"/>
              <a:t>구현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DA337-438C-0A04-5AB7-FE29D5988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void kruskal(struct graph *g)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	/* </a:t>
            </a:r>
            <a:r>
              <a:rPr lang="ko-KR" altLang="en-US"/>
              <a:t>연결선 초기화 및 정렬</a:t>
            </a:r>
            <a:r>
              <a:rPr lang="en-US" altLang="ko-KR"/>
              <a:t>*/</a:t>
            </a:r>
          </a:p>
          <a:p>
            <a:pPr marL="0" indent="0">
              <a:buNone/>
            </a:pPr>
            <a:r>
              <a:rPr lang="en-US" altLang="ko-KR"/>
              <a:t>	struct edge *edges[100];</a:t>
            </a:r>
          </a:p>
          <a:p>
            <a:pPr marL="0" indent="0">
              <a:buNone/>
            </a:pPr>
            <a:r>
              <a:rPr lang="en-US" altLang="ko-KR"/>
              <a:t>	for (int i = 0; i &lt; g-&gt;n_edges; i++) {</a:t>
            </a:r>
          </a:p>
          <a:p>
            <a:pPr marL="0" indent="0">
              <a:buNone/>
            </a:pPr>
            <a:r>
              <a:rPr lang="en-US" altLang="ko-KR"/>
              <a:t>		edges[i] = g-&gt;edges + i;</a:t>
            </a:r>
          </a:p>
          <a:p>
            <a:pPr marL="0" indent="0">
              <a:buNone/>
            </a:pPr>
            <a:r>
              <a:rPr lang="en-US" altLang="ko-KR"/>
              <a:t>		edges[i]-&gt;type = 0;</a:t>
            </a:r>
          </a:p>
          <a:p>
            <a:pPr marL="0" indent="0">
              <a:buNone/>
            </a:pPr>
            <a:r>
              <a:rPr lang="en-US" altLang="ko-KR"/>
              <a:t>	}</a:t>
            </a:r>
          </a:p>
          <a:p>
            <a:pPr marL="0" indent="0">
              <a:buNone/>
            </a:pPr>
            <a:r>
              <a:rPr lang="en-US" altLang="ko-KR"/>
              <a:t>	sort_edges(edges, g-&gt;n_edges);</a:t>
            </a:r>
          </a:p>
        </p:txBody>
      </p:sp>
    </p:spTree>
    <p:extLst>
      <p:ext uri="{BB962C8B-B14F-4D97-AF65-F5344CB8AC3E}">
        <p14:creationId xmlns:p14="http://schemas.microsoft.com/office/powerpoint/2010/main" val="12308848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733DF-5AEC-5CE5-97CE-26CD3215F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A8D43-166E-AF96-CAA9-2158C40A3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7143" y="262442"/>
            <a:ext cx="4285332" cy="607653"/>
          </a:xfrm>
        </p:spPr>
        <p:txBody>
          <a:bodyPr>
            <a:spAutoFit/>
          </a:bodyPr>
          <a:lstStyle/>
          <a:p>
            <a:r>
              <a:rPr lang="en-US" altLang="ko-KR"/>
              <a:t>KRUSKAL - </a:t>
            </a:r>
            <a:r>
              <a:rPr lang="ko-KR" altLang="en-US"/>
              <a:t>구현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191F1-99FC-516D-2D62-3702C8DB43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void kruskal(struct graph *g)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	/* </a:t>
            </a:r>
            <a:r>
              <a:rPr lang="ko-KR" altLang="en-US"/>
              <a:t>노드 초기화</a:t>
            </a:r>
            <a:r>
              <a:rPr lang="en-US" altLang="ko-KR"/>
              <a:t>*/</a:t>
            </a:r>
          </a:p>
          <a:p>
            <a:pPr marL="0" indent="0">
              <a:buNone/>
            </a:pPr>
            <a:r>
              <a:rPr lang="en-US" altLang="ko-KR"/>
              <a:t>	for (int i = 0; i &lt; g-&gt;n_vertexes; i++) {</a:t>
            </a:r>
          </a:p>
          <a:p>
            <a:pPr marL="0" indent="0">
              <a:buNone/>
            </a:pPr>
            <a:r>
              <a:rPr lang="en-US" altLang="ko-KR"/>
              <a:t>		struct node *n = g-&gt;vertexes + i;</a:t>
            </a:r>
          </a:p>
          <a:p>
            <a:pPr marL="0" indent="0">
              <a:buNone/>
            </a:pPr>
            <a:r>
              <a:rPr lang="en-US" altLang="ko-KR"/>
              <a:t>		n-&gt;rank = 0;</a:t>
            </a:r>
          </a:p>
          <a:p>
            <a:pPr marL="0" indent="0">
              <a:buNone/>
            </a:pPr>
            <a:r>
              <a:rPr lang="en-US" altLang="ko-KR"/>
              <a:t>		n-&gt;root = n;</a:t>
            </a:r>
          </a:p>
          <a:p>
            <a:pPr marL="0" indent="0">
              <a:buNone/>
            </a:pPr>
            <a:r>
              <a:rPr lang="en-US" altLang="ko-KR"/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159649092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2C79E-50ED-E091-79A0-183E197B6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AE1F2-552E-87D8-2703-95BAA37BD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7143" y="262442"/>
            <a:ext cx="4285332" cy="607653"/>
          </a:xfrm>
        </p:spPr>
        <p:txBody>
          <a:bodyPr>
            <a:spAutoFit/>
          </a:bodyPr>
          <a:lstStyle/>
          <a:p>
            <a:r>
              <a:rPr lang="en-US" altLang="ko-KR"/>
              <a:t>KRUSKAL - </a:t>
            </a:r>
            <a:r>
              <a:rPr lang="ko-KR" altLang="en-US"/>
              <a:t>구현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9262F-D365-DBCB-EE01-D56C327697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	/* </a:t>
            </a:r>
            <a:r>
              <a:rPr lang="ko-KR" altLang="en-US"/>
              <a:t>반복</a:t>
            </a:r>
            <a:r>
              <a:rPr lang="en-US" altLang="ko-KR"/>
              <a:t>: </a:t>
            </a:r>
            <a:r>
              <a:rPr lang="ko-KR" altLang="en-US"/>
              <a:t>최소 길이 연결선으로</a:t>
            </a:r>
            <a:r>
              <a:rPr lang="en-US" altLang="ko-KR"/>
              <a:t> </a:t>
            </a:r>
            <a:r>
              <a:rPr lang="ko-KR" altLang="en-US"/>
              <a:t>트리 합치기</a:t>
            </a:r>
            <a:r>
              <a:rPr lang="en-US" altLang="ko-KR"/>
              <a:t>*/</a:t>
            </a:r>
          </a:p>
          <a:p>
            <a:pPr marL="0" indent="0">
              <a:buNone/>
            </a:pPr>
            <a:r>
              <a:rPr lang="en-US" altLang="ko-KR"/>
              <a:t>	for (int i = 0; i &lt; g-&gt;n_edges; i++) {</a:t>
            </a:r>
          </a:p>
          <a:p>
            <a:pPr marL="0" indent="0">
              <a:buNone/>
            </a:pPr>
            <a:r>
              <a:rPr lang="en-US" altLang="ko-KR"/>
              <a:t>		struct node *e = edges[i];</a:t>
            </a:r>
          </a:p>
          <a:p>
            <a:pPr marL="0" indent="0">
              <a:buNone/>
            </a:pPr>
            <a:r>
              <a:rPr lang="en-US" altLang="ko-KR"/>
              <a:t>		struct node *x = find_root(e-&gt;node1);</a:t>
            </a:r>
          </a:p>
          <a:p>
            <a:pPr marL="0" indent="0">
              <a:buNone/>
            </a:pPr>
            <a:r>
              <a:rPr lang="en-US" altLang="ko-KR"/>
              <a:t>		struct node *y = find_root(e-&gt;node2);</a:t>
            </a:r>
          </a:p>
          <a:p>
            <a:pPr marL="0" indent="0">
              <a:buNone/>
            </a:pPr>
            <a:r>
              <a:rPr lang="en-US" altLang="ko-KR"/>
              <a:t>		if (x == y) { e-&gt;type = 2; }</a:t>
            </a:r>
          </a:p>
          <a:p>
            <a:pPr marL="0" indent="0">
              <a:buNone/>
            </a:pPr>
            <a:r>
              <a:rPr lang="en-US" altLang="ko-KR"/>
              <a:t>		else {</a:t>
            </a:r>
          </a:p>
          <a:p>
            <a:pPr marL="0" indent="0">
              <a:buNone/>
            </a:pPr>
            <a:r>
              <a:rPr lang="en-US" altLang="ko-KR"/>
              <a:t>			e-&gt;type = 1;</a:t>
            </a:r>
          </a:p>
          <a:p>
            <a:pPr marL="0" indent="0">
              <a:buNone/>
            </a:pPr>
            <a:r>
              <a:rPr lang="en-US" altLang="ko-KR"/>
              <a:t>			union_mst(x, y);</a:t>
            </a:r>
          </a:p>
          <a:p>
            <a:pPr marL="0" indent="0">
              <a:lnSpc>
                <a:spcPct val="30000"/>
              </a:lnSpc>
              <a:spcBef>
                <a:spcPts val="0"/>
              </a:spcBef>
              <a:buNone/>
            </a:pPr>
            <a:r>
              <a:rPr lang="en-US" altLang="ko-KR"/>
              <a:t>		}</a:t>
            </a:r>
          </a:p>
          <a:p>
            <a:pPr marL="0" indent="0">
              <a:lnSpc>
                <a:spcPct val="30000"/>
              </a:lnSpc>
              <a:spcBef>
                <a:spcPts val="0"/>
              </a:spcBef>
              <a:buNone/>
            </a:pPr>
            <a:r>
              <a:rPr lang="en-US" altLang="ko-KR"/>
              <a:t>	}</a:t>
            </a:r>
          </a:p>
          <a:p>
            <a:pPr marL="0" indent="0">
              <a:lnSpc>
                <a:spcPct val="30000"/>
              </a:lnSpc>
              <a:spcBef>
                <a:spcPts val="0"/>
              </a:spcBef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009981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8384" y="262442"/>
            <a:ext cx="4904091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</a:t>
            </a:r>
            <a:r>
              <a:t> 출력 - printf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#include &lt;stdio.h&gt;</a:t>
            </a:r>
          </a:p>
          <a:p>
            <a:pPr marL="0" indent="0">
              <a:buNone/>
            </a:pPr>
            <a:r>
              <a:t>int main()</a:t>
            </a:r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	printf("Hello</a:t>
            </a:r>
            <a:r>
              <a:rPr lang="en-US"/>
              <a:t>, </a:t>
            </a:r>
            <a:r>
              <a:rPr lang="en-US">
                <a:solidFill>
                  <a:srgbClr val="FF0000"/>
                </a:solidFill>
              </a:rPr>
              <a:t>minimum spanning tree</a:t>
            </a:r>
            <a:r>
              <a:rPr lang="en-US"/>
              <a:t>!</a:t>
            </a:r>
            <a:r>
              <a:rPr lang="en-US">
                <a:solidFill>
                  <a:srgbClr val="FF0000"/>
                </a:solidFill>
              </a:rPr>
              <a:t>\n</a:t>
            </a:r>
            <a:r>
              <a:t>");</a:t>
            </a:r>
          </a:p>
          <a:p>
            <a:pPr marL="0" indent="0">
              <a:buNone/>
            </a:pPr>
            <a:r>
              <a:t>	return 0;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15041-F49F-DE4B-7BF6-1FA0C8845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854B4-016A-C2BE-6832-D34CD3EC7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6458" y="262442"/>
            <a:ext cx="6786017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노드 출력 함수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7B468-3B39-9CC9-F658-24D7F12684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data</a:t>
            </a:r>
            <a:r>
              <a:rPr lang="ko-KR" altLang="en-US"/>
              <a:t>가 </a:t>
            </a:r>
            <a:r>
              <a:rPr lang="en-US" altLang="ko-KR"/>
              <a:t>A</a:t>
            </a:r>
            <a:r>
              <a:rPr lang="ko-KR" altLang="en-US"/>
              <a:t>인 노드를 출력할 때</a:t>
            </a:r>
            <a:r>
              <a:rPr lang="en-US" altLang="ko-KR"/>
              <a:t>:</a:t>
            </a:r>
          </a:p>
          <a:p>
            <a:endParaRPr lang="en-US" altLang="ko-KR"/>
          </a:p>
          <a:p>
            <a:r>
              <a:rPr lang="ko-KR" altLang="en-US"/>
              <a:t>상태가 </a:t>
            </a:r>
            <a:r>
              <a:rPr lang="en-US" altLang="ko-KR"/>
              <a:t>0</a:t>
            </a:r>
            <a:r>
              <a:rPr lang="ko-KR" altLang="en-US"/>
              <a:t>인 경우</a:t>
            </a:r>
            <a:endParaRPr lang="en-US" altLang="ko-KR"/>
          </a:p>
          <a:p>
            <a:pPr marL="0" indent="0">
              <a:buNone/>
            </a:pPr>
            <a:r>
              <a:rPr lang="en-US"/>
              <a:t>	A</a:t>
            </a:r>
          </a:p>
          <a:p>
            <a:pPr marL="0" indent="0">
              <a:buNone/>
            </a:pPr>
            <a:endParaRPr lang="en-US"/>
          </a:p>
          <a:p>
            <a:r>
              <a:rPr lang="ko-KR" altLang="en-US"/>
              <a:t>상태가 </a:t>
            </a:r>
            <a:r>
              <a:rPr lang="en-US" altLang="ko-KR"/>
              <a:t>1</a:t>
            </a:r>
            <a:r>
              <a:rPr lang="ko-KR" altLang="en-US"/>
              <a:t>인 경우</a:t>
            </a:r>
            <a:endParaRPr lang="en-US" altLang="ko-KR"/>
          </a:p>
          <a:p>
            <a:pPr marL="0" indent="0">
              <a:buNone/>
            </a:pPr>
            <a:r>
              <a:rPr lang="en-US"/>
              <a:t>	Ao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618507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CE153-D4EA-4A19-50AF-B982AB558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4236F-1C9F-CFEC-324A-B21F140E9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6458" y="262442"/>
            <a:ext cx="6786017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노드 출력 함수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DC2AC6-FD36-C847-562C-BF52C05976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void print_node(struct node *v)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    	char str[5] = {' ', v-&gt;data,</a:t>
            </a:r>
            <a:r>
              <a:rPr lang="ko-KR" altLang="en-US"/>
              <a:t> </a:t>
            </a:r>
            <a:r>
              <a:rPr lang="en-US" altLang="ko-KR"/>
              <a:t>'</a:t>
            </a:r>
            <a:r>
              <a:rPr lang="ko-KR" altLang="en-US"/>
              <a:t> </a:t>
            </a:r>
            <a:r>
              <a:rPr lang="en-US" altLang="ko-KR"/>
              <a:t>',</a:t>
            </a:r>
            <a:r>
              <a:rPr lang="ko-KR" altLang="en-US"/>
              <a:t> </a:t>
            </a:r>
            <a:r>
              <a:rPr lang="en-US" altLang="ko-KR"/>
              <a:t>'</a:t>
            </a:r>
            <a:r>
              <a:rPr lang="ko-KR" altLang="en-US"/>
              <a:t> </a:t>
            </a:r>
            <a:r>
              <a:rPr lang="en-US" altLang="ko-KR"/>
              <a:t>',</a:t>
            </a:r>
            <a:r>
              <a:rPr lang="ko-KR" altLang="en-US"/>
              <a:t> </a:t>
            </a:r>
            <a:r>
              <a:rPr lang="en-US" altLang="ko-KR"/>
              <a:t>'\0'};</a:t>
            </a:r>
          </a:p>
          <a:p>
            <a:pPr marL="0" indent="0">
              <a:buNone/>
            </a:pPr>
            <a:r>
              <a:rPr lang="en-US" altLang="ko-KR"/>
              <a:t>    	if (v-&gt;status != 0)</a:t>
            </a:r>
          </a:p>
          <a:p>
            <a:pPr marL="0" indent="0">
              <a:buNone/>
            </a:pPr>
            <a:r>
              <a:rPr lang="en-US" altLang="ko-KR"/>
              <a:t>        		str[2] = '</a:t>
            </a:r>
            <a:r>
              <a:rPr lang="en-US" altLang="ko-KR">
                <a:solidFill>
                  <a:srgbClr val="FF0000"/>
                </a:solidFill>
              </a:rPr>
              <a:t>o</a:t>
            </a:r>
            <a:r>
              <a:rPr lang="en-US" altLang="ko-KR"/>
              <a:t>';</a:t>
            </a:r>
          </a:p>
          <a:p>
            <a:pPr marL="0" indent="0">
              <a:buNone/>
            </a:pPr>
            <a:r>
              <a:rPr lang="en-US" altLang="ko-KR"/>
              <a:t>    	printf("%s", str);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443128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B2FB3-C31F-EC1F-62AB-B8C8A7782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1F4C9-A78E-1544-FD4B-C3C4D89C9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6459" y="262442"/>
            <a:ext cx="6786016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노드 출력 함수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B26E9-BC48-729B-8B36-FA00F05DE2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int main()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    	struct node v = {'A'};</a:t>
            </a:r>
          </a:p>
          <a:p>
            <a:pPr marL="0" indent="0">
              <a:buNone/>
            </a:pPr>
            <a:r>
              <a:rPr lang="en-US" altLang="ko-KR"/>
              <a:t>    	print_node(&amp;v);</a:t>
            </a:r>
          </a:p>
          <a:p>
            <a:pPr marL="0" indent="0">
              <a:buNone/>
            </a:pPr>
            <a:r>
              <a:rPr lang="en-US" altLang="ko-KR"/>
              <a:t>    	v.status = 1;</a:t>
            </a:r>
          </a:p>
          <a:p>
            <a:pPr marL="0" indent="0">
              <a:buNone/>
            </a:pPr>
            <a:r>
              <a:rPr lang="en-US" altLang="ko-KR"/>
              <a:t>    	print_node(&amp;v);</a:t>
            </a:r>
          </a:p>
          <a:p>
            <a:pPr marL="0" indent="0">
              <a:buNone/>
            </a:pPr>
            <a:r>
              <a:rPr lang="en-US" altLang="ko-KR"/>
              <a:t>	return</a:t>
            </a:r>
            <a:r>
              <a:rPr lang="ko-KR" altLang="en-US"/>
              <a:t> </a:t>
            </a:r>
            <a:r>
              <a:rPr lang="en-US" altLang="ko-KR"/>
              <a:t>0;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5869149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2E75B-94B5-170A-49F8-DC9A50A32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156D3-D49B-9BE5-558E-1967810C6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4793" y="262442"/>
            <a:ext cx="7247682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연결선 출력 함수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71C82-FAD3-9207-1919-5FB93E99A9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/>
              <a:t>모양 </a:t>
            </a:r>
            <a:r>
              <a:rPr lang="en-US" altLang="ko-KR"/>
              <a:t>-, </a:t>
            </a:r>
            <a:r>
              <a:rPr lang="ko-KR" altLang="en-US"/>
              <a:t>길이 </a:t>
            </a:r>
            <a:r>
              <a:rPr lang="en-US" altLang="ko-KR"/>
              <a:t>1</a:t>
            </a:r>
            <a:r>
              <a:rPr lang="ko-KR" altLang="en-US"/>
              <a:t>인 연결선을 출력할 때</a:t>
            </a:r>
            <a:r>
              <a:rPr lang="en-US" altLang="ko-KR"/>
              <a:t>:</a:t>
            </a:r>
          </a:p>
          <a:p>
            <a:endParaRPr lang="en-US" altLang="ko-KR"/>
          </a:p>
          <a:p>
            <a:r>
              <a:rPr lang="ko-KR" altLang="en-US"/>
              <a:t>상태가 </a:t>
            </a:r>
            <a:r>
              <a:rPr lang="en-US" altLang="ko-KR"/>
              <a:t>0</a:t>
            </a:r>
            <a:r>
              <a:rPr lang="ko-KR" altLang="en-US"/>
              <a:t>인 경우</a:t>
            </a:r>
            <a:endParaRPr lang="en-US" altLang="ko-KR"/>
          </a:p>
          <a:p>
            <a:pPr marL="0" indent="0">
              <a:buNone/>
            </a:pPr>
            <a:r>
              <a:rPr lang="en-US"/>
              <a:t>	-1</a:t>
            </a:r>
          </a:p>
          <a:p>
            <a:pPr marL="0" indent="0">
              <a:buNone/>
            </a:pPr>
            <a:endParaRPr lang="en-US"/>
          </a:p>
          <a:p>
            <a:r>
              <a:rPr lang="ko-KR" altLang="en-US"/>
              <a:t>상태가 </a:t>
            </a:r>
            <a:r>
              <a:rPr lang="en-US" altLang="ko-KR"/>
              <a:t>1</a:t>
            </a:r>
            <a:r>
              <a:rPr lang="ko-KR" altLang="en-US"/>
              <a:t>인 경우</a:t>
            </a:r>
            <a:endParaRPr lang="en-US" altLang="ko-KR"/>
          </a:p>
          <a:p>
            <a:pPr marL="0" indent="0">
              <a:buNone/>
            </a:pPr>
            <a:r>
              <a:rPr lang="en-US"/>
              <a:t>	=1</a:t>
            </a:r>
          </a:p>
          <a:p>
            <a:pPr marL="0" indent="0">
              <a:buNone/>
            </a:pPr>
            <a:endParaRPr lang="en-US"/>
          </a:p>
          <a:p>
            <a:r>
              <a:rPr lang="ko-KR" altLang="en-US"/>
              <a:t>상태가 </a:t>
            </a:r>
            <a:r>
              <a:rPr lang="en-US" altLang="ko-KR"/>
              <a:t>2</a:t>
            </a:r>
            <a:r>
              <a:rPr lang="ko-KR" altLang="en-US"/>
              <a:t>인 경우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	.</a:t>
            </a:r>
          </a:p>
        </p:txBody>
      </p:sp>
    </p:spTree>
    <p:extLst>
      <p:ext uri="{BB962C8B-B14F-4D97-AF65-F5344CB8AC3E}">
        <p14:creationId xmlns:p14="http://schemas.microsoft.com/office/powerpoint/2010/main" val="389016261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E8F01-572D-6531-76D9-87FFBBEC2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C7A28-9CEB-9607-862D-9D301E041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4793" y="262442"/>
            <a:ext cx="7247682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연결선 출력 함수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7E861-0616-2019-D684-228E7BF59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void print_edge(struct edge *e)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    	char str[5] = {' ', e-&gt;shape,</a:t>
            </a:r>
            <a:r>
              <a:rPr lang="ko-KR" altLang="en-US"/>
              <a:t> </a:t>
            </a:r>
            <a:r>
              <a:rPr lang="en-US" altLang="ko-KR"/>
              <a:t>'0'</a:t>
            </a:r>
            <a:r>
              <a:rPr lang="ko-KR" altLang="en-US"/>
              <a:t> </a:t>
            </a:r>
            <a:r>
              <a:rPr lang="en-US" altLang="ko-KR"/>
              <a:t>+</a:t>
            </a:r>
            <a:r>
              <a:rPr lang="ko-KR" altLang="en-US"/>
              <a:t> </a:t>
            </a:r>
            <a:r>
              <a:rPr lang="en-US" altLang="ko-KR"/>
              <a:t>e-&gt;length,</a:t>
            </a:r>
            <a:r>
              <a:rPr lang="ko-KR" altLang="en-US"/>
              <a:t> </a:t>
            </a:r>
            <a:r>
              <a:rPr lang="en-US" altLang="ko-KR"/>
              <a:t>'</a:t>
            </a:r>
            <a:r>
              <a:rPr lang="ko-KR" altLang="en-US"/>
              <a:t> </a:t>
            </a:r>
            <a:r>
              <a:rPr lang="en-US" altLang="ko-KR"/>
              <a:t>',</a:t>
            </a:r>
            <a:r>
              <a:rPr lang="ko-KR" altLang="en-US"/>
              <a:t> </a:t>
            </a:r>
            <a:r>
              <a:rPr lang="en-US" altLang="ko-KR"/>
              <a:t>'\0'};</a:t>
            </a:r>
          </a:p>
          <a:p>
            <a:pPr marL="0" indent="0">
              <a:buNone/>
            </a:pPr>
            <a:r>
              <a:rPr lang="en-US" altLang="ko-KR"/>
              <a:t>	if (e == NULL) {</a:t>
            </a:r>
          </a:p>
          <a:p>
            <a:pPr marL="0" indent="0">
              <a:buNone/>
            </a:pPr>
            <a:r>
              <a:rPr lang="en-US" altLang="ko-KR"/>
              <a:t>		str[1] = str[2] = ' ';</a:t>
            </a:r>
          </a:p>
          <a:p>
            <a:pPr marL="0" indent="0">
              <a:buNone/>
            </a:pPr>
            <a:r>
              <a:rPr lang="en-US" altLang="ko-KR"/>
              <a:t>    	} else {</a:t>
            </a:r>
          </a:p>
          <a:p>
            <a:pPr marL="0" indent="0">
              <a:buNone/>
            </a:pPr>
            <a:r>
              <a:rPr lang="en-US" altLang="ko-KR"/>
              <a:t>		if (e-&gt;type == 2) {</a:t>
            </a:r>
          </a:p>
          <a:p>
            <a:pPr marL="0" indent="0">
              <a:buNone/>
            </a:pPr>
            <a:r>
              <a:rPr lang="en-US" altLang="ko-KR"/>
              <a:t>			str[1] = '.';</a:t>
            </a:r>
          </a:p>
          <a:p>
            <a:pPr marL="0" indent="0">
              <a:buNone/>
            </a:pPr>
            <a:r>
              <a:rPr lang="en-US" altLang="ko-KR"/>
              <a:t>			str[2] = str[3] = ' ';</a:t>
            </a:r>
          </a:p>
          <a:p>
            <a:pPr marL="0" indent="0">
              <a:buNone/>
            </a:pPr>
            <a:r>
              <a:rPr lang="en-US" altLang="ko-KR"/>
              <a:t>		}</a:t>
            </a:r>
          </a:p>
        </p:txBody>
      </p:sp>
    </p:spTree>
    <p:extLst>
      <p:ext uri="{BB962C8B-B14F-4D97-AF65-F5344CB8AC3E}">
        <p14:creationId xmlns:p14="http://schemas.microsoft.com/office/powerpoint/2010/main" val="172091328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174BF-DD41-76CB-2697-F36575CB4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398D3-5D58-2912-E309-7B8A16C27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4793" y="262442"/>
            <a:ext cx="7247682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연결선 출력 함수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555C6-DE23-063E-D9E9-AC7817ADD8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		if (e-&gt;type == 1) {</a:t>
            </a:r>
          </a:p>
          <a:p>
            <a:pPr marL="0" indent="0">
              <a:buNone/>
            </a:pPr>
            <a:r>
              <a:rPr lang="en-US" altLang="ko-KR"/>
              <a:t>			if (e-&gt;shape == '-') {</a:t>
            </a:r>
          </a:p>
          <a:p>
            <a:pPr marL="0" indent="0">
              <a:buNone/>
            </a:pPr>
            <a:r>
              <a:rPr lang="en-US" altLang="ko-KR"/>
              <a:t>				str[1] = '=';</a:t>
            </a:r>
          </a:p>
          <a:p>
            <a:pPr marL="0" indent="0">
              <a:buNone/>
            </a:pPr>
            <a:r>
              <a:rPr lang="en-US" altLang="ko-KR"/>
              <a:t>			} else {</a:t>
            </a:r>
          </a:p>
          <a:p>
            <a:pPr marL="0" indent="0">
              <a:buNone/>
            </a:pPr>
            <a:r>
              <a:rPr lang="en-US" altLang="ko-KR"/>
              <a:t>				str[2] = e-&gt;shape;</a:t>
            </a:r>
          </a:p>
          <a:p>
            <a:pPr marL="0" indent="0">
              <a:buNone/>
            </a:pPr>
            <a:r>
              <a:rPr lang="en-US" altLang="ko-KR"/>
              <a:t>				str[3] = '0' + e-&gt;length;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ko-KR"/>
              <a:t>			}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ko-KR"/>
              <a:t>		}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ko-KR"/>
              <a:t>	} </a:t>
            </a:r>
          </a:p>
          <a:p>
            <a:pPr marL="0" indent="0">
              <a:buNone/>
            </a:pPr>
            <a:r>
              <a:rPr lang="en-US" altLang="ko-KR"/>
              <a:t>	printf("%s", str);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4744828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67D66-3171-B191-4C96-3770341B7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611D0-8543-810B-CB0D-3933DAF3C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4793" y="262442"/>
            <a:ext cx="7247682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연결선 출력 함수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6F7BC-321A-9880-CD9B-482F9E5995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int main()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    	struct edge e = {NULL, NULL, '-', 1};</a:t>
            </a:r>
          </a:p>
          <a:p>
            <a:pPr marL="0" indent="0">
              <a:buNone/>
            </a:pPr>
            <a:r>
              <a:rPr lang="en-US" altLang="ko-KR"/>
              <a:t>    	print_edge(&amp;e);</a:t>
            </a:r>
          </a:p>
          <a:p>
            <a:pPr marL="0" indent="0">
              <a:buNone/>
            </a:pPr>
            <a:r>
              <a:rPr lang="en-US" altLang="ko-KR"/>
              <a:t>	e.type = 1;</a:t>
            </a:r>
          </a:p>
          <a:p>
            <a:pPr marL="0" indent="0">
              <a:buNone/>
            </a:pPr>
            <a:r>
              <a:rPr lang="en-US" altLang="ko-KR"/>
              <a:t>    	print_edge(&amp;e);</a:t>
            </a:r>
          </a:p>
          <a:p>
            <a:pPr marL="0" indent="0">
              <a:buNone/>
            </a:pPr>
            <a:r>
              <a:rPr lang="en-US" altLang="ko-KR"/>
              <a:t>	e.type = 2;</a:t>
            </a:r>
          </a:p>
          <a:p>
            <a:pPr marL="0" indent="0">
              <a:buNone/>
            </a:pPr>
            <a:r>
              <a:rPr lang="en-US" altLang="ko-KR"/>
              <a:t>    	print_edge(&amp;e);	</a:t>
            </a:r>
          </a:p>
          <a:p>
            <a:pPr marL="0" indent="0">
              <a:buNone/>
            </a:pPr>
            <a:r>
              <a:rPr lang="en-US" altLang="ko-KR"/>
              <a:t>	return</a:t>
            </a:r>
            <a:r>
              <a:rPr lang="ko-KR" altLang="en-US"/>
              <a:t> </a:t>
            </a:r>
            <a:r>
              <a:rPr lang="en-US" altLang="ko-KR"/>
              <a:t>0;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6218530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84260-48A6-C002-221C-79B6C748D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A43B7-99B0-AC0C-334F-958CB5FB3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7891" y="262442"/>
            <a:ext cx="6234584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그래프 내용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BE99C-48CB-A9D9-868D-3D7414144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모든 노드에 대해 </a:t>
            </a:r>
            <a:r>
              <a:rPr lang="en-US" altLang="ko-KR"/>
              <a:t>print_node() </a:t>
            </a:r>
            <a:r>
              <a:rPr lang="ko-KR" altLang="en-US"/>
              <a:t>호출</a:t>
            </a:r>
            <a:endParaRPr lang="en-US"/>
          </a:p>
          <a:p>
            <a:pPr marL="0" indent="0">
              <a:buNone/>
            </a:pPr>
            <a:endParaRPr lang="en-US"/>
          </a:p>
          <a:p>
            <a:r>
              <a:rPr lang="ko-KR" altLang="en-US"/>
              <a:t>모든 연결선에 대해 </a:t>
            </a:r>
            <a:r>
              <a:rPr lang="en-US" altLang="ko-KR"/>
              <a:t>print_edge() </a:t>
            </a:r>
            <a:r>
              <a:rPr lang="ko-KR" altLang="en-US"/>
              <a:t>호출</a:t>
            </a:r>
            <a:endParaRPr lang="en-US" altLang="ko-KR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BF82D79D-EC3A-BCD9-CDCB-1096AF883936}"/>
              </a:ext>
            </a:extLst>
          </p:cNvPr>
          <p:cNvSpPr/>
          <p:nvPr/>
        </p:nvSpPr>
        <p:spPr>
          <a:xfrm>
            <a:off x="1987648" y="3739173"/>
            <a:ext cx="841319" cy="841319"/>
          </a:xfrm>
          <a:prstGeom prst="ellipse">
            <a:avLst/>
          </a:prstGeom>
          <a:ln w="317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4800">
                <a:solidFill>
                  <a:schemeClr val="accent6">
                    <a:lumMod val="75000"/>
                  </a:schemeClr>
                </a:solidFill>
              </a:rPr>
              <a:t>A</a:t>
            </a:r>
            <a:endParaRPr lang="ko-KR" altLang="en-US" sz="480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EB785B98-2F76-0ADD-6EEB-76DED4FA6100}"/>
              </a:ext>
            </a:extLst>
          </p:cNvPr>
          <p:cNvSpPr/>
          <p:nvPr/>
        </p:nvSpPr>
        <p:spPr>
          <a:xfrm>
            <a:off x="4151340" y="3739173"/>
            <a:ext cx="841319" cy="841319"/>
          </a:xfrm>
          <a:prstGeom prst="ellipse">
            <a:avLst/>
          </a:prstGeom>
          <a:ln w="317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4800">
                <a:solidFill>
                  <a:schemeClr val="accent6">
                    <a:lumMod val="75000"/>
                  </a:schemeClr>
                </a:solidFill>
              </a:rPr>
              <a:t>B</a:t>
            </a:r>
            <a:endParaRPr lang="ko-KR" altLang="en-US" sz="480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D9043964-0D64-7C75-3BE8-45E89926BAA7}"/>
              </a:ext>
            </a:extLst>
          </p:cNvPr>
          <p:cNvSpPr/>
          <p:nvPr/>
        </p:nvSpPr>
        <p:spPr>
          <a:xfrm>
            <a:off x="6315032" y="3739173"/>
            <a:ext cx="841319" cy="841319"/>
          </a:xfrm>
          <a:prstGeom prst="ellipse">
            <a:avLst/>
          </a:prstGeom>
          <a:ln w="317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4800">
                <a:solidFill>
                  <a:schemeClr val="accent6">
                    <a:lumMod val="75000"/>
                  </a:schemeClr>
                </a:solidFill>
              </a:rPr>
              <a:t>C</a:t>
            </a:r>
            <a:endParaRPr lang="ko-KR" altLang="en-US" sz="480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E4D84A92-8F49-8534-D025-AAB31A7F7071}"/>
              </a:ext>
            </a:extLst>
          </p:cNvPr>
          <p:cNvSpPr/>
          <p:nvPr/>
        </p:nvSpPr>
        <p:spPr>
          <a:xfrm>
            <a:off x="1987648" y="5754239"/>
            <a:ext cx="841319" cy="841319"/>
          </a:xfrm>
          <a:prstGeom prst="ellipse">
            <a:avLst/>
          </a:prstGeom>
          <a:ln w="317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4800">
                <a:solidFill>
                  <a:schemeClr val="accent6">
                    <a:lumMod val="75000"/>
                  </a:schemeClr>
                </a:solidFill>
              </a:rPr>
              <a:t>D</a:t>
            </a:r>
            <a:endParaRPr lang="ko-KR" altLang="en-US" sz="480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5E70003E-78D3-0230-8ED7-A125D54FEFD2}"/>
              </a:ext>
            </a:extLst>
          </p:cNvPr>
          <p:cNvSpPr/>
          <p:nvPr/>
        </p:nvSpPr>
        <p:spPr>
          <a:xfrm>
            <a:off x="4151340" y="5754239"/>
            <a:ext cx="841319" cy="841319"/>
          </a:xfrm>
          <a:prstGeom prst="ellipse">
            <a:avLst/>
          </a:prstGeom>
          <a:ln w="317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4800">
                <a:solidFill>
                  <a:schemeClr val="accent6">
                    <a:lumMod val="75000"/>
                  </a:schemeClr>
                </a:solidFill>
              </a:rPr>
              <a:t>E</a:t>
            </a:r>
            <a:endParaRPr lang="ko-KR" altLang="en-US" sz="480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17AFB28F-7305-0255-A6BB-3B36FE9E99F3}"/>
              </a:ext>
            </a:extLst>
          </p:cNvPr>
          <p:cNvCxnSpPr>
            <a:stCxn id="4" idx="6"/>
            <a:endCxn id="5" idx="2"/>
          </p:cNvCxnSpPr>
          <p:nvPr/>
        </p:nvCxnSpPr>
        <p:spPr>
          <a:xfrm>
            <a:off x="2828967" y="4159833"/>
            <a:ext cx="1322373" cy="0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02BDFA14-9056-9DDA-DA09-BE1B53CCD2EA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>
            <a:off x="4992659" y="4159833"/>
            <a:ext cx="1322373" cy="0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7D5F02D2-70C8-9AFC-0F42-FDB467BD7C33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>
          <a:xfrm>
            <a:off x="2828967" y="6174899"/>
            <a:ext cx="1322373" cy="0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6DB9D604-F1A0-4953-6C3E-50C86B1CA545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2408308" y="4580492"/>
            <a:ext cx="0" cy="1173747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85D94D3-E214-C5C2-94F0-FB736F44AE06}"/>
              </a:ext>
            </a:extLst>
          </p:cNvPr>
          <p:cNvCxnSpPr>
            <a:cxnSpLocks/>
            <a:stCxn id="5" idx="4"/>
            <a:endCxn id="8" idx="0"/>
          </p:cNvCxnSpPr>
          <p:nvPr/>
        </p:nvCxnSpPr>
        <p:spPr>
          <a:xfrm>
            <a:off x="4572000" y="4580492"/>
            <a:ext cx="0" cy="1173747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5AE6D456-B5DE-863B-091B-92EEFFE64E47}"/>
              </a:ext>
            </a:extLst>
          </p:cNvPr>
          <p:cNvCxnSpPr>
            <a:cxnSpLocks/>
            <a:stCxn id="5" idx="3"/>
            <a:endCxn id="7" idx="7"/>
          </p:cNvCxnSpPr>
          <p:nvPr/>
        </p:nvCxnSpPr>
        <p:spPr>
          <a:xfrm flipH="1">
            <a:off x="2705759" y="4457284"/>
            <a:ext cx="1568789" cy="1420163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384A1382-2DF9-C24E-92DF-0ACBEB22B3FA}"/>
              </a:ext>
            </a:extLst>
          </p:cNvPr>
          <p:cNvCxnSpPr>
            <a:cxnSpLocks/>
            <a:stCxn id="6" idx="3"/>
            <a:endCxn id="8" idx="7"/>
          </p:cNvCxnSpPr>
          <p:nvPr/>
        </p:nvCxnSpPr>
        <p:spPr>
          <a:xfrm flipH="1">
            <a:off x="4869451" y="4457284"/>
            <a:ext cx="1568789" cy="1420163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0B2241A-FC72-9E66-D610-A86F579F567E}"/>
              </a:ext>
            </a:extLst>
          </p:cNvPr>
          <p:cNvSpPr txBox="1"/>
          <p:nvPr/>
        </p:nvSpPr>
        <p:spPr>
          <a:xfrm>
            <a:off x="3301640" y="6284158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>
                <a:solidFill>
                  <a:schemeClr val="accent3">
                    <a:lumMod val="60000"/>
                    <a:lumOff val="40000"/>
                  </a:schemeClr>
                </a:solidFill>
              </a:rPr>
              <a:t>1</a:t>
            </a:r>
            <a:endParaRPr lang="ko-KR" altLang="en-US" sz="280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689487-306C-9F52-68A8-138C07333EBD}"/>
              </a:ext>
            </a:extLst>
          </p:cNvPr>
          <p:cNvSpPr txBox="1"/>
          <p:nvPr/>
        </p:nvSpPr>
        <p:spPr>
          <a:xfrm>
            <a:off x="1969678" y="4905755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>
                <a:solidFill>
                  <a:schemeClr val="accent3">
                    <a:lumMod val="60000"/>
                    <a:lumOff val="40000"/>
                  </a:schemeClr>
                </a:solidFill>
              </a:rPr>
              <a:t>3</a:t>
            </a:r>
            <a:endParaRPr lang="ko-KR" altLang="en-US" sz="280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B34EE2-D489-48A6-5AA8-4FD5FA0BB29A}"/>
              </a:ext>
            </a:extLst>
          </p:cNvPr>
          <p:cNvSpPr txBox="1"/>
          <p:nvPr/>
        </p:nvSpPr>
        <p:spPr>
          <a:xfrm>
            <a:off x="2941607" y="4905755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>
                <a:solidFill>
                  <a:schemeClr val="accent3">
                    <a:lumMod val="60000"/>
                    <a:lumOff val="40000"/>
                  </a:schemeClr>
                </a:solidFill>
              </a:rPr>
              <a:t>2</a:t>
            </a:r>
            <a:endParaRPr lang="ko-KR" altLang="en-US" sz="280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57572C-92BF-ECD0-D0B3-D45BCCCFE217}"/>
              </a:ext>
            </a:extLst>
          </p:cNvPr>
          <p:cNvSpPr txBox="1"/>
          <p:nvPr/>
        </p:nvSpPr>
        <p:spPr>
          <a:xfrm>
            <a:off x="4196051" y="4905755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>
                <a:solidFill>
                  <a:schemeClr val="accent3">
                    <a:lumMod val="60000"/>
                    <a:lumOff val="40000"/>
                  </a:schemeClr>
                </a:solidFill>
              </a:rPr>
              <a:t>2</a:t>
            </a:r>
            <a:endParaRPr lang="ko-KR" altLang="en-US" sz="280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4C3289C-39B8-EF7F-0A8C-940441184669}"/>
              </a:ext>
            </a:extLst>
          </p:cNvPr>
          <p:cNvSpPr txBox="1"/>
          <p:nvPr/>
        </p:nvSpPr>
        <p:spPr>
          <a:xfrm>
            <a:off x="5210569" y="4905755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>
                <a:solidFill>
                  <a:schemeClr val="accent3">
                    <a:lumMod val="60000"/>
                    <a:lumOff val="40000"/>
                  </a:schemeClr>
                </a:solidFill>
              </a:rPr>
              <a:t>1</a:t>
            </a:r>
            <a:endParaRPr lang="ko-KR" altLang="en-US" sz="280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C2D475-F06E-6CB9-CC65-C055CB92F8C2}"/>
              </a:ext>
            </a:extLst>
          </p:cNvPr>
          <p:cNvSpPr txBox="1"/>
          <p:nvPr/>
        </p:nvSpPr>
        <p:spPr>
          <a:xfrm>
            <a:off x="3301640" y="3608012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>
                <a:solidFill>
                  <a:schemeClr val="accent3">
                    <a:lumMod val="60000"/>
                    <a:lumOff val="40000"/>
                  </a:schemeClr>
                </a:solidFill>
              </a:rPr>
              <a:t>0</a:t>
            </a:r>
            <a:endParaRPr lang="ko-KR" altLang="en-US" sz="280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B9C9E8-6C69-4DEE-5624-5C4CE8A7BE6A}"/>
              </a:ext>
            </a:extLst>
          </p:cNvPr>
          <p:cNvSpPr txBox="1"/>
          <p:nvPr/>
        </p:nvSpPr>
        <p:spPr>
          <a:xfrm>
            <a:off x="5499763" y="3608012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>
                <a:solidFill>
                  <a:schemeClr val="accent3">
                    <a:lumMod val="60000"/>
                    <a:lumOff val="40000"/>
                  </a:schemeClr>
                </a:solidFill>
              </a:rPr>
              <a:t>3</a:t>
            </a:r>
            <a:endParaRPr lang="ko-KR" altLang="en-US" sz="280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232578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E0AFE-1F36-74BE-912E-A061DC256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B3674-7727-C856-0AB2-BF7E0818E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696" y="262442"/>
            <a:ext cx="8260779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그래프 내용 출력 함수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A4F17-577E-D3AA-A4F5-9F65D9F3DE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void print_graph(struct graph *g)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	/* </a:t>
            </a:r>
            <a:r>
              <a:rPr lang="ko-KR" altLang="en-US"/>
              <a:t>노드 출력 </a:t>
            </a:r>
            <a:r>
              <a:rPr lang="en-US" altLang="ko-KR"/>
              <a:t>*/</a:t>
            </a:r>
          </a:p>
          <a:p>
            <a:pPr marL="0" indent="0">
              <a:buNone/>
            </a:pPr>
            <a:r>
              <a:rPr lang="en-US" altLang="ko-KR"/>
              <a:t>	for</a:t>
            </a:r>
            <a:r>
              <a:rPr lang="ko-KR" altLang="en-US"/>
              <a:t> </a:t>
            </a:r>
            <a:r>
              <a:rPr lang="en-US" altLang="ko-KR"/>
              <a:t>(int</a:t>
            </a:r>
            <a:r>
              <a:rPr lang="ko-KR" altLang="en-US"/>
              <a:t> </a:t>
            </a:r>
            <a:r>
              <a:rPr lang="en-US" altLang="ko-KR"/>
              <a:t>i</a:t>
            </a:r>
            <a:r>
              <a:rPr lang="ko-KR" altLang="en-US"/>
              <a:t> </a:t>
            </a:r>
            <a:r>
              <a:rPr lang="en-US" altLang="ko-KR"/>
              <a:t>=</a:t>
            </a:r>
            <a:r>
              <a:rPr lang="ko-KR" altLang="en-US"/>
              <a:t> </a:t>
            </a:r>
            <a:r>
              <a:rPr lang="en-US" altLang="ko-KR"/>
              <a:t>0;</a:t>
            </a:r>
            <a:r>
              <a:rPr lang="ko-KR" altLang="en-US"/>
              <a:t> </a:t>
            </a:r>
            <a:r>
              <a:rPr lang="en-US" altLang="ko-KR"/>
              <a:t>i</a:t>
            </a:r>
            <a:r>
              <a:rPr lang="ko-KR" altLang="en-US"/>
              <a:t> </a:t>
            </a:r>
            <a:r>
              <a:rPr lang="en-US" altLang="ko-KR"/>
              <a:t>&lt;</a:t>
            </a:r>
            <a:r>
              <a:rPr lang="ko-KR" altLang="en-US"/>
              <a:t> </a:t>
            </a:r>
            <a:r>
              <a:rPr lang="en-US" altLang="ko-KR"/>
              <a:t>g-&gt;n_vertexes; i++) {</a:t>
            </a:r>
          </a:p>
          <a:p>
            <a:pPr marL="0" indent="0">
              <a:buNone/>
            </a:pPr>
            <a:r>
              <a:rPr lang="en-US" altLang="ko-KR"/>
              <a:t>		print_node(g-&gt;vertexes + i);</a:t>
            </a:r>
          </a:p>
          <a:p>
            <a:pPr marL="0" indent="0">
              <a:buNone/>
            </a:pPr>
            <a:r>
              <a:rPr lang="en-US" altLang="ko-KR"/>
              <a:t>		printf(", ");</a:t>
            </a:r>
          </a:p>
          <a:p>
            <a:pPr marL="0" indent="0">
              <a:buNone/>
            </a:pPr>
            <a:r>
              <a:rPr lang="en-US" altLang="ko-KR"/>
              <a:t>	}</a:t>
            </a:r>
          </a:p>
          <a:p>
            <a:pPr marL="0" indent="0">
              <a:buNone/>
            </a:pPr>
            <a:r>
              <a:rPr lang="en-US" altLang="ko-KR"/>
              <a:t>	printf("\n");</a:t>
            </a:r>
          </a:p>
        </p:txBody>
      </p:sp>
    </p:spTree>
    <p:extLst>
      <p:ext uri="{BB962C8B-B14F-4D97-AF65-F5344CB8AC3E}">
        <p14:creationId xmlns:p14="http://schemas.microsoft.com/office/powerpoint/2010/main" val="389085435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594F8-F160-E24E-9061-B1374AB34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04CEF-A6A3-0F96-7E15-A9766AD3B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697" y="262442"/>
            <a:ext cx="8260778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그래프 내용 출력 함수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2E113-DECC-DB73-0A04-AB963C55F3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	/* </a:t>
            </a:r>
            <a:r>
              <a:rPr lang="ko-KR" altLang="en-US"/>
              <a:t>연결선 출력 </a:t>
            </a:r>
            <a:r>
              <a:rPr lang="en-US" altLang="ko-KR"/>
              <a:t>*/</a:t>
            </a:r>
          </a:p>
          <a:p>
            <a:pPr marL="0" indent="0">
              <a:buNone/>
            </a:pPr>
            <a:r>
              <a:rPr lang="en-US" altLang="ko-KR"/>
              <a:t>	for</a:t>
            </a:r>
            <a:r>
              <a:rPr lang="ko-KR" altLang="en-US"/>
              <a:t> </a:t>
            </a:r>
            <a:r>
              <a:rPr lang="en-US" altLang="ko-KR"/>
              <a:t>(int</a:t>
            </a:r>
            <a:r>
              <a:rPr lang="ko-KR" altLang="en-US"/>
              <a:t> </a:t>
            </a:r>
            <a:r>
              <a:rPr lang="en-US" altLang="ko-KR"/>
              <a:t>i</a:t>
            </a:r>
            <a:r>
              <a:rPr lang="ko-KR" altLang="en-US"/>
              <a:t> </a:t>
            </a:r>
            <a:r>
              <a:rPr lang="en-US" altLang="ko-KR"/>
              <a:t>=</a:t>
            </a:r>
            <a:r>
              <a:rPr lang="ko-KR" altLang="en-US"/>
              <a:t> </a:t>
            </a:r>
            <a:r>
              <a:rPr lang="en-US" altLang="ko-KR"/>
              <a:t>0;</a:t>
            </a:r>
            <a:r>
              <a:rPr lang="ko-KR" altLang="en-US"/>
              <a:t> </a:t>
            </a:r>
            <a:r>
              <a:rPr lang="en-US" altLang="ko-KR"/>
              <a:t>i</a:t>
            </a:r>
            <a:r>
              <a:rPr lang="ko-KR" altLang="en-US"/>
              <a:t> </a:t>
            </a:r>
            <a:r>
              <a:rPr lang="en-US" altLang="ko-KR"/>
              <a:t>&lt;</a:t>
            </a:r>
            <a:r>
              <a:rPr lang="ko-KR" altLang="en-US"/>
              <a:t> </a:t>
            </a:r>
            <a:r>
              <a:rPr lang="en-US" altLang="ko-KR"/>
              <a:t>g-&gt;n_edges; i++) {</a:t>
            </a:r>
          </a:p>
          <a:p>
            <a:pPr marL="0" indent="0">
              <a:buNone/>
            </a:pPr>
            <a:r>
              <a:rPr lang="en-US" altLang="ko-KR"/>
              <a:t>		printf("[");</a:t>
            </a:r>
          </a:p>
          <a:p>
            <a:pPr marL="0" indent="0">
              <a:buNone/>
            </a:pPr>
            <a:r>
              <a:rPr lang="en-US" altLang="ko-KR"/>
              <a:t>		print_node(g-&gt;edges[i].node1);</a:t>
            </a:r>
          </a:p>
          <a:p>
            <a:pPr marL="0" indent="0">
              <a:buNone/>
            </a:pPr>
            <a:r>
              <a:rPr lang="en-US" altLang="ko-KR"/>
              <a:t>		print_edge(g-&gt;edges + i);</a:t>
            </a:r>
          </a:p>
          <a:p>
            <a:pPr marL="0" indent="0">
              <a:buNone/>
            </a:pPr>
            <a:r>
              <a:rPr lang="en-US" altLang="ko-KR"/>
              <a:t>		print_node(g-&gt;edges[i].node2);</a:t>
            </a:r>
          </a:p>
          <a:p>
            <a:pPr marL="0" indent="0">
              <a:buNone/>
            </a:pPr>
            <a:r>
              <a:rPr lang="en-US" altLang="ko-KR"/>
              <a:t>		printf("], ");</a:t>
            </a:r>
          </a:p>
          <a:p>
            <a:pPr marL="0" indent="0">
              <a:buNone/>
            </a:pPr>
            <a:r>
              <a:rPr lang="en-US" altLang="ko-KR"/>
              <a:t>	}</a:t>
            </a:r>
          </a:p>
          <a:p>
            <a:pPr marL="0" indent="0">
              <a:buNone/>
            </a:pPr>
            <a:r>
              <a:rPr lang="en-US" altLang="ko-KR"/>
              <a:t>	printf("\n");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3354496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0CC16-CEDD-791B-8EEE-695C70953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A7411-9C38-B884-0670-3CB5CC2B0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696" y="262442"/>
            <a:ext cx="8260779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그래프 내용 출력 함수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C67E1-9954-A70E-C190-E52BC619FA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int main()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    	struct graph g;</a:t>
            </a:r>
          </a:p>
          <a:p>
            <a:pPr marL="0" indent="0">
              <a:buNone/>
            </a:pPr>
            <a:r>
              <a:rPr lang="en-US" altLang="ko-KR"/>
              <a:t>	struct node n[5] = {</a:t>
            </a:r>
          </a:p>
          <a:p>
            <a:pPr marL="0" indent="0">
              <a:buNone/>
            </a:pPr>
            <a:r>
              <a:rPr lang="en-US" altLang="ko-KR"/>
              <a:t>		{'A', 0}, {'B', 1}, {'C', 2}, {'D', 3}, {'E', 4}</a:t>
            </a:r>
          </a:p>
          <a:p>
            <a:pPr marL="0" indent="0">
              <a:buNone/>
            </a:pPr>
            <a:r>
              <a:rPr lang="en-US" altLang="ko-KR"/>
              <a:t>	};</a:t>
            </a:r>
          </a:p>
          <a:p>
            <a:pPr marL="0" indent="0">
              <a:buNone/>
            </a:pPr>
            <a:r>
              <a:rPr lang="en-US" altLang="ko-KR"/>
              <a:t>	g.vertexes = n;</a:t>
            </a:r>
          </a:p>
          <a:p>
            <a:pPr marL="0" indent="0">
              <a:buNone/>
            </a:pPr>
            <a:r>
              <a:rPr lang="en-US" altLang="ko-KR"/>
              <a:t>	g.n_vertexes = 5;</a:t>
            </a:r>
          </a:p>
          <a:p>
            <a:pPr marL="0" indent="0">
              <a:buNone/>
            </a:pPr>
            <a:r>
              <a:rPr lang="en-US" altLang="ko-KR"/>
              <a:t>	g.n_edges = </a:t>
            </a:r>
            <a:r>
              <a:rPr lang="en-US" altLang="ko-KR">
                <a:solidFill>
                  <a:srgbClr val="FF0000"/>
                </a:solidFill>
              </a:rPr>
              <a:t>7</a:t>
            </a:r>
            <a:r>
              <a:rPr lang="en-US" altLang="ko-KR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40807968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6F3C5-11F3-EB00-161F-FBC656A44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EAD7F-C61B-893D-F49E-090CD29B5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696" y="262442"/>
            <a:ext cx="8260779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그래프 내용 출력 함수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FFF77-F406-36F5-F0A1-72920B9F0C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	struct edge edges[] = {</a:t>
            </a:r>
          </a:p>
          <a:p>
            <a:pPr marL="0" indent="0">
              <a:buNone/>
            </a:pPr>
            <a:r>
              <a:rPr lang="en-US" altLang="ko-KR"/>
              <a:t>		{n + 0, n + 1, '-',</a:t>
            </a:r>
            <a:r>
              <a:rPr lang="en-US" altLang="ko-KR">
                <a:solidFill>
                  <a:srgbClr val="FF0000"/>
                </a:solidFill>
              </a:rPr>
              <a:t> 0</a:t>
            </a:r>
            <a:r>
              <a:rPr lang="en-US" altLang="ko-KR"/>
              <a:t>}, {n + 1, n + 2, '-',</a:t>
            </a:r>
            <a:r>
              <a:rPr lang="en-US" altLang="ko-KR">
                <a:solidFill>
                  <a:srgbClr val="FF0000"/>
                </a:solidFill>
              </a:rPr>
              <a:t> 3</a:t>
            </a:r>
            <a:r>
              <a:rPr lang="en-US" altLang="ko-KR"/>
              <a:t>},</a:t>
            </a:r>
          </a:p>
          <a:p>
            <a:pPr marL="0" indent="0">
              <a:buNone/>
            </a:pPr>
            <a:r>
              <a:rPr lang="en-US" altLang="ko-KR"/>
              <a:t>		{n + 0, n + 3, '|',</a:t>
            </a:r>
            <a:r>
              <a:rPr lang="en-US" altLang="ko-KR">
                <a:solidFill>
                  <a:srgbClr val="FF0000"/>
                </a:solidFill>
              </a:rPr>
              <a:t> 3</a:t>
            </a:r>
            <a:r>
              <a:rPr lang="en-US" altLang="ko-KR"/>
              <a:t>}, {n + 1, n + 3, '/',</a:t>
            </a:r>
            <a:r>
              <a:rPr lang="en-US" altLang="ko-KR">
                <a:solidFill>
                  <a:srgbClr val="FF0000"/>
                </a:solidFill>
              </a:rPr>
              <a:t> 2</a:t>
            </a:r>
            <a:r>
              <a:rPr lang="en-US" altLang="ko-KR"/>
              <a:t>},</a:t>
            </a:r>
          </a:p>
          <a:p>
            <a:pPr marL="0" indent="0">
              <a:buNone/>
            </a:pPr>
            <a:r>
              <a:rPr lang="en-US" altLang="ko-KR"/>
              <a:t>		{n + 1, n + 4, '|',</a:t>
            </a:r>
            <a:r>
              <a:rPr lang="en-US" altLang="ko-KR">
                <a:solidFill>
                  <a:srgbClr val="FF0000"/>
                </a:solidFill>
              </a:rPr>
              <a:t> 2</a:t>
            </a:r>
            <a:r>
              <a:rPr lang="en-US" altLang="ko-KR"/>
              <a:t>}, {n + 2, n + 4, '/',</a:t>
            </a:r>
            <a:r>
              <a:rPr lang="en-US" altLang="ko-KR">
                <a:solidFill>
                  <a:srgbClr val="FF0000"/>
                </a:solidFill>
              </a:rPr>
              <a:t> 1</a:t>
            </a:r>
            <a:r>
              <a:rPr lang="en-US" altLang="ko-KR"/>
              <a:t>}</a:t>
            </a:r>
          </a:p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		{n + 3, n + 4, '-', 1}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ko-KR"/>
              <a:t>	};</a:t>
            </a:r>
          </a:p>
          <a:p>
            <a:pPr marL="0" indent="0">
              <a:buNone/>
            </a:pPr>
            <a:r>
              <a:rPr lang="en-US" altLang="ko-KR"/>
              <a:t>	g.edges = edges;</a:t>
            </a:r>
          </a:p>
          <a:p>
            <a:pPr marL="0" indent="0">
              <a:buNone/>
            </a:pPr>
            <a:r>
              <a:rPr lang="en-US" altLang="ko-KR"/>
              <a:t>	print_graph(&amp;g);</a:t>
            </a:r>
          </a:p>
          <a:p>
            <a:pPr marL="0" indent="0">
              <a:buNone/>
            </a:pPr>
            <a:r>
              <a:rPr lang="en-US" altLang="ko-KR"/>
              <a:t>	return 0;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3083873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70E2A-AAAE-0627-0BB3-31BB1323D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DB133-4913-F678-A6BF-8A1A3C1BF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9556" y="262442"/>
            <a:ext cx="5772919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인접 행렬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ED17D-500A-EBE7-37D8-BB06D94B54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인접 행렬</a:t>
            </a: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	- </a:t>
            </a:r>
            <a:r>
              <a:rPr lang="ko-KR" altLang="en-US"/>
              <a:t>두 노드에 대한 연결선 주소를 저장한 행렬</a:t>
            </a: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	- </a:t>
            </a:r>
            <a:r>
              <a:rPr lang="ko-KR" altLang="en-US"/>
              <a:t>전체 연결선 리스트로부터 만들 수 있음</a:t>
            </a:r>
            <a:endParaRPr lang="en-US" altLang="ko-KR"/>
          </a:p>
          <a:p>
            <a:pPr marL="0" indent="0">
              <a:buNone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765880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B8C95-F2C9-9D31-387B-441505930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39A84-7CCE-72FF-3305-96843D970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9556" y="262442"/>
            <a:ext cx="5772919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인접 행렬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4A47F-BD77-B892-C895-AEB2074214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void make_adj_matrix(struct graph *g)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	for</a:t>
            </a:r>
            <a:r>
              <a:rPr lang="ko-KR" altLang="en-US"/>
              <a:t> </a:t>
            </a:r>
            <a:r>
              <a:rPr lang="en-US" altLang="ko-KR"/>
              <a:t>(int</a:t>
            </a:r>
            <a:r>
              <a:rPr lang="ko-KR" altLang="en-US"/>
              <a:t> </a:t>
            </a:r>
            <a:r>
              <a:rPr lang="en-US" altLang="ko-KR"/>
              <a:t>i</a:t>
            </a:r>
            <a:r>
              <a:rPr lang="ko-KR" altLang="en-US"/>
              <a:t> </a:t>
            </a:r>
            <a:r>
              <a:rPr lang="en-US" altLang="ko-KR"/>
              <a:t>=</a:t>
            </a:r>
            <a:r>
              <a:rPr lang="ko-KR" altLang="en-US"/>
              <a:t> </a:t>
            </a:r>
            <a:r>
              <a:rPr lang="en-US" altLang="ko-KR"/>
              <a:t>0;</a:t>
            </a:r>
            <a:r>
              <a:rPr lang="ko-KR" altLang="en-US"/>
              <a:t> </a:t>
            </a:r>
            <a:r>
              <a:rPr lang="en-US" altLang="ko-KR"/>
              <a:t>i</a:t>
            </a:r>
            <a:r>
              <a:rPr lang="ko-KR" altLang="en-US"/>
              <a:t> </a:t>
            </a:r>
            <a:r>
              <a:rPr lang="en-US" altLang="ko-KR"/>
              <a:t>&lt;</a:t>
            </a:r>
            <a:r>
              <a:rPr lang="ko-KR" altLang="en-US"/>
              <a:t> </a:t>
            </a:r>
            <a:r>
              <a:rPr lang="en-US" altLang="ko-KR"/>
              <a:t>g-&gt;n_edges; i++) {</a:t>
            </a:r>
          </a:p>
          <a:p>
            <a:pPr marL="0" indent="0">
              <a:buNone/>
            </a:pPr>
            <a:r>
              <a:rPr lang="en-US" altLang="ko-KR"/>
              <a:t>		struct edge *e = g-&gt;edges + i;</a:t>
            </a:r>
          </a:p>
          <a:p>
            <a:pPr marL="0" indent="0">
              <a:buNone/>
            </a:pPr>
            <a:r>
              <a:rPr lang="en-US" altLang="ko-KR"/>
              <a:t>		int n1 = e-&gt;node1-&gt;index;</a:t>
            </a:r>
          </a:p>
          <a:p>
            <a:pPr marL="0" indent="0">
              <a:buNone/>
            </a:pPr>
            <a:r>
              <a:rPr lang="en-US" altLang="ko-KR"/>
              <a:t>		int n2 = e-&gt;node2-&gt;index;</a:t>
            </a:r>
          </a:p>
          <a:p>
            <a:pPr marL="0" indent="0">
              <a:buNone/>
            </a:pPr>
            <a:r>
              <a:rPr lang="en-US" altLang="ko-KR"/>
              <a:t>		g-&gt;adj[n1][n2] = g-&gt;adj[n2][n1] = e;</a:t>
            </a:r>
          </a:p>
          <a:p>
            <a:pPr marL="0" indent="0">
              <a:buNone/>
            </a:pPr>
            <a:r>
              <a:rPr lang="en-US" altLang="ko-KR"/>
              <a:t>	}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5646556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FA6C3-0E56-746B-B51B-931916A02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타원 22">
            <a:extLst>
              <a:ext uri="{FF2B5EF4-FFF2-40B4-BE49-F238E27FC236}">
                <a16:creationId xmlns:a16="http://schemas.microsoft.com/office/drawing/2014/main" id="{E7C6A334-D93D-BDE3-B185-1DBD36B4D094}"/>
              </a:ext>
            </a:extLst>
          </p:cNvPr>
          <p:cNvSpPr/>
          <p:nvPr/>
        </p:nvSpPr>
        <p:spPr>
          <a:xfrm>
            <a:off x="5988400" y="3290206"/>
            <a:ext cx="684000" cy="684000"/>
          </a:xfrm>
          <a:prstGeom prst="ellipse">
            <a:avLst/>
          </a:prstGeom>
          <a:ln w="317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3200">
                <a:solidFill>
                  <a:schemeClr val="accent6">
                    <a:lumMod val="75000"/>
                  </a:schemeClr>
                </a:solidFill>
              </a:rPr>
              <a:t>A</a:t>
            </a:r>
            <a:endParaRPr lang="ko-KR" altLang="en-US" sz="320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F777668F-FFA1-E455-7021-D1851863BCCE}"/>
              </a:ext>
            </a:extLst>
          </p:cNvPr>
          <p:cNvSpPr/>
          <p:nvPr/>
        </p:nvSpPr>
        <p:spPr>
          <a:xfrm>
            <a:off x="7030796" y="3290206"/>
            <a:ext cx="684000" cy="684000"/>
          </a:xfrm>
          <a:prstGeom prst="ellipse">
            <a:avLst/>
          </a:prstGeom>
          <a:ln w="317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3200">
                <a:solidFill>
                  <a:schemeClr val="accent6">
                    <a:lumMod val="75000"/>
                  </a:schemeClr>
                </a:solidFill>
              </a:rPr>
              <a:t>B</a:t>
            </a:r>
            <a:endParaRPr lang="ko-KR" altLang="en-US" sz="320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BCAFC95E-1B6B-E1C3-6E8A-30AFE8B2AF71}"/>
              </a:ext>
            </a:extLst>
          </p:cNvPr>
          <p:cNvSpPr/>
          <p:nvPr/>
        </p:nvSpPr>
        <p:spPr>
          <a:xfrm>
            <a:off x="8073191" y="3290206"/>
            <a:ext cx="684000" cy="684000"/>
          </a:xfrm>
          <a:prstGeom prst="ellipse">
            <a:avLst/>
          </a:prstGeom>
          <a:ln w="317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3200">
                <a:solidFill>
                  <a:schemeClr val="accent6">
                    <a:lumMod val="75000"/>
                  </a:schemeClr>
                </a:solidFill>
              </a:rPr>
              <a:t>C</a:t>
            </a:r>
            <a:endParaRPr lang="ko-KR" altLang="en-US" sz="320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8E12B388-F9F0-C9AB-E68C-826E4A206273}"/>
              </a:ext>
            </a:extLst>
          </p:cNvPr>
          <p:cNvSpPr/>
          <p:nvPr/>
        </p:nvSpPr>
        <p:spPr>
          <a:xfrm>
            <a:off x="5988400" y="4260999"/>
            <a:ext cx="684000" cy="684000"/>
          </a:xfrm>
          <a:prstGeom prst="ellipse">
            <a:avLst/>
          </a:prstGeom>
          <a:ln w="317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3200">
                <a:solidFill>
                  <a:schemeClr val="accent6">
                    <a:lumMod val="75000"/>
                  </a:schemeClr>
                </a:solidFill>
              </a:rPr>
              <a:t>D</a:t>
            </a:r>
            <a:endParaRPr lang="ko-KR" altLang="en-US" sz="320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12848DE9-586A-2307-22BC-7B5CD729759F}"/>
              </a:ext>
            </a:extLst>
          </p:cNvPr>
          <p:cNvSpPr/>
          <p:nvPr/>
        </p:nvSpPr>
        <p:spPr>
          <a:xfrm>
            <a:off x="7030796" y="4260999"/>
            <a:ext cx="684000" cy="684000"/>
          </a:xfrm>
          <a:prstGeom prst="ellipse">
            <a:avLst/>
          </a:prstGeom>
          <a:ln w="317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3200">
                <a:solidFill>
                  <a:schemeClr val="accent6">
                    <a:lumMod val="75000"/>
                  </a:schemeClr>
                </a:solidFill>
              </a:rPr>
              <a:t>E</a:t>
            </a:r>
            <a:endParaRPr lang="ko-KR" altLang="en-US" sz="320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1B948F-0731-0065-E0AD-85DB767A1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360" y="262442"/>
            <a:ext cx="7799115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인접 행렬 출력 함수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C239D-EAAB-D713-1F2E-E713EC431C6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[A - B], [B - C], [A | D], [B / D], [B | E], [C / E], [D - E] </a:t>
            </a:r>
            <a:r>
              <a:rPr lang="ko-KR" altLang="en-US"/>
              <a:t>에서</a:t>
            </a: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	A	B	C	D	E</a:t>
            </a:r>
          </a:p>
          <a:p>
            <a:pPr marL="0" indent="0">
              <a:buNone/>
            </a:pPr>
            <a:r>
              <a:rPr lang="en-US" altLang="ko-KR"/>
              <a:t>A		-		|</a:t>
            </a:r>
          </a:p>
          <a:p>
            <a:pPr marL="0" indent="0">
              <a:buNone/>
            </a:pPr>
            <a:r>
              <a:rPr lang="en-US" altLang="ko-KR"/>
              <a:t>B	-		-	/	|</a:t>
            </a:r>
          </a:p>
          <a:p>
            <a:pPr marL="0" indent="0">
              <a:buNone/>
            </a:pPr>
            <a:r>
              <a:rPr lang="en-US" altLang="ko-KR"/>
              <a:t>C		-			/</a:t>
            </a:r>
          </a:p>
          <a:p>
            <a:pPr marL="0" indent="0">
              <a:buNone/>
            </a:pPr>
            <a:r>
              <a:rPr lang="en-US" altLang="ko-KR"/>
              <a:t>D	|	/			-</a:t>
            </a:r>
          </a:p>
          <a:p>
            <a:pPr marL="0" indent="0">
              <a:buNone/>
            </a:pPr>
            <a:r>
              <a:rPr lang="en-US" altLang="ko-KR"/>
              <a:t>E		|	/	-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25892819-3DCA-ED0A-2A51-3910E37E2356}"/>
              </a:ext>
            </a:extLst>
          </p:cNvPr>
          <p:cNvCxnSpPr>
            <a:stCxn id="23" idx="6"/>
            <a:endCxn id="24" idx="2"/>
          </p:cNvCxnSpPr>
          <p:nvPr/>
        </p:nvCxnSpPr>
        <p:spPr>
          <a:xfrm>
            <a:off x="6672400" y="3632206"/>
            <a:ext cx="358396" cy="0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F50123EE-E521-890C-5159-26CEE9502AD3}"/>
              </a:ext>
            </a:extLst>
          </p:cNvPr>
          <p:cNvCxnSpPr>
            <a:cxnSpLocks/>
            <a:stCxn id="24" idx="6"/>
            <a:endCxn id="25" idx="2"/>
          </p:cNvCxnSpPr>
          <p:nvPr/>
        </p:nvCxnSpPr>
        <p:spPr>
          <a:xfrm>
            <a:off x="7714796" y="3632206"/>
            <a:ext cx="358395" cy="0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0FD01987-CE9D-888A-03CA-6707E9F9EE53}"/>
              </a:ext>
            </a:extLst>
          </p:cNvPr>
          <p:cNvCxnSpPr>
            <a:cxnSpLocks/>
            <a:stCxn id="26" idx="6"/>
            <a:endCxn id="27" idx="2"/>
          </p:cNvCxnSpPr>
          <p:nvPr/>
        </p:nvCxnSpPr>
        <p:spPr>
          <a:xfrm>
            <a:off x="6672400" y="4602999"/>
            <a:ext cx="358396" cy="0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F1A2F1D9-F59D-E5E8-E4FC-F6DC7F2CE8A2}"/>
              </a:ext>
            </a:extLst>
          </p:cNvPr>
          <p:cNvCxnSpPr>
            <a:cxnSpLocks/>
            <a:stCxn id="23" idx="4"/>
            <a:endCxn id="26" idx="0"/>
          </p:cNvCxnSpPr>
          <p:nvPr/>
        </p:nvCxnSpPr>
        <p:spPr>
          <a:xfrm>
            <a:off x="6330400" y="3974206"/>
            <a:ext cx="0" cy="286793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CC70EB68-51F3-B611-5D1B-7D3A2AF54562}"/>
              </a:ext>
            </a:extLst>
          </p:cNvPr>
          <p:cNvCxnSpPr>
            <a:cxnSpLocks/>
            <a:stCxn id="24" idx="4"/>
            <a:endCxn id="27" idx="0"/>
          </p:cNvCxnSpPr>
          <p:nvPr/>
        </p:nvCxnSpPr>
        <p:spPr>
          <a:xfrm>
            <a:off x="7372796" y="3974206"/>
            <a:ext cx="0" cy="286793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0A948B18-18CB-11AE-A9BC-5B018C10E0B4}"/>
              </a:ext>
            </a:extLst>
          </p:cNvPr>
          <p:cNvCxnSpPr>
            <a:cxnSpLocks/>
            <a:stCxn id="24" idx="3"/>
            <a:endCxn id="26" idx="7"/>
          </p:cNvCxnSpPr>
          <p:nvPr/>
        </p:nvCxnSpPr>
        <p:spPr>
          <a:xfrm flipH="1">
            <a:off x="6572231" y="3874037"/>
            <a:ext cx="558734" cy="487131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6F4CCDCA-416B-51A3-80BD-C127CAE1BBA5}"/>
              </a:ext>
            </a:extLst>
          </p:cNvPr>
          <p:cNvCxnSpPr>
            <a:cxnSpLocks/>
            <a:stCxn id="25" idx="3"/>
            <a:endCxn id="27" idx="7"/>
          </p:cNvCxnSpPr>
          <p:nvPr/>
        </p:nvCxnSpPr>
        <p:spPr>
          <a:xfrm flipH="1">
            <a:off x="7614627" y="3874037"/>
            <a:ext cx="558733" cy="487131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062663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0D381-BE5B-88FD-BCDE-9FC029793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37532-E15E-7B41-6357-FD7407A3F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360" y="262442"/>
            <a:ext cx="7799115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인접 행렬 출력 함수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31A6D-DE5C-035E-CA7A-49BC7A65DE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void print_adj_matrix(struct graph *g)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	/* </a:t>
            </a:r>
            <a:r>
              <a:rPr lang="ko-KR" altLang="en-US"/>
              <a:t>첫번째 행</a:t>
            </a:r>
            <a:r>
              <a:rPr lang="en-US" altLang="ko-KR"/>
              <a:t>: </a:t>
            </a:r>
            <a:r>
              <a:rPr lang="ko-KR" altLang="en-US"/>
              <a:t>노드 출력 </a:t>
            </a:r>
            <a:r>
              <a:rPr lang="en-US" altLang="ko-KR"/>
              <a:t>*/</a:t>
            </a:r>
          </a:p>
          <a:p>
            <a:pPr marL="0" indent="0">
              <a:buNone/>
            </a:pPr>
            <a:r>
              <a:rPr lang="en-US" altLang="ko-KR"/>
              <a:t>	printf("  ");</a:t>
            </a:r>
          </a:p>
          <a:p>
            <a:pPr marL="0" indent="0">
              <a:buNone/>
            </a:pPr>
            <a:r>
              <a:rPr lang="en-US" altLang="ko-KR"/>
              <a:t>	for (int i = 0; i &lt; g-&gt;n_vertexes; i++) {</a:t>
            </a:r>
          </a:p>
          <a:p>
            <a:pPr marL="0" indent="0">
              <a:buNone/>
            </a:pPr>
            <a:r>
              <a:rPr lang="en-US" altLang="ko-KR"/>
              <a:t>		printf("%c ", g-&gt;vertexes[i].data)</a:t>
            </a:r>
            <a:r>
              <a:rPr lang="en-US" altLang="ko-KR">
                <a:solidFill>
                  <a:srgbClr val="FF0000"/>
                </a:solidFill>
              </a:rPr>
              <a:t>;</a:t>
            </a:r>
          </a:p>
          <a:p>
            <a:pPr marL="0" indent="0">
              <a:buNone/>
            </a:pPr>
            <a:r>
              <a:rPr lang="en-US" altLang="ko-KR"/>
              <a:t>	}</a:t>
            </a:r>
          </a:p>
          <a:p>
            <a:pPr marL="0" indent="0">
              <a:buNone/>
            </a:pPr>
            <a:r>
              <a:rPr lang="en-US" altLang="ko-KR"/>
              <a:t>	printf("\n");</a:t>
            </a:r>
          </a:p>
          <a:p>
            <a:pPr marL="0" indent="0">
              <a:buNone/>
            </a:pPr>
            <a:r>
              <a:rPr lang="en-US" altLang="ko-KR"/>
              <a:t>	for (int i = 0; i &lt; g-&gt;n_vertexes; i++) {</a:t>
            </a:r>
          </a:p>
          <a:p>
            <a:pPr marL="0" indent="0">
              <a:buNone/>
            </a:pPr>
            <a:r>
              <a:rPr lang="en-US" altLang="ko-KR"/>
              <a:t>		/* </a:t>
            </a:r>
            <a:r>
              <a:rPr lang="ko-KR" altLang="en-US"/>
              <a:t>첫번째 열</a:t>
            </a:r>
            <a:r>
              <a:rPr lang="en-US" altLang="ko-KR"/>
              <a:t>: </a:t>
            </a:r>
            <a:r>
              <a:rPr lang="ko-KR" altLang="en-US"/>
              <a:t>노드 출력 </a:t>
            </a:r>
            <a:r>
              <a:rPr lang="en-US" altLang="ko-KR"/>
              <a:t>*/</a:t>
            </a:r>
          </a:p>
          <a:p>
            <a:pPr marL="0" indent="0">
              <a:buNone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676097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84D97-4644-6B34-4B9E-3ED58F95B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EDCBB-B502-6D3A-493C-839077412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360" y="262442"/>
            <a:ext cx="7799115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인접 행렬 출력 함수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F21C3-0FE3-961C-B378-29969C7789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		printf("%c ", g-&gt;vertexes[i].data)</a:t>
            </a:r>
            <a:r>
              <a:rPr lang="en-US" altLang="ko-KR">
                <a:solidFill>
                  <a:srgbClr val="FF0000"/>
                </a:solidFill>
              </a:rPr>
              <a:t>;</a:t>
            </a:r>
          </a:p>
          <a:p>
            <a:pPr marL="0" indent="0">
              <a:buNone/>
            </a:pPr>
            <a:r>
              <a:rPr lang="en-US" altLang="ko-KR"/>
              <a:t>		for</a:t>
            </a:r>
            <a:r>
              <a:rPr lang="ko-KR" altLang="en-US"/>
              <a:t> </a:t>
            </a:r>
            <a:r>
              <a:rPr lang="en-US" altLang="ko-KR"/>
              <a:t>(int</a:t>
            </a:r>
            <a:r>
              <a:rPr lang="ko-KR" altLang="en-US"/>
              <a:t> </a:t>
            </a:r>
            <a:r>
              <a:rPr lang="en-US" altLang="ko-KR"/>
              <a:t>j</a:t>
            </a:r>
            <a:r>
              <a:rPr lang="ko-KR" altLang="en-US"/>
              <a:t> </a:t>
            </a:r>
            <a:r>
              <a:rPr lang="en-US" altLang="ko-KR"/>
              <a:t>=</a:t>
            </a:r>
            <a:r>
              <a:rPr lang="ko-KR" altLang="en-US"/>
              <a:t> </a:t>
            </a:r>
            <a:r>
              <a:rPr lang="en-US" altLang="ko-KR"/>
              <a:t>0;</a:t>
            </a:r>
            <a:r>
              <a:rPr lang="ko-KR" altLang="en-US"/>
              <a:t> </a:t>
            </a:r>
            <a:r>
              <a:rPr lang="en-US" altLang="ko-KR"/>
              <a:t>j</a:t>
            </a:r>
            <a:r>
              <a:rPr lang="ko-KR" altLang="en-US"/>
              <a:t> </a:t>
            </a:r>
            <a:r>
              <a:rPr lang="en-US" altLang="ko-KR"/>
              <a:t>&lt;</a:t>
            </a:r>
            <a:r>
              <a:rPr lang="ko-KR" altLang="en-US"/>
              <a:t> </a:t>
            </a:r>
            <a:r>
              <a:rPr lang="en-US" altLang="ko-KR"/>
              <a:t>g-&gt;n_vertexes;</a:t>
            </a:r>
            <a:r>
              <a:rPr lang="ko-KR" altLang="en-US"/>
              <a:t> </a:t>
            </a:r>
            <a:r>
              <a:rPr lang="en-US" altLang="ko-KR"/>
              <a:t>j++)</a:t>
            </a:r>
            <a:r>
              <a:rPr lang="ko-KR" altLang="en-US"/>
              <a:t> </a:t>
            </a: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			if (g-&gt;adj[i][j] == NULL) </a:t>
            </a:r>
          </a:p>
          <a:p>
            <a:pPr marL="0" indent="0">
              <a:buNone/>
            </a:pPr>
            <a:r>
              <a:rPr lang="en-US" altLang="ko-KR"/>
              <a:t>			        printf("  ");</a:t>
            </a:r>
          </a:p>
          <a:p>
            <a:pPr marL="0" indent="0">
              <a:buNone/>
            </a:pPr>
            <a:r>
              <a:rPr lang="en-US" altLang="ko-KR"/>
              <a:t>			else</a:t>
            </a:r>
          </a:p>
          <a:p>
            <a:pPr marL="0" indent="0">
              <a:buNone/>
            </a:pPr>
            <a:r>
              <a:rPr lang="en-US" altLang="ko-KR"/>
              <a:t>			        printf("%c ", g-&gt;adj[i][j]-&gt;shape);	</a:t>
            </a:r>
          </a:p>
          <a:p>
            <a:pPr marL="0" indent="0">
              <a:buNone/>
            </a:pPr>
            <a:r>
              <a:rPr lang="en-US" altLang="ko-KR"/>
              <a:t>		}</a:t>
            </a:r>
          </a:p>
          <a:p>
            <a:pPr marL="0" indent="0">
              <a:buNone/>
            </a:pPr>
            <a:r>
              <a:rPr lang="en-US" altLang="ko-KR"/>
              <a:t>		printf("\n");</a:t>
            </a:r>
          </a:p>
          <a:p>
            <a:pPr marL="0" indent="0">
              <a:buNone/>
            </a:pPr>
            <a:r>
              <a:rPr lang="en-US" altLang="ko-KR"/>
              <a:t>	}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5448226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58E22-32FB-CBE1-37B9-542FA4237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0925A-7A54-7F6E-B8F3-669C73B8C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360" y="262442"/>
            <a:ext cx="7799115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인접 행렬 출력 함수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C30B3-B926-A272-2E70-3D6924C419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int main() {</a:t>
            </a:r>
          </a:p>
          <a:p>
            <a:pPr marL="0" indent="0">
              <a:buNone/>
            </a:pPr>
            <a:r>
              <a:rPr lang="en-US" altLang="ko-KR"/>
              <a:t>	/* </a:t>
            </a:r>
            <a:r>
              <a:rPr lang="ko-KR" altLang="en-US"/>
              <a:t>이전 내용에 이어서 </a:t>
            </a:r>
            <a:r>
              <a:rPr lang="en-US" altLang="ko-KR"/>
              <a:t>*/</a:t>
            </a:r>
          </a:p>
          <a:p>
            <a:pPr marL="0" indent="0">
              <a:buNone/>
            </a:pPr>
            <a:r>
              <a:rPr lang="en-US" altLang="ko-KR"/>
              <a:t>	struct edge *mat[6][6] = { 0 };</a:t>
            </a:r>
          </a:p>
          <a:p>
            <a:pPr marL="0" indent="0">
              <a:buNone/>
            </a:pPr>
            <a:r>
              <a:rPr lang="en-US" altLang="ko-KR"/>
              <a:t>	struct edge **rows[6] = {mat[0], mat[1], mat[2],</a:t>
            </a:r>
          </a:p>
          <a:p>
            <a:pPr marL="0" indent="0">
              <a:buNone/>
            </a:pPr>
            <a:r>
              <a:rPr lang="en-US" altLang="ko-KR"/>
              <a:t>		mat[3], mat[4], mat[5]};</a:t>
            </a:r>
          </a:p>
          <a:p>
            <a:pPr marL="0" indent="0">
              <a:buNone/>
            </a:pPr>
            <a:r>
              <a:rPr lang="en-US" altLang="ko-KR"/>
              <a:t>	g.adj = rows;</a:t>
            </a:r>
          </a:p>
          <a:p>
            <a:pPr marL="0" indent="0">
              <a:buNone/>
            </a:pPr>
            <a:r>
              <a:rPr lang="en-US" altLang="ko-KR"/>
              <a:t>	make_adj_matrix(&amp;g);</a:t>
            </a:r>
          </a:p>
          <a:p>
            <a:pPr marL="0" indent="0">
              <a:buNone/>
            </a:pPr>
            <a:r>
              <a:rPr lang="en-US" altLang="ko-KR"/>
              <a:t>	print_adj_matrix(&amp;g);</a:t>
            </a:r>
          </a:p>
          <a:p>
            <a:pPr marL="0" indent="0">
              <a:buNone/>
            </a:pPr>
            <a:r>
              <a:rPr lang="en-US" altLang="ko-KR"/>
              <a:t>	return 0;</a:t>
            </a:r>
          </a:p>
          <a:p>
            <a:pPr marL="0" indent="0">
              <a:buNone/>
            </a:pPr>
            <a:r>
              <a:rPr lang="en-US" altLang="ko-KR"/>
              <a:t>}	</a:t>
            </a:r>
          </a:p>
        </p:txBody>
      </p:sp>
    </p:spTree>
    <p:extLst>
      <p:ext uri="{BB962C8B-B14F-4D97-AF65-F5344CB8AC3E}">
        <p14:creationId xmlns:p14="http://schemas.microsoft.com/office/powerpoint/2010/main" val="57148760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C6248-0159-1C30-B40C-63F0EC141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F4955-AD84-A4AB-9A9E-977E3058B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7891" y="262442"/>
            <a:ext cx="6234584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인접 리스트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FB8D1-1BD7-3097-1DB4-283245058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인접 리스트</a:t>
            </a: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	- </a:t>
            </a:r>
            <a:r>
              <a:rPr lang="ko-KR" altLang="en-US"/>
              <a:t>인접 리스트는 각 노드의 연결선들 정보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링크드 리스트 추가 방법</a:t>
            </a: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	- </a:t>
            </a:r>
            <a:r>
              <a:rPr lang="ko-KR" altLang="en-US"/>
              <a:t>제일 앞에 추가</a:t>
            </a: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	- </a:t>
            </a:r>
            <a:r>
              <a:rPr lang="ko-KR" altLang="en-US"/>
              <a:t>순서 유지를 위해 역순으로 추가한다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039130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59F34-FDF9-394C-21C4-E8C2596A8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8FB8F-AF66-8E1F-EA42-1E6AA4738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7891" y="262442"/>
            <a:ext cx="6234584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인접 리스트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0545C-E32B-9BB0-5B1F-3DC4AD396B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struct elist *new_elist(struct edge *e, struct elist *n)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	struct elist *el = malloc(sizeof(struct elist));</a:t>
            </a:r>
          </a:p>
          <a:p>
            <a:pPr marL="0" indent="0">
              <a:buNone/>
            </a:pPr>
            <a:r>
              <a:rPr lang="en-US" altLang="ko-KR"/>
              <a:t>	if (el == NULL) return NULL;</a:t>
            </a:r>
          </a:p>
          <a:p>
            <a:pPr marL="0" indent="0">
              <a:buNone/>
            </a:pPr>
            <a:r>
              <a:rPr lang="en-US" altLang="ko-KR"/>
              <a:t>	el-&gt;edge = e;</a:t>
            </a:r>
          </a:p>
          <a:p>
            <a:pPr marL="0" indent="0">
              <a:buNone/>
            </a:pPr>
            <a:r>
              <a:rPr lang="en-US" altLang="ko-KR"/>
              <a:t>	el-&gt;next = n;</a:t>
            </a:r>
          </a:p>
          <a:p>
            <a:pPr marL="0" indent="0">
              <a:buNone/>
            </a:pPr>
            <a:r>
              <a:rPr lang="en-US" altLang="ko-KR"/>
              <a:t>	return el;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6489917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D4C96-FED7-56E7-0F2B-E79D2BC4D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80EB0-8557-8261-0B02-C5DA1F246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7891" y="262442"/>
            <a:ext cx="6234584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인접 리스트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3CAC2-63A9-0B7E-F1D3-A9D70F5B1A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void make_adj_list(struct graph *g)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	for</a:t>
            </a:r>
            <a:r>
              <a:rPr lang="ko-KR" altLang="en-US"/>
              <a:t> </a:t>
            </a:r>
            <a:r>
              <a:rPr lang="en-US" altLang="ko-KR"/>
              <a:t>(int</a:t>
            </a:r>
            <a:r>
              <a:rPr lang="ko-KR" altLang="en-US"/>
              <a:t> </a:t>
            </a:r>
            <a:r>
              <a:rPr lang="en-US" altLang="ko-KR"/>
              <a:t>i</a:t>
            </a:r>
            <a:r>
              <a:rPr lang="ko-KR" altLang="en-US"/>
              <a:t> </a:t>
            </a:r>
            <a:r>
              <a:rPr lang="en-US" altLang="ko-KR"/>
              <a:t>=</a:t>
            </a:r>
            <a:r>
              <a:rPr lang="ko-KR" altLang="en-US"/>
              <a:t> </a:t>
            </a:r>
            <a:r>
              <a:rPr lang="en-US" altLang="ko-KR"/>
              <a:t>g-&gt;n_edges - 1;</a:t>
            </a:r>
            <a:r>
              <a:rPr lang="ko-KR" altLang="en-US"/>
              <a:t> </a:t>
            </a:r>
            <a:r>
              <a:rPr lang="en-US" altLang="ko-KR"/>
              <a:t>i</a:t>
            </a:r>
            <a:r>
              <a:rPr lang="ko-KR" altLang="en-US"/>
              <a:t> </a:t>
            </a:r>
            <a:r>
              <a:rPr lang="en-US" altLang="ko-KR"/>
              <a:t>&gt;=</a:t>
            </a:r>
            <a:r>
              <a:rPr lang="ko-KR" altLang="en-US"/>
              <a:t> </a:t>
            </a:r>
            <a:r>
              <a:rPr lang="en-US" altLang="ko-KR"/>
              <a:t>0; i--) {</a:t>
            </a:r>
          </a:p>
          <a:p>
            <a:pPr marL="0" indent="0">
              <a:buNone/>
            </a:pPr>
            <a:r>
              <a:rPr lang="en-US" altLang="ko-KR"/>
              <a:t>		struct edge *e = g-&gt;edges + i;</a:t>
            </a:r>
          </a:p>
          <a:p>
            <a:pPr marL="0" indent="0">
              <a:buNone/>
            </a:pPr>
            <a:r>
              <a:rPr lang="en-US" altLang="ko-KR"/>
              <a:t>		struct node *u = e-&gt;node1, *v = e-&gt;node2;</a:t>
            </a:r>
          </a:p>
          <a:p>
            <a:pPr marL="0" indent="0">
              <a:buNone/>
            </a:pPr>
            <a:r>
              <a:rPr lang="en-US" altLang="ko-KR"/>
              <a:t>		u-&gt;adj = new_elist(e, u-&gt;adj);</a:t>
            </a:r>
          </a:p>
          <a:p>
            <a:pPr marL="0" indent="0">
              <a:buNone/>
            </a:pPr>
            <a:r>
              <a:rPr lang="en-US" altLang="ko-KR"/>
              <a:t>		v-&gt;adj = new_elist(e, v-&gt;adj);</a:t>
            </a:r>
          </a:p>
          <a:p>
            <a:pPr marL="0" indent="0">
              <a:buNone/>
            </a:pPr>
            <a:r>
              <a:rPr lang="en-US" altLang="ko-KR"/>
              <a:t>	}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  <a:p>
            <a:pPr marL="0" indent="0">
              <a:buNone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6301803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F8976-9818-9546-9319-85F411DF6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E2C97-45FC-5094-6134-CB202A79D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7891" y="262442"/>
            <a:ext cx="6234584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인접 리스트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0D6BC-7FE7-B397-73A8-F5D70B9C37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링크드 리스트 삭제 방법</a:t>
            </a: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	- </a:t>
            </a:r>
            <a:r>
              <a:rPr lang="ko-KR" altLang="en-US"/>
              <a:t>제일 앞의 노드를 지우고</a:t>
            </a:r>
            <a:r>
              <a:rPr lang="en-US" altLang="ko-KR"/>
              <a:t>,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	- </a:t>
            </a:r>
            <a:r>
              <a:rPr lang="ko-KR" altLang="en-US"/>
              <a:t>다음 노드로 이동한다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070583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93476-E065-707F-833B-264FE2F1E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5DCFF-D4B1-DF8D-76D0-07F8E2872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7891" y="262442"/>
            <a:ext cx="6234584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인접 리스트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89352-A60B-BF9F-D023-33DD457AA0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void free_adj_list(struct graph *g)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	for</a:t>
            </a:r>
            <a:r>
              <a:rPr lang="ko-KR" altLang="en-US"/>
              <a:t> </a:t>
            </a:r>
            <a:r>
              <a:rPr lang="en-US" altLang="ko-KR"/>
              <a:t>(int</a:t>
            </a:r>
            <a:r>
              <a:rPr lang="ko-KR" altLang="en-US"/>
              <a:t> </a:t>
            </a:r>
            <a:r>
              <a:rPr lang="en-US" altLang="ko-KR"/>
              <a:t>i</a:t>
            </a:r>
            <a:r>
              <a:rPr lang="ko-KR" altLang="en-US"/>
              <a:t> </a:t>
            </a:r>
            <a:r>
              <a:rPr lang="en-US" altLang="ko-KR"/>
              <a:t>=</a:t>
            </a:r>
            <a:r>
              <a:rPr lang="ko-KR" altLang="en-US"/>
              <a:t> </a:t>
            </a:r>
            <a:r>
              <a:rPr lang="en-US" altLang="ko-KR"/>
              <a:t>0;</a:t>
            </a:r>
            <a:r>
              <a:rPr lang="ko-KR" altLang="en-US"/>
              <a:t> </a:t>
            </a:r>
            <a:r>
              <a:rPr lang="en-US" altLang="ko-KR"/>
              <a:t>i</a:t>
            </a:r>
            <a:r>
              <a:rPr lang="ko-KR" altLang="en-US"/>
              <a:t> </a:t>
            </a:r>
            <a:r>
              <a:rPr lang="en-US" altLang="ko-KR"/>
              <a:t>&lt;</a:t>
            </a:r>
            <a:r>
              <a:rPr lang="ko-KR" altLang="en-US"/>
              <a:t> </a:t>
            </a:r>
            <a:r>
              <a:rPr lang="en-US" altLang="ko-KR"/>
              <a:t>g-&gt;n_vertexes; i++) {</a:t>
            </a:r>
          </a:p>
          <a:p>
            <a:pPr marL="0" indent="0">
              <a:buNone/>
            </a:pPr>
            <a:r>
              <a:rPr lang="en-US" altLang="ko-KR"/>
              <a:t>		while (g-&gt;vertexes[i].adj != NULL) {</a:t>
            </a:r>
          </a:p>
          <a:p>
            <a:pPr marL="0" indent="0">
              <a:buNone/>
            </a:pPr>
            <a:r>
              <a:rPr lang="en-US" altLang="ko-KR"/>
              <a:t>			struct elist *l = g-&gt;vertexes[i].adj;</a:t>
            </a:r>
          </a:p>
          <a:p>
            <a:pPr marL="0" indent="0">
              <a:buNone/>
            </a:pPr>
            <a:r>
              <a:rPr lang="en-US" altLang="ko-KR"/>
              <a:t>			g-&gt;vertexes[i].adj = l-&gt;next;</a:t>
            </a:r>
          </a:p>
          <a:p>
            <a:pPr marL="0" indent="0">
              <a:buNone/>
            </a:pPr>
            <a:r>
              <a:rPr lang="en-US" altLang="ko-KR"/>
              <a:t>			free(l);</a:t>
            </a:r>
          </a:p>
          <a:p>
            <a:pPr marL="0" indent="0">
              <a:buNone/>
            </a:pPr>
            <a:r>
              <a:rPr lang="en-US" altLang="ko-KR"/>
              <a:t>		}</a:t>
            </a:r>
          </a:p>
          <a:p>
            <a:pPr marL="0" indent="0">
              <a:buNone/>
            </a:pPr>
            <a:r>
              <a:rPr lang="en-US" altLang="ko-KR"/>
              <a:t>	}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269899139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0135C-F60D-CFA4-1F76-C37EC3350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타원 22">
            <a:extLst>
              <a:ext uri="{FF2B5EF4-FFF2-40B4-BE49-F238E27FC236}">
                <a16:creationId xmlns:a16="http://schemas.microsoft.com/office/drawing/2014/main" id="{E5E50A36-F439-8B59-DCAD-C74271AC4055}"/>
              </a:ext>
            </a:extLst>
          </p:cNvPr>
          <p:cNvSpPr/>
          <p:nvPr/>
        </p:nvSpPr>
        <p:spPr>
          <a:xfrm>
            <a:off x="5376079" y="3290206"/>
            <a:ext cx="684000" cy="684000"/>
          </a:xfrm>
          <a:prstGeom prst="ellipse">
            <a:avLst/>
          </a:prstGeom>
          <a:ln w="317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3200">
                <a:solidFill>
                  <a:schemeClr val="accent6">
                    <a:lumMod val="75000"/>
                  </a:schemeClr>
                </a:solidFill>
              </a:rPr>
              <a:t>A</a:t>
            </a:r>
            <a:endParaRPr lang="ko-KR" altLang="en-US" sz="320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AA73E96E-FE0B-C409-8798-245ECE6BFFA4}"/>
              </a:ext>
            </a:extLst>
          </p:cNvPr>
          <p:cNvSpPr/>
          <p:nvPr/>
        </p:nvSpPr>
        <p:spPr>
          <a:xfrm>
            <a:off x="6418475" y="3290206"/>
            <a:ext cx="684000" cy="684000"/>
          </a:xfrm>
          <a:prstGeom prst="ellipse">
            <a:avLst/>
          </a:prstGeom>
          <a:ln w="317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3200">
                <a:solidFill>
                  <a:schemeClr val="accent6">
                    <a:lumMod val="75000"/>
                  </a:schemeClr>
                </a:solidFill>
              </a:rPr>
              <a:t>B</a:t>
            </a:r>
            <a:endParaRPr lang="ko-KR" altLang="en-US" sz="320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4B63E8B2-85CB-D892-5DD5-7214AC700307}"/>
              </a:ext>
            </a:extLst>
          </p:cNvPr>
          <p:cNvSpPr/>
          <p:nvPr/>
        </p:nvSpPr>
        <p:spPr>
          <a:xfrm>
            <a:off x="7460870" y="3290206"/>
            <a:ext cx="684000" cy="684000"/>
          </a:xfrm>
          <a:prstGeom prst="ellipse">
            <a:avLst/>
          </a:prstGeom>
          <a:ln w="317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3200">
                <a:solidFill>
                  <a:schemeClr val="accent6">
                    <a:lumMod val="75000"/>
                  </a:schemeClr>
                </a:solidFill>
              </a:rPr>
              <a:t>C</a:t>
            </a:r>
            <a:endParaRPr lang="ko-KR" altLang="en-US" sz="320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A9EF84DC-4AD0-A827-F3B2-0677E6DAF6BE}"/>
              </a:ext>
            </a:extLst>
          </p:cNvPr>
          <p:cNvSpPr/>
          <p:nvPr/>
        </p:nvSpPr>
        <p:spPr>
          <a:xfrm>
            <a:off x="5376079" y="4260999"/>
            <a:ext cx="684000" cy="684000"/>
          </a:xfrm>
          <a:prstGeom prst="ellipse">
            <a:avLst/>
          </a:prstGeom>
          <a:ln w="317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3200">
                <a:solidFill>
                  <a:schemeClr val="accent6">
                    <a:lumMod val="75000"/>
                  </a:schemeClr>
                </a:solidFill>
              </a:rPr>
              <a:t>D</a:t>
            </a:r>
            <a:endParaRPr lang="ko-KR" altLang="en-US" sz="320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50C6F11E-033A-9BD6-7759-88AC019D2A1D}"/>
              </a:ext>
            </a:extLst>
          </p:cNvPr>
          <p:cNvSpPr/>
          <p:nvPr/>
        </p:nvSpPr>
        <p:spPr>
          <a:xfrm>
            <a:off x="6418475" y="4260999"/>
            <a:ext cx="684000" cy="684000"/>
          </a:xfrm>
          <a:prstGeom prst="ellipse">
            <a:avLst/>
          </a:prstGeom>
          <a:ln w="317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3200">
                <a:solidFill>
                  <a:schemeClr val="accent6">
                    <a:lumMod val="75000"/>
                  </a:schemeClr>
                </a:solidFill>
              </a:rPr>
              <a:t>E</a:t>
            </a:r>
            <a:endParaRPr lang="ko-KR" altLang="en-US" sz="320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BAF5AB-3BF0-620E-A171-6ACE4C1E7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696" y="262442"/>
            <a:ext cx="8260779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인접 리스트 출력 함수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3041A-6E9E-CD73-2112-1CD61866838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[A - B], [B - C], [A | D], [B / D], [B | E], [C / E], [D - E] </a:t>
            </a:r>
            <a:r>
              <a:rPr lang="ko-KR" altLang="en-US"/>
              <a:t>에서</a:t>
            </a: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A:	B	D</a:t>
            </a:r>
          </a:p>
          <a:p>
            <a:pPr marL="0" indent="0">
              <a:buNone/>
            </a:pPr>
            <a:r>
              <a:rPr lang="en-US" altLang="ko-KR"/>
              <a:t>B:	A	C	D	E</a:t>
            </a:r>
          </a:p>
          <a:p>
            <a:pPr marL="0" indent="0">
              <a:buNone/>
            </a:pPr>
            <a:r>
              <a:rPr lang="en-US" altLang="ko-KR"/>
              <a:t>C:	B	E</a:t>
            </a:r>
          </a:p>
          <a:p>
            <a:pPr marL="0" indent="0">
              <a:buNone/>
            </a:pPr>
            <a:r>
              <a:rPr lang="en-US" altLang="ko-KR"/>
              <a:t>D:	A	B	E</a:t>
            </a:r>
          </a:p>
          <a:p>
            <a:pPr marL="0" indent="0">
              <a:buNone/>
            </a:pPr>
            <a:r>
              <a:rPr lang="en-US" altLang="ko-KR"/>
              <a:t>E:	B	C	D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B9CB908F-6C69-618F-E201-B4DA79F585D3}"/>
              </a:ext>
            </a:extLst>
          </p:cNvPr>
          <p:cNvCxnSpPr>
            <a:stCxn id="23" idx="6"/>
            <a:endCxn id="24" idx="2"/>
          </p:cNvCxnSpPr>
          <p:nvPr/>
        </p:nvCxnSpPr>
        <p:spPr>
          <a:xfrm>
            <a:off x="6060079" y="3632206"/>
            <a:ext cx="358396" cy="0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BDE84A13-9F23-3E88-8F87-7C3779722362}"/>
              </a:ext>
            </a:extLst>
          </p:cNvPr>
          <p:cNvCxnSpPr>
            <a:cxnSpLocks/>
            <a:stCxn id="24" idx="6"/>
            <a:endCxn id="25" idx="2"/>
          </p:cNvCxnSpPr>
          <p:nvPr/>
        </p:nvCxnSpPr>
        <p:spPr>
          <a:xfrm>
            <a:off x="7102475" y="3632206"/>
            <a:ext cx="358395" cy="0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3EB57056-890B-1DEA-766F-A2293E5B2F8F}"/>
              </a:ext>
            </a:extLst>
          </p:cNvPr>
          <p:cNvCxnSpPr>
            <a:cxnSpLocks/>
            <a:stCxn id="26" idx="6"/>
            <a:endCxn id="27" idx="2"/>
          </p:cNvCxnSpPr>
          <p:nvPr/>
        </p:nvCxnSpPr>
        <p:spPr>
          <a:xfrm>
            <a:off x="6060079" y="4602999"/>
            <a:ext cx="358396" cy="0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01E90640-9B45-8FD4-2077-B29968A0C01A}"/>
              </a:ext>
            </a:extLst>
          </p:cNvPr>
          <p:cNvCxnSpPr>
            <a:cxnSpLocks/>
            <a:stCxn id="23" idx="4"/>
            <a:endCxn id="26" idx="0"/>
          </p:cNvCxnSpPr>
          <p:nvPr/>
        </p:nvCxnSpPr>
        <p:spPr>
          <a:xfrm>
            <a:off x="5718079" y="3974206"/>
            <a:ext cx="0" cy="286793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9DB44848-4300-BE67-50E4-BA5E78CB1777}"/>
              </a:ext>
            </a:extLst>
          </p:cNvPr>
          <p:cNvCxnSpPr>
            <a:cxnSpLocks/>
            <a:stCxn id="24" idx="4"/>
            <a:endCxn id="27" idx="0"/>
          </p:cNvCxnSpPr>
          <p:nvPr/>
        </p:nvCxnSpPr>
        <p:spPr>
          <a:xfrm>
            <a:off x="6760475" y="3974206"/>
            <a:ext cx="0" cy="286793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E20B4EC-3F8B-D2C7-39E6-845BCBADE566}"/>
              </a:ext>
            </a:extLst>
          </p:cNvPr>
          <p:cNvCxnSpPr>
            <a:cxnSpLocks/>
            <a:stCxn id="24" idx="3"/>
            <a:endCxn id="26" idx="7"/>
          </p:cNvCxnSpPr>
          <p:nvPr/>
        </p:nvCxnSpPr>
        <p:spPr>
          <a:xfrm flipH="1">
            <a:off x="5959910" y="3874037"/>
            <a:ext cx="558734" cy="487131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F0E613DC-9CC1-5538-AF5E-7304CFFAD741}"/>
              </a:ext>
            </a:extLst>
          </p:cNvPr>
          <p:cNvCxnSpPr>
            <a:cxnSpLocks/>
            <a:stCxn id="25" idx="3"/>
            <a:endCxn id="27" idx="7"/>
          </p:cNvCxnSpPr>
          <p:nvPr/>
        </p:nvCxnSpPr>
        <p:spPr>
          <a:xfrm flipH="1">
            <a:off x="7002306" y="3874037"/>
            <a:ext cx="558733" cy="487131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717818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ECC10-0BCF-FC94-934F-8E94227AF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E40B8-7A12-FE54-1306-941A98B07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696" y="262442"/>
            <a:ext cx="8260779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인접 리스트 출력 함수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2247C-0685-985F-7F5B-5BB5156BF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void print_adj_list(struct graph *g)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	for</a:t>
            </a:r>
            <a:r>
              <a:rPr lang="ko-KR" altLang="en-US"/>
              <a:t> </a:t>
            </a:r>
            <a:r>
              <a:rPr lang="en-US" altLang="ko-KR"/>
              <a:t>(int</a:t>
            </a:r>
            <a:r>
              <a:rPr lang="ko-KR" altLang="en-US"/>
              <a:t> </a:t>
            </a:r>
            <a:r>
              <a:rPr lang="en-US" altLang="ko-KR"/>
              <a:t>i</a:t>
            </a:r>
            <a:r>
              <a:rPr lang="ko-KR" altLang="en-US"/>
              <a:t> </a:t>
            </a:r>
            <a:r>
              <a:rPr lang="en-US" altLang="ko-KR"/>
              <a:t>=</a:t>
            </a:r>
            <a:r>
              <a:rPr lang="ko-KR" altLang="en-US"/>
              <a:t> </a:t>
            </a:r>
            <a:r>
              <a:rPr lang="en-US" altLang="ko-KR"/>
              <a:t>0;</a:t>
            </a:r>
            <a:r>
              <a:rPr lang="ko-KR" altLang="en-US"/>
              <a:t> </a:t>
            </a:r>
            <a:r>
              <a:rPr lang="en-US" altLang="ko-KR"/>
              <a:t>i</a:t>
            </a:r>
            <a:r>
              <a:rPr lang="ko-KR" altLang="en-US"/>
              <a:t> </a:t>
            </a:r>
            <a:r>
              <a:rPr lang="en-US" altLang="ko-KR"/>
              <a:t>&lt;</a:t>
            </a:r>
            <a:r>
              <a:rPr lang="ko-KR" altLang="en-US"/>
              <a:t> </a:t>
            </a:r>
            <a:r>
              <a:rPr lang="en-US" altLang="ko-KR"/>
              <a:t>g-&gt;n_vertexes; i++) {</a:t>
            </a:r>
          </a:p>
          <a:p>
            <a:pPr marL="0" indent="0">
              <a:buNone/>
            </a:pPr>
            <a:r>
              <a:rPr lang="en-US" altLang="ko-KR"/>
              <a:t>		struct node *n = g-&gt;vertexes + i;</a:t>
            </a:r>
          </a:p>
          <a:p>
            <a:pPr marL="0" indent="0">
              <a:buNone/>
            </a:pPr>
            <a:r>
              <a:rPr lang="en-US" altLang="ko-KR"/>
              <a:t>		printf("%c: ", n-&gt;data);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		struct elist *e = n-&gt;adj;</a:t>
            </a:r>
          </a:p>
          <a:p>
            <a:pPr marL="0" indent="0">
              <a:buNone/>
            </a:pPr>
            <a:r>
              <a:rPr lang="en-US" altLang="ko-KR"/>
              <a:t>		while (e != NULL) {</a:t>
            </a:r>
          </a:p>
        </p:txBody>
      </p:sp>
    </p:spTree>
    <p:extLst>
      <p:ext uri="{BB962C8B-B14F-4D97-AF65-F5344CB8AC3E}">
        <p14:creationId xmlns:p14="http://schemas.microsoft.com/office/powerpoint/2010/main" val="259323571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43CB5-5DEF-5754-91F0-B5299B562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91321-BC3B-C1E2-2EC8-2F2070B30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696" y="262442"/>
            <a:ext cx="8260779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인접 리스트 출력 함수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95DAC1-3826-E532-1112-EFDD57913E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			struct node *near = e-&gt;edge-&gt;node1;</a:t>
            </a:r>
          </a:p>
          <a:p>
            <a:pPr marL="0" indent="0">
              <a:buNone/>
            </a:pPr>
            <a:r>
              <a:rPr lang="en-US" altLang="ko-KR"/>
              <a:t>			if (near == n) {</a:t>
            </a:r>
          </a:p>
          <a:p>
            <a:pPr marL="0" indent="0">
              <a:buNone/>
            </a:pPr>
            <a:r>
              <a:rPr lang="en-US" altLang="ko-KR"/>
              <a:t>				near = e-&gt;edge-&gt;node2;</a:t>
            </a:r>
          </a:p>
          <a:p>
            <a:pPr marL="0" indent="0">
              <a:buNone/>
            </a:pPr>
            <a:r>
              <a:rPr lang="en-US" altLang="ko-KR"/>
              <a:t>			}</a:t>
            </a:r>
          </a:p>
          <a:p>
            <a:pPr marL="0" indent="0">
              <a:buNone/>
            </a:pPr>
            <a:r>
              <a:rPr lang="en-US" altLang="ko-KR"/>
              <a:t>			printf("%c ", near-&gt;data);</a:t>
            </a:r>
          </a:p>
          <a:p>
            <a:pPr marL="0" indent="0">
              <a:buNone/>
            </a:pPr>
            <a:r>
              <a:rPr lang="en-US" altLang="ko-KR"/>
              <a:t>			e = e-&gt;next;</a:t>
            </a:r>
          </a:p>
          <a:p>
            <a:pPr marL="0" indent="0">
              <a:buNone/>
            </a:pPr>
            <a:r>
              <a:rPr lang="en-US" altLang="ko-KR"/>
              <a:t>		}</a:t>
            </a:r>
          </a:p>
          <a:p>
            <a:pPr marL="0" indent="0">
              <a:buNone/>
            </a:pPr>
            <a:r>
              <a:rPr lang="en-US" altLang="ko-KR"/>
              <a:t>		printf("\n");</a:t>
            </a:r>
          </a:p>
          <a:p>
            <a:pPr marL="0" indent="0">
              <a:buNone/>
            </a:pPr>
            <a:r>
              <a:rPr lang="en-US" altLang="ko-KR"/>
              <a:t>	}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1206603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01B17-CF0B-A0B5-AC13-60F075D0E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471F0-3059-B01D-F521-959304597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696" y="262442"/>
            <a:ext cx="8260779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</a:t>
            </a:r>
            <a:r>
              <a:rPr lang="ko-KR" altLang="en-US"/>
              <a:t>인접 리스트 출력 함수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9FDCD-C045-8CA0-8DCD-5BD6FF846D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int main() {</a:t>
            </a:r>
          </a:p>
          <a:p>
            <a:pPr marL="0" indent="0">
              <a:buNone/>
            </a:pPr>
            <a:r>
              <a:rPr lang="en-US" altLang="ko-KR"/>
              <a:t>	/* </a:t>
            </a:r>
            <a:r>
              <a:rPr lang="ko-KR" altLang="en-US"/>
              <a:t>이전 내용에 이어서 </a:t>
            </a:r>
            <a:r>
              <a:rPr lang="en-US" altLang="ko-KR"/>
              <a:t>*/</a:t>
            </a:r>
          </a:p>
          <a:p>
            <a:pPr marL="0" indent="0">
              <a:buNone/>
            </a:pPr>
            <a:r>
              <a:rPr lang="en-US" altLang="ko-KR"/>
              <a:t>	make_adj_list(&amp;g);</a:t>
            </a:r>
          </a:p>
          <a:p>
            <a:pPr marL="0" indent="0">
              <a:buNone/>
            </a:pPr>
            <a:r>
              <a:rPr lang="en-US" altLang="ko-KR"/>
              <a:t>	print_adj_list(&amp;g);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	free_adj_list(&amp;g);</a:t>
            </a:r>
          </a:p>
          <a:p>
            <a:pPr marL="0" indent="0">
              <a:buNone/>
            </a:pPr>
            <a:r>
              <a:rPr lang="en-US" altLang="ko-KR"/>
              <a:t>	return 0;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7879295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EC09E-BEE2-DE29-0A36-D076CA1D0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D5AD7-A6EB-18E7-30BA-E76549763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7891" y="262442"/>
            <a:ext cx="6234584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- 3</a:t>
            </a:r>
            <a:r>
              <a:rPr lang="ko-KR" altLang="en-US"/>
              <a:t>열 그래프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1FBA5-52E9-C9FA-91FB-E826674454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A	-0	B	-3	C</a:t>
            </a:r>
          </a:p>
          <a:p>
            <a:pPr marL="0" indent="0">
              <a:buNone/>
            </a:pPr>
            <a:r>
              <a:rPr lang="en-US" altLang="ko-KR"/>
              <a:t>|3	/2	|2	/1</a:t>
            </a:r>
          </a:p>
          <a:p>
            <a:pPr marL="0" indent="0">
              <a:buNone/>
            </a:pPr>
            <a:r>
              <a:rPr lang="en-US" altLang="ko-KR"/>
              <a:t>D	-1	E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FAD8F6D2-FE1C-C8EE-DBD8-7E89BEFC32BF}"/>
              </a:ext>
            </a:extLst>
          </p:cNvPr>
          <p:cNvSpPr/>
          <p:nvPr/>
        </p:nvSpPr>
        <p:spPr>
          <a:xfrm>
            <a:off x="1987648" y="1567473"/>
            <a:ext cx="841319" cy="841319"/>
          </a:xfrm>
          <a:prstGeom prst="ellipse">
            <a:avLst/>
          </a:prstGeom>
          <a:ln w="317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4800">
                <a:solidFill>
                  <a:schemeClr val="accent6">
                    <a:lumMod val="75000"/>
                  </a:schemeClr>
                </a:solidFill>
              </a:rPr>
              <a:t>A</a:t>
            </a:r>
            <a:endParaRPr lang="ko-KR" altLang="en-US" sz="480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B48ECB29-C6EE-0152-141E-2738BFE59D46}"/>
              </a:ext>
            </a:extLst>
          </p:cNvPr>
          <p:cNvSpPr/>
          <p:nvPr/>
        </p:nvSpPr>
        <p:spPr>
          <a:xfrm>
            <a:off x="4151340" y="1567473"/>
            <a:ext cx="841319" cy="841319"/>
          </a:xfrm>
          <a:prstGeom prst="ellipse">
            <a:avLst/>
          </a:prstGeom>
          <a:ln w="317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4800">
                <a:solidFill>
                  <a:schemeClr val="accent6">
                    <a:lumMod val="75000"/>
                  </a:schemeClr>
                </a:solidFill>
              </a:rPr>
              <a:t>B</a:t>
            </a:r>
            <a:endParaRPr lang="ko-KR" altLang="en-US" sz="480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28547A52-AAFE-8C97-815E-D7D33CEDFE0A}"/>
              </a:ext>
            </a:extLst>
          </p:cNvPr>
          <p:cNvSpPr/>
          <p:nvPr/>
        </p:nvSpPr>
        <p:spPr>
          <a:xfrm>
            <a:off x="6315032" y="1567473"/>
            <a:ext cx="841319" cy="841319"/>
          </a:xfrm>
          <a:prstGeom prst="ellipse">
            <a:avLst/>
          </a:prstGeom>
          <a:ln w="317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4800">
                <a:solidFill>
                  <a:schemeClr val="accent6">
                    <a:lumMod val="75000"/>
                  </a:schemeClr>
                </a:solidFill>
              </a:rPr>
              <a:t>C</a:t>
            </a:r>
            <a:endParaRPr lang="ko-KR" altLang="en-US" sz="480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300B8990-FA8D-C6D4-5D99-BD9525100750}"/>
              </a:ext>
            </a:extLst>
          </p:cNvPr>
          <p:cNvSpPr/>
          <p:nvPr/>
        </p:nvSpPr>
        <p:spPr>
          <a:xfrm>
            <a:off x="1987648" y="3582539"/>
            <a:ext cx="841319" cy="841319"/>
          </a:xfrm>
          <a:prstGeom prst="ellipse">
            <a:avLst/>
          </a:prstGeom>
          <a:ln w="317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4800">
                <a:solidFill>
                  <a:schemeClr val="accent6">
                    <a:lumMod val="75000"/>
                  </a:schemeClr>
                </a:solidFill>
              </a:rPr>
              <a:t>D</a:t>
            </a:r>
            <a:endParaRPr lang="ko-KR" altLang="en-US" sz="480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CD2A9607-1178-77B2-14A7-9B0283D1AA9B}"/>
              </a:ext>
            </a:extLst>
          </p:cNvPr>
          <p:cNvSpPr/>
          <p:nvPr/>
        </p:nvSpPr>
        <p:spPr>
          <a:xfrm>
            <a:off x="4151340" y="3582539"/>
            <a:ext cx="841319" cy="841319"/>
          </a:xfrm>
          <a:prstGeom prst="ellipse">
            <a:avLst/>
          </a:prstGeom>
          <a:ln w="317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4800">
                <a:solidFill>
                  <a:schemeClr val="accent6">
                    <a:lumMod val="75000"/>
                  </a:schemeClr>
                </a:solidFill>
              </a:rPr>
              <a:t>E</a:t>
            </a:r>
            <a:endParaRPr lang="ko-KR" altLang="en-US" sz="480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1573E5E9-BC77-4F83-C184-D98A71D40E2A}"/>
              </a:ext>
            </a:extLst>
          </p:cNvPr>
          <p:cNvCxnSpPr>
            <a:stCxn id="4" idx="6"/>
            <a:endCxn id="5" idx="2"/>
          </p:cNvCxnSpPr>
          <p:nvPr/>
        </p:nvCxnSpPr>
        <p:spPr>
          <a:xfrm>
            <a:off x="2828967" y="1988133"/>
            <a:ext cx="1322373" cy="0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CF66A9A5-0B3C-D296-3A7C-FADCF2893512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>
            <a:off x="4992659" y="1988133"/>
            <a:ext cx="1322373" cy="0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CF67581-AEBF-59D2-EEDE-3FF39FCEDB70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>
          <a:xfrm>
            <a:off x="2828967" y="4003199"/>
            <a:ext cx="1322373" cy="0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5234CB70-2327-DFE8-509E-734F8724662E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2408308" y="2408792"/>
            <a:ext cx="0" cy="1173747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4987F46-6494-9249-9663-6E18383D6654}"/>
              </a:ext>
            </a:extLst>
          </p:cNvPr>
          <p:cNvCxnSpPr>
            <a:cxnSpLocks/>
            <a:stCxn id="5" idx="4"/>
            <a:endCxn id="8" idx="0"/>
          </p:cNvCxnSpPr>
          <p:nvPr/>
        </p:nvCxnSpPr>
        <p:spPr>
          <a:xfrm>
            <a:off x="4572000" y="2408792"/>
            <a:ext cx="0" cy="1173747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8CB527D-81CC-B371-AA80-F76876B7FC1F}"/>
              </a:ext>
            </a:extLst>
          </p:cNvPr>
          <p:cNvCxnSpPr>
            <a:cxnSpLocks/>
            <a:stCxn id="5" idx="3"/>
            <a:endCxn id="7" idx="7"/>
          </p:cNvCxnSpPr>
          <p:nvPr/>
        </p:nvCxnSpPr>
        <p:spPr>
          <a:xfrm flipH="1">
            <a:off x="2705759" y="2285584"/>
            <a:ext cx="1568789" cy="1420163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77CBE95-1D1C-51EB-BA13-4626D5E4C868}"/>
              </a:ext>
            </a:extLst>
          </p:cNvPr>
          <p:cNvCxnSpPr>
            <a:cxnSpLocks/>
            <a:stCxn id="6" idx="3"/>
            <a:endCxn id="8" idx="7"/>
          </p:cNvCxnSpPr>
          <p:nvPr/>
        </p:nvCxnSpPr>
        <p:spPr>
          <a:xfrm flipH="1">
            <a:off x="4869451" y="2285584"/>
            <a:ext cx="1568789" cy="1420163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CDC0913-FEE4-786B-DD29-796959C3B32B}"/>
              </a:ext>
            </a:extLst>
          </p:cNvPr>
          <p:cNvSpPr txBox="1"/>
          <p:nvPr/>
        </p:nvSpPr>
        <p:spPr>
          <a:xfrm>
            <a:off x="3301640" y="4112458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>
                <a:solidFill>
                  <a:schemeClr val="accent3">
                    <a:lumMod val="60000"/>
                    <a:lumOff val="40000"/>
                  </a:schemeClr>
                </a:solidFill>
              </a:rPr>
              <a:t>1</a:t>
            </a:r>
            <a:endParaRPr lang="ko-KR" altLang="en-US" sz="280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EF8614-ED27-41C0-DB85-C59F3B12B609}"/>
              </a:ext>
            </a:extLst>
          </p:cNvPr>
          <p:cNvSpPr txBox="1"/>
          <p:nvPr/>
        </p:nvSpPr>
        <p:spPr>
          <a:xfrm>
            <a:off x="1969678" y="2734055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>
                <a:solidFill>
                  <a:schemeClr val="accent3">
                    <a:lumMod val="60000"/>
                    <a:lumOff val="40000"/>
                  </a:schemeClr>
                </a:solidFill>
              </a:rPr>
              <a:t>3</a:t>
            </a:r>
            <a:endParaRPr lang="ko-KR" altLang="en-US" sz="280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5B0BBA-3963-DA80-BD4C-DE3D0130463A}"/>
              </a:ext>
            </a:extLst>
          </p:cNvPr>
          <p:cNvSpPr txBox="1"/>
          <p:nvPr/>
        </p:nvSpPr>
        <p:spPr>
          <a:xfrm>
            <a:off x="2941607" y="2734055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>
                <a:solidFill>
                  <a:schemeClr val="accent3">
                    <a:lumMod val="60000"/>
                    <a:lumOff val="40000"/>
                  </a:schemeClr>
                </a:solidFill>
              </a:rPr>
              <a:t>2</a:t>
            </a:r>
            <a:endParaRPr lang="ko-KR" altLang="en-US" sz="280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C1DEADB-3129-DF93-07AD-E2A104029CE4}"/>
              </a:ext>
            </a:extLst>
          </p:cNvPr>
          <p:cNvSpPr txBox="1"/>
          <p:nvPr/>
        </p:nvSpPr>
        <p:spPr>
          <a:xfrm>
            <a:off x="4196051" y="2734055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>
                <a:solidFill>
                  <a:schemeClr val="accent3">
                    <a:lumMod val="60000"/>
                    <a:lumOff val="40000"/>
                  </a:schemeClr>
                </a:solidFill>
              </a:rPr>
              <a:t>2</a:t>
            </a:r>
            <a:endParaRPr lang="ko-KR" altLang="en-US" sz="280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4C992D7-DEF4-5C31-023B-9656F8C385A3}"/>
              </a:ext>
            </a:extLst>
          </p:cNvPr>
          <p:cNvSpPr txBox="1"/>
          <p:nvPr/>
        </p:nvSpPr>
        <p:spPr>
          <a:xfrm>
            <a:off x="5210569" y="2734055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>
                <a:solidFill>
                  <a:schemeClr val="accent3">
                    <a:lumMod val="60000"/>
                    <a:lumOff val="40000"/>
                  </a:schemeClr>
                </a:solidFill>
              </a:rPr>
              <a:t>1</a:t>
            </a:r>
            <a:endParaRPr lang="ko-KR" altLang="en-US" sz="280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A1B385-58D5-5A2E-6DCD-3A53846D5E13}"/>
              </a:ext>
            </a:extLst>
          </p:cNvPr>
          <p:cNvSpPr txBox="1"/>
          <p:nvPr/>
        </p:nvSpPr>
        <p:spPr>
          <a:xfrm>
            <a:off x="3301640" y="1436312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>
                <a:solidFill>
                  <a:schemeClr val="accent3">
                    <a:lumMod val="60000"/>
                    <a:lumOff val="40000"/>
                  </a:schemeClr>
                </a:solidFill>
              </a:rPr>
              <a:t>0</a:t>
            </a:r>
            <a:endParaRPr lang="ko-KR" altLang="en-US" sz="280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5B6BCCF-61EB-F34F-EEBE-E6BF65E2B6E6}"/>
              </a:ext>
            </a:extLst>
          </p:cNvPr>
          <p:cNvSpPr txBox="1"/>
          <p:nvPr/>
        </p:nvSpPr>
        <p:spPr>
          <a:xfrm>
            <a:off x="5499763" y="1436312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>
                <a:solidFill>
                  <a:schemeClr val="accent3">
                    <a:lumMod val="60000"/>
                    <a:lumOff val="40000"/>
                  </a:schemeClr>
                </a:solidFill>
              </a:rPr>
              <a:t>3</a:t>
            </a:r>
            <a:endParaRPr lang="ko-KR" altLang="en-US" sz="280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081713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AFB0C-30AC-4D46-1BBC-089A342F0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B0C01-7B9F-8EFF-328E-B3887A4B9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9488" y="262442"/>
            <a:ext cx="6022987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- 3</a:t>
            </a:r>
            <a:r>
              <a:rPr lang="ko-KR" altLang="en-US"/>
              <a:t>열 그래프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2CE1E-CAEE-BF16-78B0-A1B0262CE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void print_graph_3col(struct graph *g)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	int n_vertexes = g-&gt;n_vertexes;</a:t>
            </a:r>
          </a:p>
          <a:p>
            <a:pPr marL="0" indent="0">
              <a:buNone/>
            </a:pPr>
            <a:r>
              <a:rPr lang="en-US" altLang="ko-KR"/>
              <a:t>	/* </a:t>
            </a:r>
            <a:r>
              <a:rPr lang="ko-KR" altLang="en-US"/>
              <a:t>첫번째 행 </a:t>
            </a:r>
            <a:r>
              <a:rPr lang="en-US" altLang="ko-KR"/>
              <a:t>*/</a:t>
            </a:r>
          </a:p>
          <a:p>
            <a:pPr marL="0" indent="0">
              <a:buNone/>
            </a:pPr>
            <a:r>
              <a:rPr lang="en-US" altLang="ko-KR"/>
              <a:t>	for</a:t>
            </a:r>
            <a:r>
              <a:rPr lang="ko-KR" altLang="en-US"/>
              <a:t> </a:t>
            </a:r>
            <a:r>
              <a:rPr lang="en-US" altLang="ko-KR"/>
              <a:t>(int</a:t>
            </a:r>
            <a:r>
              <a:rPr lang="ko-KR" altLang="en-US"/>
              <a:t> </a:t>
            </a:r>
            <a:r>
              <a:rPr lang="en-US" altLang="ko-KR"/>
              <a:t>i</a:t>
            </a:r>
            <a:r>
              <a:rPr lang="ko-KR" altLang="en-US"/>
              <a:t> </a:t>
            </a:r>
            <a:r>
              <a:rPr lang="en-US" altLang="ko-KR"/>
              <a:t>=</a:t>
            </a:r>
            <a:r>
              <a:rPr lang="ko-KR" altLang="en-US"/>
              <a:t> </a:t>
            </a:r>
            <a:r>
              <a:rPr lang="en-US" altLang="ko-KR"/>
              <a:t>0;</a:t>
            </a:r>
            <a:r>
              <a:rPr lang="ko-KR" altLang="en-US"/>
              <a:t> </a:t>
            </a:r>
            <a:r>
              <a:rPr lang="en-US" altLang="ko-KR"/>
              <a:t>i</a:t>
            </a:r>
            <a:r>
              <a:rPr lang="ko-KR" altLang="en-US"/>
              <a:t> </a:t>
            </a:r>
            <a:r>
              <a:rPr lang="en-US" altLang="ko-KR"/>
              <a:t>&lt;</a:t>
            </a:r>
            <a:r>
              <a:rPr lang="ko-KR" altLang="en-US"/>
              <a:t> </a:t>
            </a:r>
            <a:r>
              <a:rPr lang="en-US" altLang="ko-KR"/>
              <a:t>3 &amp;&amp; i &lt; n_vertexes; i++) {</a:t>
            </a:r>
          </a:p>
          <a:p>
            <a:pPr marL="0" indent="0">
              <a:buNone/>
            </a:pPr>
            <a:r>
              <a:rPr lang="en-US" altLang="ko-KR"/>
              <a:t>		print_node(g-&gt;vertexes + i);</a:t>
            </a:r>
          </a:p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		if (i + 1 &lt; n_vertexes)</a:t>
            </a:r>
          </a:p>
          <a:p>
            <a:pPr marL="0" indent="0">
              <a:buNone/>
            </a:pPr>
            <a:r>
              <a:rPr lang="en-US" altLang="ko-KR"/>
              <a:t>			print_edge(g-&gt;adj[i][i + 1]);</a:t>
            </a:r>
          </a:p>
          <a:p>
            <a:pPr marL="0" indent="0">
              <a:buNone/>
            </a:pPr>
            <a:r>
              <a:rPr lang="en-US" altLang="ko-KR"/>
              <a:t>	}</a:t>
            </a:r>
          </a:p>
          <a:p>
            <a:pPr marL="0" indent="0">
              <a:buNone/>
            </a:pPr>
            <a:r>
              <a:rPr lang="en-US" altLang="ko-KR"/>
              <a:t>	printf("\n");</a:t>
            </a:r>
          </a:p>
        </p:txBody>
      </p:sp>
    </p:spTree>
    <p:extLst>
      <p:ext uri="{BB962C8B-B14F-4D97-AF65-F5344CB8AC3E}">
        <p14:creationId xmlns:p14="http://schemas.microsoft.com/office/powerpoint/2010/main" val="351415536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66376-B040-64D0-6D68-F4CA5A4A7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5807F-FAD7-5BE9-0671-12E6A3B9D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9488" y="262442"/>
            <a:ext cx="6022987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- 3</a:t>
            </a:r>
            <a:r>
              <a:rPr lang="ko-KR" altLang="en-US"/>
              <a:t>열 그래프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EE7C5-F95E-D885-89EE-203F324C84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	for</a:t>
            </a:r>
            <a:r>
              <a:rPr lang="ko-KR" altLang="en-US"/>
              <a:t> </a:t>
            </a:r>
            <a:r>
              <a:rPr lang="en-US" altLang="ko-KR"/>
              <a:t>(int</a:t>
            </a:r>
            <a:r>
              <a:rPr lang="ko-KR" altLang="en-US"/>
              <a:t> </a:t>
            </a:r>
            <a:r>
              <a:rPr lang="en-US" altLang="ko-KR"/>
              <a:t>row</a:t>
            </a:r>
            <a:r>
              <a:rPr lang="ko-KR" altLang="en-US"/>
              <a:t> </a:t>
            </a:r>
            <a:r>
              <a:rPr lang="en-US" altLang="ko-KR"/>
              <a:t>=</a:t>
            </a:r>
            <a:r>
              <a:rPr lang="ko-KR" altLang="en-US"/>
              <a:t> </a:t>
            </a:r>
            <a:r>
              <a:rPr lang="en-US" altLang="ko-KR"/>
              <a:t>1;</a:t>
            </a:r>
            <a:r>
              <a:rPr lang="ko-KR" altLang="en-US"/>
              <a:t> </a:t>
            </a:r>
            <a:r>
              <a:rPr lang="en-US" altLang="ko-KR"/>
              <a:t>row &lt;= n_vertexes / 3; row++) {</a:t>
            </a:r>
          </a:p>
          <a:p>
            <a:pPr marL="0" indent="0">
              <a:buNone/>
            </a:pPr>
            <a:r>
              <a:rPr lang="en-US" altLang="ko-KR"/>
              <a:t>		int i;</a:t>
            </a:r>
          </a:p>
          <a:p>
            <a:pPr marL="0" indent="0">
              <a:buNone/>
            </a:pPr>
            <a:r>
              <a:rPr lang="en-US" altLang="ko-KR"/>
              <a:t>		for (i = row * 3; i &lt; row * 3 + 2 </a:t>
            </a:r>
          </a:p>
          <a:p>
            <a:pPr marL="0" indent="0">
              <a:buNone/>
            </a:pPr>
            <a:r>
              <a:rPr lang="en-US" altLang="ko-KR"/>
              <a:t>				&amp;&amp; i &lt; n_vertexes; i++) {</a:t>
            </a:r>
          </a:p>
          <a:p>
            <a:pPr marL="0" indent="0">
              <a:buNone/>
            </a:pPr>
            <a:r>
              <a:rPr lang="en-US" altLang="ko-KR"/>
              <a:t>			print_edge(g-&gt;adj[i][i - 3]);</a:t>
            </a:r>
          </a:p>
          <a:p>
            <a:pPr marL="0" indent="0">
              <a:buNone/>
            </a:pPr>
            <a:r>
              <a:rPr lang="en-US" altLang="ko-KR"/>
              <a:t>			print_edge(g-&gt;adj[i][i - 2]);</a:t>
            </a:r>
          </a:p>
          <a:p>
            <a:pPr marL="0" indent="0">
              <a:buNone/>
            </a:pPr>
            <a:r>
              <a:rPr lang="en-US" altLang="ko-KR"/>
              <a:t>		}</a:t>
            </a:r>
          </a:p>
          <a:p>
            <a:pPr marL="0" indent="0">
              <a:buNone/>
            </a:pPr>
            <a:r>
              <a:rPr lang="en-US" altLang="ko-KR"/>
              <a:t>		if (i &lt; n_vertexes)</a:t>
            </a:r>
          </a:p>
          <a:p>
            <a:pPr marL="0" indent="0">
              <a:buNone/>
            </a:pPr>
            <a:r>
              <a:rPr lang="en-US" altLang="ko-KR"/>
              <a:t>			print_edge(g-&gt;adj[i][i - 3]);</a:t>
            </a:r>
          </a:p>
          <a:p>
            <a:pPr marL="0" indent="0">
              <a:buNone/>
            </a:pPr>
            <a:r>
              <a:rPr lang="en-US" altLang="ko-KR"/>
              <a:t>		printf("\n");</a:t>
            </a:r>
          </a:p>
        </p:txBody>
      </p:sp>
    </p:spTree>
    <p:extLst>
      <p:ext uri="{BB962C8B-B14F-4D97-AF65-F5344CB8AC3E}">
        <p14:creationId xmlns:p14="http://schemas.microsoft.com/office/powerpoint/2010/main" val="371889724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E6E20-B595-9449-92E3-B136B50BB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80F2B-8CD2-40B6-2BD2-E6305AA46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9719" y="262442"/>
            <a:ext cx="6112756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- 3</a:t>
            </a:r>
            <a:r>
              <a:rPr lang="ko-KR" altLang="en-US"/>
              <a:t>열 그래프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C3EE7-FDAD-3AA5-2576-0E2CDDC9F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		for (i = row * 3; i &lt;= row * 3 + 2 </a:t>
            </a:r>
          </a:p>
          <a:p>
            <a:pPr marL="0" indent="0">
              <a:buNone/>
            </a:pPr>
            <a:r>
              <a:rPr lang="en-US" altLang="ko-KR"/>
              <a:t>				&amp;&amp; i &lt; n_vertexes; i++) {</a:t>
            </a:r>
          </a:p>
          <a:p>
            <a:pPr marL="0" indent="0">
              <a:buNone/>
            </a:pPr>
            <a:r>
              <a:rPr lang="en-US" altLang="ko-KR"/>
              <a:t>			print_node(g-&gt;vertexes + i);</a:t>
            </a:r>
          </a:p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			if (i + 1 &lt; n_vertexes)</a:t>
            </a:r>
          </a:p>
          <a:p>
            <a:pPr marL="0" indent="0">
              <a:buNone/>
            </a:pPr>
            <a:r>
              <a:rPr lang="en-US" altLang="ko-KR"/>
              <a:t>				print_edge(g-&gt;adj[i][i + 1]);</a:t>
            </a:r>
          </a:p>
          <a:p>
            <a:pPr marL="0" indent="0">
              <a:buNone/>
            </a:pPr>
            <a:r>
              <a:rPr lang="en-US" altLang="ko-KR"/>
              <a:t>		}</a:t>
            </a:r>
          </a:p>
          <a:p>
            <a:pPr marL="0" indent="0">
              <a:buNone/>
            </a:pPr>
            <a:r>
              <a:rPr lang="en-US" altLang="ko-KR"/>
              <a:t>		printf("\n");</a:t>
            </a:r>
          </a:p>
          <a:p>
            <a:pPr marL="0" indent="0">
              <a:buNone/>
            </a:pPr>
            <a:r>
              <a:rPr lang="en-US" altLang="ko-KR"/>
              <a:t>	}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6387144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8E4EF-9A41-0691-D8BE-92ADD94DE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16887-138F-4BBD-F7A3-4176931DF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7891" y="262442"/>
            <a:ext cx="6234584" cy="607653"/>
          </a:xfrm>
        </p:spPr>
        <p:txBody>
          <a:bodyPr>
            <a:spAutoFit/>
          </a:bodyPr>
          <a:lstStyle/>
          <a:p>
            <a:r>
              <a:rPr lang="ko-KR" altLang="en-US"/>
              <a:t>그래프 출력 </a:t>
            </a:r>
            <a:r>
              <a:rPr lang="en-US" altLang="ko-KR"/>
              <a:t>- 3</a:t>
            </a:r>
            <a:r>
              <a:rPr lang="ko-KR" altLang="en-US"/>
              <a:t>열 그래프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7AD2B-3049-B9F0-7208-B6D9C7A22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int main() {</a:t>
            </a:r>
          </a:p>
          <a:p>
            <a:pPr marL="0" indent="0">
              <a:buNone/>
            </a:pPr>
            <a:r>
              <a:rPr lang="en-US" altLang="ko-KR"/>
              <a:t>	/* </a:t>
            </a:r>
            <a:r>
              <a:rPr lang="ko-KR" altLang="en-US"/>
              <a:t>이전 내용에 이어서 </a:t>
            </a:r>
            <a:r>
              <a:rPr lang="en-US" altLang="ko-KR"/>
              <a:t>*/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	print_graph_3col(&amp;g);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	free_adj_list(&amp;g);</a:t>
            </a:r>
          </a:p>
          <a:p>
            <a:pPr marL="0" indent="0">
              <a:buNone/>
            </a:pPr>
            <a:r>
              <a:rPr lang="en-US" altLang="ko-KR"/>
              <a:t>	return 0;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9619455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FA746-937F-BF07-E007-AB7A8A31E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9B158-EEAC-FFA0-2616-E9B76A364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8599" y="262442"/>
            <a:ext cx="2013878" cy="607653"/>
          </a:xfrm>
        </p:spPr>
        <p:txBody>
          <a:bodyPr>
            <a:spAutoFit/>
          </a:bodyPr>
          <a:lstStyle/>
          <a:p>
            <a:r>
              <a:rPr lang="ko-KR" altLang="en-US"/>
              <a:t>요약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0960E-A7B4-3431-C6FA-E0056648F9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PRIM MST </a:t>
            </a:r>
            <a:r>
              <a:rPr lang="ko-KR" altLang="en-US"/>
              <a:t>구현</a:t>
            </a:r>
            <a:endParaRPr lang="en-US" altLang="ko-KR"/>
          </a:p>
          <a:p>
            <a:endParaRPr lang="en-US" altLang="ko-KR"/>
          </a:p>
          <a:p>
            <a:r>
              <a:rPr lang="en-US" altLang="ko-KR"/>
              <a:t>KRUSKAL MST </a:t>
            </a:r>
            <a:r>
              <a:rPr lang="ko-KR" altLang="en-US"/>
              <a:t>구현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384088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14435</TotalTime>
  <Words>4471</Words>
  <Application>Microsoft Office PowerPoint</Application>
  <PresentationFormat>화면 슬라이드 쇼(4:3)</PresentationFormat>
  <Paragraphs>682</Paragraphs>
  <Slides>74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74</vt:i4>
      </vt:variant>
    </vt:vector>
  </HeadingPairs>
  <TitlesOfParts>
    <vt:vector size="79" baseType="lpstr">
      <vt:lpstr>맑은 고딕</vt:lpstr>
      <vt:lpstr>Aptos</vt:lpstr>
      <vt:lpstr>Aptos Display</vt:lpstr>
      <vt:lpstr>Arial</vt:lpstr>
      <vt:lpstr>Office 테마</vt:lpstr>
      <vt:lpstr>자료구조 (Data Structure) 10주차: 그래프의 최소 길이 트리</vt:lpstr>
      <vt:lpstr>지난 시간 내용</vt:lpstr>
      <vt:lpstr>오늘의 목차</vt:lpstr>
      <vt:lpstr>구조체 - 인접리스트</vt:lpstr>
      <vt:lpstr>구조체 - 인접리스트</vt:lpstr>
      <vt:lpstr>구조체 - 노드</vt:lpstr>
      <vt:lpstr>구조체 - 노드</vt:lpstr>
      <vt:lpstr>구조체 - 연결선</vt:lpstr>
      <vt:lpstr>구조체 - 연결선</vt:lpstr>
      <vt:lpstr>구조체 - 그래프</vt:lpstr>
      <vt:lpstr>구조체 - 그래프</vt:lpstr>
      <vt:lpstr>PRIM</vt:lpstr>
      <vt:lpstr>PRIM - 자료구조</vt:lpstr>
      <vt:lpstr>PRIM - 자료구조</vt:lpstr>
      <vt:lpstr>PRIM - 자료구조</vt:lpstr>
      <vt:lpstr>PRIM - 자료구조</vt:lpstr>
      <vt:lpstr>PRIM - 자료구조</vt:lpstr>
      <vt:lpstr>PRIM - 자료구조</vt:lpstr>
      <vt:lpstr>PRIM - 자료구조</vt:lpstr>
      <vt:lpstr>PRIM - 자료구조</vt:lpstr>
      <vt:lpstr>PRIM - 자료구조</vt:lpstr>
      <vt:lpstr>PRIM 구현</vt:lpstr>
      <vt:lpstr>PRIM - 구현</vt:lpstr>
      <vt:lpstr>PRIM - 구현</vt:lpstr>
      <vt:lpstr>PRIM - 구현</vt:lpstr>
      <vt:lpstr>PRIM - 구현</vt:lpstr>
      <vt:lpstr>PRIM - 구현</vt:lpstr>
      <vt:lpstr>KRUSKAL</vt:lpstr>
      <vt:lpstr>KRUSKAL - 그래프 노드</vt:lpstr>
      <vt:lpstr>KRUSKAL - 그래프 노드</vt:lpstr>
      <vt:lpstr>KRUSKAL - 소속 확인</vt:lpstr>
      <vt:lpstr>KRUSKAL - 소속 확인</vt:lpstr>
      <vt:lpstr>KRUSKAL - 합치기</vt:lpstr>
      <vt:lpstr>KRUSKAL - 합치기</vt:lpstr>
      <vt:lpstr>KRUSKAL - 연결선 정렬</vt:lpstr>
      <vt:lpstr>KRUSKAL - 연결선 정렬</vt:lpstr>
      <vt:lpstr>KRUSKAL 구현</vt:lpstr>
      <vt:lpstr>KRUSKAL - 구현</vt:lpstr>
      <vt:lpstr>KRUSKAL - 구현</vt:lpstr>
      <vt:lpstr>KRUSKAL - 구현</vt:lpstr>
      <vt:lpstr>그래프 출력 - printf</vt:lpstr>
      <vt:lpstr>그래프 출력 - 노드 출력 함수</vt:lpstr>
      <vt:lpstr>그래프 출력 - 노드 출력 함수</vt:lpstr>
      <vt:lpstr>그래프 출력 - 노드 출력 함수</vt:lpstr>
      <vt:lpstr>그래프 출력 - 연결선 출력 함수</vt:lpstr>
      <vt:lpstr>그래프 출력 - 연결선 출력 함수</vt:lpstr>
      <vt:lpstr>그래프 출력 - 연결선 출력 함수</vt:lpstr>
      <vt:lpstr>그래프 출력 - 연결선 출력 함수</vt:lpstr>
      <vt:lpstr>그래프 출력 - 그래프 내용</vt:lpstr>
      <vt:lpstr>그래프 출력 - 그래프 내용 출력 함수</vt:lpstr>
      <vt:lpstr>그래프 출력 - 그래프 내용 출력 함수</vt:lpstr>
      <vt:lpstr>그래프 출력 - 그래프 내용 출력 함수</vt:lpstr>
      <vt:lpstr>그래프 출력 - 그래프 내용 출력 함수</vt:lpstr>
      <vt:lpstr>그래프 출력 - 인접 행렬</vt:lpstr>
      <vt:lpstr>그래프 출력 - 인접 행렬</vt:lpstr>
      <vt:lpstr>그래프 출력 - 인접 행렬 출력 함수</vt:lpstr>
      <vt:lpstr>그래프 출력 - 인접 행렬 출력 함수</vt:lpstr>
      <vt:lpstr>그래프 출력 - 인접 행렬 출력 함수</vt:lpstr>
      <vt:lpstr>그래프 출력 - 인접 행렬 출력 함수</vt:lpstr>
      <vt:lpstr>그래프 출력 - 인접 리스트</vt:lpstr>
      <vt:lpstr>그래프 출력 - 인접 리스트</vt:lpstr>
      <vt:lpstr>그래프 출력 - 인접 리스트</vt:lpstr>
      <vt:lpstr>그래프 출력 - 인접 리스트</vt:lpstr>
      <vt:lpstr>그래프 출력 - 인접 리스트</vt:lpstr>
      <vt:lpstr>그래프 출력 - 인접 리스트 출력 함수</vt:lpstr>
      <vt:lpstr>그래프 출력 - 인접 리스트 출력 함수</vt:lpstr>
      <vt:lpstr>그래프 출력 - 인접 리스트 출력 함수</vt:lpstr>
      <vt:lpstr>그래프 출력 - 인접 리스트 출력 함수</vt:lpstr>
      <vt:lpstr>그래프 출력 - 3열 그래프</vt:lpstr>
      <vt:lpstr>그래프 출력 - 3열 그래프</vt:lpstr>
      <vt:lpstr>그래프 출력 - 3열 그래프</vt:lpstr>
      <vt:lpstr>그래프 출력 - 3열 그래프</vt:lpstr>
      <vt:lpstr>그래프 출력 - 3열 그래프</vt:lpstr>
      <vt:lpstr>요약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 C</dc:creator>
  <cp:lastModifiedBy>K C</cp:lastModifiedBy>
  <cp:revision>21</cp:revision>
  <dcterms:created xsi:type="dcterms:W3CDTF">2025-07-28T15:04:23Z</dcterms:created>
  <dcterms:modified xsi:type="dcterms:W3CDTF">2025-11-20T15:52:28Z</dcterms:modified>
</cp:coreProperties>
</file>