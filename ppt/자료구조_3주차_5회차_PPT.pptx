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311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2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t>3주차: 스택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548" y="262442"/>
            <a:ext cx="7912927" cy="607653"/>
          </a:xfrm>
        </p:spPr>
        <p:txBody>
          <a:bodyPr>
            <a:spAutoFit/>
          </a:bodyPr>
          <a:lstStyle/>
          <a:p>
            <a:r>
              <a:t>데이터 접근에 제한을 둔 자료구조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리스트: 모든 데이터에 순서로 접근 가능</a:t>
            </a:r>
          </a:p>
          <a:p>
            <a:endParaRPr/>
          </a:p>
          <a:p>
            <a:r>
              <a:t>데이터를 하나씩 꺼낼 수만 있으면 될 때도 있다.</a:t>
            </a:r>
          </a:p>
          <a:p>
            <a:endParaRPr/>
          </a:p>
          <a:p>
            <a:r>
              <a:t>데이터를 꺼낼 때는 정해진 규칙에 따라서 꺼낸다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	</a:t>
            </a:r>
            <a:r>
              <a:t> - 추가된 순서대로 꺼내기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	</a:t>
            </a:r>
            <a:r>
              <a:t> - 최신 데이터부터 꺼내기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	</a:t>
            </a:r>
            <a:r>
              <a:t> - 우선순위에 따라 꺼내기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스택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특징: 최신 데이터(top)부터 꺼낸다</a:t>
            </a:r>
          </a:p>
          <a:p>
            <a:endParaRPr/>
          </a:p>
          <a:p>
            <a:r>
              <a:t>정의: 리스트의 특별한 케이스. 한쪽 끝에서만(top) 추가/삭제 가능</a:t>
            </a:r>
          </a:p>
          <a:p>
            <a:endParaRPr/>
          </a:p>
          <a:p>
            <a:r>
              <a:t>기능: 데이터 추가(PUSH), 최신 데이터 읽기(PEEK) / 꺼내기(POP)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883" y="262442"/>
            <a:ext cx="8374592" cy="607653"/>
          </a:xfrm>
        </p:spPr>
        <p:txBody>
          <a:bodyPr>
            <a:spAutoFit/>
          </a:bodyPr>
          <a:lstStyle/>
          <a:p>
            <a:r>
              <a:t>단방향 링크드 리스트로 구현한 스택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처음 노드가 마지막 노드보다 추가/삭제가 쉽다</a:t>
            </a:r>
          </a:p>
          <a:p>
            <a:endParaRPr/>
          </a:p>
          <a:p>
            <a:r>
              <a:t>top: 리스트의 처음 노드</a:t>
            </a:r>
          </a:p>
          <a:p>
            <a:endParaRPr/>
          </a:p>
          <a:p>
            <a:r>
              <a:t>PUSH: 단방향 링크드 리스트의 INSERT_FIRST</a:t>
            </a:r>
          </a:p>
          <a:p>
            <a:endParaRPr/>
          </a:p>
          <a:p>
            <a:r>
              <a:t>PEEK: top의 데이터를 반환</a:t>
            </a:r>
          </a:p>
          <a:p>
            <a:endParaRPr/>
          </a:p>
          <a:p>
            <a:r>
              <a:t>POP: PEEK 후 DELETE_FIRST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9073" y="262442"/>
            <a:ext cx="4963402" cy="607653"/>
          </a:xfrm>
        </p:spPr>
        <p:txBody>
          <a:bodyPr>
            <a:spAutoFit/>
          </a:bodyPr>
          <a:lstStyle/>
          <a:p>
            <a:r>
              <a:t>스택에 저장된 정보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top: 현재 스택에서 가장 최근에 추가된 노드</a:t>
            </a:r>
          </a:p>
          <a:p>
            <a:endParaRPr/>
          </a:p>
          <a:p>
            <a:r>
              <a:t>size: 노드 개수(항상 0 ≤ size)</a:t>
            </a:r>
          </a:p>
          <a:p>
            <a:endParaRPr/>
          </a:p>
          <a:p>
            <a:r>
              <a:t>유효 구간: top부터 next로 서로 연결된 size개 노드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2840" y="262442"/>
            <a:ext cx="3379635" cy="607653"/>
          </a:xfrm>
        </p:spPr>
        <p:txBody>
          <a:bodyPr>
            <a:spAutoFit/>
          </a:bodyPr>
          <a:lstStyle/>
          <a:p>
            <a:r>
              <a:t>노드(Node)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데이터와 다음 노드 정보의 묶음</a:t>
            </a:r>
          </a:p>
          <a:p>
            <a:endParaRPr/>
          </a:p>
          <a:p>
            <a:r>
              <a:t>val: 저장된 데이터</a:t>
            </a:r>
          </a:p>
          <a:p>
            <a:endParaRPr/>
          </a:p>
          <a:p>
            <a:r>
              <a:t>next: 다음 노드 정보(마지막 노드는 NULL)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593" y="260839"/>
            <a:ext cx="6060882" cy="610859"/>
          </a:xfrm>
        </p:spPr>
        <p:txBody>
          <a:bodyPr>
            <a:spAutoFit/>
          </a:bodyPr>
          <a:lstStyle/>
          <a:p>
            <a:r>
              <a:t>NODE_CREATE(val, next)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새 노드를 만들고 정보를 저장해서 반환한다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x에 새로운 노드를 저장한다</a:t>
            </a:r>
            <a:br/>
            <a:r>
              <a:t>            x의 val에 매개변수 val을 저장한다</a:t>
            </a:r>
            <a:br/>
            <a:r>
              <a:t>            x의 next에 매개변수 next를 저장한다</a:t>
            </a:r>
          </a:p>
          <a:p>
            <a:endParaRPr/>
          </a:p>
          <a:p>
            <a:r>
              <a:t>반환: x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2363" y="260839"/>
            <a:ext cx="4420112" cy="610859"/>
          </a:xfrm>
        </p:spPr>
        <p:txBody>
          <a:bodyPr>
            <a:spAutoFit/>
          </a:bodyPr>
          <a:lstStyle/>
          <a:p>
            <a:r>
              <a:t>PUSH(stack, val)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데이터가 val인 새 노드를 만들고 top 앞에 연결한다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x에 NODE_CREATE(val, NULL)를 저장한다</a:t>
            </a:r>
            <a:br/>
            <a:r>
              <a:t>            x의 next에 stack의 top을 저장한다</a:t>
            </a:r>
            <a:br/>
            <a:r>
              <a:t>            stack의 top에 x를 저장한다</a:t>
            </a:r>
            <a:br/>
            <a:r>
              <a:t>            stack의 size를 1 증가시킨다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4502" y="262442"/>
            <a:ext cx="6907973" cy="607653"/>
          </a:xfrm>
        </p:spPr>
        <p:txBody>
          <a:bodyPr>
            <a:spAutoFit/>
          </a:bodyPr>
          <a:lstStyle/>
          <a:p>
            <a:r>
              <a:t>PUSH(stack, val)의 시간 효율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NODE_CREATE: 상수 시간 가정</a:t>
            </a:r>
          </a:p>
          <a:p>
            <a:endParaRPr/>
          </a:p>
          <a:p>
            <a:r>
              <a:t>포인터 대입(연결 변경): 상수 시간</a:t>
            </a:r>
          </a:p>
          <a:p>
            <a:endParaRPr/>
          </a:p>
          <a:p>
            <a:r>
              <a:t>결론: 상수 시간</a:t>
            </a:r>
          </a:p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2659" y="260839"/>
            <a:ext cx="3339816" cy="610859"/>
          </a:xfrm>
        </p:spPr>
        <p:txBody>
          <a:bodyPr>
            <a:spAutoFit/>
          </a:bodyPr>
          <a:lstStyle/>
          <a:p>
            <a:r>
              <a:t>POP(stack)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stack의 top을 삭제하고, 데이터를 반환한다</a:t>
            </a:r>
          </a:p>
          <a:p>
            <a:r>
              <a:t>조건: stack이 비어있지 않음</a:t>
            </a:r>
          </a:p>
          <a:p>
            <a:pPr>
              <a:lnSpc>
                <a:spcPct val="150000"/>
              </a:lnSpc>
            </a:pPr>
            <a:r>
              <a:t>동작: old_t에 stack의 top을 저장한다</a:t>
            </a:r>
            <a:br/>
            <a:r>
              <a:t>            v에 old_t의 val을 저장한다</a:t>
            </a:r>
            <a:br/>
            <a:r>
              <a:t>           stack의 size를 1 감소시킨다</a:t>
            </a:r>
            <a:br/>
            <a:r>
              <a:t>           stack의 top에 old_t의 next를 저장한다</a:t>
            </a:r>
            <a:br/>
            <a:r>
              <a:t>           old_t를 삭제한다</a:t>
            </a:r>
          </a:p>
          <a:p>
            <a:r>
              <a:t>반환: v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POP(stack)의 시간 효율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포인터 한 번 교체 + free: 상수 시간</a:t>
            </a:r>
          </a:p>
          <a:p>
            <a:endParaRPr/>
          </a:p>
          <a:p>
            <a:r>
              <a:t>결론: 상수 시간</a:t>
            </a:r>
          </a:p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3505" y="260839"/>
            <a:ext cx="3528970" cy="610859"/>
          </a:xfrm>
        </p:spPr>
        <p:txBody>
          <a:bodyPr>
            <a:spAutoFit/>
          </a:bodyPr>
          <a:lstStyle/>
          <a:p>
            <a:r>
              <a:t>PEEK(stack)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삭제 작업 없이 top에 있는 데이터를 조회만 한다</a:t>
            </a:r>
          </a:p>
          <a:p>
            <a:endParaRPr/>
          </a:p>
          <a:p>
            <a:r>
              <a:t>조건: stack이 비어있지 않음</a:t>
            </a:r>
          </a:p>
          <a:p>
            <a:endParaRPr/>
          </a:p>
          <a:p>
            <a:r>
              <a:t>반환: stack의 top의 val</a:t>
            </a:r>
          </a:p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PEEK(stack)의 시간 효율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top의 val에 접근: 상수 시간</a:t>
            </a:r>
          </a:p>
          <a:p>
            <a:endParaRPr/>
          </a:p>
          <a:p>
            <a:r>
              <a:t>결론: 상수 시간</a:t>
            </a:r>
          </a:p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3407" y="262442"/>
            <a:ext cx="5289068" cy="607653"/>
          </a:xfrm>
        </p:spPr>
        <p:txBody>
          <a:bodyPr>
            <a:spAutoFit/>
          </a:bodyPr>
          <a:lstStyle/>
          <a:p>
            <a:r>
              <a:t>stack 경계/에러 처리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PUSH:  노드의 메모리 할당에 실패할 수 있음</a:t>
            </a:r>
          </a:p>
          <a:p>
            <a:endParaRPr/>
          </a:p>
          <a:p>
            <a:r>
              <a:t>POP:   stack의 top이 NULL이면, UNDERFLOW</a:t>
            </a:r>
          </a:p>
          <a:p>
            <a:endParaRPr/>
          </a:p>
          <a:p>
            <a:r>
              <a:t>PEEK:  stack의 top이 NULL이면, UNDERFLOW</a:t>
            </a:r>
          </a:p>
          <a:p>
            <a:endParaRPr/>
          </a:p>
          <a:p>
            <a:r>
              <a:t>새로운 노드나 top에만 접근하므로 상수 시간</a:t>
            </a:r>
          </a:p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4310" y="262442"/>
            <a:ext cx="6438165" cy="607653"/>
          </a:xfrm>
        </p:spPr>
        <p:txBody>
          <a:bodyPr>
            <a:spAutoFit/>
          </a:bodyPr>
          <a:lstStyle/>
          <a:p>
            <a:r>
              <a:t>배열 리스트로 구현한 스택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배열 리스트에서는 마지막 원소가 첫번째 원소보다 추가/삭제가 쉽다</a:t>
            </a:r>
          </a:p>
          <a:p>
            <a:endParaRPr/>
          </a:p>
          <a:p>
            <a:r>
              <a:t>PUSH: 배열 리스트의 INSERT(A, A.size + 1)</a:t>
            </a:r>
          </a:p>
          <a:p>
            <a:endParaRPr/>
          </a:p>
          <a:p>
            <a:r>
              <a:t>POP: 배열 리스트의 DELETE(A, A.size)</a:t>
            </a:r>
          </a:p>
          <a:p>
            <a:endParaRPr/>
          </a:p>
          <a:p>
            <a:r>
              <a:t>PEEK: 배열 리스트의 RETRIEVE(A, A.size)</a:t>
            </a:r>
          </a:p>
          <a:p>
            <a:endParaRPr/>
          </a:p>
          <a:p>
            <a:r>
              <a:t>링크드 리스트처럼 첫번째 원소를 top으로 하려면...</a:t>
            </a:r>
          </a:p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9073" y="262442"/>
            <a:ext cx="4963402" cy="607653"/>
          </a:xfrm>
        </p:spPr>
        <p:txBody>
          <a:bodyPr>
            <a:spAutoFit/>
          </a:bodyPr>
          <a:lstStyle/>
          <a:p>
            <a:r>
              <a:t>배열로 구현한 스택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데이터를 배열의 오른쪽부터 순서대로 저장한다</a:t>
            </a:r>
          </a:p>
          <a:p>
            <a:endParaRPr/>
          </a:p>
          <a:p>
            <a:r>
              <a:t>data: 배열</a:t>
            </a:r>
          </a:p>
          <a:p>
            <a:endParaRPr/>
          </a:p>
          <a:p>
            <a:r>
              <a:t>capacity: 최대 저장량</a:t>
            </a:r>
          </a:p>
          <a:p>
            <a:endParaRPr/>
          </a:p>
          <a:p>
            <a:r>
              <a:t>top: 마지막에 추가된 데이터의 인덱스 </a:t>
            </a:r>
            <a:br/>
            <a:r>
              <a:t>          (스택이 비어있으면, top == capacity + 1)</a:t>
            </a:r>
          </a:p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8922" y="262442"/>
            <a:ext cx="4813553" cy="607653"/>
          </a:xfrm>
        </p:spPr>
        <p:txBody>
          <a:bodyPr>
            <a:spAutoFit/>
          </a:bodyPr>
          <a:lstStyle/>
          <a:p>
            <a:r>
              <a:t>ASTACK 상태/크기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비어있음 : top == capacity + 1</a:t>
            </a:r>
          </a:p>
          <a:p>
            <a:endParaRPr/>
          </a:p>
          <a:p>
            <a:r>
              <a:t>가득 차있음 : top == 1</a:t>
            </a:r>
          </a:p>
          <a:p>
            <a:endParaRPr/>
          </a:p>
          <a:p>
            <a:r>
              <a:t>size : capacity - top + 1</a:t>
            </a:r>
          </a:p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2285" y="260839"/>
            <a:ext cx="7280190" cy="610859"/>
          </a:xfrm>
        </p:spPr>
        <p:txBody>
          <a:bodyPr>
            <a:spAutoFit/>
          </a:bodyPr>
          <a:lstStyle/>
          <a:p>
            <a:r>
              <a:t>ASTACK_INITIALIZE(stack, cap)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cap개 데이터를 저장가능하게 stack을 초기화한다</a:t>
            </a:r>
          </a:p>
          <a:p>
            <a:endParaRPr/>
          </a:p>
          <a:p>
            <a:r>
              <a:t>조건: cap &gt; 0</a:t>
            </a:r>
          </a:p>
          <a:p>
            <a:pPr>
              <a:lnSpc>
                <a:spcPct val="150000"/>
              </a:lnSpc>
            </a:pPr>
            <a:r>
              <a:t>동작: stack의 data에 새로운 배열을 저장한다</a:t>
            </a:r>
            <a:br/>
            <a:r>
              <a:t>            (배열 크기: cap + 1)</a:t>
            </a:r>
            <a:br/>
            <a:r>
              <a:t>            stack의 capacity에 cap을 저장한다</a:t>
            </a:r>
            <a:br/>
            <a:r>
              <a:t>            stack의 top에 cap + 1을 저장한다</a:t>
            </a:r>
          </a:p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2120" y="260839"/>
            <a:ext cx="6240355" cy="610859"/>
          </a:xfrm>
        </p:spPr>
        <p:txBody>
          <a:bodyPr>
            <a:spAutoFit/>
          </a:bodyPr>
          <a:lstStyle/>
          <a:p>
            <a:r>
              <a:t>ASTACK_PUSH(stack, val)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stack에 val을 추가한다</a:t>
            </a:r>
          </a:p>
          <a:p>
            <a:endParaRPr/>
          </a:p>
          <a:p>
            <a:r>
              <a:t>조건: stack의 top &gt; 1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</a:t>
            </a:r>
            <a:r>
              <a:rPr lang="en-US"/>
              <a:t>stack</a:t>
            </a:r>
            <a:r>
              <a:rPr lang="ko-KR" altLang="en-US"/>
              <a:t>의 </a:t>
            </a:r>
            <a:r>
              <a:rPr lang="en-US" altLang="ko-KR"/>
              <a:t>data[</a:t>
            </a:r>
            <a:r>
              <a:t>stack의 top - 1</a:t>
            </a:r>
            <a:r>
              <a:rPr lang="en-US"/>
              <a:t>]</a:t>
            </a:r>
            <a:r>
              <a:t>에 val을 저장한다</a:t>
            </a:r>
            <a:br/>
            <a:r>
              <a:t>            stack의 top을 1 감소시킨다</a:t>
            </a:r>
          </a:p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60" y="262442"/>
            <a:ext cx="8728215" cy="607653"/>
          </a:xfrm>
        </p:spPr>
        <p:txBody>
          <a:bodyPr>
            <a:spAutoFit/>
          </a:bodyPr>
          <a:lstStyle/>
          <a:p>
            <a:r>
              <a:t>ASTACK_PUSH(stack, val)의 시간 효율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배열에 대입 1번</a:t>
            </a:r>
          </a:p>
          <a:p>
            <a:endParaRPr/>
          </a:p>
          <a:p>
            <a:r>
              <a:t>결론: 상수 시간</a:t>
            </a:r>
          </a:p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2417" y="260839"/>
            <a:ext cx="5160058" cy="610859"/>
          </a:xfrm>
        </p:spPr>
        <p:txBody>
          <a:bodyPr>
            <a:spAutoFit/>
          </a:bodyPr>
          <a:lstStyle/>
          <a:p>
            <a:r>
              <a:t>ASTACK_POP(stack)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stack에서 top을 삭제하고 데이터를 반환한다</a:t>
            </a:r>
          </a:p>
          <a:p>
            <a:endParaRPr/>
          </a:p>
          <a:p>
            <a:r>
              <a:t>조건: stack이 비어있지 않음 (top ≤ capacity)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v에 </a:t>
            </a:r>
            <a:r>
              <a:rPr lang="en-US" altLang="ko-KR"/>
              <a:t>stack</a:t>
            </a:r>
            <a:r>
              <a:rPr lang="ko-KR" altLang="en-US"/>
              <a:t>의 </a:t>
            </a:r>
            <a:r>
              <a:rPr lang="en-US" altLang="ko-KR"/>
              <a:t>data[stack</a:t>
            </a:r>
            <a:r>
              <a:rPr lang="ko-KR" altLang="en-US"/>
              <a:t>의 </a:t>
            </a:r>
            <a:r>
              <a:rPr lang="en-US" altLang="ko-KR"/>
              <a:t>top]</a:t>
            </a:r>
            <a:r>
              <a:rPr lang="ko-KR" altLang="en-US"/>
              <a:t>을</a:t>
            </a:r>
            <a:r>
              <a:t> 저장한다</a:t>
            </a:r>
            <a:br/>
            <a:r>
              <a:t>            stack의 top을 1 증가시킨다</a:t>
            </a:r>
          </a:p>
          <a:p>
            <a:endParaRPr/>
          </a:p>
          <a:p>
            <a:r>
              <a:t>반환: v</a:t>
            </a:r>
          </a:p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4556" y="262442"/>
            <a:ext cx="7647919" cy="607653"/>
          </a:xfrm>
        </p:spPr>
        <p:txBody>
          <a:bodyPr>
            <a:spAutoFit/>
          </a:bodyPr>
          <a:lstStyle/>
          <a:p>
            <a:r>
              <a:t>ASTACK_POP(stack)의 시간 효율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배열에서 데이터 읽기 1번</a:t>
            </a:r>
          </a:p>
          <a:p>
            <a:endParaRPr/>
          </a:p>
          <a:p>
            <a:r>
              <a:t>결론: 상수 시간</a:t>
            </a:r>
          </a:p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3263" y="260839"/>
            <a:ext cx="5349212" cy="610859"/>
          </a:xfrm>
        </p:spPr>
        <p:txBody>
          <a:bodyPr>
            <a:spAutoFit/>
          </a:bodyPr>
          <a:lstStyle/>
          <a:p>
            <a:r>
              <a:t>ASTACK_PEEK(stack)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top의 데이터를 반환한다</a:t>
            </a:r>
          </a:p>
          <a:p>
            <a:endParaRPr/>
          </a:p>
          <a:p>
            <a:r>
              <a:t>조건: stack이 비어있지 않음 (top ≤ capacity)</a:t>
            </a:r>
          </a:p>
          <a:p>
            <a:endParaRPr/>
          </a:p>
          <a:p>
            <a:r>
              <a:t>반환: stack의 data[stack</a:t>
            </a:r>
            <a:r>
              <a:rPr lang="ko-KR" altLang="en-US"/>
              <a:t>의 </a:t>
            </a:r>
            <a:r>
              <a:t>top]</a:t>
            </a:r>
          </a:p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401" y="262442"/>
            <a:ext cx="7837074" cy="607653"/>
          </a:xfrm>
        </p:spPr>
        <p:txBody>
          <a:bodyPr>
            <a:spAutoFit/>
          </a:bodyPr>
          <a:lstStyle/>
          <a:p>
            <a:r>
              <a:t>ASTACK_PEEK(stack)의 시간 효율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배열에서 데이터 읽기 1번</a:t>
            </a:r>
          </a:p>
          <a:p>
            <a:endParaRPr/>
          </a:p>
          <a:p>
            <a:r>
              <a:t>결론: 상수 시간</a:t>
            </a:r>
          </a:p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ASTACK 경계/에러 처리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PUSH:  if (top == 1) OVERFLOW (</a:t>
            </a:r>
            <a:r>
              <a:rPr lang="ko-KR" altLang="en-US"/>
              <a:t>저장할 공간</a:t>
            </a:r>
            <a:r>
              <a:t> 없음)</a:t>
            </a:r>
          </a:p>
          <a:p>
            <a:endParaRPr/>
          </a:p>
          <a:p>
            <a:r>
              <a:t>POP:   if (top == capacity + 1) UNDERFLOW (</a:t>
            </a:r>
            <a:r>
              <a:rPr lang="ko-KR" altLang="en-US"/>
              <a:t>없</a:t>
            </a:r>
            <a:r>
              <a:t>음)</a:t>
            </a:r>
          </a:p>
          <a:p>
            <a:endParaRPr/>
          </a:p>
          <a:p>
            <a:r>
              <a:t>PEEK:  if (top == capacity + 1) UNDERFLOW (</a:t>
            </a:r>
            <a:r>
              <a:rPr lang="ko-KR" altLang="en-US"/>
              <a:t>없</a:t>
            </a:r>
            <a:r>
              <a:t>음)</a:t>
            </a:r>
          </a:p>
          <a:p>
            <a:endParaRPr/>
          </a:p>
          <a:p>
            <a:r>
              <a:t>모든 연산은 배열 한 칸 접근만 하므로 상수 시간</a:t>
            </a:r>
          </a:p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9080" y="262442"/>
            <a:ext cx="5173395" cy="607653"/>
          </a:xfrm>
        </p:spPr>
        <p:txBody>
          <a:bodyPr>
            <a:spAutoFit/>
          </a:bodyPr>
          <a:lstStyle/>
          <a:p>
            <a:r>
              <a:t>예제: 미로 찾기 문제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시작점 s부터 도착지 d까지 경로 찾기</a:t>
            </a:r>
          </a:p>
          <a:p>
            <a:r>
              <a:t>*은 막힌 지점, 비어 있는 곳은 방문 가능</a:t>
            </a:r>
          </a:p>
          <a:p>
            <a:r>
              <a:t>미로 예시: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**********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*s  *   **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 * ** **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    *   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**** *** 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       d*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**********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1212" y="262442"/>
            <a:ext cx="7451263" cy="607653"/>
          </a:xfrm>
        </p:spPr>
        <p:txBody>
          <a:bodyPr>
            <a:spAutoFit/>
          </a:bodyPr>
          <a:lstStyle/>
          <a:p>
            <a:r>
              <a:t>미로에서 출구를 찾기 위한 규칙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간 곳은 표시해놓는다(-)</a:t>
            </a:r>
          </a:p>
          <a:p>
            <a:r>
              <a:t>갈 수 있는 곳은 표시해놓고(o) 언젠가 간다</a:t>
            </a:r>
          </a:p>
          <a:p>
            <a:r>
              <a:t>시작점 처리: 다음 선택지는 o 한 개 있음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**********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*-o *   **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 * ** **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    *   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**** *** 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       d*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**********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548" y="262442"/>
            <a:ext cx="7912927" cy="607653"/>
          </a:xfrm>
        </p:spPr>
        <p:txBody>
          <a:bodyPr>
            <a:spAutoFit/>
          </a:bodyPr>
          <a:lstStyle/>
          <a:p>
            <a:r>
              <a:t>다음에 어디로 갈지 선택하는 규칙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갈 곳들을 저장한 자료구조에서 </a:t>
            </a:r>
            <a:r>
              <a:rPr lang="ko-KR" altLang="en-US"/>
              <a:t>갈 곳을 </a:t>
            </a:r>
            <a:r>
              <a:t>하나 꺼내서</a:t>
            </a:r>
            <a:endParaRPr lang="en-US"/>
          </a:p>
          <a:p>
            <a:pPr marL="0" indent="0">
              <a:buNone/>
            </a:pPr>
            <a:r>
              <a:rPr lang="en-US"/>
              <a:t>   </a:t>
            </a:r>
            <a:r>
              <a:t>거기로 간다</a:t>
            </a:r>
          </a:p>
          <a:p>
            <a:r>
              <a:t>유일했던 선택지 처리: 다음 선택지는 o 두 개 있음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**********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*--o*   **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**o* ** **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    *   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**** *** 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       d*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**********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0738" y="262442"/>
            <a:ext cx="4501737" cy="607653"/>
          </a:xfrm>
        </p:spPr>
        <p:txBody>
          <a:bodyPr>
            <a:spAutoFit/>
          </a:bodyPr>
          <a:lstStyle/>
          <a:p>
            <a:r>
              <a:t>막다른 곳의 규칙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o가 나올 때까지 돌아가며 표시해놓는다(x)</a:t>
            </a:r>
          </a:p>
          <a:p>
            <a:endParaRPr lang="en-US"/>
          </a:p>
          <a:p>
            <a:r>
              <a:t>오른쪽으로 갔다가 다시 돌아옴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**********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*--x*   **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**o* ** **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    *   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**** *** 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       d*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**********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5501" y="262442"/>
            <a:ext cx="3026974" cy="607653"/>
          </a:xfrm>
        </p:spPr>
        <p:txBody>
          <a:bodyPr>
            <a:spAutoFit/>
          </a:bodyPr>
          <a:lstStyle/>
          <a:p>
            <a:r>
              <a:t>종료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d에 도달하면 종료 (찾음)</a:t>
            </a:r>
          </a:p>
          <a:p>
            <a:r>
              <a:t>갈 곳 o가 없으면 종료 (못찾음)</a:t>
            </a:r>
          </a:p>
          <a:p>
            <a:endParaRPr lang="en-US"/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**********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*--x*   **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**-* ** **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 ---*   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****-*** 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   ----d*</a:t>
            </a:r>
          </a:p>
          <a:p>
            <a:pPr marL="0" indent="0">
              <a:buNone/>
            </a:pPr>
            <a:r>
              <a:rPr>
                <a:latin typeface="Consolas" panose="020B0609020204030204" pitchFamily="49" charset="0"/>
              </a:rPr>
              <a:t>**********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2877" y="262442"/>
            <a:ext cx="6989598" cy="607653"/>
          </a:xfrm>
        </p:spPr>
        <p:txBody>
          <a:bodyPr>
            <a:spAutoFit/>
          </a:bodyPr>
          <a:lstStyle/>
          <a:p>
            <a:r>
              <a:t>미로 찾기를 하며 저장할 정보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모음 (갈 곳들): 스택 (최신 위치가 가장 가깝다)</a:t>
            </a:r>
          </a:p>
          <a:p>
            <a:endParaRPr/>
          </a:p>
          <a:p>
            <a:r>
              <a:t>- 모음 (간 곳들): 리스트 (경로 확인용)</a:t>
            </a:r>
          </a:p>
          <a:p>
            <a:endParaRPr/>
          </a:p>
          <a:p>
            <a:r>
              <a:t>x,-,* 모음 (안갈 곳들): 미로 정보에 표시</a:t>
            </a:r>
          </a:p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168" y="262442"/>
            <a:ext cx="8222307" cy="607653"/>
          </a:xfrm>
        </p:spPr>
        <p:txBody>
          <a:bodyPr>
            <a:spAutoFit/>
          </a:bodyPr>
          <a:lstStyle/>
          <a:p>
            <a:r>
              <a:t>미로 정보: 2차원 배열 (배열의 배열)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미로[i][j]: (행 i, 열 j) 위치의 상태</a:t>
            </a:r>
          </a:p>
          <a:p>
            <a:endParaRPr/>
          </a:p>
          <a:p>
            <a:r>
              <a:t>0 : 가도 됨</a:t>
            </a:r>
          </a:p>
          <a:p>
            <a:endParaRPr/>
          </a:p>
          <a:p>
            <a:r>
              <a:t>1 : 갈 수 없거나 이미 갔음</a:t>
            </a:r>
          </a:p>
          <a:p>
            <a:endParaRPr/>
          </a:p>
          <a:p>
            <a:r>
              <a:t>처음 주어진 미로 정보를 수정해도 된다고 가정</a:t>
            </a:r>
          </a:p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좌표 구조체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row: 행 좌표</a:t>
            </a:r>
          </a:p>
          <a:p>
            <a:endParaRPr/>
          </a:p>
          <a:p>
            <a:r>
              <a:t>col: 열 좌표</a:t>
            </a:r>
          </a:p>
          <a:p>
            <a:endParaRPr/>
          </a:p>
          <a:p>
            <a:r>
              <a:t>prev_size: 현재 점을 탐색 경로에 추가하기 직전</a:t>
            </a:r>
            <a:r>
              <a:rPr lang="ko-KR" altLang="en-US"/>
              <a:t>에</a:t>
            </a:r>
            <a:br>
              <a:rPr lang="en-US"/>
            </a:br>
            <a:r>
              <a:rPr lang="en-US"/>
              <a:t>                      </a:t>
            </a:r>
            <a:r>
              <a:t>경로의 길이 (시작점은 0)</a:t>
            </a:r>
            <a:br>
              <a:rPr/>
            </a:b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3304" y="260839"/>
            <a:ext cx="5199171" cy="610859"/>
          </a:xfrm>
        </p:spPr>
        <p:txBody>
          <a:bodyPr>
            <a:spAutoFit/>
          </a:bodyPr>
          <a:lstStyle/>
          <a:p>
            <a:r>
              <a:t>STATUS(maze, point)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반환: maze[point의 row][point의 col]</a:t>
            </a:r>
          </a:p>
          <a:p>
            <a:endParaRPr/>
          </a:p>
          <a:p>
            <a:pPr marL="0" indent="0">
              <a:buNone/>
            </a:pPr>
            <a:r>
              <a:t>// 0 : 처리하지 않은 통로 </a:t>
            </a:r>
            <a:endParaRPr lang="en-US"/>
          </a:p>
          <a:p>
            <a:pPr marL="0" indent="0">
              <a:buNone/>
            </a:pPr>
            <a:r>
              <a:rPr lang="en-US"/>
              <a:t>// </a:t>
            </a:r>
            <a:r>
              <a:t>1 : 벽/이미 방문/방문 예정 (모두 방문 계획 금지)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2879" y="260839"/>
            <a:ext cx="4879596" cy="610859"/>
          </a:xfrm>
        </p:spPr>
        <p:txBody>
          <a:bodyPr>
            <a:spAutoFit/>
          </a:bodyPr>
          <a:lstStyle/>
          <a:p>
            <a:r>
              <a:t>MARK(maze, point)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maze[point의 row][point의 col]에 1 저장</a:t>
            </a:r>
          </a:p>
          <a:p>
            <a:endParaRPr/>
          </a:p>
          <a:p>
            <a:pPr marL="0" indent="0">
              <a:buNone/>
            </a:pPr>
            <a:r>
              <a:t>// 방문했거나 방문 예정 표시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2573" y="262442"/>
            <a:ext cx="4589902" cy="607653"/>
          </a:xfrm>
        </p:spPr>
        <p:txBody>
          <a:bodyPr>
            <a:spAutoFit/>
          </a:bodyPr>
          <a:lstStyle/>
          <a:p>
            <a:r>
              <a:t>좌표 리스트/스택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points: 좌표 구조체의 배열</a:t>
            </a:r>
          </a:p>
          <a:p>
            <a:endParaRPr/>
          </a:p>
          <a:p>
            <a:r>
              <a:t>size: 저장된 좌표 개수</a:t>
            </a:r>
          </a:p>
          <a:p>
            <a:endParaRPr/>
          </a:p>
          <a:p>
            <a:r>
              <a:t>capacity: 최대 저장량</a:t>
            </a:r>
          </a:p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6340" y="260839"/>
            <a:ext cx="3706135" cy="610859"/>
          </a:xfrm>
        </p:spPr>
        <p:txBody>
          <a:bodyPr>
            <a:spAutoFit/>
          </a:bodyPr>
          <a:lstStyle/>
          <a:p>
            <a:r>
              <a:t>CREATE(cap)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list에 새 좌표 리스트/스택 저장</a:t>
            </a:r>
          </a:p>
          <a:p>
            <a:pPr>
              <a:lnSpc>
                <a:spcPct val="150000"/>
              </a:lnSpc>
            </a:pPr>
            <a:r>
              <a:t>list의 points에 새 배열 저장 (크기: cap + 1)</a:t>
            </a:r>
          </a:p>
          <a:p>
            <a:pPr>
              <a:lnSpc>
                <a:spcPct val="150000"/>
              </a:lnSpc>
            </a:pPr>
            <a:r>
              <a:t>list의 capacity에 cap 저장</a:t>
            </a:r>
          </a:p>
          <a:p>
            <a:pPr>
              <a:lnSpc>
                <a:spcPct val="150000"/>
              </a:lnSpc>
            </a:pPr>
            <a:r>
              <a:t>list의 size에 0 저장</a:t>
            </a:r>
          </a:p>
          <a:p>
            <a:pPr>
              <a:lnSpc>
                <a:spcPct val="150000"/>
              </a:lnSpc>
            </a:pPr>
            <a:r>
              <a:t>반환: list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1987" y="260839"/>
            <a:ext cx="4390488" cy="610859"/>
          </a:xfrm>
        </p:spPr>
        <p:txBody>
          <a:bodyPr>
            <a:spAutoFit/>
          </a:bodyPr>
          <a:lstStyle/>
          <a:p>
            <a:r>
              <a:t>PUSH(list, point)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조건: list의 size &lt; list의 capacity</a:t>
            </a:r>
          </a:p>
          <a:p>
            <a:pPr>
              <a:lnSpc>
                <a:spcPct val="150000"/>
              </a:lnSpc>
            </a:pPr>
            <a:r>
              <a:t>list의 points[size + 1]에 point 저장</a:t>
            </a:r>
          </a:p>
          <a:p>
            <a:pPr>
              <a:lnSpc>
                <a:spcPct val="150000"/>
              </a:lnSpc>
            </a:pPr>
            <a:r>
              <a:t>size 1 증가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2016" y="260839"/>
            <a:ext cx="2880459" cy="610859"/>
          </a:xfrm>
        </p:spPr>
        <p:txBody>
          <a:bodyPr>
            <a:spAutoFit/>
          </a:bodyPr>
          <a:lstStyle/>
          <a:p>
            <a:r>
              <a:t>POP(list)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조건: list의 size &gt; 0</a:t>
            </a:r>
          </a:p>
          <a:p>
            <a:pPr>
              <a:lnSpc>
                <a:spcPct val="150000"/>
              </a:lnSpc>
            </a:pPr>
            <a:r>
              <a:t>tmp에 list의 points[size] 저장</a:t>
            </a:r>
          </a:p>
          <a:p>
            <a:pPr>
              <a:lnSpc>
                <a:spcPct val="150000"/>
              </a:lnSpc>
            </a:pPr>
            <a:r>
              <a:t>list의 size 1 감소</a:t>
            </a:r>
          </a:p>
          <a:p>
            <a:pPr>
              <a:lnSpc>
                <a:spcPct val="150000"/>
              </a:lnSpc>
            </a:pPr>
            <a:r>
              <a:t>반환: tmp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231" y="260839"/>
            <a:ext cx="7428244" cy="610859"/>
          </a:xfrm>
        </p:spPr>
        <p:txBody>
          <a:bodyPr>
            <a:spAutoFit/>
          </a:bodyPr>
          <a:lstStyle/>
          <a:p>
            <a:r>
              <a:t>DELETE_TO_SIZE(list, new_size)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조건: 0 ≤ new_size ≤ list의 size</a:t>
            </a:r>
          </a:p>
          <a:p>
            <a:pPr>
              <a:lnSpc>
                <a:spcPct val="150000"/>
              </a:lnSpc>
            </a:pPr>
            <a:r>
              <a:t>list의 size를 new_size로 변경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76900-9303-9AC0-D02D-64A5E362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B9A95-916D-4BB9-35FB-8A331B10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171" y="262442"/>
            <a:ext cx="3950305" cy="607653"/>
          </a:xfrm>
        </p:spPr>
        <p:txBody>
          <a:bodyPr>
            <a:spAutoFit/>
          </a:bodyPr>
          <a:lstStyle/>
          <a:p>
            <a:r>
              <a:rPr lang="ko-KR" altLang="en-US"/>
              <a:t>미로찾기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C4E63-8525-F7A3-7CCA-2BA48FAA2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PUSH_NBRS(maze, to_visit, point)</a:t>
            </a:r>
            <a:br>
              <a:rPr lang="en-US"/>
            </a:br>
            <a:br>
              <a:rPr lang="en-US"/>
            </a:br>
            <a:r>
              <a:rPr lang="ko-KR" altLang="en-US"/>
              <a:t>미로 </a:t>
            </a:r>
            <a:r>
              <a:rPr lang="en-US" altLang="ko-KR"/>
              <a:t>maze</a:t>
            </a:r>
            <a:r>
              <a:rPr lang="ko-KR" altLang="en-US"/>
              <a:t>에서 </a:t>
            </a:r>
            <a:r>
              <a:rPr lang="en-US" altLang="ko-KR"/>
              <a:t>point</a:t>
            </a:r>
            <a:r>
              <a:rPr lang="ko-KR" altLang="en-US"/>
              <a:t>의 이웃 점들 중에 아직 확인하지 않은 점들을 스택 </a:t>
            </a:r>
            <a:r>
              <a:rPr lang="en-US" altLang="ko-KR"/>
              <a:t>to_visit</a:t>
            </a:r>
            <a:r>
              <a:rPr lang="ko-KR" altLang="en-US"/>
              <a:t>에 추가한다</a:t>
            </a:r>
            <a:r>
              <a:rPr lang="en-US" altLang="ko-KR"/>
              <a:t>.</a:t>
            </a:r>
          </a:p>
          <a:p>
            <a:endParaRPr lang="en-US"/>
          </a:p>
          <a:p>
            <a:r>
              <a:rPr lang="en-US"/>
              <a:t>FIND(maze, start, end, len)</a:t>
            </a:r>
            <a:br>
              <a:rPr lang="en-US"/>
            </a:br>
            <a:br>
              <a:rPr lang="en-US"/>
            </a:br>
            <a:r>
              <a:rPr lang="ko-KR" altLang="en-US"/>
              <a:t>가로세로 크기 </a:t>
            </a:r>
            <a:r>
              <a:rPr lang="en-US" altLang="ko-KR"/>
              <a:t>len</a:t>
            </a:r>
            <a:r>
              <a:rPr lang="ko-KR" altLang="en-US"/>
              <a:t>인 미로 </a:t>
            </a:r>
            <a:r>
              <a:rPr lang="en-US" altLang="ko-KR"/>
              <a:t>maze</a:t>
            </a:r>
            <a:r>
              <a:rPr lang="ko-KR" altLang="en-US"/>
              <a:t>에서 시작점 </a:t>
            </a:r>
            <a:r>
              <a:rPr lang="en-US" altLang="ko-KR"/>
              <a:t>start</a:t>
            </a:r>
            <a:r>
              <a:rPr lang="ko-KR" altLang="en-US"/>
              <a:t>에서 도착점 </a:t>
            </a:r>
            <a:r>
              <a:rPr lang="en-US" altLang="ko-KR"/>
              <a:t>end</a:t>
            </a:r>
            <a:r>
              <a:rPr lang="ko-KR" altLang="en-US"/>
              <a:t>까지 경로를 반환한다</a:t>
            </a:r>
            <a:r>
              <a:rPr lang="en-US" altLang="ko-KR"/>
              <a:t>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087763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803" y="260839"/>
            <a:ext cx="7823672" cy="610859"/>
          </a:xfrm>
        </p:spPr>
        <p:txBody>
          <a:bodyPr>
            <a:spAutoFit/>
          </a:bodyPr>
          <a:lstStyle/>
          <a:p>
            <a:r>
              <a:rPr lang="en-US"/>
              <a:t>PUSH_NBRS</a:t>
            </a:r>
            <a:r>
              <a:t>(maze, to_visit, point)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현재 위치 point의 인접 좌표 중에서 아직 갈 계획도 없었던 좌표들을 to_visit에 추가한다</a:t>
            </a:r>
          </a:p>
          <a:p>
            <a:pPr>
              <a:lnSpc>
                <a:spcPct val="150000"/>
              </a:lnSpc>
            </a:pPr>
            <a:r>
              <a:t>maze: 미로 정보 (갈 수 없거나 </a:t>
            </a:r>
            <a:r>
              <a:rPr lang="ko-KR" altLang="en-US"/>
              <a:t>확인한 점이</a:t>
            </a:r>
            <a:r>
              <a:t> 표시됨)</a:t>
            </a:r>
          </a:p>
          <a:p>
            <a:pPr>
              <a:lnSpc>
                <a:spcPct val="150000"/>
              </a:lnSpc>
            </a:pPr>
            <a:r>
              <a:t>to_visit: 갈 곳들(스택)</a:t>
            </a:r>
          </a:p>
          <a:p>
            <a:pPr>
              <a:lnSpc>
                <a:spcPct val="150000"/>
              </a:lnSpc>
            </a:pPr>
            <a:r>
              <a:t>point: 현재 위치</a:t>
            </a:r>
          </a:p>
          <a:p>
            <a:pPr>
              <a:lnSpc>
                <a:spcPct val="150000"/>
              </a:lnSpc>
            </a:pPr>
            <a:r>
              <a:t>이동은 상/하/좌/우 4-이웃만 허용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05" y="262442"/>
            <a:ext cx="8836770" cy="607653"/>
          </a:xfrm>
        </p:spPr>
        <p:txBody>
          <a:bodyPr>
            <a:spAutoFit/>
          </a:bodyPr>
          <a:lstStyle/>
          <a:p>
            <a:r>
              <a:rPr lang="en-US"/>
              <a:t>PUSH_NBRS</a:t>
            </a:r>
            <a:r>
              <a:t>(maze, to_visit, point)</a:t>
            </a:r>
            <a:r>
              <a:rPr lang="ko-KR" altLang="en-US"/>
              <a:t> 동작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n_added에 0 저장</a:t>
            </a:r>
          </a:p>
          <a:p>
            <a:r>
              <a:t>반복: point의 상하좌우 좌표 next에 대하여</a:t>
            </a:r>
          </a:p>
          <a:p>
            <a:pPr marL="0" indent="0">
              <a:buNone/>
            </a:pPr>
            <a:r>
              <a:t>       만약: STATUS(maze, next) == 0 이면</a:t>
            </a:r>
          </a:p>
          <a:p>
            <a:pPr marL="0" indent="0">
              <a:buNone/>
            </a:pPr>
            <a:r>
              <a:t>              // next의 prev_size는 point까지 경로 길이</a:t>
            </a:r>
          </a:p>
          <a:p>
            <a:pPr marL="0" indent="0">
              <a:buNone/>
            </a:pPr>
            <a:r>
              <a:t>              next의 prev_size에 point의 prev_size + 1 저장</a:t>
            </a:r>
          </a:p>
          <a:p>
            <a:pPr marL="0" indent="0">
              <a:buNone/>
            </a:pPr>
            <a:r>
              <a:t>              MARK(maze, next)</a:t>
            </a:r>
          </a:p>
          <a:p>
            <a:pPr marL="0" indent="0">
              <a:buNone/>
            </a:pPr>
            <a:r>
              <a:t>              PUSH(to_visit, next)</a:t>
            </a:r>
          </a:p>
          <a:p>
            <a:pPr marL="0" indent="0">
              <a:buNone/>
            </a:pPr>
            <a:r>
              <a:t>              n_added 1 증가</a:t>
            </a:r>
          </a:p>
          <a:p>
            <a:r>
              <a:t>반환: n_added </a:t>
            </a:r>
            <a:r>
              <a:rPr lang="en-US"/>
              <a:t> </a:t>
            </a:r>
            <a:r>
              <a:t>// 추가된 좌표 개수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STATUS/MARK 시점 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STATUS==0인 이웃만 후보로 본다</a:t>
            </a:r>
          </a:p>
          <a:p>
            <a:endParaRPr/>
          </a:p>
          <a:p>
            <a:r>
              <a:t>후보를 스택에 넣기 전에 MARK=1로 바꿔 '방문 예정' 표시</a:t>
            </a:r>
          </a:p>
          <a:p>
            <a:endParaRPr/>
          </a:p>
          <a:p>
            <a:r>
              <a:t>효과: 중복 PUSH 방지(각 칸은 최대 한 번 스택에 들어감)</a:t>
            </a:r>
          </a:p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7476" y="260839"/>
            <a:ext cx="6344999" cy="610859"/>
          </a:xfrm>
        </p:spPr>
        <p:txBody>
          <a:bodyPr>
            <a:spAutoFit/>
          </a:bodyPr>
          <a:lstStyle/>
          <a:p>
            <a:r>
              <a:t>FIND(maze, start, end, len)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start에서 end까지 가는 경로를 찾아서 반환한다</a:t>
            </a:r>
          </a:p>
          <a:p>
            <a:pPr>
              <a:lnSpc>
                <a:spcPct val="150000"/>
              </a:lnSpc>
            </a:pPr>
            <a:r>
              <a:t>maze: 미로 정보 (갈 수 없거나 </a:t>
            </a:r>
            <a:r>
              <a:rPr lang="ko-KR" altLang="en-US"/>
              <a:t>확인한 점이</a:t>
            </a:r>
            <a:r>
              <a:t> 표시됨)</a:t>
            </a:r>
          </a:p>
          <a:p>
            <a:pPr>
              <a:lnSpc>
                <a:spcPct val="150000"/>
              </a:lnSpc>
            </a:pPr>
            <a:r>
              <a:t>start: 시작점 좌표</a:t>
            </a:r>
          </a:p>
          <a:p>
            <a:pPr>
              <a:lnSpc>
                <a:spcPct val="150000"/>
              </a:lnSpc>
            </a:pPr>
            <a:r>
              <a:t>end: 도착점 좌표</a:t>
            </a:r>
          </a:p>
          <a:p>
            <a:pPr>
              <a:lnSpc>
                <a:spcPct val="150000"/>
              </a:lnSpc>
            </a:pPr>
            <a:r>
              <a:t>len: 정사각형 미로의 한 변 길이 (행과 열 개수)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379" y="262442"/>
            <a:ext cx="7358096" cy="607653"/>
          </a:xfrm>
        </p:spPr>
        <p:txBody>
          <a:bodyPr>
            <a:spAutoFit/>
          </a:bodyPr>
          <a:lstStyle/>
          <a:p>
            <a:r>
              <a:rPr lang="en-US"/>
              <a:t>FIND</a:t>
            </a:r>
            <a:r>
              <a:t>(maze, start, end, len) 가정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미로는 정사각형, 한 변 길이는 len</a:t>
            </a:r>
          </a:p>
          <a:p>
            <a:endParaRPr/>
          </a:p>
          <a:p>
            <a:r>
              <a:t>시작점과 도착점은 미로 내부의 통로(0)</a:t>
            </a:r>
          </a:p>
          <a:p>
            <a:endParaRPr/>
          </a:p>
          <a:p>
            <a:r>
              <a:t>가장자리는 모두 1(벽)로 둘러싸여 있어서 범위체크 생략 가능</a:t>
            </a:r>
          </a:p>
          <a:p>
            <a:endParaRPr/>
          </a:p>
          <a:p>
            <a:r>
              <a:t>미로 정보는 수정해도 됨</a:t>
            </a:r>
          </a:p>
          <a:p>
            <a:endParaRPr/>
          </a:p>
          <a:p>
            <a:r>
              <a:t>start ≠ end</a:t>
            </a:r>
          </a:p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380" y="262442"/>
            <a:ext cx="7358095" cy="607653"/>
          </a:xfrm>
        </p:spPr>
        <p:txBody>
          <a:bodyPr>
            <a:spAutoFit/>
          </a:bodyPr>
          <a:lstStyle/>
          <a:p>
            <a:r>
              <a:rPr lang="en-US"/>
              <a:t>FIND</a:t>
            </a:r>
            <a:r>
              <a:t>(maze, start, end, len) 변수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to_visit: 갈 곳 후보 스택(최근 이웃부터 처리)</a:t>
            </a:r>
          </a:p>
          <a:p>
            <a:pPr>
              <a:lnSpc>
                <a:spcPct val="150000"/>
              </a:lnSpc>
            </a:pPr>
            <a:r>
              <a:t>maze에 표시된 좌표는 to_visit에 추가하지 않음</a:t>
            </a:r>
          </a:p>
          <a:p>
            <a:pPr>
              <a:lnSpc>
                <a:spcPct val="150000"/>
              </a:lnSpc>
            </a:pPr>
            <a:r>
              <a:t>path: 시작점부터 현재 좌표까지의 경로 리스트.</a:t>
            </a:r>
          </a:p>
          <a:p>
            <a:pPr>
              <a:lnSpc>
                <a:spcPct val="150000"/>
              </a:lnSpc>
            </a:pPr>
            <a:r>
              <a:t>path는 다음 좌표로 갈 때마다 갱신됨</a:t>
            </a:r>
          </a:p>
          <a:p>
            <a:pPr>
              <a:lnSpc>
                <a:spcPct val="150000"/>
              </a:lnSpc>
            </a:pPr>
            <a:r>
              <a:t>going_back: 막다른 곳에서 거꾸로 왔는지 체크.</a:t>
            </a:r>
          </a:p>
          <a:p>
            <a:pPr>
              <a:lnSpc>
                <a:spcPct val="150000"/>
              </a:lnSpc>
            </a:pPr>
            <a:r>
              <a:t>거꾸로 온 경우 path를 되돌려야 함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380" y="262442"/>
            <a:ext cx="7358095" cy="607653"/>
          </a:xfrm>
        </p:spPr>
        <p:txBody>
          <a:bodyPr>
            <a:spAutoFit/>
          </a:bodyPr>
          <a:lstStyle/>
          <a:p>
            <a:r>
              <a:rPr lang="en-US"/>
              <a:t>FIND</a:t>
            </a:r>
            <a:r>
              <a:t>(maze, start, end, len) </a:t>
            </a:r>
            <a:r>
              <a:rPr lang="ko-KR" altLang="en-US"/>
              <a:t>특징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to_visit에 있는 좌표들은 모두 maze에서 1(방문 예정)</a:t>
            </a:r>
          </a:p>
          <a:p>
            <a:endParaRPr/>
          </a:p>
          <a:p>
            <a:r>
              <a:t>path에 있는 좌표들</a:t>
            </a:r>
            <a:r>
              <a:rPr lang="ko-KR" altLang="en-US"/>
              <a:t>도</a:t>
            </a:r>
            <a:r>
              <a:t> 모두 maze에서 1(</a:t>
            </a:r>
            <a:r>
              <a:rPr lang="en-US"/>
              <a:t>path</a:t>
            </a:r>
            <a:r>
              <a:rPr lang="ko-KR" altLang="en-US"/>
              <a:t>에 추가되기 전 </a:t>
            </a:r>
            <a:r>
              <a:t>to_visit에 있었음)</a:t>
            </a:r>
          </a:p>
          <a:p>
            <a:endParaRPr/>
          </a:p>
          <a:p>
            <a:r>
              <a:t>막다른 길에서 돌아갈 때 시작점부터 돌아간 점까지 path가 보존되어 있음(스택의 특성)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379" y="262442"/>
            <a:ext cx="7358096" cy="607653"/>
          </a:xfrm>
        </p:spPr>
        <p:txBody>
          <a:bodyPr>
            <a:spAutoFit/>
          </a:bodyPr>
          <a:lstStyle/>
          <a:p>
            <a:r>
              <a:rPr lang="en-US"/>
              <a:t>FIND</a:t>
            </a:r>
            <a:r>
              <a:t>(maze, start, end, len) 동작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to_visit에서 갈 좌표를 하나 꺼낸다.</a:t>
            </a:r>
          </a:p>
          <a:p>
            <a:pPr>
              <a:lnSpc>
                <a:spcPct val="150000"/>
              </a:lnSpc>
            </a:pPr>
            <a:r>
              <a:t>꺼낸 좌표가 도착점이면, path를 반환하고 종료.</a:t>
            </a:r>
          </a:p>
          <a:p>
            <a:pPr>
              <a:lnSpc>
                <a:spcPct val="150000"/>
              </a:lnSpc>
            </a:pPr>
            <a:r>
              <a:t>꺼낸 좌표의 이웃 좌표들을 </a:t>
            </a:r>
            <a:r>
              <a:rPr lang="en-US"/>
              <a:t>PUSH_NBRS</a:t>
            </a:r>
            <a:r>
              <a:t>로 to_visit에 추가.</a:t>
            </a:r>
          </a:p>
          <a:p>
            <a:pPr>
              <a:lnSpc>
                <a:spcPct val="150000"/>
              </a:lnSpc>
            </a:pPr>
            <a:r>
              <a:t>to_visit에 좌표가 있는 한 계속 반복.</a:t>
            </a:r>
          </a:p>
          <a:p>
            <a:pPr>
              <a:lnSpc>
                <a:spcPct val="150000"/>
              </a:lnSpc>
            </a:pPr>
            <a:r>
              <a:t>to_visit이 비어있으면, NULL 반환(못찾음).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870" y="260839"/>
            <a:ext cx="7202605" cy="610859"/>
          </a:xfrm>
        </p:spPr>
        <p:txBody>
          <a:bodyPr>
            <a:spAutoFit/>
          </a:bodyPr>
          <a:lstStyle/>
          <a:p>
            <a:r>
              <a:rPr lang="en-US"/>
              <a:t>FIND</a:t>
            </a:r>
            <a:r>
              <a:t>(maze, start, end, len)  1/4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to_visit에 CREATE(</a:t>
            </a:r>
            <a:r>
              <a:rPr lang="en-US" altLang="ko-KR"/>
              <a:t>len * len</a:t>
            </a:r>
            <a:r>
              <a:t>) 저장    // 갈 곳들</a:t>
            </a:r>
          </a:p>
          <a:p>
            <a:pPr>
              <a:lnSpc>
                <a:spcPct val="150000"/>
              </a:lnSpc>
            </a:pPr>
            <a:r>
              <a:t>path에 CREATE(</a:t>
            </a:r>
            <a:r>
              <a:rPr lang="en-US" altLang="ko-KR"/>
              <a:t>len * len)</a:t>
            </a:r>
            <a:r>
              <a:t> 저장         // 경로 기록</a:t>
            </a:r>
          </a:p>
          <a:p>
            <a:pPr>
              <a:lnSpc>
                <a:spcPct val="150000"/>
              </a:lnSpc>
            </a:pPr>
            <a:r>
              <a:t>going_back에 0 저장                  </a:t>
            </a:r>
            <a:r>
              <a:rPr lang="en-US"/>
              <a:t>           </a:t>
            </a:r>
            <a:r>
              <a:t>// 막다른 곳 체크</a:t>
            </a:r>
          </a:p>
          <a:p>
            <a:pPr>
              <a:lnSpc>
                <a:spcPct val="150000"/>
              </a:lnSpc>
            </a:pPr>
            <a:r>
              <a:t>start의 prev_size에 0 저장</a:t>
            </a:r>
          </a:p>
          <a:p>
            <a:pPr>
              <a:lnSpc>
                <a:spcPct val="150000"/>
              </a:lnSpc>
            </a:pPr>
            <a:r>
              <a:t>MARK(maze, start)</a:t>
            </a:r>
          </a:p>
          <a:p>
            <a:pPr>
              <a:lnSpc>
                <a:spcPct val="150000"/>
              </a:lnSpc>
            </a:pPr>
            <a:r>
              <a:t>PUSH(to_visit, start)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870" y="260839"/>
            <a:ext cx="7202605" cy="610859"/>
          </a:xfrm>
        </p:spPr>
        <p:txBody>
          <a:bodyPr>
            <a:spAutoFit/>
          </a:bodyPr>
          <a:lstStyle/>
          <a:p>
            <a:r>
              <a:rPr lang="en-US"/>
              <a:t>FIND</a:t>
            </a:r>
            <a:r>
              <a:t>(maze, start, end, len)  2/4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반복: to_visit이 비어있지 않음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</a:t>
            </a:r>
            <a:r>
              <a:t>      point에 POP(to_visit) 저장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만약: going_back == 1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DELETE_TO_SIZE(path, point의 prev_size)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PUSH(path, point)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870" y="260839"/>
            <a:ext cx="7202605" cy="610859"/>
          </a:xfrm>
        </p:spPr>
        <p:txBody>
          <a:bodyPr>
            <a:spAutoFit/>
          </a:bodyPr>
          <a:lstStyle/>
          <a:p>
            <a:r>
              <a:rPr lang="en-US"/>
              <a:t>FIND</a:t>
            </a:r>
            <a:r>
              <a:t>(maze, start, end, len)  3/4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       만약: </a:t>
            </a:r>
            <a:r>
              <a:rPr lang="en-US" altLang="ko-KR"/>
              <a:t>point</a:t>
            </a:r>
            <a:r>
              <a:rPr lang="ko-KR" altLang="en-US"/>
              <a:t>와 </a:t>
            </a:r>
            <a:r>
              <a:rPr lang="en-US" altLang="ko-KR"/>
              <a:t>end</a:t>
            </a:r>
            <a:r>
              <a:rPr lang="ko-KR" altLang="en-US"/>
              <a:t>의 좌표가 동일</a:t>
            </a:r>
            <a:endParaRPr/>
          </a:p>
          <a:p>
            <a:pPr marL="0" indent="0">
              <a:lnSpc>
                <a:spcPct val="150000"/>
              </a:lnSpc>
              <a:buNone/>
            </a:pPr>
            <a:r>
              <a:t>               반환: path </a:t>
            </a:r>
            <a:r>
              <a:rPr lang="en-US"/>
              <a:t>  </a:t>
            </a:r>
            <a:r>
              <a:t>// 도착점 포함 경로</a:t>
            </a:r>
          </a:p>
          <a:p>
            <a:pPr>
              <a:lnSpc>
                <a:spcPct val="150000"/>
              </a:lnSpc>
            </a:pPr>
            <a:r>
              <a:t>       n에 </a:t>
            </a:r>
            <a:r>
              <a:rPr lang="en-US"/>
              <a:t>PUSH_NBRS</a:t>
            </a:r>
            <a:r>
              <a:t>(maze, to_visit, point) 저장</a:t>
            </a:r>
          </a:p>
          <a:p>
            <a:pPr>
              <a:lnSpc>
                <a:spcPct val="150000"/>
              </a:lnSpc>
            </a:pPr>
            <a:r>
              <a:t>       만약: n == 0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going_back에 1 저장 (막다른 곳 처리)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870" y="260839"/>
            <a:ext cx="7202605" cy="610859"/>
          </a:xfrm>
        </p:spPr>
        <p:txBody>
          <a:bodyPr>
            <a:spAutoFit/>
          </a:bodyPr>
          <a:lstStyle/>
          <a:p>
            <a:r>
              <a:rPr lang="en-US"/>
              <a:t>FIND</a:t>
            </a:r>
            <a:r>
              <a:t>(maze, start, end, len)  4/4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       그외: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going_back에 0 저장</a:t>
            </a:r>
          </a:p>
          <a:p>
            <a:pPr>
              <a:lnSpc>
                <a:spcPct val="150000"/>
              </a:lnSpc>
            </a:pPr>
            <a:r>
              <a:t>       다음 반복으로</a:t>
            </a:r>
          </a:p>
          <a:p>
            <a:pPr>
              <a:lnSpc>
                <a:spcPct val="150000"/>
              </a:lnSpc>
            </a:pPr>
            <a:endParaRPr lang="en-US"/>
          </a:p>
          <a:p>
            <a:pPr>
              <a:lnSpc>
                <a:spcPct val="150000"/>
              </a:lnSpc>
            </a:pPr>
            <a:r>
              <a:t>반환: NULL (못찾음)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640" y="262442"/>
            <a:ext cx="5514835" cy="607653"/>
          </a:xfrm>
        </p:spPr>
        <p:txBody>
          <a:bodyPr>
            <a:spAutoFit/>
          </a:bodyPr>
          <a:lstStyle/>
          <a:p>
            <a:r>
              <a:t>미로 찾기 복잡도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시간: ~ len² 각 칸은 최대 한 번 방문/마킹</a:t>
            </a:r>
            <a:endParaRPr lang="en-US"/>
          </a:p>
          <a:p>
            <a:endParaRPr/>
          </a:p>
          <a:p>
            <a:r>
              <a:t>공간: ~ len² 스택(to_visit)과 path(최대 칸 수)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4542" y="262442"/>
            <a:ext cx="6527933" cy="607653"/>
          </a:xfrm>
        </p:spPr>
        <p:txBody>
          <a:bodyPr>
            <a:spAutoFit/>
          </a:bodyPr>
          <a:lstStyle/>
          <a:p>
            <a:r>
              <a:t>이웃 탐색 순서와 경로 형태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스택은 이웃을 추가하는 순서에 따라 같은 미로라도 다른 경로가 나올 수 있다</a:t>
            </a:r>
          </a:p>
          <a:p>
            <a:endParaRPr/>
          </a:p>
          <a:p>
            <a:r>
              <a:t>예: 상/하/좌/우 순서로 이웃을 추가하면, 오른쪽으로 쭉 간다</a:t>
            </a:r>
          </a:p>
          <a:p>
            <a:endParaRPr/>
          </a:p>
          <a:p>
            <a:r>
              <a:t>예: 우/상/좌/하 순서로 이웃을 추가하면, 아래로 쭉 간다</a:t>
            </a:r>
          </a:p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스택: 최신 데이터부터 꺼내는 자료구조</a:t>
            </a:r>
          </a:p>
          <a:p>
            <a:endParaRPr/>
          </a:p>
          <a:p>
            <a:r>
              <a:t>단방향 링크드 리스트/배열로 구현 가능</a:t>
            </a:r>
          </a:p>
          <a:p>
            <a:endParaRPr/>
          </a:p>
          <a:p>
            <a:r>
              <a:t>모든 연산이 상수 시간</a:t>
            </a:r>
          </a:p>
          <a:p>
            <a:endParaRPr/>
          </a:p>
          <a:p>
            <a:r>
              <a:t>미로 찾기: 스택을 사용해서 경로 탐색</a:t>
            </a:r>
          </a:p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62EFD-E39C-0A2D-C42A-ED6FCEAD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8EB74-A41F-A9E9-7D80-B3261F774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8597" y="262442"/>
            <a:ext cx="2013878" cy="607653"/>
          </a:xfrm>
        </p:spPr>
        <p:txBody>
          <a:bodyPr>
            <a:spAutoFit/>
          </a:bodyPr>
          <a:lstStyle/>
          <a:p>
            <a:r>
              <a:rPr lang="ko-KR" altLang="en-US"/>
              <a:t>과제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E578E-A27B-3AB4-92CF-AB6DAD946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미니 퀴즈의 연장선</a:t>
            </a:r>
            <a:endParaRPr lang="en-US" altLang="ko-KR"/>
          </a:p>
          <a:p>
            <a:endParaRPr/>
          </a:p>
          <a:p>
            <a:r>
              <a:rPr lang="ko-KR" altLang="en-US"/>
              <a:t>제출 기한</a:t>
            </a:r>
            <a:r>
              <a:rPr lang="en-US" altLang="ko-KR"/>
              <a:t>: 9</a:t>
            </a:r>
            <a:r>
              <a:rPr lang="ko-KR" altLang="en-US"/>
              <a:t>월 </a:t>
            </a:r>
            <a:r>
              <a:rPr lang="en-US" altLang="ko-KR"/>
              <a:t>26</a:t>
            </a:r>
            <a:r>
              <a:rPr lang="ko-KR" altLang="en-US"/>
              <a:t>일 금요일 수업시간</a:t>
            </a:r>
            <a:endParaRPr/>
          </a:p>
          <a:p>
            <a:endParaRPr/>
          </a:p>
          <a:p>
            <a:r>
              <a:rPr lang="ko-KR" altLang="en-US"/>
              <a:t>제출 방법</a:t>
            </a:r>
            <a:r>
              <a:rPr lang="en-US" altLang="ko-KR"/>
              <a:t>: </a:t>
            </a:r>
            <a:r>
              <a:rPr lang="ko-KR" altLang="en-US"/>
              <a:t>이메일로 </a:t>
            </a:r>
            <a:r>
              <a:rPr lang="en-US" altLang="ko-KR"/>
              <a:t>pdf </a:t>
            </a:r>
            <a:r>
              <a:rPr lang="ko-KR" altLang="en-US"/>
              <a:t>파일 제출</a:t>
            </a:r>
            <a:br>
              <a:rPr lang="en-US" altLang="ko-KR"/>
            </a:br>
            <a:br>
              <a:rPr lang="en-US" altLang="ko-KR"/>
            </a:br>
            <a:r>
              <a:rPr lang="en-US" altLang="ko-KR"/>
              <a:t>                       </a:t>
            </a:r>
            <a:r>
              <a:rPr lang="ko-KR" altLang="en-US"/>
              <a:t>수업시간에 미니퀴즈와 함께 제출</a:t>
            </a:r>
            <a:endParaRPr/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625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12708</TotalTime>
  <Words>2350</Words>
  <Application>Microsoft Office PowerPoint</Application>
  <PresentationFormat>화면 슬라이드 쇼(4:3)</PresentationFormat>
  <Paragraphs>369</Paragraphs>
  <Slides>57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3" baseType="lpstr">
      <vt:lpstr>맑은 고딕</vt:lpstr>
      <vt:lpstr>Aptos</vt:lpstr>
      <vt:lpstr>Aptos Display</vt:lpstr>
      <vt:lpstr>Arial</vt:lpstr>
      <vt:lpstr>Consolas</vt:lpstr>
      <vt:lpstr>Office 테마</vt:lpstr>
      <vt:lpstr>자료구조 (Data Structure) 3주차: 스택</vt:lpstr>
      <vt:lpstr>데이터 접근에 제한을 둔 자료구조</vt:lpstr>
      <vt:lpstr>스택</vt:lpstr>
      <vt:lpstr>단방향 링크드 리스트로 구현한 스택</vt:lpstr>
      <vt:lpstr>스택에 저장된 정보</vt:lpstr>
      <vt:lpstr>노드(Node)</vt:lpstr>
      <vt:lpstr>NODE_CREATE(val, next)</vt:lpstr>
      <vt:lpstr>PUSH(stack, val)</vt:lpstr>
      <vt:lpstr>PUSH(stack, val)의 시간 효율</vt:lpstr>
      <vt:lpstr>POP(stack)</vt:lpstr>
      <vt:lpstr>POP(stack)의 시간 효율</vt:lpstr>
      <vt:lpstr>PEEK(stack)</vt:lpstr>
      <vt:lpstr>PEEK(stack)의 시간 효율</vt:lpstr>
      <vt:lpstr>stack 경계/에러 처리</vt:lpstr>
      <vt:lpstr>배열 리스트로 구현한 스택</vt:lpstr>
      <vt:lpstr>배열로 구현한 스택</vt:lpstr>
      <vt:lpstr>ASTACK 상태/크기</vt:lpstr>
      <vt:lpstr>ASTACK_INITIALIZE(stack, cap)</vt:lpstr>
      <vt:lpstr>ASTACK_PUSH(stack, val)</vt:lpstr>
      <vt:lpstr>ASTACK_PUSH(stack, val)의 시간 효율</vt:lpstr>
      <vt:lpstr>ASTACK_POP(stack)</vt:lpstr>
      <vt:lpstr>ASTACK_POP(stack)의 시간 효율</vt:lpstr>
      <vt:lpstr>ASTACK_PEEK(stack)</vt:lpstr>
      <vt:lpstr>ASTACK_PEEK(stack)의 시간 효율</vt:lpstr>
      <vt:lpstr>ASTACK 경계/에러 처리</vt:lpstr>
      <vt:lpstr>예제: 미로 찾기 문제</vt:lpstr>
      <vt:lpstr>미로에서 출구를 찾기 위한 규칙</vt:lpstr>
      <vt:lpstr>다음에 어디로 갈지 선택하는 규칙</vt:lpstr>
      <vt:lpstr>막다른 곳의 규칙</vt:lpstr>
      <vt:lpstr>종료 조건</vt:lpstr>
      <vt:lpstr>미로 찾기를 하며 저장할 정보</vt:lpstr>
      <vt:lpstr>미로 정보: 2차원 배열 (배열의 배열)</vt:lpstr>
      <vt:lpstr>좌표 구조체</vt:lpstr>
      <vt:lpstr>STATUS(maze, point)</vt:lpstr>
      <vt:lpstr>MARK(maze, point)</vt:lpstr>
      <vt:lpstr>좌표 리스트/스택</vt:lpstr>
      <vt:lpstr>CREATE(cap)</vt:lpstr>
      <vt:lpstr>PUSH(list, point)</vt:lpstr>
      <vt:lpstr>POP(list)</vt:lpstr>
      <vt:lpstr>DELETE_TO_SIZE(list, new_size)</vt:lpstr>
      <vt:lpstr>미로찾기 함수</vt:lpstr>
      <vt:lpstr>PUSH_NBRS(maze, to_visit, point)</vt:lpstr>
      <vt:lpstr>PUSH_NBRS(maze, to_visit, point) 동작</vt:lpstr>
      <vt:lpstr>STATUS/MARK 시점 정리</vt:lpstr>
      <vt:lpstr>FIND(maze, start, end, len)</vt:lpstr>
      <vt:lpstr>FIND(maze, start, end, len) 가정</vt:lpstr>
      <vt:lpstr>FIND(maze, start, end, len) 변수</vt:lpstr>
      <vt:lpstr>FIND(maze, start, end, len) 특징</vt:lpstr>
      <vt:lpstr>FIND(maze, start, end, len) 동작</vt:lpstr>
      <vt:lpstr>FIND(maze, start, end, len)  1/4</vt:lpstr>
      <vt:lpstr>FIND(maze, start, end, len)  2/4</vt:lpstr>
      <vt:lpstr>FIND(maze, start, end, len)  3/4</vt:lpstr>
      <vt:lpstr>FIND(maze, start, end, len)  4/4</vt:lpstr>
      <vt:lpstr>미로 찾기 복잡도 분석</vt:lpstr>
      <vt:lpstr>이웃 탐색 순서와 경로 형태</vt:lpstr>
      <vt:lpstr>요약</vt:lpstr>
      <vt:lpstr>과제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16</cp:revision>
  <dcterms:created xsi:type="dcterms:W3CDTF">2025-07-28T15:04:23Z</dcterms:created>
  <dcterms:modified xsi:type="dcterms:W3CDTF">2025-09-15T22:32:22Z</dcterms:modified>
</cp:coreProperties>
</file>