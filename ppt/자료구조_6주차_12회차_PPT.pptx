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4" r:id="rId20"/>
    <p:sldId id="295" r:id="rId21"/>
    <p:sldId id="296" r:id="rId22"/>
    <p:sldId id="274" r:id="rId23"/>
    <p:sldId id="297" r:id="rId24"/>
    <p:sldId id="298" r:id="rId25"/>
    <p:sldId id="299" r:id="rId26"/>
    <p:sldId id="300" r:id="rId27"/>
    <p:sldId id="279" r:id="rId28"/>
    <p:sldId id="301" r:id="rId29"/>
    <p:sldId id="302" r:id="rId30"/>
    <p:sldId id="281" r:id="rId31"/>
    <p:sldId id="303" r:id="rId32"/>
    <p:sldId id="304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305" r:id="rId41"/>
    <p:sldId id="306" r:id="rId42"/>
    <p:sldId id="307" r:id="rId43"/>
    <p:sldId id="309" r:id="rId44"/>
    <p:sldId id="310" r:id="rId45"/>
    <p:sldId id="312" r:id="rId46"/>
    <p:sldId id="311" r:id="rId47"/>
    <p:sldId id="290" r:id="rId48"/>
    <p:sldId id="291" r:id="rId49"/>
    <p:sldId id="292" r:id="rId50"/>
    <p:sldId id="293" r:id="rId51"/>
    <p:sldId id="313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2" y="9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6주차: 힙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지난 시간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최대힙: </a:t>
            </a:r>
            <a:r>
              <a:rPr lang="ko-KR" altLang="en-US"/>
              <a:t>자식이 부모보다 데이터가 작은 </a:t>
            </a:r>
            <a:r>
              <a:t>이진 트리</a:t>
            </a:r>
          </a:p>
          <a:p>
            <a:endParaRPr/>
          </a:p>
          <a:p>
            <a:r>
              <a:t>최소힙: </a:t>
            </a:r>
            <a:r>
              <a:rPr lang="ko-KR" altLang="en-US"/>
              <a:t>자식이 부모보다 데이터가 큰 이진 트리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t>최대힙 데이터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1) 배열의 마지막에 새 데이터를 추가한다</a:t>
            </a:r>
          </a:p>
          <a:p>
            <a:endParaRPr/>
          </a:p>
          <a:p>
            <a:pPr marL="0" indent="0">
              <a:buNone/>
            </a:pPr>
            <a:r>
              <a:t>2) 새 데이터</a:t>
            </a:r>
            <a:r>
              <a:rPr lang="ko-KR" altLang="en-US"/>
              <a:t>가</a:t>
            </a:r>
            <a:r>
              <a:t> 부모</a:t>
            </a:r>
            <a:r>
              <a:rPr lang="ko-KR" altLang="en-US"/>
              <a:t>보다 크면</a:t>
            </a:r>
            <a:r>
              <a:t> 교환한다</a:t>
            </a:r>
          </a:p>
          <a:p>
            <a:endParaRPr/>
          </a:p>
          <a:p>
            <a:pPr marL="0" indent="0">
              <a:buNone/>
            </a:pPr>
            <a:r>
              <a:t>3) </a:t>
            </a:r>
            <a:r>
              <a:rPr lang="ko-KR" altLang="en-US"/>
              <a:t>새 데이터가 </a:t>
            </a:r>
            <a:r>
              <a:t>루트가 되거나, 부모</a:t>
            </a:r>
            <a:r>
              <a:rPr lang="ko-KR" altLang="en-US"/>
              <a:t>보다 작거나 같을</a:t>
            </a:r>
            <a:r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     </a:t>
            </a:r>
            <a:r>
              <a:t>때까지 반복한다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t>최대힙 데이터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1) 루트 데이터를 반환한다</a:t>
            </a:r>
          </a:p>
          <a:p>
            <a:endParaRPr/>
          </a:p>
          <a:p>
            <a:pPr marL="0" indent="0">
              <a:buNone/>
            </a:pPr>
            <a:r>
              <a:t>2) 배열의 마지막 데이터를 루트에 복사한다</a:t>
            </a:r>
          </a:p>
          <a:p>
            <a:endParaRPr/>
          </a:p>
          <a:p>
            <a:pPr marL="0" indent="0">
              <a:buNone/>
            </a:pPr>
            <a:r>
              <a:t>3) </a:t>
            </a:r>
            <a:r>
              <a:rPr lang="ko-KR" altLang="en-US"/>
              <a:t>복사된 데이터가</a:t>
            </a:r>
            <a:r>
              <a:t> 자식</a:t>
            </a:r>
            <a:r>
              <a:rPr lang="ko-KR" altLang="en-US"/>
              <a:t>보다</a:t>
            </a:r>
            <a:r>
              <a:t> </a:t>
            </a:r>
            <a:r>
              <a:rPr lang="ko-KR" altLang="en-US"/>
              <a:t>작으</a:t>
            </a:r>
            <a:r>
              <a:t>면 교환한다</a:t>
            </a:r>
          </a:p>
          <a:p>
            <a:endParaRPr/>
          </a:p>
          <a:p>
            <a:pPr marL="0" indent="0">
              <a:buNone/>
            </a:pPr>
            <a:r>
              <a:t>4) </a:t>
            </a:r>
            <a:r>
              <a:rPr lang="ko-KR" altLang="en-US"/>
              <a:t>복사된</a:t>
            </a:r>
            <a:r>
              <a:t> 데이터가 </a:t>
            </a:r>
            <a:r>
              <a:rPr lang="ko-KR" altLang="en-US"/>
              <a:t>트리 </a:t>
            </a:r>
            <a:r>
              <a:t>끝에 도달하거나, 자식</a:t>
            </a:r>
            <a:r>
              <a:rPr lang="ko-KR" altLang="en-US"/>
              <a:t>보다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 </a:t>
            </a:r>
            <a:r>
              <a:rPr lang="ko-KR" altLang="en-US"/>
              <a:t>크거나 같을 </a:t>
            </a:r>
            <a:r>
              <a:t>때까지 </a:t>
            </a:r>
            <a:r>
              <a:rPr lang="en-US"/>
              <a:t>3)</a:t>
            </a:r>
            <a:r>
              <a:rPr lang="ko-KR" altLang="en-US"/>
              <a:t>을 </a:t>
            </a:r>
            <a:r>
              <a:t>반복한다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t>최소힙 데이터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1) 배열의 마지막에 새 데이터를 추가한다</a:t>
            </a:r>
          </a:p>
          <a:p>
            <a:endParaRPr/>
          </a:p>
          <a:p>
            <a:pPr marL="0" indent="0">
              <a:buNone/>
            </a:pPr>
            <a:r>
              <a:t>2) 새 데이터를 부모와 비교하여, 부모가 더 크면 </a:t>
            </a:r>
            <a:endParaRPr lang="en-US"/>
          </a:p>
          <a:p>
            <a:pPr marL="0" indent="0">
              <a:buNone/>
            </a:pPr>
            <a:r>
              <a:rPr lang="en-US"/>
              <a:t>     </a:t>
            </a:r>
            <a:r>
              <a:t>교환한다</a:t>
            </a:r>
          </a:p>
          <a:p>
            <a:endParaRPr/>
          </a:p>
          <a:p>
            <a:pPr marL="0" indent="0">
              <a:buNone/>
            </a:pPr>
            <a:r>
              <a:t>3) 새 데이터가 루트가 되거나, 부모가 더 작거나 </a:t>
            </a:r>
            <a:endParaRPr lang="en-US"/>
          </a:p>
          <a:p>
            <a:pPr marL="0" indent="0">
              <a:buNone/>
            </a:pPr>
            <a:r>
              <a:rPr lang="en-US"/>
              <a:t>     </a:t>
            </a:r>
            <a:r>
              <a:t>같을 때까지 </a:t>
            </a:r>
            <a:r>
              <a:rPr lang="en-US" altLang="ko-KR"/>
              <a:t>2)</a:t>
            </a:r>
            <a:r>
              <a:rPr lang="ko-KR" altLang="en-US"/>
              <a:t>를 </a:t>
            </a:r>
            <a:r>
              <a:t>반복한다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t>최소힙 데이터 삭제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루트 데이터를 반환한다</a:t>
            </a:r>
          </a:p>
          <a:p>
            <a:endParaRPr/>
          </a:p>
          <a:p>
            <a:r>
              <a:t>2) 배열의 마지막 데이터를 루트에 복사한다</a:t>
            </a:r>
          </a:p>
          <a:p>
            <a:endParaRPr/>
          </a:p>
          <a:p>
            <a:r>
              <a:t>3) </a:t>
            </a:r>
            <a:r>
              <a:rPr lang="ko-KR" altLang="en-US"/>
              <a:t>복사한</a:t>
            </a:r>
            <a:r>
              <a:t> 데이터를 자식과 비교하여, 자식이 더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작으면 교환한다</a:t>
            </a:r>
          </a:p>
          <a:p>
            <a:endParaRPr/>
          </a:p>
          <a:p>
            <a:r>
              <a:t>4) </a:t>
            </a:r>
            <a:r>
              <a:rPr lang="ko-KR" altLang="en-US"/>
              <a:t>복사한</a:t>
            </a:r>
            <a:r>
              <a:t> 데이터가 끝에 도달하거나, 자식이 더 </a:t>
            </a:r>
            <a:endParaRPr lang="en-US"/>
          </a:p>
          <a:p>
            <a:pPr marL="0" indent="0">
              <a:buNone/>
            </a:pPr>
            <a:r>
              <a:rPr lang="en-US"/>
              <a:t>        </a:t>
            </a:r>
            <a:r>
              <a:t>크거나 같을 때까지 </a:t>
            </a:r>
            <a:r>
              <a:rPr lang="en-US" altLang="ko-KR"/>
              <a:t>3)</a:t>
            </a:r>
            <a:r>
              <a:rPr lang="ko-KR" altLang="en-US"/>
              <a:t>을 </a:t>
            </a:r>
            <a:r>
              <a:t>반복한다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501" y="262442"/>
            <a:ext cx="3026974" cy="607653"/>
          </a:xfrm>
        </p:spPr>
        <p:txBody>
          <a:bodyPr>
            <a:spAutoFit/>
          </a:bodyPr>
          <a:lstStyle/>
          <a:p>
            <a:r>
              <a:t>오늘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1) 실무에서 구현된 힙 (리눅스 소스 코드)</a:t>
            </a:r>
          </a:p>
          <a:p>
            <a:endParaRPr/>
          </a:p>
          <a:p>
            <a:pPr marL="0" indent="0">
              <a:buNone/>
            </a:pPr>
            <a:r>
              <a:t>2) 중간고사 문제 풀이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9073" y="262442"/>
            <a:ext cx="4963402" cy="607653"/>
          </a:xfrm>
        </p:spPr>
        <p:txBody>
          <a:bodyPr>
            <a:spAutoFit/>
          </a:bodyPr>
          <a:lstStyle/>
          <a:p>
            <a:r>
              <a:t>실무에서 구현된 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출처: github.com/torvalds/linux</a:t>
            </a:r>
          </a:p>
          <a:p>
            <a:endParaRPr/>
          </a:p>
          <a:p>
            <a:r>
              <a:t>파일: include/linux/min_heap.h</a:t>
            </a:r>
          </a:p>
          <a:p>
            <a:r>
              <a:t>버전: 최초</a:t>
            </a:r>
            <a:endParaRPr lang="en-US"/>
          </a:p>
          <a:p>
            <a:endParaRPr/>
          </a:p>
          <a:p>
            <a:r>
              <a:t>Min Heap 코드는 최소 힙을 관리하는 기능을 제공</a:t>
            </a:r>
          </a:p>
          <a:p>
            <a:r>
              <a:t>최소 힙은 이진 트리 구조로, 각 노드의 값이 자식 노드들의 값보다 작거나 같은 특징이 있다.</a:t>
            </a:r>
          </a:p>
          <a:p>
            <a:r>
              <a:t>결과적으로 가장 작은 요소가 루트에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t>실무에서 구현된 힙 - 구조체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min_heap {</a:t>
            </a:r>
          </a:p>
          <a:p>
            <a:pPr marL="0" indent="0">
              <a:buNone/>
            </a:pPr>
            <a:r>
              <a:t>	int nr; 	// 현재 힙에 저장된 데이터 개수</a:t>
            </a:r>
          </a:p>
          <a:p>
            <a:pPr marL="0" indent="0">
              <a:buNone/>
            </a:pPr>
            <a:r>
              <a:t>	int size; 	// 배열에 저장 가능한 최대 개수</a:t>
            </a:r>
          </a:p>
          <a:p>
            <a:pPr marL="0" indent="0">
              <a:buNone/>
            </a:pPr>
            <a:r>
              <a:t>	int *data; 	// 데이터를 저장하는 배열의 포인터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226" y="262442"/>
            <a:ext cx="6696249" cy="607653"/>
          </a:xfrm>
        </p:spPr>
        <p:txBody>
          <a:bodyPr>
            <a:spAutoFit/>
          </a:bodyPr>
          <a:lstStyle/>
          <a:p>
            <a:r>
              <a:t>실무에서 구현된 힙 - 초기화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min_heap_init(struct min_heap *heap,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t>int *data, int size)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heap-&gt;nr = 0;</a:t>
            </a:r>
          </a:p>
          <a:p>
            <a:pPr marL="0" indent="0">
              <a:buNone/>
            </a:pPr>
            <a:r>
              <a:t>	heap-&gt;size = size;</a:t>
            </a:r>
          </a:p>
          <a:p>
            <a:pPr marL="0" indent="0">
              <a:buNone/>
            </a:pPr>
            <a:r>
              <a:t>	heap-&gt;data = data;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t>실무에서 구현된 힙 - 초기화</a:t>
            </a:r>
            <a:r>
              <a:rPr lang="en-US"/>
              <a:t> </a:t>
            </a:r>
            <a:r>
              <a:rPr lang="ko-KR" altLang="en-US"/>
              <a:t>테스트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values[] = {3, 1, 2, 4};</a:t>
            </a:r>
          </a:p>
          <a:p>
            <a:pPr marL="0" indent="0">
              <a:buNone/>
            </a:pPr>
            <a:r>
              <a:t>struct min_heap heap = {    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.nr = 0,</a:t>
            </a:r>
          </a:p>
          <a:p>
            <a:pPr marL="0" indent="0">
              <a:buNone/>
            </a:pPr>
            <a:r>
              <a:t>    </a:t>
            </a:r>
            <a:r>
              <a:rPr lang="en-US"/>
              <a:t>	</a:t>
            </a:r>
            <a:r>
              <a:t>.size = sizeof(values) / sizeof(values[0]),</a:t>
            </a:r>
          </a:p>
          <a:p>
            <a:pPr marL="0" indent="0">
              <a:buNone/>
            </a:pPr>
            <a:r>
              <a:t>    </a:t>
            </a:r>
            <a:r>
              <a:rPr lang="en-US"/>
              <a:t>	</a:t>
            </a:r>
            <a:r>
              <a:t>.data = values,</a:t>
            </a:r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t>실무에서 구현된 힙 - 기능 확장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struct min_heap_callbacks {</a:t>
            </a:r>
            <a:endParaRPr lang="en-US"/>
          </a:p>
          <a:p>
            <a:pPr marL="0" indent="0">
              <a:buNone/>
            </a:pPr>
            <a:r>
              <a:rPr lang="en-US"/>
              <a:t>	/* </a:t>
            </a:r>
            <a:r>
              <a:rPr lang="ko-KR" altLang="en-US"/>
              <a:t>데이터 비교 함수</a:t>
            </a:r>
            <a:r>
              <a:rPr lang="en-US" altLang="ko-KR"/>
              <a:t>, </a:t>
            </a:r>
            <a:r>
              <a:rPr lang="ko-KR" altLang="en-US"/>
              <a:t>거꾸로 하면 최대힙 </a:t>
            </a:r>
            <a:r>
              <a:rPr lang="en-US" altLang="ko-KR"/>
              <a:t>*/</a:t>
            </a:r>
            <a:endParaRPr/>
          </a:p>
          <a:p>
            <a:pPr marL="0" indent="0">
              <a:buNone/>
            </a:pPr>
            <a:r>
              <a:t>	int (*less)(const int *lhs, const int *rhs);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/* </a:t>
            </a:r>
            <a:r>
              <a:rPr lang="ko-KR" altLang="en-US"/>
              <a:t>데이터 교환 함수</a:t>
            </a:r>
            <a:r>
              <a:rPr lang="en-US" altLang="ko-KR"/>
              <a:t>, </a:t>
            </a:r>
            <a:r>
              <a:rPr lang="ko-KR" altLang="en-US"/>
              <a:t>구조체 데이터에 필수 </a:t>
            </a:r>
            <a:r>
              <a:rPr lang="en-US" altLang="ko-KR"/>
              <a:t>*/</a:t>
            </a:r>
            <a:endParaRPr lang="en-US"/>
          </a:p>
          <a:p>
            <a:pPr marL="0" indent="0">
              <a:buNone/>
            </a:pPr>
            <a:r>
              <a:t>	void (*swap)(int *lhs, int *rhs);</a:t>
            </a:r>
            <a:endParaRPr lang="en-US"/>
          </a:p>
          <a:p>
            <a:pPr marL="0" indent="0">
              <a:buNone/>
            </a:pPr>
            <a:r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1627" y="262442"/>
            <a:ext cx="9394102" cy="607653"/>
          </a:xfrm>
        </p:spPr>
        <p:txBody>
          <a:bodyPr>
            <a:spAutoFit/>
          </a:bodyPr>
          <a:lstStyle/>
          <a:p>
            <a:r>
              <a:t>실무에서 구현된 힙 - 작다 함수, 크다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less_than(const int *lhs, const int *rhs)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return *lhs &lt; *rhs;</a:t>
            </a:r>
          </a:p>
          <a:p>
            <a:pPr marL="0" indent="0">
              <a:buNone/>
            </a:pPr>
            <a:r>
              <a:t>}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int greater_than(const int *lhs, const int *rhs)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return *lhs &gt; *rhs;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1627" y="262442"/>
            <a:ext cx="9394102" cy="607653"/>
          </a:xfrm>
        </p:spPr>
        <p:txBody>
          <a:bodyPr>
            <a:spAutoFit/>
          </a:bodyPr>
          <a:lstStyle/>
          <a:p>
            <a:r>
              <a:t>실무에서 구현된 힙 - 작다 함수, 크다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x와 y의 값은?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int numbers[] = {10, 20, 30};</a:t>
            </a:r>
          </a:p>
          <a:p>
            <a:pPr marL="0" indent="0">
              <a:buNone/>
            </a:pPr>
            <a:r>
              <a:t>int x = less_than(&amp;numbers[0], &amp;numbers[1]);</a:t>
            </a:r>
          </a:p>
          <a:p>
            <a:pPr marL="0" indent="0">
              <a:buNone/>
            </a:pPr>
            <a:r>
              <a:t>int y = greater_than(&amp;numbers[0], &amp;numbers[1]);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t>실무에서 구현된 힙 - 교환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swap_int(int *lhs, int *rhs)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temp = *lhs;</a:t>
            </a:r>
          </a:p>
          <a:p>
            <a:pPr marL="0" indent="0">
              <a:buNone/>
            </a:pPr>
            <a:r>
              <a:t>	*lhs = *rhs;</a:t>
            </a:r>
          </a:p>
          <a:p>
            <a:pPr marL="0" indent="0">
              <a:buNone/>
            </a:pPr>
            <a:r>
              <a:t>	*rhs = temp;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793" y="262442"/>
            <a:ext cx="7247682" cy="607653"/>
          </a:xfrm>
        </p:spPr>
        <p:txBody>
          <a:bodyPr>
            <a:spAutoFit/>
          </a:bodyPr>
          <a:lstStyle/>
          <a:p>
            <a:r>
              <a:t>실무에서 구현된 힙 - 교환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numbers 배열의 상태는?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int numbers[] = {10, 20, 30};</a:t>
            </a:r>
          </a:p>
          <a:p>
            <a:pPr marL="0" indent="0">
              <a:buNone/>
            </a:pPr>
            <a:r>
              <a:t>swap_int(&amp;numbers[0], &amp;numbers[2]);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t>실무에서 구현된 힙 - 힙으로 만들기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min_heapify_all(struct min_heap *heap,</a:t>
            </a:r>
          </a:p>
          <a:p>
            <a:pPr marL="0" indent="0">
              <a:buNone/>
            </a:pPr>
            <a:r>
              <a:t>		const struct min_heap_callbacks *funcs)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i;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</a:t>
            </a:r>
            <a:r>
              <a:t>for (i = heap-&gt;nr / 2 - 1; i &gt;= 0; i--)</a:t>
            </a:r>
          </a:p>
          <a:p>
            <a:pPr marL="0" indent="0">
              <a:buNone/>
            </a:pPr>
            <a:r>
              <a:t>		min_heap_sift_down(heap, i, funcs);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5911" y="262442"/>
            <a:ext cx="9118386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  <a:r>
              <a:rPr lang="en-US"/>
              <a:t> 1 / 4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min_heap_sift_down(struct min_heap *heap, </a:t>
            </a:r>
            <a:endParaRPr lang="en-US"/>
          </a:p>
          <a:p>
            <a:pPr marL="0" indent="0">
              <a:buNone/>
            </a:pPr>
            <a:r>
              <a:rPr lang="en-US"/>
              <a:t>		</a:t>
            </a:r>
            <a:r>
              <a:t>int pos,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t>const struct min_heap_callbacks *funcs)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*left, *right, *parent, *smallest;	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t>int *data = heap-&gt;data;</a:t>
            </a:r>
          </a:p>
          <a:p>
            <a:pPr marL="0" indent="0">
              <a:buNone/>
            </a:pPr>
            <a:r>
              <a:t>	for (;;) {</a:t>
            </a:r>
          </a:p>
          <a:p>
            <a:pPr marL="0" indent="0">
              <a:buNone/>
            </a:pPr>
            <a:r>
              <a:t>		if (pos * 2 + 1 &gt;= heap-&gt;nr)</a:t>
            </a:r>
          </a:p>
          <a:p>
            <a:pPr marL="0" indent="0">
              <a:buNone/>
            </a:pPr>
            <a:r>
              <a:t>			break;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F44B-7DC7-33FF-4A39-B79861AD4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04FD-A93A-21C9-F7CA-E491D721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5911" y="262442"/>
            <a:ext cx="9118386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  <a:r>
              <a:rPr lang="en-US"/>
              <a:t> 2 / 4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A0247-52A9-F3D0-FF7C-C45DBBF74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left = data + (pos * 2 + 1);</a:t>
            </a:r>
          </a:p>
          <a:p>
            <a:pPr marL="0" indent="0">
              <a:buNone/>
            </a:pPr>
            <a:r>
              <a:t>		parent = data + pos;</a:t>
            </a:r>
          </a:p>
          <a:p>
            <a:pPr marL="0" indent="0">
              <a:buNone/>
            </a:pPr>
            <a:r>
              <a:t>		smallest = parent;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	if (funcs-&gt;less(left, smallest))</a:t>
            </a:r>
          </a:p>
          <a:p>
            <a:pPr marL="0" indent="0">
              <a:buNone/>
            </a:pPr>
            <a:r>
              <a:t>			smallest = left;</a:t>
            </a:r>
          </a:p>
        </p:txBody>
      </p:sp>
    </p:spTree>
    <p:extLst>
      <p:ext uri="{BB962C8B-B14F-4D97-AF65-F5344CB8AC3E}">
        <p14:creationId xmlns:p14="http://schemas.microsoft.com/office/powerpoint/2010/main" val="2031318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2D592-B27D-0F9C-EA0C-E45CD315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3077-124A-B45D-0295-139F4EABF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5911" y="262442"/>
            <a:ext cx="9118386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  <a:r>
              <a:rPr lang="en-US"/>
              <a:t> 3 / 4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D19A-0BFB-387C-DC2D-7E841DEB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if (pos * 2 + 2 &lt; heap-&gt;nr) {</a:t>
            </a:r>
          </a:p>
          <a:p>
            <a:pPr marL="0" indent="0">
              <a:buNone/>
            </a:pPr>
            <a:r>
              <a:t>			right = data + (pos * 2 + 2);</a:t>
            </a:r>
          </a:p>
          <a:p>
            <a:pPr marL="0" indent="0">
              <a:buNone/>
            </a:pPr>
            <a:r>
              <a:t>			if (funcs-&gt;less(right, smallest))</a:t>
            </a:r>
          </a:p>
          <a:p>
            <a:pPr marL="0" indent="0">
              <a:buNone/>
            </a:pPr>
            <a:r>
              <a:t>				smallest = right;</a:t>
            </a:r>
          </a:p>
          <a:p>
            <a:pPr marL="0" indent="0">
              <a:buNone/>
            </a:pPr>
            <a:r>
              <a:t>		}</a:t>
            </a:r>
          </a:p>
          <a:p>
            <a:endParaRPr lang="en-US"/>
          </a:p>
          <a:p>
            <a:pPr marL="0" indent="0">
              <a:buNone/>
            </a:pPr>
            <a:r>
              <a:t>		if (smallest == parent)</a:t>
            </a:r>
          </a:p>
          <a:p>
            <a:pPr marL="0" indent="0">
              <a:buNone/>
            </a:pPr>
            <a:r>
              <a:t>			break;</a:t>
            </a:r>
          </a:p>
        </p:txBody>
      </p:sp>
    </p:spTree>
    <p:extLst>
      <p:ext uri="{BB962C8B-B14F-4D97-AF65-F5344CB8AC3E}">
        <p14:creationId xmlns:p14="http://schemas.microsoft.com/office/powerpoint/2010/main" val="2885596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0132-B58B-30C5-121D-CFA59FBD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1B84-0B9D-D489-5FF1-CAD19F4B5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5911" y="262442"/>
            <a:ext cx="9118386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  <a:r>
              <a:rPr lang="en-US"/>
              <a:t> 4 / 4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98F0-3C40-86B1-10E8-C812131A9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	funcs-&gt;swap(smallest, parent);</a:t>
            </a:r>
          </a:p>
          <a:p>
            <a:pPr marL="0" indent="0">
              <a:buNone/>
            </a:pPr>
            <a:r>
              <a:t>		if (smallest == left)</a:t>
            </a:r>
          </a:p>
          <a:p>
            <a:pPr marL="0" indent="0">
              <a:buNone/>
            </a:pPr>
            <a:r>
              <a:t>			pos = pos * 2 + 1;</a:t>
            </a:r>
          </a:p>
          <a:p>
            <a:pPr marL="0" indent="0">
              <a:buNone/>
            </a:pPr>
            <a:r>
              <a:t>		else</a:t>
            </a:r>
          </a:p>
          <a:p>
            <a:pPr marL="0" indent="0">
              <a:buNone/>
            </a:pPr>
            <a:r>
              <a:t>			pos = pos * 2 + 2;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1979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</a:t>
            </a:r>
            <a:r>
              <a:rPr lang="en-US"/>
              <a:t>data</a:t>
            </a:r>
            <a:r>
              <a:t>[] = {3, 1, 2, 4};</a:t>
            </a:r>
          </a:p>
          <a:p>
            <a:pPr marL="0" indent="0">
              <a:buNone/>
            </a:pPr>
            <a:r>
              <a:t>struct min_heap heap = {.nr = 0,</a:t>
            </a:r>
            <a:r>
              <a:rPr lang="en-US"/>
              <a:t> </a:t>
            </a:r>
            <a:r>
              <a:t>.size = </a:t>
            </a:r>
            <a:r>
              <a:rPr lang="en-US"/>
              <a:t>4</a:t>
            </a:r>
            <a:r>
              <a:t>,</a:t>
            </a:r>
            <a:r>
              <a:rPr lang="en-US"/>
              <a:t> </a:t>
            </a:r>
            <a:r>
              <a:t>.data = </a:t>
            </a:r>
            <a:r>
              <a:rPr lang="en-US"/>
              <a:t>data</a:t>
            </a:r>
            <a:r>
              <a:t>};</a:t>
            </a:r>
          </a:p>
          <a:p>
            <a:pPr marL="0" indent="0">
              <a:buNone/>
            </a:pPr>
            <a:r>
              <a:t>struct min_heap_callbacks </a:t>
            </a:r>
            <a:r>
              <a:rPr lang="en-US"/>
              <a:t>f</a:t>
            </a:r>
            <a:r>
              <a:t>s = {</a:t>
            </a:r>
            <a:endParaRPr lang="en-US"/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/>
              <a:t>.less = less_than, </a:t>
            </a:r>
            <a:r>
              <a:t>.swap = swap_int,</a:t>
            </a:r>
            <a:r>
              <a:rPr lang="en-US"/>
              <a:t> </a:t>
            </a:r>
            <a:r>
              <a:t>};</a:t>
            </a:r>
          </a:p>
          <a:p>
            <a:pPr marL="0" indent="0">
              <a:buNone/>
            </a:pPr>
            <a:r>
              <a:t>heap.nr = 4;</a:t>
            </a:r>
          </a:p>
          <a:p>
            <a:pPr marL="0" indent="0">
              <a:buNone/>
            </a:pPr>
            <a:r>
              <a:t>min_heap_sift_down(&amp;heap, 3, &amp;callbacks);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257E-7EFC-1CE7-8B93-D516E9B1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5485-BBF6-F84E-9B15-746B8FD7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8947-9374-B8FB-DBFA-A8DEA78E1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</a:t>
            </a:r>
            <a:r>
              <a:rPr lang="en-US"/>
              <a:t>data</a:t>
            </a:r>
            <a:r>
              <a:t>[] = {3, 1, 2, 4};</a:t>
            </a:r>
          </a:p>
          <a:p>
            <a:pPr marL="0" indent="0">
              <a:buNone/>
            </a:pPr>
            <a:r>
              <a:t>struct min_heap heap = {.nr = 0,</a:t>
            </a:r>
            <a:r>
              <a:rPr lang="en-US"/>
              <a:t> </a:t>
            </a:r>
            <a:r>
              <a:t>.size = </a:t>
            </a:r>
            <a:r>
              <a:rPr lang="en-US"/>
              <a:t>4</a:t>
            </a:r>
            <a:r>
              <a:t>,</a:t>
            </a:r>
            <a:r>
              <a:rPr lang="en-US"/>
              <a:t> </a:t>
            </a:r>
            <a:r>
              <a:t>.data = </a:t>
            </a:r>
            <a:r>
              <a:rPr lang="en-US"/>
              <a:t>data</a:t>
            </a:r>
            <a:r>
              <a:t>};</a:t>
            </a:r>
          </a:p>
          <a:p>
            <a:pPr marL="0" indent="0">
              <a:buNone/>
            </a:pPr>
            <a:r>
              <a:t>struct min_heap_callbacks </a:t>
            </a:r>
            <a:r>
              <a:rPr lang="en-US"/>
              <a:t>f</a:t>
            </a:r>
            <a:r>
              <a:t>s = {</a:t>
            </a:r>
            <a:endParaRPr lang="en-US"/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/>
              <a:t>.less = less_than, </a:t>
            </a:r>
            <a:r>
              <a:t>.swap = swap_int,</a:t>
            </a:r>
            <a:r>
              <a:rPr lang="en-US"/>
              <a:t> </a:t>
            </a:r>
            <a:r>
              <a:t>};</a:t>
            </a:r>
          </a:p>
          <a:p>
            <a:pPr marL="0" indent="0">
              <a:buNone/>
            </a:pPr>
            <a:r>
              <a:t>heap.nr = 4;</a:t>
            </a:r>
          </a:p>
          <a:p>
            <a:pPr marL="0" indent="0">
              <a:buNone/>
            </a:pPr>
            <a:r>
              <a:t>min_heap_sift_down(&amp;heap, </a:t>
            </a:r>
            <a:r>
              <a:rPr lang="en-US"/>
              <a:t>2</a:t>
            </a:r>
            <a:r>
              <a:t>, &amp;callbacks);</a:t>
            </a:r>
          </a:p>
        </p:txBody>
      </p:sp>
    </p:spTree>
    <p:extLst>
      <p:ext uri="{BB962C8B-B14F-4D97-AF65-F5344CB8AC3E}">
        <p14:creationId xmlns:p14="http://schemas.microsoft.com/office/powerpoint/2010/main" val="4089380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70B6-B8C3-B6E0-1331-070F332E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D4C3-CFB2-9B7B-DA5C-F8FD439F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63DB-03DB-3052-8D1E-2B85BE7F3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</a:t>
            </a:r>
            <a:r>
              <a:rPr lang="en-US"/>
              <a:t>data</a:t>
            </a:r>
            <a:r>
              <a:t>[] = {3, 1, 2, 4};</a:t>
            </a:r>
          </a:p>
          <a:p>
            <a:pPr marL="0" indent="0">
              <a:buNone/>
            </a:pPr>
            <a:r>
              <a:t>struct min_heap heap = {.nr = 0,</a:t>
            </a:r>
            <a:r>
              <a:rPr lang="en-US"/>
              <a:t> </a:t>
            </a:r>
            <a:r>
              <a:t>.size = </a:t>
            </a:r>
            <a:r>
              <a:rPr lang="en-US"/>
              <a:t>4</a:t>
            </a:r>
            <a:r>
              <a:t>,</a:t>
            </a:r>
            <a:r>
              <a:rPr lang="en-US"/>
              <a:t> </a:t>
            </a:r>
            <a:r>
              <a:t>.data = </a:t>
            </a:r>
            <a:r>
              <a:rPr lang="en-US"/>
              <a:t>data</a:t>
            </a:r>
            <a:r>
              <a:t>};</a:t>
            </a:r>
          </a:p>
          <a:p>
            <a:pPr marL="0" indent="0">
              <a:buNone/>
            </a:pPr>
            <a:r>
              <a:t>struct min_heap_callbacks </a:t>
            </a:r>
            <a:r>
              <a:rPr lang="en-US"/>
              <a:t>f</a:t>
            </a:r>
            <a:r>
              <a:t>s = {</a:t>
            </a:r>
            <a:endParaRPr lang="en-US"/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/>
              <a:t>.less = less_than, </a:t>
            </a:r>
            <a:r>
              <a:t>.swap = swap_int,</a:t>
            </a:r>
            <a:r>
              <a:rPr lang="en-US"/>
              <a:t> </a:t>
            </a:r>
            <a:r>
              <a:t>};</a:t>
            </a:r>
          </a:p>
          <a:p>
            <a:pPr marL="0" indent="0">
              <a:buNone/>
            </a:pPr>
            <a:r>
              <a:t>heap.nr = 4;</a:t>
            </a:r>
          </a:p>
          <a:p>
            <a:pPr marL="0" indent="0">
              <a:buNone/>
            </a:pPr>
            <a:r>
              <a:t>min_heap_sift_down(&amp;heap, </a:t>
            </a:r>
            <a:r>
              <a:rPr lang="en-US"/>
              <a:t>1</a:t>
            </a:r>
            <a:r>
              <a:t>, &amp;callbacks);</a:t>
            </a:r>
          </a:p>
        </p:txBody>
      </p:sp>
    </p:spTree>
    <p:extLst>
      <p:ext uri="{BB962C8B-B14F-4D97-AF65-F5344CB8AC3E}">
        <p14:creationId xmlns:p14="http://schemas.microsoft.com/office/powerpoint/2010/main" val="2290012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074F5-D20D-43FB-CFAD-330582177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82A7-3367-6F15-87B2-CEB97E6F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t>실무에서 구현된 힙 - 데이터 내리기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B656-8EF8-73E2-DC98-3AE7DAA6D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</a:t>
            </a:r>
            <a:r>
              <a:rPr lang="en-US"/>
              <a:t>data</a:t>
            </a:r>
            <a:r>
              <a:t>[] = {3, 1, 2, 4};</a:t>
            </a:r>
          </a:p>
          <a:p>
            <a:pPr marL="0" indent="0">
              <a:buNone/>
            </a:pPr>
            <a:r>
              <a:t>struct min_heap heap = {.nr = 0,</a:t>
            </a:r>
            <a:r>
              <a:rPr lang="en-US"/>
              <a:t> </a:t>
            </a:r>
            <a:r>
              <a:t>.size = </a:t>
            </a:r>
            <a:r>
              <a:rPr lang="en-US"/>
              <a:t>4</a:t>
            </a:r>
            <a:r>
              <a:t>,</a:t>
            </a:r>
            <a:r>
              <a:rPr lang="en-US"/>
              <a:t> </a:t>
            </a:r>
            <a:r>
              <a:t>.data = </a:t>
            </a:r>
            <a:r>
              <a:rPr lang="en-US"/>
              <a:t>data</a:t>
            </a:r>
            <a:r>
              <a:t>};</a:t>
            </a:r>
          </a:p>
          <a:p>
            <a:pPr marL="0" indent="0">
              <a:buNone/>
            </a:pPr>
            <a:r>
              <a:t>struct min_heap_callbacks </a:t>
            </a:r>
            <a:r>
              <a:rPr lang="en-US"/>
              <a:t>f</a:t>
            </a:r>
            <a:r>
              <a:t>s = {</a:t>
            </a:r>
            <a:endParaRPr lang="en-US"/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/>
              <a:t>.less = less_than, </a:t>
            </a:r>
            <a:r>
              <a:t>.swap = swap_int,</a:t>
            </a:r>
            <a:r>
              <a:rPr lang="en-US"/>
              <a:t> </a:t>
            </a:r>
            <a:r>
              <a:t>};</a:t>
            </a:r>
          </a:p>
          <a:p>
            <a:pPr marL="0" indent="0">
              <a:buNone/>
            </a:pPr>
            <a:r>
              <a:t>heap.nr = 4;</a:t>
            </a:r>
          </a:p>
          <a:p>
            <a:pPr marL="0" indent="0">
              <a:buNone/>
            </a:pPr>
            <a:r>
              <a:t>min_heap_sift_down(&amp;heap, </a:t>
            </a:r>
            <a:r>
              <a:rPr lang="en-US"/>
              <a:t>0</a:t>
            </a:r>
            <a:r>
              <a:t>, &amp;callbacks);</a:t>
            </a:r>
          </a:p>
        </p:txBody>
      </p:sp>
    </p:spTree>
    <p:extLst>
      <p:ext uri="{BB962C8B-B14F-4D97-AF65-F5344CB8AC3E}">
        <p14:creationId xmlns:p14="http://schemas.microsoft.com/office/powerpoint/2010/main" val="2369442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ABEAC-00AD-F497-2553-D844FAB7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D103-F023-64FD-CBA8-7ED25F40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rPr lang="ko-KR" altLang="en-US"/>
              <a:t>실무에서 구현된 힙 </a:t>
            </a:r>
            <a:r>
              <a:rPr lang="en-US" altLang="ko-KR"/>
              <a:t>- </a:t>
            </a:r>
            <a:r>
              <a:rPr lang="ko-KR" altLang="en-US"/>
              <a:t>힙으로 만들기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73DE-D786-D3A2-31E0-525FBE361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</a:t>
            </a:r>
            <a:r>
              <a:rPr lang="en-US"/>
              <a:t>data</a:t>
            </a:r>
            <a:r>
              <a:t>[] = {3, 1, 2, 4};</a:t>
            </a:r>
          </a:p>
          <a:p>
            <a:pPr marL="0" indent="0">
              <a:buNone/>
            </a:pPr>
            <a:r>
              <a:t>struct min_heap heap = {.nr = 0,</a:t>
            </a:r>
            <a:r>
              <a:rPr lang="en-US"/>
              <a:t> </a:t>
            </a:r>
            <a:r>
              <a:t>.size = </a:t>
            </a:r>
            <a:r>
              <a:rPr lang="en-US"/>
              <a:t>4</a:t>
            </a:r>
            <a:r>
              <a:t>,</a:t>
            </a:r>
            <a:r>
              <a:rPr lang="en-US"/>
              <a:t> </a:t>
            </a:r>
            <a:r>
              <a:t>.data = </a:t>
            </a:r>
            <a:r>
              <a:rPr lang="en-US"/>
              <a:t>data</a:t>
            </a:r>
            <a:r>
              <a:t>};</a:t>
            </a:r>
          </a:p>
          <a:p>
            <a:pPr marL="0" indent="0">
              <a:buNone/>
            </a:pPr>
            <a:r>
              <a:t>struct min_heap_callbacks </a:t>
            </a:r>
            <a:r>
              <a:rPr lang="en-US"/>
              <a:t>f</a:t>
            </a:r>
            <a:r>
              <a:t>s = {</a:t>
            </a:r>
            <a:endParaRPr lang="en-US"/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/>
              <a:t>.less = less_than, </a:t>
            </a:r>
            <a:r>
              <a:t>.swap = swap_int,</a:t>
            </a:r>
            <a:r>
              <a:rPr lang="en-US"/>
              <a:t> </a:t>
            </a:r>
            <a:r>
              <a:t>};</a:t>
            </a:r>
          </a:p>
          <a:p>
            <a:pPr marL="0" indent="0">
              <a:buNone/>
            </a:pPr>
            <a:r>
              <a:t>heap.nr = 4;</a:t>
            </a:r>
          </a:p>
          <a:p>
            <a:pPr marL="0" indent="0">
              <a:buNone/>
            </a:pPr>
            <a:r>
              <a:rPr lang="en-US" altLang="ko-KR"/>
              <a:t>min_heapify_all(&amp;heap, &amp;callbacks);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2800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753" y="262442"/>
            <a:ext cx="8656722" cy="607653"/>
          </a:xfrm>
        </p:spPr>
        <p:txBody>
          <a:bodyPr>
            <a:spAutoFit/>
          </a:bodyPr>
          <a:lstStyle/>
          <a:p>
            <a:r>
              <a:t>실무에서 구현된 힙 - 데이터 삭제</a:t>
            </a:r>
            <a:r>
              <a:rPr lang="en-US"/>
              <a:t> 1 / 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min_heap_pop(struct min_heap *heap,</a:t>
            </a:r>
          </a:p>
          <a:p>
            <a:pPr marL="0" indent="0">
              <a:buNone/>
            </a:pPr>
            <a:r>
              <a:t>		const struct min_heap_callbacks *funcs)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*data = heap-&gt;data;</a:t>
            </a:r>
          </a:p>
          <a:p>
            <a:pPr marL="0" indent="0">
              <a:buNone/>
            </a:pPr>
            <a:r>
              <a:t>	if (heap-&gt;nr &lt;= 0) {</a:t>
            </a:r>
          </a:p>
          <a:p>
            <a:pPr marL="0" indent="0">
              <a:buNone/>
            </a:pPr>
            <a:r>
              <a:t>		printf("Popping an empty heap\n");</a:t>
            </a:r>
          </a:p>
          <a:p>
            <a:pPr marL="0" indent="0">
              <a:buNone/>
            </a:pPr>
            <a:r>
              <a:t>		return;</a:t>
            </a:r>
          </a:p>
          <a:p>
            <a:pPr marL="0" indent="0">
              <a:buNone/>
            </a:pPr>
            <a:r>
              <a:t>	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98276-5AF7-B4D4-B3F5-DA92E428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1684-575D-DE46-FA57-026DDEDD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53" y="262442"/>
            <a:ext cx="8656722" cy="607653"/>
          </a:xfrm>
        </p:spPr>
        <p:txBody>
          <a:bodyPr>
            <a:spAutoFit/>
          </a:bodyPr>
          <a:lstStyle/>
          <a:p>
            <a:r>
              <a:t>실무에서 구현된 힙 - 데이터 삭제</a:t>
            </a:r>
            <a:r>
              <a:rPr lang="en-US"/>
              <a:t> 2 / 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44F7-E458-825A-4EDD-505226B76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heap-&gt;nr--;</a:t>
            </a:r>
          </a:p>
          <a:p>
            <a:pPr marL="0" indent="0">
              <a:buNone/>
            </a:pPr>
            <a:r>
              <a:t>	data[0] = data[heap-&gt;nr];</a:t>
            </a:r>
          </a:p>
          <a:p>
            <a:pPr marL="0" indent="0">
              <a:buNone/>
            </a:pPr>
            <a:r>
              <a:t>	min_heap_sift_down(heap, 0, funcs);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2211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D9D6B-9CC4-588E-7814-C9A792662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2EA9-3DB8-9575-6956-258DDDECC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실무에서 구현된 힙 </a:t>
            </a:r>
            <a:r>
              <a:rPr lang="en-US" altLang="ko-KR"/>
              <a:t>- </a:t>
            </a:r>
            <a:r>
              <a:rPr lang="ko-KR" altLang="en-US"/>
              <a:t>데이터 삭제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AD889-F2B5-4B80-3ABA-F7DC95E4A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</a:t>
            </a:r>
            <a:r>
              <a:rPr lang="en-US"/>
              <a:t>data</a:t>
            </a:r>
            <a:r>
              <a:t>[] = {3, 1, 2, 4};</a:t>
            </a:r>
          </a:p>
          <a:p>
            <a:pPr marL="0" indent="0">
              <a:buNone/>
            </a:pPr>
            <a:r>
              <a:t>struct min_heap heap = {.nr = 0,</a:t>
            </a:r>
            <a:r>
              <a:rPr lang="en-US"/>
              <a:t> </a:t>
            </a:r>
            <a:r>
              <a:t>.size = </a:t>
            </a:r>
            <a:r>
              <a:rPr lang="en-US"/>
              <a:t>4</a:t>
            </a:r>
            <a:r>
              <a:t>,</a:t>
            </a:r>
            <a:r>
              <a:rPr lang="en-US"/>
              <a:t> </a:t>
            </a:r>
            <a:r>
              <a:t>.data = </a:t>
            </a:r>
            <a:r>
              <a:rPr lang="en-US"/>
              <a:t>data</a:t>
            </a:r>
            <a:r>
              <a:t>};</a:t>
            </a:r>
          </a:p>
          <a:p>
            <a:pPr marL="0" indent="0">
              <a:buNone/>
            </a:pPr>
            <a:r>
              <a:t>struct min_heap_callbacks </a:t>
            </a:r>
            <a:r>
              <a:rPr lang="en-US"/>
              <a:t>f</a:t>
            </a:r>
            <a:r>
              <a:t>s = {</a:t>
            </a:r>
            <a:endParaRPr lang="en-US"/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/>
              <a:t>.less = less_than, </a:t>
            </a:r>
            <a:r>
              <a:t>.swap = swap_int,</a:t>
            </a:r>
            <a:r>
              <a:rPr lang="en-US"/>
              <a:t> </a:t>
            </a:r>
            <a:r>
              <a:t>};</a:t>
            </a:r>
          </a:p>
          <a:p>
            <a:pPr marL="0" indent="0">
              <a:buNone/>
            </a:pPr>
            <a:r>
              <a:t>heap.nr = 4;</a:t>
            </a:r>
          </a:p>
          <a:p>
            <a:pPr marL="0" indent="0">
              <a:buNone/>
            </a:pPr>
            <a:r>
              <a:rPr lang="en-US" altLang="ko-KR"/>
              <a:t>min_heapify_all(&amp;heap, &amp;callbacks);</a:t>
            </a:r>
          </a:p>
          <a:p>
            <a:pPr marL="0" indent="0">
              <a:buNone/>
            </a:pPr>
            <a:r>
              <a:rPr lang="en-US" altLang="ko-KR"/>
              <a:t>min_heap_pop(&amp;heap, &amp;callbacks);</a:t>
            </a:r>
          </a:p>
          <a:p>
            <a:pPr marL="0" indent="0">
              <a:buNone/>
            </a:pPr>
            <a:r>
              <a:rPr lang="en-US" altLang="ko-KR"/>
              <a:t>min_heap_pop(&amp;heap, &amp;callbacks);</a:t>
            </a:r>
          </a:p>
          <a:p>
            <a:pPr marL="0" indent="0">
              <a:buNone/>
            </a:pPr>
            <a:r>
              <a:rPr lang="en-US" altLang="ko-KR"/>
              <a:t>min_heap_pop(&amp;heap, &amp;callbacks);</a:t>
            </a:r>
          </a:p>
        </p:txBody>
      </p:sp>
    </p:spTree>
    <p:extLst>
      <p:ext uri="{BB962C8B-B14F-4D97-AF65-F5344CB8AC3E}">
        <p14:creationId xmlns:p14="http://schemas.microsoft.com/office/powerpoint/2010/main" val="1146678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753" y="262442"/>
            <a:ext cx="8656722" cy="607653"/>
          </a:xfrm>
        </p:spPr>
        <p:txBody>
          <a:bodyPr>
            <a:spAutoFit/>
          </a:bodyPr>
          <a:lstStyle/>
          <a:p>
            <a:r>
              <a:t>실무에서 구현된 힙 - 데이터 추가</a:t>
            </a:r>
            <a:r>
              <a:rPr lang="en-US"/>
              <a:t> 1 / 2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min_heap_push(struct min_heap *heap, int val,</a:t>
            </a:r>
          </a:p>
          <a:p>
            <a:pPr marL="0" indent="0">
              <a:buNone/>
            </a:pPr>
            <a:r>
              <a:t>		const struct min_heap_callbacks *funcs)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*data = heap-&gt;data;</a:t>
            </a:r>
          </a:p>
          <a:p>
            <a:pPr marL="0" indent="0">
              <a:buNone/>
            </a:pPr>
            <a:r>
              <a:t>	int *child, *parent;</a:t>
            </a:r>
          </a:p>
          <a:p>
            <a:pPr marL="0" indent="0">
              <a:buNone/>
            </a:pPr>
            <a:r>
              <a:t>	int pos;</a:t>
            </a:r>
          </a:p>
          <a:p>
            <a:pPr marL="0" indent="0">
              <a:buNone/>
            </a:pPr>
            <a:r>
              <a:t>	if (heap-&gt;nr &gt;= heap-&gt;size) {</a:t>
            </a:r>
          </a:p>
          <a:p>
            <a:pPr marL="0" indent="0">
              <a:buNone/>
            </a:pPr>
            <a:r>
              <a:t>		printf("Pushing into a full heap\n");</a:t>
            </a:r>
          </a:p>
          <a:p>
            <a:pPr marL="0" indent="0">
              <a:buNone/>
            </a:pPr>
            <a:r>
              <a:t>		return;</a:t>
            </a:r>
          </a:p>
          <a:p>
            <a:pPr marL="0" indent="0">
              <a:buNone/>
            </a:pPr>
            <a:r>
              <a:t>	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7C18-7B81-8652-7395-9EAF6746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5DC7-BFA4-8227-ACF0-005409A9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53" y="262442"/>
            <a:ext cx="8656722" cy="607653"/>
          </a:xfrm>
        </p:spPr>
        <p:txBody>
          <a:bodyPr>
            <a:spAutoFit/>
          </a:bodyPr>
          <a:lstStyle/>
          <a:p>
            <a:r>
              <a:t>실무에서 구현된 힙 - 데이터 추가</a:t>
            </a:r>
            <a:r>
              <a:rPr lang="en-US"/>
              <a:t> 2 / 2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C51F1-A85E-DCA1-8DDE-572B26237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pos = heap-&gt;nr;</a:t>
            </a:r>
          </a:p>
          <a:p>
            <a:pPr marL="0" indent="0">
              <a:buNone/>
            </a:pPr>
            <a:r>
              <a:t>	data[pos] = val;</a:t>
            </a:r>
          </a:p>
          <a:p>
            <a:pPr marL="0" indent="0">
              <a:buNone/>
            </a:pPr>
            <a:r>
              <a:t>	heap-&gt;nr++;</a:t>
            </a:r>
          </a:p>
          <a:p>
            <a:pPr marL="0" indent="0">
              <a:buNone/>
            </a:pPr>
            <a:r>
              <a:t>	for (; pos &gt; 0; pos = (pos - 1) / 2) {</a:t>
            </a:r>
          </a:p>
          <a:p>
            <a:pPr marL="0" indent="0">
              <a:buNone/>
            </a:pPr>
            <a:r>
              <a:t>		child = data + pos;</a:t>
            </a:r>
          </a:p>
          <a:p>
            <a:pPr marL="0" indent="0">
              <a:buNone/>
            </a:pPr>
            <a:r>
              <a:t>		parent = data + (pos - 1) / 2;</a:t>
            </a:r>
          </a:p>
          <a:p>
            <a:pPr marL="0" indent="0">
              <a:buNone/>
            </a:pPr>
            <a:r>
              <a:t>		if (funcs-&gt;less(parent, child))</a:t>
            </a:r>
            <a:r>
              <a:rPr lang="en-US"/>
              <a:t> </a:t>
            </a:r>
            <a:r>
              <a:t>break;</a:t>
            </a:r>
          </a:p>
          <a:p>
            <a:pPr marL="0" indent="0">
              <a:buNone/>
            </a:pPr>
            <a:r>
              <a:t>		funcs-&gt;swap(parent, child);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7221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197F-A537-D93A-C072-CB020970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DB6B-CEC3-A2E3-6DC8-EDC1C0D2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30" y="262442"/>
            <a:ext cx="7709345" cy="607653"/>
          </a:xfrm>
        </p:spPr>
        <p:txBody>
          <a:bodyPr>
            <a:spAutoFit/>
          </a:bodyPr>
          <a:lstStyle/>
          <a:p>
            <a:r>
              <a:rPr lang="ko-KR" altLang="en-US"/>
              <a:t>실무에서 구현된 힙 </a:t>
            </a:r>
            <a:r>
              <a:rPr lang="en-US" altLang="ko-KR"/>
              <a:t>- </a:t>
            </a:r>
            <a:r>
              <a:rPr lang="ko-KR" altLang="en-US"/>
              <a:t>데이터 추가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A8DF6-CA1E-EFD4-750C-907E494DD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코드를 실행한 후 heap의 상태는?</a:t>
            </a:r>
          </a:p>
          <a:p>
            <a:pPr marL="0" indent="0">
              <a:buNone/>
            </a:pPr>
            <a:r>
              <a:t>int </a:t>
            </a:r>
            <a:r>
              <a:rPr lang="en-US"/>
              <a:t>data</a:t>
            </a:r>
            <a:r>
              <a:t>[] = {3, 1, 2, 4};</a:t>
            </a:r>
          </a:p>
          <a:p>
            <a:pPr marL="0" indent="0">
              <a:buNone/>
            </a:pPr>
            <a:r>
              <a:t>struct min_heap heap = {.nr = 0,</a:t>
            </a:r>
            <a:r>
              <a:rPr lang="en-US"/>
              <a:t> </a:t>
            </a:r>
            <a:r>
              <a:t>.size = </a:t>
            </a:r>
            <a:r>
              <a:rPr lang="en-US"/>
              <a:t>4</a:t>
            </a:r>
            <a:r>
              <a:t>,</a:t>
            </a:r>
            <a:r>
              <a:rPr lang="en-US"/>
              <a:t> </a:t>
            </a:r>
            <a:r>
              <a:t>.data = </a:t>
            </a:r>
            <a:r>
              <a:rPr lang="en-US"/>
              <a:t>data</a:t>
            </a:r>
            <a:r>
              <a:t>};</a:t>
            </a:r>
          </a:p>
          <a:p>
            <a:pPr marL="0" indent="0">
              <a:buNone/>
            </a:pPr>
            <a:r>
              <a:t>struct min_heap_callbacks </a:t>
            </a:r>
            <a:r>
              <a:rPr lang="en-US"/>
              <a:t>f</a:t>
            </a:r>
            <a:r>
              <a:t>s = {</a:t>
            </a:r>
            <a:endParaRPr lang="en-US"/>
          </a:p>
          <a:p>
            <a:pPr marL="0" indent="0">
              <a:buNone/>
            </a:pPr>
            <a:r>
              <a:rPr lang="ko-KR" altLang="en-US"/>
              <a:t>	</a:t>
            </a:r>
            <a:r>
              <a:rPr lang="en-US"/>
              <a:t>.less = less_than, </a:t>
            </a:r>
            <a:r>
              <a:t>.swap = swap_int,</a:t>
            </a:r>
            <a:r>
              <a:rPr lang="en-US"/>
              <a:t> </a:t>
            </a:r>
            <a:r>
              <a:t>};</a:t>
            </a:r>
          </a:p>
          <a:p>
            <a:pPr marL="0" indent="0">
              <a:buNone/>
            </a:pPr>
            <a:r>
              <a:t>heap.nr = 4;</a:t>
            </a:r>
          </a:p>
          <a:p>
            <a:pPr marL="0" indent="0">
              <a:buNone/>
            </a:pPr>
            <a:r>
              <a:rPr lang="en-US" altLang="ko-KR"/>
              <a:t>int values[] = {3, 4, 1, 2};</a:t>
            </a:r>
          </a:p>
          <a:p>
            <a:pPr marL="0" indent="0">
              <a:buNone/>
            </a:pPr>
            <a:r>
              <a:rPr lang="en-US" altLang="ko-KR"/>
              <a:t>for (int i = 0; i &lt; 4; i++) {</a:t>
            </a:r>
          </a:p>
          <a:p>
            <a:pPr marL="0" indent="0">
              <a:buNone/>
            </a:pPr>
            <a:r>
              <a:rPr lang="en-US" altLang="ko-KR"/>
              <a:t>	min_heap_push(&amp;heap, values[i], &amp;callbacks);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6271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664" y="262442"/>
            <a:ext cx="9294139" cy="607653"/>
          </a:xfrm>
        </p:spPr>
        <p:txBody>
          <a:bodyPr>
            <a:spAutoFit/>
          </a:bodyPr>
          <a:lstStyle/>
          <a:p>
            <a:r>
              <a:t>2018년 중간고사 문제 1.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다음에 주어진 code들에 대해 time complexity를 </a:t>
            </a:r>
            <a:endParaRPr lang="en-US"/>
          </a:p>
          <a:p>
            <a:pPr marL="0" indent="0">
              <a:buNone/>
            </a:pPr>
            <a:r>
              <a:t>big-oh (O) notation을 사용하여 표현하시오. </a:t>
            </a:r>
            <a:endParaRPr lang="en-US"/>
          </a:p>
          <a:p>
            <a:pPr marL="0" indent="0">
              <a:buNone/>
            </a:pPr>
            <a:r>
              <a:t>그리고, 그렇게 판단하는 이유도 함께 기술하시오. </a:t>
            </a:r>
            <a:endParaRPr lang="en-US"/>
          </a:p>
          <a:p>
            <a:pPr marL="0" indent="0">
              <a:buNone/>
            </a:pPr>
            <a:r>
              <a:t>(주: 각 3점씩, 수식이 맞아도 이유가 잘못되면 0점)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1261" y="262442"/>
            <a:ext cx="6571214" cy="607653"/>
          </a:xfrm>
        </p:spPr>
        <p:txBody>
          <a:bodyPr>
            <a:spAutoFit/>
          </a:bodyPr>
          <a:lstStyle/>
          <a:p>
            <a:r>
              <a:t>2018년 중간고사 문제 1-(1)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f1(int n)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result = n * n;</a:t>
            </a:r>
          </a:p>
          <a:p>
            <a:pPr marL="0" indent="0">
              <a:buNone/>
            </a:pPr>
            <a:r>
              <a:t>	return result;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1261" y="262442"/>
            <a:ext cx="6571214" cy="607653"/>
          </a:xfrm>
        </p:spPr>
        <p:txBody>
          <a:bodyPr>
            <a:spAutoFit/>
          </a:bodyPr>
          <a:lstStyle/>
          <a:p>
            <a:r>
              <a:t>2018년 중간고사 문제 1-(2)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f2(int n)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result = 0;</a:t>
            </a:r>
          </a:p>
          <a:p>
            <a:pPr marL="0" indent="0">
              <a:buNone/>
            </a:pPr>
            <a:r>
              <a:t>	while (n &gt; 1) {</a:t>
            </a:r>
          </a:p>
          <a:p>
            <a:pPr marL="0" indent="0">
              <a:buNone/>
            </a:pPr>
            <a:r>
              <a:t>		n = n / 2;</a:t>
            </a:r>
          </a:p>
          <a:p>
            <a:pPr marL="0" indent="0">
              <a:buNone/>
            </a:pPr>
            <a:r>
              <a:t>		result += 1;</a:t>
            </a:r>
          </a:p>
          <a:p>
            <a:pPr marL="0" indent="0">
              <a:buNone/>
            </a:pPr>
            <a:r>
              <a:t>	}</a:t>
            </a:r>
          </a:p>
          <a:p>
            <a:pPr marL="0" indent="0">
              <a:buNone/>
            </a:pPr>
            <a:r>
              <a:t>	return result;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1261" y="262442"/>
            <a:ext cx="6571214" cy="607653"/>
          </a:xfrm>
        </p:spPr>
        <p:txBody>
          <a:bodyPr>
            <a:spAutoFit/>
          </a:bodyPr>
          <a:lstStyle/>
          <a:p>
            <a:r>
              <a:t>2018년 중간고사 문제 1-(3)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f3(int n, int m)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int result = 0;</a:t>
            </a:r>
          </a:p>
          <a:p>
            <a:pPr marL="0" indent="0">
              <a:buNone/>
            </a:pPr>
            <a:r>
              <a:t>	int i, j;</a:t>
            </a:r>
          </a:p>
          <a:p>
            <a:pPr marL="0" indent="0">
              <a:buNone/>
            </a:pPr>
            <a:r>
              <a:t>	for (i = 1; i &lt; n; i *= 2)</a:t>
            </a:r>
          </a:p>
          <a:p>
            <a:pPr marL="0" indent="0">
              <a:buNone/>
            </a:pPr>
            <a:r>
              <a:t>		result += 1;</a:t>
            </a:r>
          </a:p>
          <a:p>
            <a:pPr marL="0" indent="0">
              <a:buNone/>
            </a:pPr>
            <a:r>
              <a:t>	for (j = 1; j &lt; m; j *= 5)</a:t>
            </a:r>
          </a:p>
          <a:p>
            <a:pPr marL="0" indent="0">
              <a:buNone/>
            </a:pPr>
            <a:r>
              <a:t>		result += 1;</a:t>
            </a:r>
          </a:p>
          <a:p>
            <a:pPr marL="0" indent="0">
              <a:buNone/>
            </a:pPr>
            <a:r>
              <a:t>	return result;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1331" y="262442"/>
            <a:ext cx="9013806" cy="607653"/>
          </a:xfrm>
        </p:spPr>
        <p:txBody>
          <a:bodyPr>
            <a:spAutoFit/>
          </a:bodyPr>
          <a:lstStyle/>
          <a:p>
            <a:r>
              <a:t>2018년 중간고사 문제 2. Circular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크기가 6인 circular queue에 다음과 같이 </a:t>
            </a:r>
            <a:endParaRPr lang="en-US"/>
          </a:p>
          <a:p>
            <a:pPr marL="0" indent="0">
              <a:buNone/>
            </a:pPr>
            <a:r>
              <a:t>삽입과 삭제가 순서대로 진행되었을 경우, </a:t>
            </a:r>
            <a:endParaRPr lang="en-US"/>
          </a:p>
          <a:p>
            <a:pPr marL="0" indent="0">
              <a:buNone/>
            </a:pPr>
            <a:r>
              <a:t>각 단계에서의 circular queue의 내용을 적으시오. </a:t>
            </a:r>
            <a:endParaRPr lang="en-US"/>
          </a:p>
          <a:p>
            <a:pPr marL="0" indent="0">
              <a:buNone/>
            </a:pPr>
            <a:r>
              <a:t>(각 2점씩) 단, front와 rear는 초기값으로 0을 부여한다.</a:t>
            </a:r>
          </a:p>
          <a:p>
            <a:endParaRPr lang="en-US"/>
          </a:p>
          <a:p>
            <a:r>
              <a:t>enqueue(1)</a:t>
            </a:r>
            <a:r>
              <a:rPr lang="en-US"/>
              <a:t>, </a:t>
            </a:r>
            <a:r>
              <a:t>enqueue(2)</a:t>
            </a:r>
            <a:r>
              <a:rPr lang="en-US"/>
              <a:t>, </a:t>
            </a:r>
            <a:r>
              <a:t>enqueue(3)</a:t>
            </a:r>
          </a:p>
          <a:p>
            <a:r>
              <a:t>enqueue(7)</a:t>
            </a:r>
            <a:r>
              <a:rPr lang="en-US"/>
              <a:t>, </a:t>
            </a:r>
            <a:r>
              <a:t>enqueue(6)</a:t>
            </a:r>
            <a:r>
              <a:rPr lang="en-US"/>
              <a:t>, </a:t>
            </a:r>
            <a:r>
              <a:t>enqueue(5)</a:t>
            </a:r>
          </a:p>
          <a:p>
            <a:r>
              <a:t>dequeue()</a:t>
            </a:r>
            <a:r>
              <a:rPr lang="en-US"/>
              <a:t>, </a:t>
            </a:r>
            <a:r>
              <a:t>dequeue()</a:t>
            </a:r>
          </a:p>
          <a:p>
            <a:r>
              <a:t>enqueue(4)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4046" y="262442"/>
            <a:ext cx="7168429" cy="607653"/>
          </a:xfrm>
        </p:spPr>
        <p:txBody>
          <a:bodyPr>
            <a:spAutoFit/>
          </a:bodyPr>
          <a:lstStyle/>
          <a:p>
            <a:r>
              <a:t>2018년 중간고사 문제 3.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다음과 같이 infix notation을 postfix notation으로 </a:t>
            </a:r>
            <a:endParaRPr lang="en-US"/>
          </a:p>
          <a:p>
            <a:pPr marL="0" indent="0">
              <a:buNone/>
            </a:pPr>
            <a:r>
              <a:t>변경할 수 있다.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t>3+4*2-7 → 342*+7-        2*(4+6)-9 → 246+*9-</a:t>
            </a:r>
          </a:p>
          <a:p>
            <a:endParaRPr lang="en-US"/>
          </a:p>
          <a:p>
            <a:r>
              <a:t>이러한 기능을 갖는 function을 개발한다고 할 때, </a:t>
            </a:r>
            <a:endParaRPr lang="en-US"/>
          </a:p>
          <a:p>
            <a:pPr marL="0" indent="0">
              <a:buNone/>
            </a:pPr>
            <a:r>
              <a:t>그 function의 알고리즘을 기술하시오. </a:t>
            </a:r>
            <a:endParaRPr lang="en-US"/>
          </a:p>
          <a:p>
            <a:pPr marL="0" indent="0">
              <a:buNone/>
            </a:pPr>
            <a:r>
              <a:t>Flow chart의 형태로 표현해도 좋고, pseudo code</a:t>
            </a:r>
            <a:r>
              <a:rPr lang="en-US"/>
              <a:t>,</a:t>
            </a:r>
            <a:r>
              <a:t> </a:t>
            </a:r>
            <a:endParaRPr lang="en-US"/>
          </a:p>
          <a:p>
            <a:pPr marL="0" indent="0">
              <a:buNone/>
            </a:pPr>
            <a:r>
              <a:t>혹은 논리적으로 명확하고 간단한 우리글도 좋다. </a:t>
            </a:r>
            <a:endParaRPr lang="en-US"/>
          </a:p>
          <a:p>
            <a:pPr marL="0" indent="0">
              <a:buNone/>
            </a:pPr>
            <a:r>
              <a:t>단, 알고리즘대로 절차를 수행했을 때 변환이 완료될</a:t>
            </a:r>
            <a:endParaRPr lang="en-US"/>
          </a:p>
          <a:p>
            <a:pPr marL="0" indent="0">
              <a:buNone/>
            </a:pPr>
            <a:r>
              <a:t> 수 있어야 한다.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아래 프로그램에서 ①,  ②,  ③을 수행하고 난 후</a:t>
            </a:r>
            <a:endParaRPr lang="en-US"/>
          </a:p>
          <a:p>
            <a:pPr marL="0" indent="0">
              <a:buNone/>
            </a:pPr>
            <a:r>
              <a:t> head가 가리키는 linked list가 어떤 모양인지 </a:t>
            </a:r>
            <a:endParaRPr lang="en-US"/>
          </a:p>
          <a:p>
            <a:pPr marL="0" indent="0">
              <a:buNone/>
            </a:pPr>
            <a:r>
              <a:t>그림으로 나타내시오.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#include &lt;stdio.h&gt;</a:t>
            </a:r>
          </a:p>
          <a:p>
            <a:pPr marL="0" indent="0">
              <a:buNone/>
            </a:pPr>
            <a:r>
              <a:t>#include &lt;stdlib.h&gt;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typedef struct node* nodePointer;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B30F1-5398-3B67-D223-7160A511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81F7-EC54-235D-C6EE-DB4155FD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A1BB-09C3-239E-5A56-33245D34A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typedef struct node {</a:t>
            </a:r>
          </a:p>
          <a:p>
            <a:pPr marL="0" indent="0">
              <a:buNone/>
            </a:pPr>
            <a:r>
              <a:t>	int data;</a:t>
            </a:r>
          </a:p>
          <a:p>
            <a:pPr marL="0" indent="0">
              <a:buNone/>
            </a:pPr>
            <a:r>
              <a:t>	nodePointer prev;</a:t>
            </a:r>
          </a:p>
          <a:p>
            <a:pPr marL="0" indent="0">
              <a:buNone/>
            </a:pPr>
            <a:r>
              <a:t>	nodePointer next;</a:t>
            </a:r>
          </a:p>
          <a:p>
            <a:pPr marL="0" indent="0">
              <a:buNone/>
            </a:pPr>
            <a:r>
              <a:t>} node;</a:t>
            </a:r>
          </a:p>
        </p:txBody>
      </p:sp>
    </p:spTree>
    <p:extLst>
      <p:ext uri="{BB962C8B-B14F-4D97-AF65-F5344CB8AC3E}">
        <p14:creationId xmlns:p14="http://schemas.microsoft.com/office/powerpoint/2010/main" val="2666595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AD7A8-D6F6-5724-43BE-2CDDA22A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4A92-76C4-43C4-0318-8D164AC7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3C060-D5D3-AA83-2156-05C600BC6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nodePointer GetNewNode(int x) {</a:t>
            </a:r>
          </a:p>
          <a:p>
            <a:pPr marL="0" indent="0">
              <a:buNone/>
            </a:pPr>
            <a:r>
              <a:t>	nodePointer newNode = malloc(sizeof(node));</a:t>
            </a:r>
          </a:p>
          <a:p>
            <a:pPr marL="0" indent="0">
              <a:buNone/>
            </a:pPr>
            <a:r>
              <a:t>	newNode-&gt;data = x;</a:t>
            </a:r>
          </a:p>
          <a:p>
            <a:pPr marL="0" indent="0">
              <a:buNone/>
            </a:pPr>
            <a:r>
              <a:t>	newNode-&gt;prev = NULL;</a:t>
            </a:r>
          </a:p>
          <a:p>
            <a:pPr marL="0" indent="0">
              <a:buNone/>
            </a:pPr>
            <a:r>
              <a:t>	newNode-&gt;next = NULL;</a:t>
            </a:r>
          </a:p>
          <a:p>
            <a:pPr marL="0" indent="0">
              <a:buNone/>
            </a:pPr>
            <a:r>
              <a:t>	return newNode;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58201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F671E-5361-5A8A-B4DD-D16F7492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431E-DEB8-62B4-7E06-46AB30AD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615AA-37EC-5748-36C1-9822600BE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f1(int x, nodePointer *ptr)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nodePointer newNode = GetNewNode(x);</a:t>
            </a:r>
          </a:p>
          <a:p>
            <a:pPr marL="0" indent="0">
              <a:buNone/>
            </a:pPr>
            <a:r>
              <a:t>	if (*ptr == NULL) {</a:t>
            </a:r>
          </a:p>
          <a:p>
            <a:pPr marL="0" indent="0">
              <a:buNone/>
            </a:pPr>
            <a:r>
              <a:t>		*ptr = newNode;</a:t>
            </a:r>
          </a:p>
          <a:p>
            <a:pPr marL="0" indent="0">
              <a:buNone/>
            </a:pPr>
            <a:r>
              <a:t>		return;</a:t>
            </a:r>
          </a:p>
          <a:p>
            <a:pPr marL="0" indent="0">
              <a:buNone/>
            </a:pPr>
            <a: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4105175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C3A9-B6C3-272C-86C0-41654BF9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DE1E-1301-E77C-22E7-70B6C278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70F8-90E5-45EA-57A2-8116B044F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*ptr-&gt;prev = newNode;</a:t>
            </a:r>
          </a:p>
          <a:p>
            <a:pPr marL="0" indent="0">
              <a:buNone/>
            </a:pPr>
            <a:r>
              <a:t>	newNode-&gt;next = *ptr;</a:t>
            </a:r>
          </a:p>
          <a:p>
            <a:pPr marL="0" indent="0">
              <a:buNone/>
            </a:pPr>
            <a:r>
              <a:t>	*ptr = newNode;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866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E897E-B81A-1338-935F-2FC3E6D0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7C5B5-3481-D5BC-3615-675C8DB55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B9E2-BE3C-6AFC-4458-AEA49F1D5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void f2(int x, nodePointer *ptr)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nodePointer temp = *ptr;</a:t>
            </a:r>
          </a:p>
          <a:p>
            <a:pPr marL="0" indent="0">
              <a:buNone/>
            </a:pPr>
            <a:r>
              <a:t>	nodePointer newNode = GetNewNode(x);</a:t>
            </a:r>
          </a:p>
          <a:p>
            <a:pPr marL="0" indent="0">
              <a:buNone/>
            </a:pPr>
            <a:r>
              <a:t>	if (*ptr == NULL) {</a:t>
            </a:r>
          </a:p>
          <a:p>
            <a:pPr marL="0" indent="0">
              <a:buNone/>
            </a:pPr>
            <a:r>
              <a:t>		*ptr = newNode;</a:t>
            </a:r>
          </a:p>
          <a:p>
            <a:pPr marL="0" indent="0">
              <a:buNone/>
            </a:pPr>
            <a:r>
              <a:t>		return;</a:t>
            </a:r>
          </a:p>
          <a:p>
            <a:pPr marL="0" indent="0">
              <a:buNone/>
            </a:pPr>
            <a: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194197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7057-B39E-FDDE-48C2-4834C951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0CC7-25C1-C6E7-EFE2-B97BE67C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A2F89-F7AE-4F4E-E481-A4D84461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	while (temp-&gt;next != NULL)</a:t>
            </a:r>
          </a:p>
          <a:p>
            <a:pPr marL="0" indent="0">
              <a:buNone/>
            </a:pPr>
            <a:r>
              <a:t>		temp = temp-&gt;next;</a:t>
            </a:r>
          </a:p>
          <a:p>
            <a:pPr marL="0" indent="0">
              <a:buNone/>
            </a:pPr>
            <a:r>
              <a:t>	temp-&gt;next = newNode;</a:t>
            </a:r>
          </a:p>
          <a:p>
            <a:pPr marL="0" indent="0">
              <a:buNone/>
            </a:pPr>
            <a:r>
              <a:t>	newNode-&gt;prev = temp;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046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8727-3090-CBBA-4506-0A9DDF9D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37E2-A654-45A8-A28C-4D37AAA2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57" y="262442"/>
            <a:ext cx="8046618" cy="607653"/>
          </a:xfrm>
        </p:spPr>
        <p:txBody>
          <a:bodyPr>
            <a:spAutoFit/>
          </a:bodyPr>
          <a:lstStyle/>
          <a:p>
            <a:r>
              <a:t>2018년 중간고사 문제 4.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AC7F3-E65E-C811-4B36-D27C097F4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int main()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nodePointer head = NULL;</a:t>
            </a:r>
          </a:p>
          <a:p>
            <a:pPr marL="0" indent="0">
              <a:buNone/>
            </a:pPr>
            <a:r>
              <a:t>	f1(2, &amp;head);</a:t>
            </a:r>
          </a:p>
          <a:p>
            <a:pPr marL="0" indent="0">
              <a:buNone/>
            </a:pPr>
            <a:r>
              <a:t>	f2(3, &amp;head);</a:t>
            </a:r>
          </a:p>
          <a:p>
            <a:pPr marL="0" indent="0">
              <a:buNone/>
            </a:pPr>
            <a:r>
              <a:t>	f1(4, &amp;head);</a:t>
            </a:r>
          </a:p>
          <a:p>
            <a:pPr marL="0" indent="0">
              <a:buNone/>
            </a:pPr>
            <a:r>
              <a:t>	return 0;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36840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29296" y="262442"/>
            <a:ext cx="9541771" cy="607653"/>
          </a:xfrm>
        </p:spPr>
        <p:txBody>
          <a:bodyPr>
            <a:spAutoFit/>
          </a:bodyPr>
          <a:lstStyle/>
          <a:p>
            <a:r>
              <a:t>2018년 중간고사 문제 5. Binary tree (12점)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1) Node의 개수가 n일 때 최소 height와 최대 height를 </a:t>
            </a:r>
            <a:endParaRPr lang="en-US"/>
          </a:p>
          <a:p>
            <a:pPr marL="0" indent="0">
              <a:buNone/>
            </a:pPr>
            <a:r>
              <a:t>갖는 경우, 그 값이 얼마인지 각각 예를 들어 설명하시</a:t>
            </a:r>
            <a:endParaRPr lang="en-US"/>
          </a:p>
          <a:p>
            <a:pPr marL="0" indent="0">
              <a:buNone/>
            </a:pPr>
            <a:r>
              <a:t>오. (6점)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29296" y="262442"/>
            <a:ext cx="9541771" cy="607653"/>
          </a:xfrm>
        </p:spPr>
        <p:txBody>
          <a:bodyPr>
            <a:spAutoFit/>
          </a:bodyPr>
          <a:lstStyle/>
          <a:p>
            <a:r>
              <a:t>2018년 중간고사 문제 5. Binary tree (12점)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2) Node의 개수가 n일 때 최소 width와 최대 width를 갖</a:t>
            </a:r>
            <a:endParaRPr lang="en-US"/>
          </a:p>
          <a:p>
            <a:pPr marL="0" indent="0">
              <a:buNone/>
            </a:pPr>
            <a:r>
              <a:t>는 경우, 그 값이 얼마인지 각각 예를 들어 설명하시오. </a:t>
            </a:r>
            <a:endParaRPr lang="en-US"/>
          </a:p>
          <a:p>
            <a:pPr marL="0" indent="0">
              <a:buNone/>
            </a:pPr>
            <a:r>
              <a:t>(6점)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95751" y="262442"/>
            <a:ext cx="11108226" cy="607653"/>
          </a:xfrm>
        </p:spPr>
        <p:txBody>
          <a:bodyPr>
            <a:spAutoFit/>
          </a:bodyPr>
          <a:lstStyle/>
          <a:p>
            <a:r>
              <a:t>2018년 중간고사 문제 6. Binary tree traversal (9점)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postorder traversal 결과가 D B F G E H C A 이고</a:t>
            </a:r>
          </a:p>
          <a:p>
            <a:pPr marL="0" indent="0">
              <a:buNone/>
            </a:pPr>
            <a:r>
              <a:t>inorder traversal 결과가 B D A F E G C H인 </a:t>
            </a:r>
            <a:endParaRPr lang="en-US"/>
          </a:p>
          <a:p>
            <a:pPr marL="0" indent="0">
              <a:buNone/>
            </a:pPr>
            <a:r>
              <a:t>binary tree를 그림으로 나타내시오. </a:t>
            </a:r>
            <a:endParaRPr lang="en-US"/>
          </a:p>
          <a:p>
            <a:pPr marL="0" indent="0">
              <a:buNone/>
            </a:pPr>
            <a:r>
              <a:t>단, 중간 과정을 모두 적으시오.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155" y="262442"/>
            <a:ext cx="8549320" cy="607653"/>
          </a:xfrm>
        </p:spPr>
        <p:txBody>
          <a:bodyPr>
            <a:spAutoFit/>
          </a:bodyPr>
          <a:lstStyle/>
          <a:p>
            <a:r>
              <a:t>2018년 중간고사 문제 보너스. (10점)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두 자연수의 나누기를 함수로 구현하는데, 빼기를 </a:t>
            </a:r>
            <a:endParaRPr lang="en-US"/>
          </a:p>
          <a:p>
            <a:pPr marL="0" indent="0">
              <a:buNone/>
            </a:pPr>
            <a:r>
              <a:t>활용하면 아래 code와 같이 recursion으로 구현하는 </a:t>
            </a:r>
            <a:endParaRPr lang="en-US"/>
          </a:p>
          <a:p>
            <a:pPr marL="0" indent="0">
              <a:buNone/>
            </a:pPr>
            <a:r>
              <a:t>것이 가능하다. </a:t>
            </a:r>
          </a:p>
          <a:p>
            <a:pPr marL="0" indent="0">
              <a:buNone/>
            </a:pPr>
            <a:r>
              <a:t>연산 결과는 C에서의 ‘/’의 결과와 같다. 즉, divide(5, 2)</a:t>
            </a:r>
            <a:endParaRPr lang="en-US"/>
          </a:p>
          <a:p>
            <a:pPr marL="0" indent="0">
              <a:buNone/>
            </a:pPr>
            <a:r>
              <a:t>의 결과값은 2이고, divide(6, 3)의 결과값은 2이다. </a:t>
            </a:r>
          </a:p>
          <a:p>
            <a:pPr marL="0" indent="0">
              <a:buNone/>
            </a:pPr>
            <a:r>
              <a:t>다음 함수의 ①과 ②, ③에 들어갈 한 줄짜리 code를 </a:t>
            </a:r>
            <a:endParaRPr lang="en-US"/>
          </a:p>
          <a:p>
            <a:pPr marL="0" indent="0">
              <a:buNone/>
            </a:pPr>
            <a:r>
              <a:t>적으시오.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79CEC-BCEF-66EC-2EF0-6B7C9E23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C61D-EB0D-29D9-A79C-79BED9ADB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155" y="262442"/>
            <a:ext cx="8549320" cy="607653"/>
          </a:xfrm>
        </p:spPr>
        <p:txBody>
          <a:bodyPr>
            <a:spAutoFit/>
          </a:bodyPr>
          <a:lstStyle/>
          <a:p>
            <a:r>
              <a:t>2018년 중간고사 문제 보너스. (10점)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05861-764C-CDFC-DC79-5EB69A628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unsigned int divide(unsigned int x, unsigned int y)</a:t>
            </a:r>
          </a:p>
          <a:p>
            <a:pPr marL="0" indent="0">
              <a:buNone/>
            </a:pPr>
            <a:r>
              <a:t>{</a:t>
            </a:r>
          </a:p>
          <a:p>
            <a:pPr marL="0" indent="0">
              <a:buNone/>
            </a:pPr>
            <a:r>
              <a:t>	if (x &lt; y) /* ① */</a:t>
            </a:r>
          </a:p>
          <a:p>
            <a:pPr marL="0" indent="0">
              <a:buNone/>
            </a:pPr>
            <a:r>
              <a:t>	else if (x == y) /* ② */</a:t>
            </a:r>
          </a:p>
          <a:p>
            <a:pPr marL="0" indent="0">
              <a:buNone/>
            </a:pPr>
            <a:r>
              <a:t>	else if (x &gt; y) /* ③ */</a:t>
            </a:r>
          </a:p>
          <a:p>
            <a:pPr marL="0" indent="0">
              <a:buNone/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768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12670</TotalTime>
  <Words>3024</Words>
  <Application>Microsoft Office PowerPoint</Application>
  <PresentationFormat>화면 슬라이드 쇼(4:3)</PresentationFormat>
  <Paragraphs>394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6" baseType="lpstr">
      <vt:lpstr>맑은 고딕</vt:lpstr>
      <vt:lpstr>Aptos</vt:lpstr>
      <vt:lpstr>Aptos Display</vt:lpstr>
      <vt:lpstr>Arial</vt:lpstr>
      <vt:lpstr>Office 테마</vt:lpstr>
      <vt:lpstr>자료구조 (Data Structure) 6주차: 힙 </vt:lpstr>
      <vt:lpstr>지난 시간 요약</vt:lpstr>
      <vt:lpstr>최대힙 데이터 추가</vt:lpstr>
      <vt:lpstr>최대힙 데이터 삭제</vt:lpstr>
      <vt:lpstr>최소힙 데이터 추가</vt:lpstr>
      <vt:lpstr>최소힙 데이터 삭제</vt:lpstr>
      <vt:lpstr>오늘 목표</vt:lpstr>
      <vt:lpstr>실무에서 구현된 힙</vt:lpstr>
      <vt:lpstr>실무에서 구현된 힙 - 구조체</vt:lpstr>
      <vt:lpstr>실무에서 구현된 힙 - 초기화</vt:lpstr>
      <vt:lpstr>실무에서 구현된 힙 - 초기화 테스트</vt:lpstr>
      <vt:lpstr>실무에서 구현된 힙 - 기능 확장 방법</vt:lpstr>
      <vt:lpstr>실무에서 구현된 힙 - 작다 함수, 크다 함수</vt:lpstr>
      <vt:lpstr>실무에서 구현된 힙 - 작다 함수, 크다 함수</vt:lpstr>
      <vt:lpstr>실무에서 구현된 힙 - 교환 함수</vt:lpstr>
      <vt:lpstr>실무에서 구현된 힙 - 교환 함수</vt:lpstr>
      <vt:lpstr>실무에서 구현된 힙 - 힙으로 만들기</vt:lpstr>
      <vt:lpstr>실무에서 구현된 힙 - 데이터 내리기 1 / 4</vt:lpstr>
      <vt:lpstr>실무에서 구현된 힙 - 데이터 내리기 2 / 4</vt:lpstr>
      <vt:lpstr>실무에서 구현된 힙 - 데이터 내리기 3 / 4</vt:lpstr>
      <vt:lpstr>실무에서 구현된 힙 - 데이터 내리기 4 / 4</vt:lpstr>
      <vt:lpstr>실무에서 구현된 힙 - 데이터 내리기</vt:lpstr>
      <vt:lpstr>실무에서 구현된 힙 - 데이터 내리기</vt:lpstr>
      <vt:lpstr>실무에서 구현된 힙 - 데이터 내리기</vt:lpstr>
      <vt:lpstr>실무에서 구현된 힙 - 데이터 내리기</vt:lpstr>
      <vt:lpstr>실무에서 구현된 힙 - 힙으로 만들기</vt:lpstr>
      <vt:lpstr>실무에서 구현된 힙 - 데이터 삭제 1 / 2</vt:lpstr>
      <vt:lpstr>실무에서 구현된 힙 - 데이터 삭제 2 / 2</vt:lpstr>
      <vt:lpstr>실무에서 구현된 힙 - 데이터 삭제</vt:lpstr>
      <vt:lpstr>실무에서 구현된 힙 - 데이터 추가 1 / 2</vt:lpstr>
      <vt:lpstr>실무에서 구현된 힙 - 데이터 추가 2 / 2</vt:lpstr>
      <vt:lpstr>실무에서 구현된 힙 - 데이터 추가</vt:lpstr>
      <vt:lpstr>2018년 중간고사 문제 1. Time complexity</vt:lpstr>
      <vt:lpstr>2018년 중간고사 문제 1-(1)</vt:lpstr>
      <vt:lpstr>2018년 중간고사 문제 1-(2)</vt:lpstr>
      <vt:lpstr>2018년 중간고사 문제 1-(3)</vt:lpstr>
      <vt:lpstr>2018년 중간고사 문제 2. Circular Queue</vt:lpstr>
      <vt:lpstr>2018년 중간고사 문제 3. Stack</vt:lpstr>
      <vt:lpstr>2018년 중간고사 문제 4. Linked list</vt:lpstr>
      <vt:lpstr>2018년 중간고사 문제 4. Linked list</vt:lpstr>
      <vt:lpstr>2018년 중간고사 문제 4. Linked list</vt:lpstr>
      <vt:lpstr>2018년 중간고사 문제 4. Linked list</vt:lpstr>
      <vt:lpstr>2018년 중간고사 문제 4. Linked list</vt:lpstr>
      <vt:lpstr>2018년 중간고사 문제 4. Linked list</vt:lpstr>
      <vt:lpstr>2018년 중간고사 문제 4. Linked list</vt:lpstr>
      <vt:lpstr>2018년 중간고사 문제 4. Linked list</vt:lpstr>
      <vt:lpstr>2018년 중간고사 문제 5. Binary tree (12점)</vt:lpstr>
      <vt:lpstr>2018년 중간고사 문제 5. Binary tree (12점)</vt:lpstr>
      <vt:lpstr>2018년 중간고사 문제 6. Binary tree traversal (9점)</vt:lpstr>
      <vt:lpstr>2018년 중간고사 문제 보너스. (10점)</vt:lpstr>
      <vt:lpstr>2018년 중간고사 문제 보너스. (10점)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19</cp:revision>
  <dcterms:created xsi:type="dcterms:W3CDTF">2025-07-28T15:04:23Z</dcterms:created>
  <dcterms:modified xsi:type="dcterms:W3CDTF">2025-10-16T15:26:26Z</dcterms:modified>
</cp:coreProperties>
</file>