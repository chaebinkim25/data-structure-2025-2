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06" r:id="rId10"/>
    <p:sldId id="307" r:id="rId11"/>
    <p:sldId id="308" r:id="rId12"/>
    <p:sldId id="264" r:id="rId13"/>
    <p:sldId id="265" r:id="rId14"/>
    <p:sldId id="266" r:id="rId15"/>
    <p:sldId id="267" r:id="rId16"/>
    <p:sldId id="268" r:id="rId17"/>
    <p:sldId id="309" r:id="rId18"/>
    <p:sldId id="269" r:id="rId19"/>
    <p:sldId id="270" r:id="rId20"/>
    <p:sldId id="271" r:id="rId21"/>
    <p:sldId id="272" r:id="rId22"/>
    <p:sldId id="273" r:id="rId23"/>
    <p:sldId id="274" r:id="rId24"/>
    <p:sldId id="310" r:id="rId25"/>
    <p:sldId id="311" r:id="rId26"/>
    <p:sldId id="275" r:id="rId27"/>
    <p:sldId id="276" r:id="rId28"/>
    <p:sldId id="277" r:id="rId29"/>
    <p:sldId id="278" r:id="rId30"/>
    <p:sldId id="312" r:id="rId31"/>
    <p:sldId id="315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303" r:id="rId42"/>
    <p:sldId id="304" r:id="rId43"/>
    <p:sldId id="305" r:id="rId44"/>
    <p:sldId id="314" r:id="rId45"/>
    <p:sldId id="316" r:id="rId46"/>
    <p:sldId id="289" r:id="rId47"/>
    <p:sldId id="293" r:id="rId48"/>
    <p:sldId id="294" r:id="rId49"/>
    <p:sldId id="295" r:id="rId50"/>
    <p:sldId id="296" r:id="rId51"/>
    <p:sldId id="317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0" y="7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7주차: 정렬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정렬 알고리즘의 필요성</a:t>
            </a:r>
            <a:r>
              <a:rPr lang="ko-KR" altLang="en-US"/>
              <a:t>과 정의</a:t>
            </a:r>
            <a:endParaRPr/>
          </a:p>
          <a:p>
            <a:endParaRPr/>
          </a:p>
          <a:p>
            <a:r>
              <a:t>정렬 알고리즘의 종류</a:t>
            </a:r>
            <a:endParaRPr lang="en-US"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heap sort</a:t>
            </a:r>
            <a:r>
              <a:rPr lang="ko-KR" altLang="en-US"/>
              <a:t>와 </a:t>
            </a:r>
            <a:r>
              <a:rPr lang="en-US" altLang="ko-KR"/>
              <a:t>selection sort</a:t>
            </a:r>
          </a:p>
          <a:p>
            <a:pPr marL="0" indent="0">
              <a:buNone/>
            </a:pPr>
            <a:r>
              <a:rPr lang="en-US"/>
              <a:t>	- quick sort</a:t>
            </a:r>
            <a:r>
              <a:rPr lang="ko-KR" altLang="en-US"/>
              <a:t>와 </a:t>
            </a:r>
            <a:r>
              <a:rPr lang="en-US" altLang="ko-KR"/>
              <a:t>insertion sort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/>
              <a:t>	- merge sort</a:t>
            </a:r>
            <a:endParaRPr lang="en-US" altLang="ko-KR"/>
          </a:p>
          <a:p>
            <a:pPr marL="0" indent="0">
              <a:buNone/>
            </a:pPr>
            <a:r>
              <a:rPr lang="en-US"/>
              <a:t>	- counting sort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t>정렬 알고리즘의 필요성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정렬하는 이유는?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ko-KR" altLang="en-US"/>
              <a:t>	 </a:t>
            </a:r>
            <a:r>
              <a:rPr lang="en-US" altLang="ko-KR"/>
              <a:t>- </a:t>
            </a:r>
            <a:r>
              <a:rPr lang="ko-KR" altLang="en-US"/>
              <a:t>유저의 필요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	 - 프로그램 성능 향상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정렬의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특정 기준에 따라 순서대로 배열하는 과정</a:t>
            </a:r>
          </a:p>
          <a:p>
            <a:endParaRPr/>
          </a:p>
          <a:p>
            <a:r>
              <a:t>오름차순과 내림차순 정렬</a:t>
            </a:r>
            <a:endParaRPr lang="en-US"/>
          </a:p>
          <a:p>
            <a:endParaRPr lang="en-US"/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058" y="260839"/>
            <a:ext cx="3519417" cy="610859"/>
          </a:xfrm>
        </p:spPr>
        <p:txBody>
          <a:bodyPr>
            <a:spAutoFit/>
          </a:bodyPr>
          <a:lstStyle/>
          <a:p>
            <a:r>
              <a:t>HEAP_SORT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힙 자료구조를 이용한 정렬 방법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9960" y="262442"/>
            <a:ext cx="4532515" cy="607653"/>
          </a:xfrm>
        </p:spPr>
        <p:txBody>
          <a:bodyPr>
            <a:spAutoFit/>
          </a:bodyPr>
          <a:lstStyle/>
          <a:p>
            <a:r>
              <a:t>HEAP_SORT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배열로부터 최대 힙 생성</a:t>
            </a:r>
          </a:p>
          <a:p>
            <a:endParaRPr/>
          </a:p>
          <a:p>
            <a:pPr marL="0" indent="0">
              <a:buNone/>
            </a:pPr>
            <a:r>
              <a:t>2. 루트 노드를 제거하고 마지막 노드와 교체</a:t>
            </a:r>
          </a:p>
          <a:p>
            <a:endParaRPr/>
          </a:p>
          <a:p>
            <a:pPr marL="0" indent="0">
              <a:buNone/>
            </a:pPr>
            <a:r>
              <a:t>3. 나머지 노드들에 대해 힙 속성 회복</a:t>
            </a:r>
          </a:p>
          <a:p>
            <a:endParaRPr/>
          </a:p>
          <a:p>
            <a:pPr marL="0" indent="0">
              <a:buNone/>
            </a:pPr>
            <a:r>
              <a:t>4. 2~3 과정을 반복하여 정렬 완료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295" y="262442"/>
            <a:ext cx="4994180" cy="607653"/>
          </a:xfrm>
        </p:spPr>
        <p:txBody>
          <a:bodyPr>
            <a:spAutoFit/>
          </a:bodyPr>
          <a:lstStyle/>
          <a:p>
            <a:r>
              <a:t>HEAP_SORT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3, 2, 7, 1] 정렬 과정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최대 힙 생성: [7, 5, 2, 3, 1]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t>1회전: [5, 3, 2, 1] + [7]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t>2회전: [3, 1, 2] + [5, 7]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t>3회전: [2, 1] + [3, 5, 7]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t>4회전: [1] + [2, 3, 5, 7]</a:t>
            </a:r>
          </a:p>
          <a:p>
            <a:pPr marL="0" indent="0">
              <a:buNone/>
            </a:pPr>
            <a:r>
              <a:rPr lang="en-US"/>
              <a:t>	- </a:t>
            </a:r>
            <a:r>
              <a:t>5회전: [] + [1, 2, 3, 5, 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058" y="260839"/>
            <a:ext cx="3519417" cy="610859"/>
          </a:xfrm>
        </p:spPr>
        <p:txBody>
          <a:bodyPr>
            <a:spAutoFit/>
          </a:bodyPr>
          <a:lstStyle/>
          <a:p>
            <a:r>
              <a:t>HEAP_SORT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HEAP_SORT(</a:t>
            </a:r>
            <a:r>
              <a:rPr lang="ko-KR" altLang="en-US"/>
              <a:t>배열</a:t>
            </a:r>
            <a:r>
              <a:t>리스트 </a:t>
            </a:r>
            <a:r>
              <a:rPr lang="en-US"/>
              <a:t>L</a:t>
            </a:r>
            <a:r>
              <a:t>):</a:t>
            </a:r>
          </a:p>
          <a:p>
            <a:endParaRPr/>
          </a:p>
          <a:p>
            <a:r>
              <a:t>힙 heap = 새 최대힙(</a:t>
            </a:r>
            <a:r>
              <a:rPr lang="en-US"/>
              <a:t>L</a:t>
            </a:r>
            <a:r>
              <a:t>-&gt;data, </a:t>
            </a:r>
            <a:r>
              <a:rPr lang="en-US"/>
              <a:t>L</a:t>
            </a:r>
            <a:r>
              <a:t>-&gt;size)</a:t>
            </a:r>
          </a:p>
          <a:p>
            <a:endParaRPr lang="en-US"/>
          </a:p>
          <a:p>
            <a:r>
              <a:t>반복: i는 </a:t>
            </a:r>
            <a:r>
              <a:rPr lang="en-US"/>
              <a:t>L</a:t>
            </a:r>
            <a:r>
              <a:t>의 </a:t>
            </a:r>
            <a:r>
              <a:rPr lang="ko-KR" altLang="en-US"/>
              <a:t>전체</a:t>
            </a:r>
            <a:r>
              <a:t> 인덱스</a:t>
            </a:r>
            <a:r>
              <a:rPr lang="ko-KR" altLang="en-US"/>
              <a:t>를 거꾸로</a:t>
            </a:r>
            <a:r>
              <a:t> </a:t>
            </a:r>
          </a:p>
          <a:p>
            <a:pPr marL="0" indent="0">
              <a:buNone/>
            </a:pPr>
            <a:r>
              <a:t>	 </a:t>
            </a:r>
            <a:r>
              <a:rPr lang="en-US"/>
              <a:t>L</a:t>
            </a:r>
            <a:r>
              <a:t>-&gt;data[i] = HEAP_POP(heap)</a:t>
            </a:r>
          </a:p>
          <a:p>
            <a:endParaRPr/>
          </a:p>
          <a:p>
            <a:r>
              <a:t>삭제: 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73B1-BEA8-BD24-AF67-2556DF9B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1185-0C1A-C6F6-6D1E-20C0C681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532" y="262442"/>
            <a:ext cx="6468943" cy="607653"/>
          </a:xfrm>
        </p:spPr>
        <p:txBody>
          <a:bodyPr>
            <a:spAutoFit/>
          </a:bodyPr>
          <a:lstStyle/>
          <a:p>
            <a:r>
              <a:t>HEAP_SORT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5636AA-0A53-63CB-4104-0E42CCC0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ko-KR" altLang="en-US"/>
                  <a:t>최대 힙 생성시 시간복잡도 </a:t>
                </a:r>
                <a:r>
                  <a:rPr lang="en-US" altLang="ko-KR"/>
                  <a:t>(perfect binary tree):</a:t>
                </a:r>
                <a:endParaRPr lang="ko-KR" altLang="en-US"/>
              </a:p>
              <a:p>
                <a:r>
                  <a:rPr lang="ko-KR" altLang="en-US"/>
                  <a:t>트리의 끝 층 노드</a:t>
                </a:r>
                <a:r>
                  <a:rPr lang="en-US" altLang="ko-KR"/>
                  <a:t>(leaf): </a:t>
                </a:r>
                <a:r>
                  <a:rPr lang="ko-KR" altLang="en-US"/>
                  <a:t>비교 </a:t>
                </a:r>
                <a:r>
                  <a:rPr lang="en-US" altLang="ko-KR"/>
                  <a:t>0</a:t>
                </a:r>
                <a:r>
                  <a:rPr lang="ko-KR" altLang="en-US"/>
                  <a:t>회</a:t>
                </a:r>
                <a:r>
                  <a:rPr lang="en-US" altLang="ko-KR"/>
                  <a:t>, </a:t>
                </a:r>
                <a:r>
                  <a:rPr lang="ko-KR" altLang="en-US"/>
                  <a:t>교환 </a:t>
                </a:r>
                <a:r>
                  <a:rPr lang="en-US" altLang="ko-KR"/>
                  <a:t>0</a:t>
                </a:r>
                <a:r>
                  <a:rPr lang="ko-KR" altLang="en-US"/>
                  <a:t>회</a:t>
                </a:r>
              </a:p>
              <a:p>
                <a:r>
                  <a:rPr lang="ko-KR" altLang="en-US"/>
                  <a:t>끝의 한층 위 노드</a:t>
                </a:r>
                <a:r>
                  <a:rPr lang="en-US" altLang="ko-KR"/>
                  <a:t>(leaf </a:t>
                </a:r>
                <a:r>
                  <a:rPr lang="ko-KR" altLang="en-US"/>
                  <a:t>위</a:t>
                </a:r>
                <a:r>
                  <a:rPr lang="en-US" altLang="ko-KR"/>
                  <a:t>): </a:t>
                </a:r>
                <a:r>
                  <a:rPr lang="ko-KR" altLang="en-US"/>
                  <a:t>비교 </a:t>
                </a:r>
                <a:r>
                  <a:rPr lang="en-US" altLang="ko-KR"/>
                  <a:t>2</a:t>
                </a:r>
                <a:r>
                  <a:rPr lang="ko-KR" altLang="en-US"/>
                  <a:t>회</a:t>
                </a:r>
                <a:r>
                  <a:rPr lang="en-US" altLang="ko-KR"/>
                  <a:t>, </a:t>
                </a:r>
                <a:r>
                  <a:rPr lang="ko-KR" altLang="en-US"/>
                  <a:t>교환 </a:t>
                </a:r>
                <a:r>
                  <a:rPr lang="en-US" altLang="ko-KR"/>
                  <a:t>1</a:t>
                </a:r>
                <a:r>
                  <a:rPr lang="ko-KR" altLang="en-US"/>
                  <a:t>회</a:t>
                </a:r>
              </a:p>
              <a:p>
                <a:r>
                  <a:rPr lang="en-US" altLang="ko-KR"/>
                  <a:t>... </a:t>
                </a:r>
                <a:r>
                  <a:rPr lang="ko-KR" altLang="en-US"/>
                  <a:t>루트 노드</a:t>
                </a:r>
                <a:r>
                  <a:rPr lang="en-US" altLang="ko-KR"/>
                  <a:t>: </a:t>
                </a:r>
                <a:r>
                  <a:rPr lang="ko-KR" altLang="en-US"/>
                  <a:t>비교</a:t>
                </a:r>
                <a:r>
                  <a:rPr lang="en-US" altLang="ko-KR"/>
                  <a:t> 2h </a:t>
                </a:r>
                <a:r>
                  <a:rPr lang="ko-KR" altLang="en-US"/>
                  <a:t>회</a:t>
                </a:r>
                <a:r>
                  <a:rPr lang="en-US" altLang="ko-KR"/>
                  <a:t>, </a:t>
                </a:r>
                <a:r>
                  <a:rPr lang="ko-KR" altLang="en-US"/>
                  <a:t>교환 </a:t>
                </a:r>
                <a:r>
                  <a:rPr lang="en-US" altLang="ko-KR"/>
                  <a:t> h </a:t>
                </a:r>
                <a:r>
                  <a:rPr lang="ko-KR" altLang="en-US"/>
                  <a:t>회</a:t>
                </a:r>
              </a:p>
              <a:p>
                <a:r>
                  <a:rPr lang="ko-KR" altLang="en-US"/>
                  <a:t>비교 총 합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/>
                  <a:t>	   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ar-AE" altLang="ko-KR"/>
                  <a:t>	 </a:t>
                </a:r>
                <a:r>
                  <a:rPr lang="en-US" altLang="ko-KR"/>
                  <a:t>	</a:t>
                </a:r>
                <a:r>
                  <a:rPr lang="ar-AE" altLang="ko-KR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≈2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ar-AE" altLang="ko-KR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5636AA-0A53-63CB-4104-0E42CCC0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280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5012-2FB9-0802-9B23-59B168ED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B733-9CFE-4AE0-8F73-0C5DA41A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532" y="262442"/>
            <a:ext cx="6468943" cy="607653"/>
          </a:xfrm>
        </p:spPr>
        <p:txBody>
          <a:bodyPr>
            <a:spAutoFit/>
          </a:bodyPr>
          <a:lstStyle/>
          <a:p>
            <a:r>
              <a:t>HEAP_SORT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1E7E-B25A-32A3-B19B-7CD3BDAC41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HEAP_POP</a:t>
                </a:r>
                <a:r>
                  <a:rPr lang="ko-KR" altLang="en-US"/>
                  <a:t> 수행시 시간복잡도 </a:t>
                </a:r>
                <a:r>
                  <a:rPr lang="en-US" altLang="ko-KR"/>
                  <a:t>(perfect binary tree):</a:t>
                </a:r>
                <a:endParaRPr lang="ko-KR" altLang="en-US"/>
              </a:p>
              <a:p>
                <a:r>
                  <a:rPr lang="ko-KR" altLang="en-US"/>
                  <a:t>트리 높이가 </a:t>
                </a:r>
                <a:r>
                  <a:rPr lang="en-US" altLang="ko-KR"/>
                  <a:t>h</a:t>
                </a:r>
                <a:r>
                  <a:rPr lang="ko-KR" altLang="en-US"/>
                  <a:t>이면</a:t>
                </a:r>
                <a:r>
                  <a:rPr lang="en-US" altLang="ko-KR"/>
                  <a:t>: </a:t>
                </a:r>
                <a:r>
                  <a:rPr lang="ko-KR" altLang="en-US"/>
                  <a:t>비교</a:t>
                </a:r>
                <a:r>
                  <a:rPr lang="en-US" altLang="ko-KR"/>
                  <a:t> 2h </a:t>
                </a:r>
                <a:r>
                  <a:rPr lang="ko-KR" altLang="en-US"/>
                  <a:t>회</a:t>
                </a:r>
                <a:r>
                  <a:rPr lang="en-US" altLang="ko-KR"/>
                  <a:t>, </a:t>
                </a:r>
                <a:r>
                  <a:rPr lang="ko-KR" altLang="en-US"/>
                  <a:t>교환 </a:t>
                </a:r>
                <a:r>
                  <a:rPr lang="en-US" altLang="ko-KR"/>
                  <a:t>h </a:t>
                </a:r>
                <a:r>
                  <a:rPr lang="ko-KR" altLang="en-US"/>
                  <a:t>회</a:t>
                </a:r>
              </a:p>
              <a:p>
                <a:r>
                  <a:rPr lang="en-US" altLang="ko-KR"/>
                  <a:t>  ...   </a:t>
                </a:r>
                <a:r>
                  <a:rPr lang="ko-KR" altLang="en-US"/>
                  <a:t>  높이가 </a:t>
                </a:r>
                <a:r>
                  <a:rPr lang="en-US" altLang="ko-KR"/>
                  <a:t>1</a:t>
                </a:r>
                <a:r>
                  <a:rPr lang="ko-KR" altLang="en-US"/>
                  <a:t>이면</a:t>
                </a:r>
                <a:r>
                  <a:rPr lang="en-US" altLang="ko-KR"/>
                  <a:t>: </a:t>
                </a:r>
                <a:r>
                  <a:rPr lang="ko-KR" altLang="en-US"/>
                  <a:t>비교</a:t>
                </a:r>
                <a:r>
                  <a:rPr lang="en-US" altLang="ko-KR"/>
                  <a:t> 2 </a:t>
                </a:r>
                <a:r>
                  <a:rPr lang="ko-KR" altLang="en-US"/>
                  <a:t>회</a:t>
                </a:r>
                <a:r>
                  <a:rPr lang="en-US" altLang="ko-KR"/>
                  <a:t>, </a:t>
                </a:r>
                <a:r>
                  <a:rPr lang="ko-KR" altLang="en-US"/>
                  <a:t>교환 </a:t>
                </a:r>
                <a:r>
                  <a:rPr lang="en-US" altLang="ko-KR"/>
                  <a:t>1</a:t>
                </a:r>
                <a:r>
                  <a:rPr lang="ko-KR" altLang="en-US"/>
                  <a:t>회</a:t>
                </a:r>
              </a:p>
              <a:p>
                <a:r>
                  <a:rPr lang="ko-KR" altLang="en-US"/>
                  <a:t>비교 총 합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</m:t>
                    </m:r>
                  </m:oMath>
                </a14:m>
                <a:endParaRPr lang="en-US" altLang="ko-KR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/>
                  <a:t>	    	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altLang="ko-KR"/>
              </a:p>
              <a:p>
                <a:pPr marL="0" indent="0">
                  <a:buNone/>
                </a:pPr>
                <a:r>
                  <a:rPr lang="en-US"/>
                  <a:t>	   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ar-AE" altLang="ko-KR"/>
                  <a:t>	   </a:t>
                </a:r>
                <a:r>
                  <a:rPr lang="en-US" altLang="ko-KR"/>
                  <a:t>	</a:t>
                </a:r>
                <a14:m>
                  <m:oMath xmlns:m="http://schemas.openxmlformats.org/officeDocument/2006/math"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ar-AE" altLang="ko-KR"/>
              </a:p>
              <a:p>
                <a:pPr marL="0" indent="0">
                  <a:buNone/>
                </a:pPr>
                <a:r>
                  <a:rPr lang="ar-AE" altLang="ko-KR"/>
                  <a:t>	   </a:t>
                </a:r>
                <a:r>
                  <a:rPr lang="en-US" altLang="ko-KR"/>
                  <a:t>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ar-AE" altLang="ko-KR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1E7E-B25A-32A3-B19B-7CD3BDAC41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 b="-10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09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E4EA-C247-A467-B769-C0349753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F4B5-A7DD-6541-5BC7-AA466A73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532" y="262442"/>
            <a:ext cx="6468943" cy="607653"/>
          </a:xfrm>
        </p:spPr>
        <p:txBody>
          <a:bodyPr>
            <a:spAutoFit/>
          </a:bodyPr>
          <a:lstStyle/>
          <a:p>
            <a:r>
              <a:t>HEAP_SORT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6896E-9656-A3B1-0393-1746BC0538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HEAP_SORT</a:t>
                </a:r>
                <a:r>
                  <a:rPr lang="ko-KR" altLang="en-US"/>
                  <a:t>의 시간복잡도</a:t>
                </a:r>
                <a:r>
                  <a:rPr lang="en-US" altLang="ko-KR"/>
                  <a:t>:</a:t>
                </a:r>
                <a:endParaRPr lang="ko-KR" altLang="en-US"/>
              </a:p>
              <a:p>
                <a:r>
                  <a:rPr lang="ko-KR" altLang="en-US">
                    <a:latin typeface="Cambria Math" panose="02040503050406030204" pitchFamily="18" charset="0"/>
                  </a:rPr>
                  <a:t>비교 횟수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≈2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altLang="ko-KR" b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교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환</m:t>
                    </m:r>
                    <m:r>
                      <m:rPr>
                        <m:nor/>
                      </m:rPr>
                      <a:rPr lang="ko-KR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>
                        <a:latin typeface="Cambria Math" panose="02040503050406030204" pitchFamily="18" charset="0"/>
                      </a:rPr>
                      <m:t>횟수</m:t>
                    </m:r>
                    <m:r>
                      <m:rPr>
                        <m:nor/>
                      </m:rPr>
                      <a:rPr lang="ko-KR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altLang="ko-KR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ko-KR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6896E-9656-A3B1-0393-1746BC0538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14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813" y="260839"/>
            <a:ext cx="4696662" cy="610859"/>
          </a:xfrm>
        </p:spPr>
        <p:txBody>
          <a:bodyPr>
            <a:spAutoFit/>
          </a:bodyPr>
          <a:lstStyle/>
          <a:p>
            <a:r>
              <a:t>SELECTION_SORT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HEAP_SORT</a:t>
            </a:r>
            <a:r>
              <a:rPr lang="ko-KR" altLang="en-US"/>
              <a:t>와 같은 전략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정렬 전 구간의 </a:t>
            </a:r>
            <a:r>
              <a:t>최대값을 맨 뒤</a:t>
            </a:r>
            <a:r>
              <a:rPr lang="ko-KR" altLang="en-US"/>
              <a:t>로 이동</a:t>
            </a:r>
            <a:endParaRPr/>
          </a:p>
          <a:p>
            <a:endParaRPr/>
          </a:p>
          <a:p>
            <a:r>
              <a:rPr lang="ko-KR" altLang="en-US"/>
              <a:t>최대값을 찾을 때 모든 값을 확인해서 느림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2715" y="262442"/>
            <a:ext cx="5709760" cy="607653"/>
          </a:xfrm>
        </p:spPr>
        <p:txBody>
          <a:bodyPr>
            <a:spAutoFit/>
          </a:bodyPr>
          <a:lstStyle/>
          <a:p>
            <a:r>
              <a:t>SELECTION_SORT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배열에서 최대값 찾기</a:t>
            </a:r>
          </a:p>
          <a:p>
            <a:endParaRPr/>
          </a:p>
          <a:p>
            <a:pPr marL="0" indent="0">
              <a:buNone/>
            </a:pPr>
            <a:r>
              <a:t>2. 최대값을 맨 뒤의 원소와 교체</a:t>
            </a:r>
          </a:p>
          <a:p>
            <a:endParaRPr/>
          </a:p>
          <a:p>
            <a:pPr marL="0" indent="0">
              <a:buNone/>
            </a:pPr>
            <a:r>
              <a:t>3. </a:t>
            </a:r>
            <a:r>
              <a:rPr lang="ko-KR" altLang="en-US"/>
              <a:t>두번째 최대값을 뒤에서 두번째 원소와 교체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4. ... </a:t>
            </a:r>
            <a:r>
              <a:rPr lang="ko-KR" altLang="en-US"/>
              <a:t>반복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1050" y="262442"/>
            <a:ext cx="6171425" cy="607653"/>
          </a:xfrm>
        </p:spPr>
        <p:txBody>
          <a:bodyPr>
            <a:spAutoFit/>
          </a:bodyPr>
          <a:lstStyle/>
          <a:p>
            <a:r>
              <a:t>SELECTION_SORT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3, 2, 7, 1] 정렬 과정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1회전: [5, 3, 2, 1, 7]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2회전: [1, 3, 2, 5, 7]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3회전: [1, 2, 3, 5, 7]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4회전: [1, 2, 3, 5, 7]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5</a:t>
            </a:r>
            <a:r>
              <a:rPr lang="ko-KR" altLang="en-US"/>
              <a:t>회전</a:t>
            </a:r>
            <a:r>
              <a:rPr lang="en-US" altLang="ko-KR"/>
              <a:t>: [1, 2, 3, 5, 7]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813" y="260839"/>
            <a:ext cx="4696662" cy="610859"/>
          </a:xfrm>
        </p:spPr>
        <p:txBody>
          <a:bodyPr>
            <a:spAutoFit/>
          </a:bodyPr>
          <a:lstStyle/>
          <a:p>
            <a:r>
              <a:t>SELECTION_SORT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87068" cy="4351338"/>
          </a:xfrm>
        </p:spPr>
        <p:txBody>
          <a:bodyPr/>
          <a:lstStyle/>
          <a:p>
            <a:pPr marL="0" indent="0">
              <a:buNone/>
            </a:pPr>
            <a:r>
              <a:t>함수 SELECTION_SORT(리스트 </a:t>
            </a:r>
            <a:r>
              <a:rPr lang="en-US"/>
              <a:t>L, </a:t>
            </a:r>
            <a:r>
              <a:rPr lang="ko-KR" altLang="en-US"/>
              <a:t>인덱스 </a:t>
            </a:r>
            <a:r>
              <a:rPr lang="en-US" altLang="ko-KR"/>
              <a:t>lo, </a:t>
            </a:r>
            <a:r>
              <a:rPr lang="ko-KR" altLang="en-US"/>
              <a:t>인덱스 </a:t>
            </a:r>
            <a:r>
              <a:rPr lang="en-US" altLang="ko-KR"/>
              <a:t>hi</a:t>
            </a:r>
            <a:r>
              <a:t>):</a:t>
            </a:r>
          </a:p>
          <a:p>
            <a:r>
              <a:t>반복: </a:t>
            </a:r>
            <a:r>
              <a:rPr lang="en-US"/>
              <a:t>pos</a:t>
            </a:r>
            <a:r>
              <a:t>는 </a:t>
            </a:r>
            <a:r>
              <a:rPr lang="en-US"/>
              <a:t>hi</a:t>
            </a:r>
            <a:r>
              <a:t>부터 </a:t>
            </a:r>
            <a:r>
              <a:rPr lang="en-US"/>
              <a:t>lo</a:t>
            </a:r>
            <a:r>
              <a:t>까지 </a:t>
            </a:r>
          </a:p>
          <a:p>
            <a:pPr marL="0" indent="0">
              <a:buNone/>
            </a:pPr>
            <a:r>
              <a:rPr lang="en-US" altLang="ko-KR"/>
              <a:t>	 max_i = pos</a:t>
            </a:r>
            <a:endParaRPr lang="en-US"/>
          </a:p>
          <a:p>
            <a:pPr marL="0" indent="0">
              <a:buNone/>
            </a:pPr>
            <a:r>
              <a:t>	 반복: </a:t>
            </a:r>
            <a:r>
              <a:rPr lang="en-US"/>
              <a:t>i</a:t>
            </a:r>
            <a:r>
              <a:t>는 </a:t>
            </a:r>
            <a:r>
              <a:rPr lang="en-US"/>
              <a:t>pos</a:t>
            </a:r>
            <a:r>
              <a:rPr lang="ko-KR" altLang="en-US"/>
              <a:t>부터 </a:t>
            </a:r>
            <a:r>
              <a:rPr lang="en-US" altLang="ko-KR"/>
              <a:t>lo</a:t>
            </a:r>
            <a:r>
              <a:t>까지</a:t>
            </a:r>
          </a:p>
          <a:p>
            <a:pPr marL="0" indent="0">
              <a:buNone/>
            </a:pPr>
            <a:r>
              <a:t>		 만약: </a:t>
            </a:r>
            <a:r>
              <a:rPr lang="en-US"/>
              <a:t>L</a:t>
            </a:r>
            <a:r>
              <a:t>-&gt;data[</a:t>
            </a:r>
            <a:r>
              <a:rPr lang="en-US"/>
              <a:t>i</a:t>
            </a:r>
            <a:r>
              <a:t>] &gt; </a:t>
            </a:r>
            <a:r>
              <a:rPr lang="en-US"/>
              <a:t>L</a:t>
            </a:r>
            <a:r>
              <a:t>-&gt;data[max_</a:t>
            </a:r>
            <a:r>
              <a:rPr lang="en-US"/>
              <a:t>i</a:t>
            </a:r>
            <a:r>
              <a:t>]면</a:t>
            </a:r>
          </a:p>
          <a:p>
            <a:pPr marL="0" indent="0">
              <a:buNone/>
            </a:pPr>
            <a:r>
              <a:t>			 max_</a:t>
            </a:r>
            <a:r>
              <a:rPr lang="en-US"/>
              <a:t>i</a:t>
            </a:r>
            <a:r>
              <a:t> = </a:t>
            </a:r>
            <a:r>
              <a:rPr lang="en-US"/>
              <a:t>i</a:t>
            </a:r>
            <a:endParaRPr/>
          </a:p>
          <a:p>
            <a:pPr marL="0" indent="0">
              <a:buNone/>
            </a:pPr>
            <a:r>
              <a:t>	 SWAP(</a:t>
            </a:r>
            <a:r>
              <a:rPr lang="en-US"/>
              <a:t>L</a:t>
            </a:r>
            <a:r>
              <a:t>, </a:t>
            </a:r>
            <a:r>
              <a:rPr lang="en-US"/>
              <a:t>max_i</a:t>
            </a:r>
            <a:r>
              <a:t>,</a:t>
            </a:r>
            <a:r>
              <a:rPr lang="en-US"/>
              <a:t> pos</a:t>
            </a:r>
            <a: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813" y="260839"/>
            <a:ext cx="4696662" cy="610859"/>
          </a:xfrm>
        </p:spPr>
        <p:txBody>
          <a:bodyPr>
            <a:spAutoFit/>
          </a:bodyPr>
          <a:lstStyle/>
          <a:p>
            <a:r>
              <a:t>SELECTION_SORT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SWAP(리스트 </a:t>
            </a:r>
            <a:r>
              <a:rPr lang="en-US"/>
              <a:t>L</a:t>
            </a:r>
            <a:r>
              <a:t>, 인덱스 i, 인덱스 j):</a:t>
            </a:r>
          </a:p>
          <a:p>
            <a:r>
              <a:t>tmp = </a:t>
            </a:r>
            <a:r>
              <a:rPr lang="en-US"/>
              <a:t>L</a:t>
            </a:r>
            <a:r>
              <a:t>-&gt;data[i]</a:t>
            </a:r>
          </a:p>
          <a:p>
            <a:r>
              <a:rPr lang="en-US"/>
              <a:t>L</a:t>
            </a:r>
            <a:r>
              <a:t>-&gt;data[i] = </a:t>
            </a:r>
            <a:r>
              <a:rPr lang="en-US"/>
              <a:t>L</a:t>
            </a:r>
            <a:r>
              <a:t>-&gt;data[j]</a:t>
            </a:r>
          </a:p>
          <a:p>
            <a:r>
              <a:rPr lang="en-US"/>
              <a:t>L</a:t>
            </a:r>
            <a:r>
              <a:t>-&gt;data[j] = tmp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5019-7FEB-15FD-60B5-0BE5658A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EEDA-5C08-6353-8045-59D8F9C1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286" y="262442"/>
            <a:ext cx="7646189" cy="607653"/>
          </a:xfrm>
        </p:spPr>
        <p:txBody>
          <a:bodyPr>
            <a:spAutoFit/>
          </a:bodyPr>
          <a:lstStyle/>
          <a:p>
            <a:r>
              <a:rPr lang="en-US"/>
              <a:t>SELECTION</a:t>
            </a:r>
            <a:r>
              <a:t>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8E5CC-4495-D529-FD2E-AA1775015D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ko-KR" altLang="en-US"/>
                  <a:t>비교 횟수</a:t>
                </a:r>
                <a:r>
                  <a:rPr lang="en-US" altLang="ko-KR"/>
                  <a:t>:</a:t>
                </a:r>
                <a:endParaRPr lang="ko-KR" altLang="en-US"/>
              </a:p>
              <a:p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최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대값을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찾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/>
              </a:p>
              <a:p>
                <a:r>
                  <a:rPr lang="ko-KR" altLang="en-US"/>
                  <a:t>두번째 최대값을 찾을 때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ko-KR"/>
              </a:p>
              <a:p>
                <a:r>
                  <a:rPr lang="en-US" altLang="ko-KR"/>
                  <a:t>...</a:t>
                </a:r>
              </a:p>
              <a:p>
                <a:r>
                  <a:rPr lang="ko-KR" altLang="en-US"/>
                  <a:t>총합</a:t>
                </a:r>
                <a:r>
                  <a:rPr lang="en-US" altLang="ko-KR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+…=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/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:r>
                  <a:rPr lang="ko-KR" altLang="en-US"/>
                  <a:t>교환 횟수</a:t>
                </a:r>
                <a:r>
                  <a:rPr lang="en-US" altLang="ko-KR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- 1</a:t>
                </a:r>
                <a:r>
                  <a:rPr lang="ko-KR" altLang="en-US"/>
                  <a:t>번</a:t>
                </a:r>
                <a:endParaRPr lang="ar-AE" altLang="ko-KR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8E5CC-4495-D529-FD2E-AA1775015D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 b="-16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057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12" y="262442"/>
            <a:ext cx="8690063" cy="607653"/>
          </a:xfrm>
        </p:spPr>
        <p:txBody>
          <a:bodyPr>
            <a:spAutoFit/>
          </a:bodyPr>
          <a:lstStyle/>
          <a:p>
            <a:r>
              <a:t>HEAP_SORT와 SELECTION_SORT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시간 복잡도 </a:t>
            </a:r>
            <a:endParaRPr lang="en-US"/>
          </a:p>
          <a:p>
            <a:pPr marL="0" indent="0">
              <a:buNone/>
            </a:pPr>
            <a:r>
              <a:rPr lang="en-US"/>
              <a:t>	- HEAP_SORT: </a:t>
            </a:r>
            <a:r>
              <a:t>O(n log n)</a:t>
            </a:r>
            <a:endParaRPr lang="en-US"/>
          </a:p>
          <a:p>
            <a:pPr marL="0" indent="0">
              <a:buNone/>
            </a:pPr>
            <a:r>
              <a:rPr lang="en-US"/>
              <a:t>	- SELECTION_SORT: </a:t>
            </a:r>
            <a:r>
              <a:t>O(n</a:t>
            </a:r>
            <a:r>
              <a:rPr lang="en-US" altLang="ko-KR"/>
              <a:t>²</a:t>
            </a:r>
            <a:r>
              <a:t>)</a:t>
            </a:r>
          </a:p>
          <a:p>
            <a:endParaRPr lang="en-US"/>
          </a:p>
          <a:p>
            <a:r>
              <a:rPr lang="ko-KR" altLang="en-US"/>
              <a:t>공간 복잡도 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- </a:t>
            </a:r>
            <a:r>
              <a:rPr lang="ko-KR" altLang="en-US"/>
              <a:t>둘 다</a:t>
            </a:r>
            <a:r>
              <a:rPr lang="en-US" altLang="ko-KR"/>
              <a:t>: O(1)</a:t>
            </a:r>
          </a:p>
          <a:p>
            <a:endParaRPr/>
          </a:p>
          <a:p>
            <a:r>
              <a:rPr lang="en-US" altLang="ko-KR"/>
              <a:t>HEAP_SORT</a:t>
            </a:r>
            <a:r>
              <a:rPr lang="ko-KR" altLang="en-US"/>
              <a:t>는</a:t>
            </a:r>
            <a:r>
              <a:t> </a:t>
            </a:r>
            <a:r>
              <a:rPr lang="ko-KR" altLang="en-US"/>
              <a:t>빅</a:t>
            </a:r>
            <a:r>
              <a:t>데이터에</a:t>
            </a:r>
            <a:r>
              <a:rPr lang="ko-KR" altLang="en-US"/>
              <a:t>서</a:t>
            </a:r>
            <a:r>
              <a:t> 더 나은 성능을 제공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035" y="260839"/>
            <a:ext cx="3745440" cy="610859"/>
          </a:xfrm>
        </p:spPr>
        <p:txBody>
          <a:bodyPr>
            <a:spAutoFit/>
          </a:bodyPr>
          <a:lstStyle/>
          <a:p>
            <a:r>
              <a:t>QUICK_SORT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가장 빠른 정렬 알고리즘</a:t>
            </a:r>
          </a:p>
          <a:p>
            <a:endParaRPr/>
          </a:p>
          <a:p>
            <a:r>
              <a:t>기준값</a:t>
            </a:r>
            <a:r>
              <a:rPr lang="ko-KR" altLang="en-US"/>
              <a:t>을 정해서</a:t>
            </a:r>
            <a:r>
              <a:t> 작은 값</a:t>
            </a:r>
            <a:r>
              <a:rPr lang="ko-KR" altLang="en-US"/>
              <a:t>들</a:t>
            </a:r>
            <a:r>
              <a:t>과 큰 값들</a:t>
            </a:r>
            <a:r>
              <a:rPr lang="ko-KR" altLang="en-US"/>
              <a:t>을 분리</a:t>
            </a:r>
            <a:r>
              <a:rPr lang="en-US" altLang="ko-KR"/>
              <a:t>, </a:t>
            </a:r>
            <a:r>
              <a:rPr lang="ko-KR" altLang="en-US"/>
              <a:t>재배치</a:t>
            </a:r>
            <a:endParaRPr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3937" y="262442"/>
            <a:ext cx="4758538" cy="607653"/>
          </a:xfrm>
        </p:spPr>
        <p:txBody>
          <a:bodyPr>
            <a:spAutoFit/>
          </a:bodyPr>
          <a:lstStyle/>
          <a:p>
            <a:r>
              <a:t>QUICK_SORT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기준값 선택 (제일 끝 값)</a:t>
            </a:r>
          </a:p>
          <a:p>
            <a:endParaRPr/>
          </a:p>
          <a:p>
            <a:pPr marL="0" indent="0">
              <a:buNone/>
            </a:pPr>
            <a:r>
              <a:t>2. 기준값을 기준으로 작은 값들과 큰 값들로 분할</a:t>
            </a:r>
          </a:p>
          <a:p>
            <a:endParaRPr/>
          </a:p>
          <a:p>
            <a:pPr marL="0" indent="0">
              <a:buNone/>
            </a:pPr>
            <a:r>
              <a:t>3. </a:t>
            </a:r>
            <a:r>
              <a:rPr lang="ko-KR" altLang="en-US"/>
              <a:t>작은 값들과 큰 값들</a:t>
            </a:r>
            <a:r>
              <a:t>에 대해 1~2 과정을 반복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272" y="262442"/>
            <a:ext cx="5220203" cy="607653"/>
          </a:xfrm>
        </p:spPr>
        <p:txBody>
          <a:bodyPr>
            <a:spAutoFit/>
          </a:bodyPr>
          <a:lstStyle/>
          <a:p>
            <a:r>
              <a:t>QUICK_SORT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3, 2, 7, 1] 정렬 과정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기준값 </a:t>
            </a:r>
            <a:r>
              <a:rPr lang="en-US"/>
              <a:t>1</a:t>
            </a:r>
            <a:r>
              <a:t> 선택: </a:t>
            </a:r>
            <a:r>
              <a:rPr lang="en-US"/>
              <a:t>[1], 	</a:t>
            </a:r>
            <a:r>
              <a:t>[</a:t>
            </a:r>
            <a:r>
              <a:rPr lang="en-US"/>
              <a:t>5, </a:t>
            </a:r>
            <a:r>
              <a:t>3, 2, </a:t>
            </a:r>
            <a:r>
              <a:rPr lang="en-US"/>
              <a:t>7</a:t>
            </a:r>
            <a:r>
              <a:t>] 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기준값 </a:t>
            </a:r>
            <a:r>
              <a:rPr lang="en-US"/>
              <a:t>7</a:t>
            </a:r>
            <a:r>
              <a:t> 선택: [1], </a:t>
            </a:r>
            <a:r>
              <a:rPr lang="en-US"/>
              <a:t>	</a:t>
            </a:r>
            <a:r>
              <a:t>[</a:t>
            </a:r>
            <a:r>
              <a:rPr lang="en-US"/>
              <a:t>5, 3, 2</a:t>
            </a:r>
            <a:r>
              <a:t>]</a:t>
            </a:r>
            <a:r>
              <a:rPr lang="en-US"/>
              <a:t>, 		[7]</a:t>
            </a:r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기준값 2 선택: [1], </a:t>
            </a:r>
            <a:r>
              <a:rPr lang="en-US"/>
              <a:t>	</a:t>
            </a:r>
            <a:r>
              <a:t>[2]</a:t>
            </a:r>
            <a:r>
              <a:rPr lang="en-US"/>
              <a:t>, 	[5, 3], 	[7]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기준값 </a:t>
            </a:r>
            <a:r>
              <a:rPr lang="en-US" altLang="ko-KR"/>
              <a:t>5 </a:t>
            </a:r>
            <a:r>
              <a:rPr lang="ko-KR" altLang="en-US"/>
              <a:t>선택</a:t>
            </a:r>
            <a:r>
              <a:rPr lang="en-US" altLang="ko-KR"/>
              <a:t>: [1],	[2], 	[3], 	[5], 	[7]</a:t>
            </a:r>
            <a:endParaRPr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최종 정렬 결과: [1, 2, 3, 5, 7]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035" y="260839"/>
            <a:ext cx="3745440" cy="610859"/>
          </a:xfrm>
        </p:spPr>
        <p:txBody>
          <a:bodyPr>
            <a:spAutoFit/>
          </a:bodyPr>
          <a:lstStyle/>
          <a:p>
            <a:r>
              <a:t>QUICK_SORT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QSORT(리스트 </a:t>
            </a:r>
            <a:r>
              <a:rPr lang="en-US"/>
              <a:t>L</a:t>
            </a:r>
            <a:r>
              <a:t>, 인덱스 l</a:t>
            </a:r>
            <a:r>
              <a:rPr lang="en-US"/>
              <a:t>o</a:t>
            </a:r>
            <a:r>
              <a:t>, 인덱스 </a:t>
            </a:r>
            <a:r>
              <a:rPr lang="en-US"/>
              <a:t>hi</a:t>
            </a:r>
            <a:r>
              <a:t>):</a:t>
            </a:r>
          </a:p>
          <a:p>
            <a:endParaRPr/>
          </a:p>
          <a:p>
            <a:r>
              <a:t>만약: </a:t>
            </a:r>
            <a:r>
              <a:rPr lang="en-US"/>
              <a:t>lo</a:t>
            </a:r>
            <a:r>
              <a:t> &lt; </a:t>
            </a:r>
            <a:r>
              <a:rPr lang="en-US"/>
              <a:t>hi</a:t>
            </a:r>
            <a:r>
              <a:t>이면</a:t>
            </a:r>
          </a:p>
          <a:p>
            <a:pPr marL="0" indent="0">
              <a:buNone/>
            </a:pPr>
            <a:r>
              <a:t>	 pivot = PARTITION(</a:t>
            </a:r>
            <a:r>
              <a:rPr lang="en-US"/>
              <a:t>L</a:t>
            </a:r>
            <a:r>
              <a:t>, </a:t>
            </a:r>
            <a:r>
              <a:rPr lang="en-US"/>
              <a:t>lo</a:t>
            </a:r>
            <a:r>
              <a:t>, </a:t>
            </a:r>
            <a:r>
              <a:rPr lang="en-US"/>
              <a:t>hi</a:t>
            </a:r>
            <a:r>
              <a:t>)</a:t>
            </a:r>
          </a:p>
          <a:p>
            <a:pPr marL="0" indent="0">
              <a:buNone/>
            </a:pPr>
            <a:r>
              <a:t>	 QSORT(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pivot - 1)</a:t>
            </a:r>
          </a:p>
          <a:p>
            <a:pPr marL="0" indent="0">
              <a:buNone/>
            </a:pPr>
            <a:r>
              <a:t>	 QSORT(</a:t>
            </a:r>
            <a:r>
              <a:rPr lang="en-US"/>
              <a:t>L</a:t>
            </a:r>
            <a:r>
              <a:t>, pivot + 1, </a:t>
            </a:r>
            <a:r>
              <a:rPr lang="en-US"/>
              <a:t>hi</a:t>
            </a:r>
            <a:r>
              <a:t>)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035" y="260839"/>
            <a:ext cx="3745440" cy="610859"/>
          </a:xfrm>
        </p:spPr>
        <p:txBody>
          <a:bodyPr>
            <a:spAutoFit/>
          </a:bodyPr>
          <a:lstStyle/>
          <a:p>
            <a:r>
              <a:t>QUICK_SORT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PARTITION(리스트 </a:t>
            </a:r>
            <a:r>
              <a:rPr lang="en-US"/>
              <a:t>L</a:t>
            </a:r>
            <a:r>
              <a:t>, 인덱스 l</a:t>
            </a:r>
            <a:r>
              <a:rPr lang="en-US"/>
              <a:t>o</a:t>
            </a:r>
            <a:r>
              <a:t>, 인덱스 </a:t>
            </a:r>
            <a:r>
              <a:rPr lang="en-US"/>
              <a:t>hi</a:t>
            </a:r>
            <a:r>
              <a:t>):</a:t>
            </a:r>
          </a:p>
          <a:p>
            <a:r>
              <a:t>pivot</a:t>
            </a:r>
            <a:r>
              <a:rPr lang="en-US"/>
              <a:t>_data</a:t>
            </a:r>
            <a:r>
              <a:t> = </a:t>
            </a:r>
            <a:r>
              <a:rPr lang="en-US"/>
              <a:t>L</a:t>
            </a:r>
            <a:r>
              <a:t>-&gt;data[</a:t>
            </a:r>
            <a:r>
              <a:rPr lang="en-US"/>
              <a:t>hi</a:t>
            </a:r>
            <a:r>
              <a:t>]</a:t>
            </a:r>
          </a:p>
          <a:p>
            <a:r>
              <a:rPr lang="en-US"/>
              <a:t>left</a:t>
            </a:r>
            <a:r>
              <a:t>_rear = </a:t>
            </a:r>
            <a:r>
              <a:rPr lang="en-US"/>
              <a:t>lo</a:t>
            </a:r>
            <a:r>
              <a:t> </a:t>
            </a:r>
            <a:r>
              <a:rPr lang="en-US"/>
              <a:t>			</a:t>
            </a:r>
            <a:r>
              <a:t>// </a:t>
            </a:r>
            <a:r>
              <a:rPr lang="en-US"/>
              <a:t>pivot</a:t>
            </a:r>
            <a:r>
              <a:rPr lang="ko-KR" altLang="en-US"/>
              <a:t>이하</a:t>
            </a:r>
            <a:r>
              <a:t> 그룹</a:t>
            </a:r>
            <a:r>
              <a:rPr lang="ko-KR" altLang="en-US"/>
              <a:t> 끝 </a:t>
            </a:r>
            <a:r>
              <a:rPr lang="en-US" altLang="ko-KR"/>
              <a:t>+ 1</a:t>
            </a:r>
            <a:endParaRPr/>
          </a:p>
          <a:p>
            <a:r>
              <a:t>반복: i는 l</a:t>
            </a:r>
            <a:r>
              <a:rPr lang="en-US"/>
              <a:t>o</a:t>
            </a:r>
            <a:r>
              <a:t>부터 </a:t>
            </a:r>
            <a:r>
              <a:rPr lang="en-US"/>
              <a:t>hi</a:t>
            </a:r>
            <a:r>
              <a:t> - 1까지</a:t>
            </a:r>
          </a:p>
          <a:p>
            <a:pPr marL="0" indent="0">
              <a:buNone/>
            </a:pPr>
            <a:r>
              <a:t>	 만약: </a:t>
            </a:r>
            <a:r>
              <a:rPr lang="en-US"/>
              <a:t>L</a:t>
            </a:r>
            <a:r>
              <a:t>-&gt;data[i] &lt;= pivot</a:t>
            </a:r>
            <a:r>
              <a:rPr lang="en-US"/>
              <a:t>_data</a:t>
            </a:r>
            <a:r>
              <a:t>이면</a:t>
            </a:r>
          </a:p>
          <a:p>
            <a:pPr marL="0" indent="0">
              <a:buNone/>
            </a:pPr>
            <a:r>
              <a:t>		SWAP(</a:t>
            </a:r>
            <a:r>
              <a:rPr lang="en-US"/>
              <a:t>L</a:t>
            </a:r>
            <a:r>
              <a:t>, </a:t>
            </a:r>
            <a:r>
              <a:rPr lang="en-US"/>
              <a:t>left</a:t>
            </a:r>
            <a:r>
              <a:t>_rear, i)</a:t>
            </a:r>
          </a:p>
          <a:p>
            <a:pPr marL="0" indent="0">
              <a:buNone/>
            </a:pPr>
            <a:r>
              <a:t>		</a:t>
            </a:r>
            <a:r>
              <a:rPr lang="en-US"/>
              <a:t>left</a:t>
            </a:r>
            <a:r>
              <a:t>_rear</a:t>
            </a:r>
            <a:r>
              <a:rPr lang="en-US"/>
              <a:t> += 1</a:t>
            </a:r>
            <a:endParaRPr/>
          </a:p>
          <a:p>
            <a:r>
              <a:t>SWAP(</a:t>
            </a:r>
            <a:r>
              <a:rPr lang="en-US"/>
              <a:t>L</a:t>
            </a:r>
            <a:r>
              <a:t>, </a:t>
            </a:r>
            <a:r>
              <a:rPr lang="en-US"/>
              <a:t>left</a:t>
            </a:r>
            <a:r>
              <a:t>_rear, </a:t>
            </a:r>
            <a:r>
              <a:rPr lang="en-US"/>
              <a:t>hi</a:t>
            </a:r>
            <a:r>
              <a:t>)</a:t>
            </a:r>
            <a:r>
              <a:rPr lang="en-US"/>
              <a:t>		// </a:t>
            </a:r>
            <a:r>
              <a:rPr lang="ko-KR" altLang="en-US"/>
              <a:t>기준점 위치</a:t>
            </a:r>
            <a:endParaRPr/>
          </a:p>
          <a:p>
            <a:r>
              <a:t>반환: </a:t>
            </a:r>
            <a:r>
              <a:rPr lang="en-US"/>
              <a:t>left</a:t>
            </a:r>
            <a:r>
              <a:t>_rear</a:t>
            </a:r>
          </a:p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2977-FF5E-410E-AEAD-BE437AA2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5384A-8250-45C2-2DD2-81C1DCDF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09" y="262442"/>
            <a:ext cx="6694966" cy="607653"/>
          </a:xfrm>
        </p:spPr>
        <p:txBody>
          <a:bodyPr>
            <a:spAutoFit/>
          </a:bodyPr>
          <a:lstStyle/>
          <a:p>
            <a:r>
              <a:rPr lang="en-US" altLang="ko-KR"/>
              <a:t>QUICK_SORT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DA0D86-5032-5CC1-3452-759A04E67B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QUICK_SORT</a:t>
                </a:r>
                <a:r>
                  <a:rPr lang="ko-KR" altLang="en-US"/>
                  <a:t>의 평균 비교 횟수 </a:t>
                </a:r>
                <a:r>
                  <a:rPr lang="en-US" altLang="ko-KR"/>
                  <a:t>(</a:t>
                </a:r>
                <a:r>
                  <a:rPr lang="ko-KR" altLang="en-US"/>
                  <a:t>왼쪽이 </a:t>
                </a:r>
                <a:r>
                  <a:rPr lang="en-US" altLang="ko-KR"/>
                  <a:t>k</a:t>
                </a:r>
                <a:r>
                  <a:rPr lang="ko-KR" altLang="en-US"/>
                  <a:t>개일 때</a:t>
                </a:r>
                <a:r>
                  <a:rPr lang="en-US" altLang="ko-KR"/>
                  <a:t>):</a:t>
                </a:r>
                <a:endParaRPr lang="ko-KR" altLang="en-US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ko-KR" altLang="en-US"/>
                  <a:t>   평균</a:t>
                </a:r>
                <a:r>
                  <a:rPr lang="en-US" altLang="ko-KR"/>
                  <a:t> 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−1+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ko-KR" altLang="en-US"/>
                  <a:t> 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𝑛𝐶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−1)+2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ar-AE" altLang="ko-KR"/>
              </a:p>
              <a:p>
                <a:pPr marL="0" indent="0">
                  <a:buNone/>
                </a:pPr>
                <a:r>
                  <a:rPr lang="ar-AE" altLang="ko-KR"/>
                  <a:t> 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ko-KR" i="1"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ar-AE" altLang="ko-KR"/>
              </a:p>
              <a:p>
                <a:pPr marL="0" indent="0">
                  <a:buNone/>
                </a:pPr>
                <a:r>
                  <a:rPr lang="ar-AE" altLang="ko-KR"/>
                  <a:t>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𝑛𝐶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ko-KR" altLang="ar-AE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altLang="ko-KR"/>
              </a:p>
              <a:p>
                <a:pPr marL="0" indent="0">
                  <a:buNone/>
                </a:pPr>
                <a:r>
                  <a:rPr lang="en-US" altLang="ko-KR" b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ar-AE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ar-AE" altLang="ko-K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ko-KR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/>
                  <a:t>  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ko-KR"/>
                  <a:t> </a:t>
                </a:r>
              </a:p>
              <a:p>
                <a:r>
                  <a:rPr lang="ko-KR" altLang="en-US"/>
                  <a:t>평균 교환 횟수는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DA0D86-5032-5CC1-3452-759A04E67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3" t="-2661" b="-173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957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BEF8-39B8-3394-91C8-0652286C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CBBA-347C-F7D0-88B6-ED56E2EF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09" y="262442"/>
            <a:ext cx="6694966" cy="607653"/>
          </a:xfrm>
        </p:spPr>
        <p:txBody>
          <a:bodyPr>
            <a:spAutoFit/>
          </a:bodyPr>
          <a:lstStyle/>
          <a:p>
            <a:r>
              <a:rPr lang="en-US" altLang="ko-KR"/>
              <a:t>QUICK_SORT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A996C-455E-E285-EAC3-B5F4C825B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/>
                  <a:t>QUICK_SORT</a:t>
                </a:r>
                <a:r>
                  <a:rPr lang="ko-KR" altLang="en-US"/>
                  <a:t>의 최악 비교 횟수 </a:t>
                </a:r>
                <a:r>
                  <a:rPr lang="en-US" altLang="ko-KR"/>
                  <a:t>(</a:t>
                </a:r>
                <a:r>
                  <a:rPr lang="ko-KR" altLang="en-US"/>
                  <a:t>왼쪽이 </a:t>
                </a:r>
                <a:r>
                  <a:rPr lang="en-US" altLang="ko-KR"/>
                  <a:t>0</a:t>
                </a:r>
                <a:r>
                  <a:rPr lang="ko-KR" altLang="en-US"/>
                  <a:t>개로 나뉠 때</a:t>
                </a:r>
                <a:r>
                  <a:rPr lang="en-US" altLang="ko-KR"/>
                  <a:t>):</a:t>
                </a:r>
                <a:endParaRPr lang="ko-KR" altLang="en-US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ko-KR" altLang="en-US"/>
                  <a:t>  </a:t>
                </a:r>
                <a:r>
                  <a:rPr lang="en-US" altLang="ko-KR"/>
                  <a:t>	 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ko-KR" altLang="en-US"/>
                  <a:t>  </a:t>
                </a:r>
                <a:r>
                  <a:rPr lang="en-US" altLang="ko-KR"/>
                  <a:t>	 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altLang="ko-KR"/>
              </a:p>
              <a:p>
                <a:pPr marL="0" indent="0">
                  <a:buNone/>
                </a:pPr>
                <a:r>
                  <a:rPr lang="ko-KR" altLang="en-US"/>
                  <a:t>  </a:t>
                </a:r>
                <a:r>
                  <a:rPr lang="en-US" altLang="ko-KR"/>
                  <a:t>	 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/>
              </a:p>
              <a:p>
                <a:pPr marL="0" indent="0">
                  <a:buNone/>
                </a:pPr>
                <a:r>
                  <a:rPr lang="ko-KR" altLang="en-US"/>
                  <a:t>  </a:t>
                </a:r>
                <a:r>
                  <a:rPr lang="en-US" altLang="ko-KR"/>
                  <a:t>	 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A996C-455E-E285-EAC3-B5F4C825B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 r="-22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207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44" y="260839"/>
            <a:ext cx="4637031" cy="610859"/>
          </a:xfrm>
        </p:spPr>
        <p:txBody>
          <a:bodyPr>
            <a:spAutoFit/>
          </a:bodyPr>
          <a:lstStyle/>
          <a:p>
            <a:r>
              <a:rPr lang="en-US"/>
              <a:t>INSERTION_SORT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정렬된 부분의 적절한 위치로 데이터를 이동해간다</a:t>
            </a:r>
            <a:endParaRPr lang="en-US" altLang="ko-KR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347" y="262442"/>
            <a:ext cx="5650128" cy="607653"/>
          </a:xfrm>
        </p:spPr>
        <p:txBody>
          <a:bodyPr>
            <a:spAutoFit/>
          </a:bodyPr>
          <a:lstStyle/>
          <a:p>
            <a:r>
              <a:rPr lang="en-US" altLang="ko-KR"/>
              <a:t>INSERTION_SORT </a:t>
            </a:r>
            <a:r>
              <a:t>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왼쪽부터 정렬해나가는 경우</a:t>
            </a:r>
            <a:r>
              <a:rPr lang="en-US" altLang="ko-KR"/>
              <a:t>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1. </a:t>
            </a:r>
            <a:r>
              <a:rPr lang="ko-KR" altLang="en-US"/>
              <a:t>정렬되지 않은 부분의</a:t>
            </a:r>
            <a:r>
              <a:t> </a:t>
            </a:r>
            <a:r>
              <a:rPr lang="ko-KR" altLang="en-US"/>
              <a:t>왼쪽 </a:t>
            </a:r>
            <a:r>
              <a:t>원소</a:t>
            </a:r>
            <a:r>
              <a:rPr lang="ko-KR" altLang="en-US"/>
              <a:t>에 대해서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정렬된 부분에서 적절한 위치 찾기</a:t>
            </a:r>
            <a:endParaRPr/>
          </a:p>
          <a:p>
            <a:endParaRPr/>
          </a:p>
          <a:p>
            <a:pPr marL="0" indent="0">
              <a:buNone/>
            </a:pPr>
            <a:r>
              <a:t>2. </a:t>
            </a:r>
            <a:r>
              <a:rPr lang="ko-KR" altLang="en-US"/>
              <a:t>찾은</a:t>
            </a:r>
            <a:r>
              <a:t> 위치에 </a:t>
            </a:r>
            <a:r>
              <a:rPr lang="ko-KR" altLang="en-US"/>
              <a:t>추가</a:t>
            </a:r>
            <a:r>
              <a:t>하여 정렬된 부분 확장</a:t>
            </a:r>
          </a:p>
          <a:p>
            <a:endParaRPr/>
          </a:p>
          <a:p>
            <a:pPr marL="0" indent="0">
              <a:buNone/>
            </a:pPr>
            <a:r>
              <a:t>3. </a:t>
            </a:r>
            <a:r>
              <a:rPr lang="en-US"/>
              <a:t>... </a:t>
            </a:r>
            <a:r>
              <a:t>반복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0681" y="262442"/>
            <a:ext cx="6111794" cy="607653"/>
          </a:xfrm>
        </p:spPr>
        <p:txBody>
          <a:bodyPr>
            <a:spAutoFit/>
          </a:bodyPr>
          <a:lstStyle/>
          <a:p>
            <a:r>
              <a:rPr lang="en-US" altLang="ko-KR"/>
              <a:t>INSERTION_SORT</a:t>
            </a:r>
            <a:r>
              <a:t>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3, 2, 7, 1] 정렬 과정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1회전: [3, 5, 2, 1, 7]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2회전: [2, 3, 5, 1, 7]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3회전: [1, 2, 3, 5, 7]</a:t>
            </a:r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 altLang="ko-KR"/>
              <a:t>4</a:t>
            </a:r>
            <a:r>
              <a:rPr lang="ko-KR" altLang="en-US"/>
              <a:t>회전</a:t>
            </a:r>
            <a:r>
              <a:rPr lang="en-US" altLang="ko-KR"/>
              <a:t>: [1, 2, 3, 5, 7]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444" y="260839"/>
            <a:ext cx="4637031" cy="610859"/>
          </a:xfrm>
        </p:spPr>
        <p:txBody>
          <a:bodyPr>
            <a:spAutoFit/>
          </a:bodyPr>
          <a:lstStyle/>
          <a:p>
            <a:r>
              <a:rPr lang="en-US" altLang="ko-KR"/>
              <a:t>INSERTION_SORT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INSERTION_SORT(리스트 </a:t>
            </a:r>
            <a:r>
              <a:rPr lang="en-US"/>
              <a:t>L, </a:t>
            </a:r>
            <a:r>
              <a:rPr lang="ko-KR" altLang="en-US"/>
              <a:t>인덱스 </a:t>
            </a:r>
            <a:r>
              <a:rPr lang="en-US" altLang="ko-KR"/>
              <a:t>lo, </a:t>
            </a:r>
            <a:r>
              <a:rPr lang="ko-KR" altLang="en-US"/>
              <a:t>인덱스 </a:t>
            </a:r>
            <a:r>
              <a:rPr lang="en-US" altLang="ko-KR"/>
              <a:t>hi</a:t>
            </a:r>
            <a:r>
              <a:t>):</a:t>
            </a:r>
            <a:endParaRPr lang="ko-KR" altLang="en-US"/>
          </a:p>
          <a:p>
            <a:r>
              <a:t>반복: </a:t>
            </a:r>
            <a:r>
              <a:rPr lang="en-US"/>
              <a:t>rear</a:t>
            </a:r>
            <a:r>
              <a:rPr lang="ko-KR" altLang="en-US"/>
              <a:t>는</a:t>
            </a:r>
            <a:r>
              <a:rPr lang="en-US"/>
              <a:t> </a:t>
            </a:r>
            <a:r>
              <a:rPr lang="en-US" altLang="ko-KR"/>
              <a:t>lo</a:t>
            </a:r>
            <a:r>
              <a:rPr lang="ko-KR" altLang="en-US"/>
              <a:t>부터</a:t>
            </a:r>
            <a:r>
              <a:rPr lang="en-US"/>
              <a:t> hi</a:t>
            </a:r>
            <a:r>
              <a:rPr lang="ko-KR" altLang="en-US"/>
              <a:t>까지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value = L-&gt;data[rear]	// </a:t>
            </a:r>
            <a:r>
              <a:rPr lang="ko-KR" altLang="en-US"/>
              <a:t>이동할 데이터</a:t>
            </a:r>
            <a:endParaRPr lang="en-US" altLang="ko-KR"/>
          </a:p>
          <a:p>
            <a:pPr marL="0" indent="0">
              <a:buNone/>
            </a:pPr>
            <a:r>
              <a:rPr lang="en-US"/>
              <a:t>	 i = rear			// </a:t>
            </a:r>
            <a:r>
              <a:rPr lang="ko-KR" altLang="en-US"/>
              <a:t>데이터를 이동할 위치</a:t>
            </a:r>
            <a:endParaRPr/>
          </a:p>
          <a:p>
            <a:pPr marL="0" indent="0">
              <a:buNone/>
            </a:pPr>
            <a:r>
              <a:t>	 반복: i </a:t>
            </a:r>
            <a:r>
              <a:rPr lang="en-US"/>
              <a:t>&gt;</a:t>
            </a:r>
            <a:r>
              <a:rPr lang="ko-KR" altLang="en-US"/>
              <a:t> </a:t>
            </a:r>
            <a:r>
              <a:rPr lang="en-US" altLang="ko-KR"/>
              <a:t>lo</a:t>
            </a:r>
            <a:r>
              <a:rPr lang="ko-KR" altLang="en-US"/>
              <a:t>이고</a:t>
            </a:r>
            <a:r>
              <a:rPr lang="en-US" altLang="ko-KR"/>
              <a:t>, L-&gt;data[i - 1] &gt; value</a:t>
            </a:r>
            <a:r>
              <a:rPr lang="ko-KR" altLang="en-US"/>
              <a:t>인 동안</a:t>
            </a:r>
            <a:endParaRPr lang="en-US" altLang="ko-KR"/>
          </a:p>
          <a:p>
            <a:pPr marL="0" indent="0">
              <a:buNone/>
            </a:pPr>
            <a:r>
              <a:rPr lang="en-US"/>
              <a:t>		 L-&gt;data[i] = L-&gt;data[i - 1]</a:t>
            </a:r>
            <a:endParaRPr/>
          </a:p>
          <a:p>
            <a:pPr marL="0" indent="0">
              <a:buNone/>
            </a:pPr>
            <a:r>
              <a:t>		</a:t>
            </a:r>
            <a:r>
              <a:rPr lang="en-US"/>
              <a:t> </a:t>
            </a:r>
            <a:r>
              <a:t>i</a:t>
            </a:r>
            <a:r>
              <a:rPr lang="en-US"/>
              <a:t> -= 1</a:t>
            </a:r>
            <a:endParaRPr/>
          </a:p>
          <a:p>
            <a:pPr marL="0" indent="0">
              <a:buNone/>
            </a:pPr>
            <a:r>
              <a:t>	 </a:t>
            </a:r>
            <a:r>
              <a:rPr lang="en-US"/>
              <a:t>L-&gt;data[i] = value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5031-A765-5D8A-7B3B-A3BEC821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1F2D-4322-3D2E-1161-5EE2477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918" y="262442"/>
            <a:ext cx="7586557" cy="607653"/>
          </a:xfrm>
        </p:spPr>
        <p:txBody>
          <a:bodyPr>
            <a:spAutoFit/>
          </a:bodyPr>
          <a:lstStyle/>
          <a:p>
            <a:r>
              <a:rPr lang="en-US" altLang="ko-KR"/>
              <a:t>INSERTION_SORT</a:t>
            </a:r>
            <a:r>
              <a:rPr lang="ko-KR" altLang="en-US"/>
              <a:t>의 시간 복잡도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780A7-2107-18B0-3AEF-88A5DD9AE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ko-KR" altLang="en-US"/>
                  <a:t>반복 조건 확인 횟수 </a:t>
                </a:r>
                <a:r>
                  <a:rPr lang="en-US" altLang="ko-KR"/>
                  <a:t>(</a:t>
                </a:r>
                <a:r>
                  <a:rPr lang="ko-KR" altLang="en-US"/>
                  <a:t>최악</a:t>
                </a:r>
                <a:r>
                  <a:rPr lang="en-US" altLang="ko-KR"/>
                  <a:t>):</a:t>
                </a:r>
                <a:endParaRPr lang="ko-KR" alt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𝑤𝑜𝑟𝑠𝑡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/>
              </a:p>
              <a:p>
                <a:pPr marL="0" indent="0">
                  <a:lnSpc>
                    <a:spcPct val="100000"/>
                  </a:lnSpc>
                  <a:spcBef>
                    <a:spcPts val="2000"/>
                  </a:spcBef>
                  <a:buNone/>
                </a:pPr>
                <a:r>
                  <a:rPr lang="ko-KR" altLang="en-US"/>
                  <a:t>반복 조건 확인 횟수  </a:t>
                </a:r>
                <a:r>
                  <a:rPr lang="en-US" altLang="ko-KR"/>
                  <a:t>(</a:t>
                </a:r>
                <a:r>
                  <a:rPr lang="ko-KR" altLang="en-US"/>
                  <a:t>평균</a:t>
                </a:r>
                <a:r>
                  <a:rPr lang="en-US" altLang="ko-KR"/>
                  <a:t>):</a:t>
                </a:r>
                <a:endParaRPr lang="ko-KR" alt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𝑤𝑜𝑟𝑠𝑡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/>
              </a:p>
              <a:p>
                <a:pPr marL="0" indent="0">
                  <a:lnSpc>
                    <a:spcPct val="100000"/>
                  </a:lnSpc>
                  <a:spcBef>
                    <a:spcPts val="2000"/>
                  </a:spcBef>
                  <a:buNone/>
                </a:pPr>
                <a:r>
                  <a:rPr lang="ko-KR" altLang="en-US"/>
                  <a:t>반복 조건 확인 횟수  </a:t>
                </a:r>
                <a:r>
                  <a:rPr lang="en-US" altLang="ko-KR"/>
                  <a:t>(</a:t>
                </a:r>
                <a:r>
                  <a:rPr lang="ko-KR" altLang="en-US"/>
                  <a:t>최선</a:t>
                </a:r>
                <a:r>
                  <a:rPr lang="en-US" altLang="ko-KR"/>
                  <a:t>, </a:t>
                </a:r>
                <a:r>
                  <a:rPr lang="ko-KR" altLang="en-US"/>
                  <a:t>거의 정렬된 경우</a:t>
                </a:r>
                <a:r>
                  <a:rPr lang="en-US" altLang="ko-KR"/>
                  <a:t>):</a:t>
                </a:r>
                <a:endParaRPr lang="ko-KR" alt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𝑏𝑒𝑠𝑡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780A7-2107-18B0-3AEF-88A5DD9AE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2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852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9183-AFC1-CD37-1D11-77C5C16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4BD9-37D7-8D9A-15A0-7B83D14D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046" y="260839"/>
            <a:ext cx="6792429" cy="610859"/>
          </a:xfrm>
        </p:spPr>
        <p:txBody>
          <a:bodyPr>
            <a:spAutoFit/>
          </a:bodyPr>
          <a:lstStyle/>
          <a:p>
            <a:r>
              <a:rPr lang="en-US"/>
              <a:t>QUICK_SORT vs HEAP_SORT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0DF8-9F6F-4352-2A78-F160B955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퀵 정렬</a:t>
            </a:r>
            <a:r>
              <a:rPr lang="ko-KR" altLang="en-US"/>
              <a:t>은 단순해서 평균 실행 시간이 더 빠르다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힙 정렬은 최악의 경우에도 </a:t>
            </a:r>
            <a:r>
              <a:rPr lang="en-US" altLang="ko-KR"/>
              <a:t>O(n log n)</a:t>
            </a:r>
            <a:r>
              <a:rPr lang="ko-KR" altLang="en-US"/>
              <a:t>을 보장한다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1741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6868" y="262442"/>
            <a:ext cx="7395607" cy="607653"/>
          </a:xfrm>
        </p:spPr>
        <p:txBody>
          <a:bodyPr>
            <a:spAutoFit/>
          </a:bodyPr>
          <a:lstStyle/>
          <a:p>
            <a:r>
              <a:t>하이브리드 정렬 (</a:t>
            </a:r>
            <a:r>
              <a:rPr lang="en-US"/>
              <a:t>INTRO_SORT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퀵 정렬의 평균 성능과 힙 정렬의 최악 성능 </a:t>
            </a:r>
            <a:r>
              <a:rPr lang="ko-KR" altLang="en-US"/>
              <a:t>결합</a:t>
            </a:r>
            <a:endParaRPr/>
          </a:p>
          <a:p>
            <a:endParaRPr/>
          </a:p>
          <a:p>
            <a:r>
              <a:t>n이 작아지면 </a:t>
            </a:r>
            <a:r>
              <a:rPr lang="en-US"/>
              <a:t>INSERTION_SORT</a:t>
            </a:r>
            <a:r>
              <a:t>로 전환</a:t>
            </a:r>
          </a:p>
          <a:p>
            <a:endParaRPr/>
          </a:p>
          <a:p>
            <a:r>
              <a:t>C++의 표준 정렬 함수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944" y="262442"/>
            <a:ext cx="4686531" cy="607653"/>
          </a:xfrm>
        </p:spPr>
        <p:txBody>
          <a:bodyPr>
            <a:spAutoFit/>
          </a:bodyPr>
          <a:lstStyle/>
          <a:p>
            <a:r>
              <a:rPr lang="en-US" altLang="ko-KR"/>
              <a:t>INTRO_SORT</a:t>
            </a:r>
            <a:r>
              <a:t>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퀵 정렬로 분할 정복 수행</a:t>
            </a:r>
          </a:p>
          <a:p>
            <a:endParaRPr/>
          </a:p>
          <a:p>
            <a:pPr marL="0" indent="0">
              <a:buNone/>
            </a:pPr>
            <a:r>
              <a:t>2. 재귀 깊이가 일정 수준 이상일 경우 힙 정렬로 전환</a:t>
            </a:r>
          </a:p>
          <a:p>
            <a:endParaRPr/>
          </a:p>
          <a:p>
            <a:pPr marL="0" indent="0">
              <a:buNone/>
            </a:pPr>
            <a:r>
              <a:t>3. </a:t>
            </a:r>
            <a:r>
              <a:rPr lang="ko-KR" altLang="en-US"/>
              <a:t>데이터 수가 적으면 </a:t>
            </a:r>
            <a:r>
              <a:rPr lang="en-US"/>
              <a:t>INSERTION_SORT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4279" y="262442"/>
            <a:ext cx="5148196" cy="607653"/>
          </a:xfrm>
        </p:spPr>
        <p:txBody>
          <a:bodyPr>
            <a:spAutoFit/>
          </a:bodyPr>
          <a:lstStyle/>
          <a:p>
            <a:r>
              <a:rPr lang="en-US" altLang="ko-KR"/>
              <a:t>INTRO_SORT</a:t>
            </a:r>
            <a:r>
              <a:t>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3, 2, 7, 1] 정렬 과정</a:t>
            </a:r>
          </a:p>
          <a:p>
            <a:endParaRPr/>
          </a:p>
          <a:p>
            <a:r>
              <a:t>삽입 정렬이 실행됨</a:t>
            </a:r>
          </a:p>
          <a:p>
            <a:endParaRPr/>
          </a:p>
          <a:p>
            <a:r>
              <a:t>최종 정렬 결과: [1, 2, 3, 5, 7]</a:t>
            </a:r>
          </a:p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9041" y="260839"/>
            <a:ext cx="3673434" cy="610859"/>
          </a:xfrm>
        </p:spPr>
        <p:txBody>
          <a:bodyPr>
            <a:spAutoFit/>
          </a:bodyPr>
          <a:lstStyle/>
          <a:p>
            <a:r>
              <a:rPr lang="en-US" altLang="ko-KR"/>
              <a:t>INTRO_SORT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INTRO_SORT(리스트 </a:t>
            </a:r>
            <a:r>
              <a:rPr lang="en-US"/>
              <a:t>L</a:t>
            </a:r>
            <a:r>
              <a:t>, 인덱스 l</a:t>
            </a:r>
            <a:r>
              <a:rPr lang="en-US"/>
              <a:t>o</a:t>
            </a:r>
            <a:r>
              <a:t>, 인덱스 </a:t>
            </a:r>
            <a:r>
              <a:rPr lang="en-US"/>
              <a:t>hi</a:t>
            </a:r>
            <a:r>
              <a:t>,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t>정수 </a:t>
            </a:r>
            <a:r>
              <a:rPr lang="en-US"/>
              <a:t>limit</a:t>
            </a:r>
            <a:r>
              <a:t>):</a:t>
            </a:r>
          </a:p>
          <a:p>
            <a:r>
              <a:t>만약: </a:t>
            </a:r>
            <a:r>
              <a:rPr lang="en-US"/>
              <a:t>hi</a:t>
            </a:r>
            <a:r>
              <a:t> - l</a:t>
            </a:r>
            <a:r>
              <a:rPr lang="en-US"/>
              <a:t>o</a:t>
            </a:r>
            <a:r>
              <a:t> &lt; 1</a:t>
            </a:r>
            <a:r>
              <a:rPr lang="en-US"/>
              <a:t>5</a:t>
            </a:r>
            <a:r>
              <a:t>이면</a:t>
            </a:r>
          </a:p>
          <a:p>
            <a:pPr marL="0" indent="0">
              <a:buNone/>
            </a:pPr>
            <a:r>
              <a:t>	 INSERTION_SORT(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</a:t>
            </a:r>
            <a:r>
              <a:rPr lang="en-US"/>
              <a:t>hi</a:t>
            </a:r>
            <a:r>
              <a:t>)</a:t>
            </a:r>
          </a:p>
          <a:p>
            <a:r>
              <a:t>아니면 만약: </a:t>
            </a:r>
            <a:r>
              <a:rPr lang="en-US"/>
              <a:t>limit</a:t>
            </a:r>
            <a:r>
              <a:t> == 0이면</a:t>
            </a:r>
          </a:p>
          <a:p>
            <a:pPr marL="0" indent="0">
              <a:buNone/>
            </a:pPr>
            <a:r>
              <a:t>	 HEAP_SORT(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</a:t>
            </a:r>
            <a:r>
              <a:rPr lang="en-US"/>
              <a:t>hi</a:t>
            </a:r>
            <a:r>
              <a:t>)</a:t>
            </a:r>
          </a:p>
          <a:p>
            <a:r>
              <a:t>아니면</a:t>
            </a:r>
            <a:r>
              <a:rPr lang="en-US"/>
              <a:t>:</a:t>
            </a:r>
            <a:endParaRPr/>
          </a:p>
          <a:p>
            <a:pPr marL="0" indent="0">
              <a:buNone/>
            </a:pPr>
            <a:r>
              <a:t>	 pivot = PARTITION(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</a:t>
            </a:r>
            <a:r>
              <a:rPr lang="en-US"/>
              <a:t>hi</a:t>
            </a:r>
            <a:r>
              <a:t>)</a:t>
            </a:r>
          </a:p>
          <a:p>
            <a:pPr marL="0" indent="0">
              <a:buNone/>
            </a:pPr>
            <a:r>
              <a:t>	 INTRO_SORT(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pivot - 1, </a:t>
            </a:r>
            <a:r>
              <a:rPr lang="en-US"/>
              <a:t>limit</a:t>
            </a:r>
            <a:r>
              <a:t> - 1)</a:t>
            </a:r>
          </a:p>
          <a:p>
            <a:pPr marL="0" indent="0">
              <a:buNone/>
            </a:pPr>
            <a:r>
              <a:t>	 INTRO_SORT(</a:t>
            </a:r>
            <a:r>
              <a:rPr lang="en-US"/>
              <a:t>L</a:t>
            </a:r>
            <a:r>
              <a:t>, pivot + 1, </a:t>
            </a:r>
            <a:r>
              <a:rPr lang="en-US"/>
              <a:t>hi</a:t>
            </a:r>
            <a:r>
              <a:t>, </a:t>
            </a:r>
            <a:r>
              <a:rPr lang="en-US"/>
              <a:t>limit</a:t>
            </a:r>
            <a:r>
              <a:t> - 1)</a:t>
            </a:r>
          </a:p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3318" y="260839"/>
            <a:ext cx="3739157" cy="610859"/>
          </a:xfrm>
        </p:spPr>
        <p:txBody>
          <a:bodyPr>
            <a:spAutoFit/>
          </a:bodyPr>
          <a:lstStyle/>
          <a:p>
            <a:r>
              <a:rPr lang="en-US"/>
              <a:t>MERGE SORT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반으로 나눠서 각각 정렬한 후</a:t>
            </a:r>
            <a:r>
              <a:rPr lang="en-US" altLang="ko-KR"/>
              <a:t>, </a:t>
            </a:r>
            <a:r>
              <a:rPr lang="ko-KR" altLang="en-US"/>
              <a:t>정렬하며 합치는 방법</a:t>
            </a:r>
            <a:endParaRPr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0220" y="262442"/>
            <a:ext cx="4752255" cy="607653"/>
          </a:xfrm>
        </p:spPr>
        <p:txBody>
          <a:bodyPr>
            <a:spAutoFit/>
          </a:bodyPr>
          <a:lstStyle/>
          <a:p>
            <a:r>
              <a:rPr lang="en-US" altLang="ko-KR"/>
              <a:t>MERGE SORT</a:t>
            </a:r>
            <a:r>
              <a:t>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배열을 반으로 분할</a:t>
            </a:r>
          </a:p>
          <a:p>
            <a:endParaRPr/>
          </a:p>
          <a:p>
            <a:pPr marL="0" indent="0">
              <a:buNone/>
            </a:pPr>
            <a:r>
              <a:t>2. 각 부분에 대해 재귀적으로 </a:t>
            </a:r>
            <a:r>
              <a:rPr lang="ko-KR" altLang="en-US"/>
              <a:t>정렬</a:t>
            </a:r>
            <a:endParaRPr/>
          </a:p>
          <a:p>
            <a:endParaRPr/>
          </a:p>
          <a:p>
            <a:pPr marL="0" indent="0">
              <a:buNone/>
            </a:pPr>
            <a:r>
              <a:t>3. 정렬된 두 부분을 </a:t>
            </a:r>
            <a:r>
              <a:rPr lang="ko-KR" altLang="en-US"/>
              <a:t>합침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8555" y="262442"/>
            <a:ext cx="5213920" cy="607653"/>
          </a:xfrm>
        </p:spPr>
        <p:txBody>
          <a:bodyPr>
            <a:spAutoFit/>
          </a:bodyPr>
          <a:lstStyle/>
          <a:p>
            <a:r>
              <a:rPr lang="en-US"/>
              <a:t>MERGE SORT</a:t>
            </a:r>
            <a:r>
              <a:t>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3, 2, 7, 1] 정렬 과정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분할: [5,3] , [2,7,1]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정렬</a:t>
            </a:r>
            <a:r>
              <a:t>: [3,5] , [1,2,7]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rPr lang="ko-KR" altLang="en-US"/>
              <a:t>합치기</a:t>
            </a:r>
            <a:r>
              <a:t>: [1,2,3,5,7]</a:t>
            </a:r>
          </a:p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91" y="260839"/>
            <a:ext cx="3860984" cy="610859"/>
          </a:xfrm>
        </p:spPr>
        <p:txBody>
          <a:bodyPr>
            <a:spAutoFit/>
          </a:bodyPr>
          <a:lstStyle/>
          <a:p>
            <a:r>
              <a:t>MERGE_SORT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MERGE_SORT(리스트 </a:t>
            </a:r>
            <a:r>
              <a:rPr lang="en-US"/>
              <a:t>L</a:t>
            </a:r>
            <a:r>
              <a:t>, 인덱스 l</a:t>
            </a:r>
            <a:r>
              <a:rPr lang="en-US"/>
              <a:t>o</a:t>
            </a:r>
            <a:r>
              <a:t>, 인덱스 </a:t>
            </a:r>
            <a:r>
              <a:rPr lang="en-US"/>
              <a:t>hi</a:t>
            </a:r>
            <a:r>
              <a:t>):</a:t>
            </a:r>
          </a:p>
          <a:p>
            <a:pPr marL="0" indent="0">
              <a:buNone/>
            </a:pPr>
            <a:endParaRPr/>
          </a:p>
          <a:p>
            <a:r>
              <a:t>만약: l</a:t>
            </a:r>
            <a:r>
              <a:rPr lang="en-US"/>
              <a:t>o</a:t>
            </a:r>
            <a:r>
              <a:t> &lt; </a:t>
            </a:r>
            <a:r>
              <a:rPr lang="en-US"/>
              <a:t>hi</a:t>
            </a:r>
            <a:r>
              <a:t>이면</a:t>
            </a:r>
          </a:p>
          <a:p>
            <a:pPr marL="0" indent="0">
              <a:buNone/>
            </a:pPr>
            <a:r>
              <a:t>	 mid = (l</a:t>
            </a:r>
            <a:r>
              <a:rPr lang="en-US"/>
              <a:t>o</a:t>
            </a:r>
            <a:r>
              <a:t> + </a:t>
            </a:r>
            <a:r>
              <a:rPr lang="en-US"/>
              <a:t>hi</a:t>
            </a:r>
            <a:r>
              <a:t>) / 2</a:t>
            </a:r>
          </a:p>
          <a:p>
            <a:pPr marL="0" indent="0">
              <a:buNone/>
            </a:pPr>
            <a:r>
              <a:t>	 MERGE_SORT(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</a:t>
            </a:r>
            <a:r>
              <a:rPr lang="en-US"/>
              <a:t>mid</a:t>
            </a:r>
            <a:r>
              <a:t>)</a:t>
            </a:r>
          </a:p>
          <a:p>
            <a:pPr marL="0" indent="0">
              <a:buNone/>
            </a:pPr>
            <a:r>
              <a:t>	 MERGE_SORT(</a:t>
            </a:r>
            <a:r>
              <a:rPr lang="en-US"/>
              <a:t>L</a:t>
            </a:r>
            <a:r>
              <a:t>, mid + 1, </a:t>
            </a:r>
            <a:r>
              <a:rPr lang="en-US"/>
              <a:t>hi</a:t>
            </a:r>
            <a:r>
              <a:t>)</a:t>
            </a:r>
          </a:p>
          <a:p>
            <a:pPr marL="0" indent="0">
              <a:buNone/>
            </a:pPr>
            <a:r>
              <a:t>	 MERGE(</a:t>
            </a:r>
            <a:r>
              <a:rPr lang="en-US"/>
              <a:t>L</a:t>
            </a:r>
            <a:r>
              <a:t>, l</a:t>
            </a:r>
            <a:r>
              <a:rPr lang="en-US"/>
              <a:t>o</a:t>
            </a:r>
            <a:r>
              <a:t>, mid, </a:t>
            </a:r>
            <a:r>
              <a:rPr lang="en-US"/>
              <a:t>hi</a:t>
            </a:r>
            <a:r>
              <a:t>)</a:t>
            </a:r>
          </a:p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0882" y="260839"/>
            <a:ext cx="3501593" cy="610859"/>
          </a:xfrm>
        </p:spPr>
        <p:txBody>
          <a:bodyPr>
            <a:spAutoFit/>
          </a:bodyPr>
          <a:lstStyle/>
          <a:p>
            <a:r>
              <a:t>MERGE</a:t>
            </a:r>
            <a:r>
              <a:rPr lang="en-US"/>
              <a:t> 1 / 4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MERGE(리스트 </a:t>
            </a:r>
            <a:r>
              <a:rPr lang="en-US"/>
              <a:t>L</a:t>
            </a:r>
            <a:r>
              <a:t>, 인덱스 l</a:t>
            </a:r>
            <a:r>
              <a:rPr lang="en-US"/>
              <a:t>o</a:t>
            </a:r>
            <a:r>
              <a:t>, 인덱스 mid,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t>인덱스 </a:t>
            </a:r>
            <a:r>
              <a:rPr lang="en-US"/>
              <a:t>hi</a:t>
            </a:r>
            <a:r>
              <a:t>):</a:t>
            </a:r>
          </a:p>
          <a:p>
            <a:endParaRPr/>
          </a:p>
          <a:p>
            <a:r>
              <a:t>left_size = mid - l</a:t>
            </a:r>
            <a:r>
              <a:rPr lang="en-US"/>
              <a:t>o</a:t>
            </a:r>
            <a:r>
              <a:t> + 1</a:t>
            </a:r>
          </a:p>
          <a:p>
            <a:r>
              <a:t>right_size = </a:t>
            </a:r>
            <a:r>
              <a:rPr lang="en-US"/>
              <a:t>hi</a:t>
            </a:r>
            <a:r>
              <a:t> - mid</a:t>
            </a:r>
            <a:endParaRPr lang="en-US"/>
          </a:p>
          <a:p>
            <a:endParaRPr/>
          </a:p>
          <a:p>
            <a:r>
              <a:t>left_</a:t>
            </a:r>
            <a:r>
              <a:rPr lang="en-US"/>
              <a:t>q</a:t>
            </a:r>
            <a:r>
              <a:t> = 새로운 </a:t>
            </a:r>
            <a:r>
              <a:rPr lang="ko-KR" altLang="en-US"/>
              <a:t>큐</a:t>
            </a:r>
            <a:r>
              <a:t>(left_size)</a:t>
            </a:r>
          </a:p>
          <a:p>
            <a:r>
              <a:t>right_</a:t>
            </a:r>
            <a:r>
              <a:rPr lang="en-US"/>
              <a:t>q</a:t>
            </a:r>
            <a:r>
              <a:t> = 새로운 </a:t>
            </a:r>
            <a:r>
              <a:rPr lang="ko-KR" altLang="en-US"/>
              <a:t>큐</a:t>
            </a:r>
            <a:r>
              <a:t>(right_size)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B984-1E06-212A-89D3-60647660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6424-794E-A4AD-0451-04671398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883" y="260839"/>
            <a:ext cx="3501592" cy="610859"/>
          </a:xfrm>
        </p:spPr>
        <p:txBody>
          <a:bodyPr>
            <a:spAutoFit/>
          </a:bodyPr>
          <a:lstStyle/>
          <a:p>
            <a:r>
              <a:rPr lang="en-US" altLang="ko-KR"/>
              <a:t>MERGE 2 / 4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0696-9108-8638-316C-0905D56C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반복: i는 </a:t>
            </a:r>
            <a:r>
              <a:rPr lang="en-US"/>
              <a:t>lo</a:t>
            </a:r>
            <a:r>
              <a:t>부터 </a:t>
            </a:r>
            <a:r>
              <a:rPr lang="en-US"/>
              <a:t>mid</a:t>
            </a:r>
            <a:r>
              <a:t>까지 </a:t>
            </a:r>
          </a:p>
          <a:p>
            <a:pPr marL="0" indent="0">
              <a:buNone/>
            </a:pPr>
            <a:r>
              <a:t>	 </a:t>
            </a:r>
            <a:r>
              <a:rPr lang="en-US"/>
              <a:t>ENQUEUE(left_q, </a:t>
            </a:r>
            <a:r>
              <a:t>list-&gt;data[i]</a:t>
            </a:r>
            <a:r>
              <a:rPr lang="en-US"/>
              <a:t>)</a:t>
            </a:r>
            <a:endParaRPr/>
          </a:p>
          <a:p>
            <a:endParaRPr lang="en-US" altLang="ko-KR"/>
          </a:p>
          <a:p>
            <a:r>
              <a:rPr lang="ko-KR" altLang="en-US"/>
              <a:t>반복</a:t>
            </a:r>
            <a:r>
              <a:rPr lang="en-US" altLang="ko-KR"/>
              <a:t>: i</a:t>
            </a:r>
            <a:r>
              <a:rPr lang="ko-KR" altLang="en-US"/>
              <a:t>는 </a:t>
            </a:r>
            <a:r>
              <a:rPr lang="en-US" altLang="ko-KR"/>
              <a:t>mid + 1</a:t>
            </a:r>
            <a:r>
              <a:rPr lang="ko-KR" altLang="en-US"/>
              <a:t>부터 </a:t>
            </a:r>
            <a:r>
              <a:rPr lang="en-US" altLang="ko-KR"/>
              <a:t>hi</a:t>
            </a:r>
            <a:r>
              <a:rPr lang="ko-KR" altLang="en-US"/>
              <a:t>까지</a:t>
            </a:r>
          </a:p>
          <a:p>
            <a:pPr marL="0" indent="0">
              <a:buNone/>
            </a:pPr>
            <a:r>
              <a:rPr lang="en-US" altLang="ko-KR"/>
              <a:t>	 ENQUEUE(right_q, list-&gt;data[i])</a:t>
            </a:r>
          </a:p>
        </p:txBody>
      </p:sp>
    </p:spTree>
    <p:extLst>
      <p:ext uri="{BB962C8B-B14F-4D97-AF65-F5344CB8AC3E}">
        <p14:creationId xmlns:p14="http://schemas.microsoft.com/office/powerpoint/2010/main" val="799324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B0ED-D0AD-175A-8E7B-8FD544E7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5A26-A241-3DC4-B120-9C6313BB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883" y="260839"/>
            <a:ext cx="3501592" cy="610859"/>
          </a:xfrm>
        </p:spPr>
        <p:txBody>
          <a:bodyPr>
            <a:spAutoFit/>
          </a:bodyPr>
          <a:lstStyle/>
          <a:p>
            <a:r>
              <a:rPr lang="en-US" altLang="ko-KR"/>
              <a:t>MERGE 3 / 4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3E3C5-00B3-E528-CFEE-3F461F51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merged = </a:t>
            </a:r>
            <a:r>
              <a:rPr lang="ko-KR" altLang="en-US"/>
              <a:t>새로운 리스트</a:t>
            </a:r>
            <a:r>
              <a:rPr lang="en-US" altLang="ko-KR"/>
              <a:t>(list-&gt;data, 0)</a:t>
            </a:r>
          </a:p>
          <a:p>
            <a:endParaRPr lang="en-US"/>
          </a:p>
          <a:p>
            <a:r>
              <a:t>반복: </a:t>
            </a:r>
            <a:r>
              <a:rPr lang="en-US"/>
              <a:t>!EMPTY(</a:t>
            </a:r>
            <a:r>
              <a:t>left_</a:t>
            </a:r>
            <a:r>
              <a:rPr lang="en-US"/>
              <a:t>q)</a:t>
            </a:r>
            <a:r>
              <a:t> 그리고 </a:t>
            </a:r>
            <a:r>
              <a:rPr lang="en-US"/>
              <a:t>!EMPTY(right_q)</a:t>
            </a:r>
            <a:r>
              <a:t>일 동안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 만약: </a:t>
            </a:r>
            <a:r>
              <a:rPr lang="en-US"/>
              <a:t>FRONT(left_q)</a:t>
            </a:r>
            <a:r>
              <a:t> &lt;= </a:t>
            </a:r>
            <a:r>
              <a:rPr lang="en-US"/>
              <a:t>FRONT(right_q)</a:t>
            </a:r>
            <a:r>
              <a:t>이면</a:t>
            </a:r>
          </a:p>
          <a:p>
            <a:pPr marL="0" indent="0">
              <a:buNone/>
            </a:pPr>
            <a:r>
              <a:t>		 </a:t>
            </a:r>
            <a:r>
              <a:rPr lang="en-US"/>
              <a:t>ALIST_PUSH(merged, DEQUEUE(left_q))</a:t>
            </a:r>
          </a:p>
          <a:p>
            <a:pPr marL="0" indent="0">
              <a:buNone/>
            </a:pPr>
            <a:r>
              <a:t>	 아니면</a:t>
            </a:r>
            <a:r>
              <a:rPr lang="en-US"/>
              <a:t>:</a:t>
            </a:r>
            <a:endParaRPr/>
          </a:p>
          <a:p>
            <a:pPr marL="0" indent="0">
              <a:buNone/>
            </a:pPr>
            <a:r>
              <a:rPr lang="en-US" altLang="ko-KR"/>
              <a:t>		 ALIST_PUSH(merged, DEQUEUE(right_q))</a:t>
            </a:r>
          </a:p>
        </p:txBody>
      </p:sp>
    </p:spTree>
    <p:extLst>
      <p:ext uri="{BB962C8B-B14F-4D97-AF65-F5344CB8AC3E}">
        <p14:creationId xmlns:p14="http://schemas.microsoft.com/office/powerpoint/2010/main" val="2164530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5F3D-FB2A-A763-5F03-54B16D15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8F48-8287-3193-87CE-B55632C7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883" y="260839"/>
            <a:ext cx="3501592" cy="610859"/>
          </a:xfrm>
        </p:spPr>
        <p:txBody>
          <a:bodyPr>
            <a:spAutoFit/>
          </a:bodyPr>
          <a:lstStyle/>
          <a:p>
            <a:r>
              <a:rPr lang="en-US" altLang="ko-KR"/>
              <a:t>MERGE 4 / 4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CE1FD-FC9C-2089-DEE2-DDBED2EE9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반복: </a:t>
            </a:r>
            <a:r>
              <a:rPr lang="en-US"/>
              <a:t>!EMPTY(left_q)</a:t>
            </a:r>
            <a:r>
              <a:t>일 동안</a:t>
            </a:r>
          </a:p>
          <a:p>
            <a:pPr marL="0" indent="0">
              <a:buNone/>
            </a:pPr>
            <a:r>
              <a:rPr lang="en-US" altLang="ko-KR"/>
              <a:t>	 ALIST_PUSH(merged, DEQUEUE(left_q))</a:t>
            </a:r>
          </a:p>
          <a:p>
            <a:endParaRPr/>
          </a:p>
          <a:p>
            <a:r>
              <a:t>반복: </a:t>
            </a:r>
            <a:r>
              <a:rPr lang="en-US"/>
              <a:t>!EMPTY(right_q)</a:t>
            </a:r>
            <a:r>
              <a:t>일 동안</a:t>
            </a:r>
          </a:p>
          <a:p>
            <a:pPr marL="0" indent="0">
              <a:buNone/>
            </a:pPr>
            <a:r>
              <a:rPr lang="en-US" altLang="ko-KR"/>
              <a:t>	 ALIST_PUSH(merged, DEQUEUE(right_q))</a:t>
            </a:r>
          </a:p>
          <a:p>
            <a:endParaRPr/>
          </a:p>
          <a:p>
            <a:r>
              <a:t>삭제: left_</a:t>
            </a:r>
            <a:r>
              <a:rPr lang="en-US"/>
              <a:t>q</a:t>
            </a:r>
            <a:r>
              <a:t>, right_</a:t>
            </a:r>
            <a:r>
              <a:rPr lang="en-US"/>
              <a:t>q, merged</a:t>
            </a:r>
            <a:endParaRPr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78897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B8EA-F49A-A741-6DB9-E7035E85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E732-982C-AD68-5782-E3BAF0B9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964" y="262442"/>
            <a:ext cx="6810511" cy="607653"/>
          </a:xfrm>
        </p:spPr>
        <p:txBody>
          <a:bodyPr>
            <a:spAutoFit/>
          </a:bodyPr>
          <a:lstStyle/>
          <a:p>
            <a:r>
              <a:rPr lang="en-US"/>
              <a:t>MERGE</a:t>
            </a:r>
            <a:r>
              <a:t>_SORT</a:t>
            </a:r>
            <a:r>
              <a:rPr lang="ko-KR" altLang="en-US"/>
              <a:t>의 시간 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8551-59B0-56A0-62F2-238283CD7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/>
              <a:t>MERGE</a:t>
            </a:r>
            <a:r>
              <a:rPr lang="ko-KR" altLang="en-US"/>
              <a:t>시 시간복잡도</a:t>
            </a:r>
            <a:r>
              <a:rPr lang="en-US" altLang="ko-KR"/>
              <a:t>:</a:t>
            </a:r>
            <a:endParaRPr lang="ko-KR" altLang="en-US"/>
          </a:p>
          <a:p>
            <a:pPr>
              <a:lnSpc>
                <a:spcPct val="100000"/>
              </a:lnSpc>
            </a:pPr>
            <a:r>
              <a:rPr lang="ko-KR" altLang="en-US"/>
              <a:t>총 길이가 </a:t>
            </a:r>
            <a:r>
              <a:rPr lang="en-US" altLang="ko-KR"/>
              <a:t>k</a:t>
            </a:r>
            <a:r>
              <a:rPr lang="ko-KR" altLang="en-US"/>
              <a:t>인 두 배열을 합칠 때</a:t>
            </a:r>
            <a:r>
              <a:rPr lang="en-US" altLang="ko-KR"/>
              <a:t>, </a:t>
            </a:r>
            <a:r>
              <a:rPr lang="ko-KR" altLang="en-US"/>
              <a:t>비교 </a:t>
            </a:r>
            <a:r>
              <a:rPr lang="en-US" altLang="ko-KR"/>
              <a:t>k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대입 </a:t>
            </a:r>
            <a:r>
              <a:rPr lang="en-US" altLang="ko-KR"/>
              <a:t>2k</a:t>
            </a:r>
            <a:r>
              <a:rPr lang="ko-KR" altLang="en-US"/>
              <a:t>회</a:t>
            </a:r>
            <a:endParaRPr lang="en-US" altLang="ko-KR"/>
          </a:p>
          <a:p>
            <a:pPr>
              <a:lnSpc>
                <a:spcPct val="100000"/>
              </a:lnSpc>
            </a:pPr>
            <a:r>
              <a:rPr lang="en-US" altLang="ko-KR"/>
              <a:t>MERGE </a:t>
            </a:r>
            <a:r>
              <a:rPr lang="ko-KR" altLang="en-US"/>
              <a:t>트리 한 층에서</a:t>
            </a:r>
            <a:r>
              <a:rPr lang="en-US" altLang="ko-KR"/>
              <a:t>: </a:t>
            </a:r>
            <a:r>
              <a:rPr lang="ko-KR" altLang="en-US"/>
              <a:t>비교 </a:t>
            </a:r>
            <a:r>
              <a:rPr lang="en-US" altLang="ko-KR"/>
              <a:t>n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대입 </a:t>
            </a:r>
            <a:r>
              <a:rPr lang="en-US" altLang="ko-KR"/>
              <a:t>2n</a:t>
            </a:r>
            <a:r>
              <a:rPr lang="ko-KR" altLang="en-US"/>
              <a:t>회</a:t>
            </a:r>
            <a:endParaRPr lang="en-US" altLang="ko-KR"/>
          </a:p>
          <a:p>
            <a:pPr>
              <a:lnSpc>
                <a:spcPct val="100000"/>
              </a:lnSpc>
            </a:pPr>
            <a:r>
              <a:rPr lang="en-US" altLang="ko-KR"/>
              <a:t>MERGE </a:t>
            </a:r>
            <a:r>
              <a:rPr lang="ko-KR" altLang="en-US"/>
              <a:t>트리의 높이인 </a:t>
            </a:r>
            <a:r>
              <a:rPr lang="en-US" altLang="ko-KR"/>
              <a:t>log n</a:t>
            </a:r>
            <a:r>
              <a:rPr lang="ko-KR" altLang="en-US"/>
              <a:t>번 반복</a:t>
            </a:r>
            <a:endParaRPr lang="en-US" altLang="ko-KR"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총 비교 </a:t>
            </a:r>
            <a:r>
              <a:rPr lang="en-US" altLang="ko-KR"/>
              <a:t>n log n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대입 </a:t>
            </a:r>
            <a:r>
              <a:rPr lang="en-US" altLang="ko-KR"/>
              <a:t>2n log n</a:t>
            </a:r>
            <a:r>
              <a:rPr lang="ko-KR" altLang="en-US"/>
              <a:t>회</a:t>
            </a:r>
            <a:r>
              <a:rPr lang="en-US" altLang="ko-KR"/>
              <a:t>: O(n log n)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7844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C22CA-7749-C592-AAE8-F586417C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2740-D512-8EF3-F564-DFCFC97B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446" y="260839"/>
            <a:ext cx="8283029" cy="610859"/>
          </a:xfrm>
        </p:spPr>
        <p:txBody>
          <a:bodyPr>
            <a:spAutoFit/>
          </a:bodyPr>
          <a:lstStyle/>
          <a:p>
            <a:r>
              <a:rPr lang="en-US"/>
              <a:t>MERGE_ vs QUICK_ and HEAP_SORT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2871D-E6A0-89E9-5462-0196251A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MERGE_SORT</a:t>
            </a:r>
            <a:r>
              <a:rPr lang="ko-KR" altLang="en-US"/>
              <a:t>는 값이 같은 데이터 순서가 보존된다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이미 정렬된 부분을 보존하며 합칠 수 있다</a:t>
            </a:r>
            <a:endParaRPr lang="en-US"/>
          </a:p>
          <a:p>
            <a:endParaRPr lang="en-US"/>
          </a:p>
          <a:p>
            <a:r>
              <a:rPr lang="en-US"/>
              <a:t>MERGE</a:t>
            </a:r>
            <a:r>
              <a:rPr lang="ko-KR" altLang="en-US"/>
              <a:t>시 추가 메모리 공간이 필요하다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7255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86" y="262442"/>
            <a:ext cx="7582389" cy="607653"/>
          </a:xfrm>
        </p:spPr>
        <p:txBody>
          <a:bodyPr>
            <a:spAutoFit/>
          </a:bodyPr>
          <a:lstStyle/>
          <a:p>
            <a:r>
              <a:t>하이브리드 정렬(</a:t>
            </a:r>
            <a:r>
              <a:rPr lang="en-US"/>
              <a:t>POWER_SORT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MERGE </a:t>
            </a:r>
            <a:r>
              <a:rPr lang="ko-KR" altLang="en-US"/>
              <a:t>트리의 왼쪽 끝에서 </a:t>
            </a:r>
            <a:r>
              <a:rPr lang="en-US" altLang="ko-KR"/>
              <a:t>MERGE </a:t>
            </a:r>
            <a:r>
              <a:rPr lang="ko-KR" altLang="en-US"/>
              <a:t>해가는 형태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앞에서부터 정렬된 구간을 찾고</a:t>
            </a:r>
            <a:r>
              <a:rPr lang="en-US" altLang="ko-KR"/>
              <a:t>, MERGE </a:t>
            </a:r>
            <a:r>
              <a:rPr lang="ko-KR" altLang="en-US"/>
              <a:t>해가는 방법</a:t>
            </a:r>
            <a:endParaRPr/>
          </a:p>
          <a:p>
            <a:endParaRPr/>
          </a:p>
          <a:p>
            <a:r>
              <a:rPr lang="ko-KR" altLang="en-US"/>
              <a:t>정렬된 구간이 짧으면 </a:t>
            </a:r>
            <a:r>
              <a:rPr lang="en-US" altLang="ko-KR"/>
              <a:t>INSERTION SORT</a:t>
            </a:r>
            <a:r>
              <a:rPr lang="ko-KR" altLang="en-US"/>
              <a:t>로 늘림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정렬된 구간들은 스택에 보관</a:t>
            </a:r>
            <a:endParaRPr lang="en-US" altLang="ko-KR"/>
          </a:p>
          <a:p>
            <a:pPr marL="0" indent="0">
              <a:buNone/>
            </a:pPr>
            <a:endParaRPr lang="en-US"/>
          </a:p>
          <a:p>
            <a:r>
              <a:rPr lang="ko-KR" altLang="en-US"/>
              <a:t>파이썬 정렬 함수에서 쓰임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7170" y="260839"/>
            <a:ext cx="4655305" cy="610859"/>
          </a:xfrm>
        </p:spPr>
        <p:txBody>
          <a:bodyPr>
            <a:spAutoFit/>
          </a:bodyPr>
          <a:lstStyle/>
          <a:p>
            <a:r>
              <a:rPr lang="en-US"/>
              <a:t>COUNTING_SORT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데이터의 개수를 세어 정렬하는 방법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072" y="262442"/>
            <a:ext cx="5668403" cy="607653"/>
          </a:xfrm>
        </p:spPr>
        <p:txBody>
          <a:bodyPr>
            <a:spAutoFit/>
          </a:bodyPr>
          <a:lstStyle/>
          <a:p>
            <a:r>
              <a:rPr lang="en-US" altLang="ko-KR"/>
              <a:t>COUNTING_SORT</a:t>
            </a:r>
            <a:r>
              <a:t>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데이터 개수를 세는 배열 생성 및 초기화</a:t>
            </a:r>
          </a:p>
          <a:p>
            <a:endParaRPr/>
          </a:p>
          <a:p>
            <a:pPr marL="0" indent="0">
              <a:buNone/>
            </a:pPr>
            <a:r>
              <a:t>2. 각 원소의 개수 세기</a:t>
            </a:r>
          </a:p>
          <a:p>
            <a:endParaRPr/>
          </a:p>
          <a:p>
            <a:pPr marL="0" indent="0">
              <a:buNone/>
            </a:pPr>
            <a:r>
              <a:t>3. 출력 배열에 정렬된 원소 배치</a:t>
            </a:r>
          </a:p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407" y="262442"/>
            <a:ext cx="6130068" cy="607653"/>
          </a:xfrm>
        </p:spPr>
        <p:txBody>
          <a:bodyPr>
            <a:spAutoFit/>
          </a:bodyPr>
          <a:lstStyle/>
          <a:p>
            <a:r>
              <a:rPr lang="en-US" altLang="ko-KR"/>
              <a:t>COUNTING_SORT</a:t>
            </a:r>
            <a:r>
              <a:t> 시각화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예시: [5, 5, 2, 2, 1] 정렬 과정</a:t>
            </a:r>
          </a:p>
          <a:p>
            <a:endParaRPr/>
          </a:p>
          <a:p>
            <a:r>
              <a:t>최대값: 5</a:t>
            </a:r>
          </a:p>
          <a:p>
            <a:endParaRPr/>
          </a:p>
          <a:p>
            <a:r>
              <a:t>카운트 배열: [0, 1, 2, 0, 0, 2]</a:t>
            </a:r>
          </a:p>
          <a:p>
            <a:endParaRPr/>
          </a:p>
          <a:p>
            <a:r>
              <a:t>최종 정렬 결과: [1, 2, 2, 5, 5]</a:t>
            </a:r>
          </a:p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7171" y="260839"/>
            <a:ext cx="4655304" cy="610859"/>
          </a:xfrm>
        </p:spPr>
        <p:txBody>
          <a:bodyPr>
            <a:spAutoFit/>
          </a:bodyPr>
          <a:lstStyle/>
          <a:p>
            <a:r>
              <a:t>COUNTING_SORT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COUNTING_SORT(리스트 </a:t>
            </a:r>
            <a:r>
              <a:rPr lang="en-US"/>
              <a:t>L</a:t>
            </a:r>
            <a:r>
              <a:t>, 정수 max_value):</a:t>
            </a:r>
          </a:p>
          <a:p>
            <a:r>
              <a:t>count = 새로운 </a:t>
            </a:r>
            <a:r>
              <a:rPr lang="ko-KR" altLang="en-US"/>
              <a:t>배열</a:t>
            </a:r>
            <a:r>
              <a:t>(max_value + 1) // 0으로 초기화</a:t>
            </a:r>
          </a:p>
          <a:p>
            <a:r>
              <a:t>반복: </a:t>
            </a:r>
            <a:r>
              <a:rPr lang="en-US"/>
              <a:t>value</a:t>
            </a:r>
            <a:r>
              <a:t>는 </a:t>
            </a:r>
            <a:r>
              <a:rPr lang="en-US"/>
              <a:t>L</a:t>
            </a:r>
            <a:r>
              <a:t>의 </a:t>
            </a:r>
            <a:r>
              <a:rPr lang="ko-KR" altLang="en-US"/>
              <a:t>모든 데이터</a:t>
            </a:r>
            <a:endParaRPr/>
          </a:p>
          <a:p>
            <a:pPr marL="0" indent="0">
              <a:buNone/>
            </a:pPr>
            <a:r>
              <a:t>	 count[</a:t>
            </a:r>
            <a:r>
              <a:rPr lang="en-US"/>
              <a:t>value</a:t>
            </a:r>
            <a:r>
              <a:t>]</a:t>
            </a:r>
            <a:r>
              <a:rPr lang="en-US"/>
              <a:t> </a:t>
            </a:r>
            <a:r>
              <a:t>+</a:t>
            </a:r>
            <a:r>
              <a:rPr lang="en-US"/>
              <a:t>= 1</a:t>
            </a:r>
            <a:endParaRPr/>
          </a:p>
          <a:p>
            <a:endParaRPr lang="en-US"/>
          </a:p>
          <a:p>
            <a:r>
              <a:rPr lang="en-US"/>
              <a:t>sorted = </a:t>
            </a:r>
            <a:r>
              <a:rPr lang="ko-KR" altLang="en-US"/>
              <a:t>새로운 리스트</a:t>
            </a:r>
            <a:r>
              <a:rPr lang="en-US" altLang="ko-KR"/>
              <a:t>(L-&gt;data, 0)</a:t>
            </a:r>
            <a:endParaRPr/>
          </a:p>
          <a:p>
            <a:r>
              <a:t>반복: value는 0부터 max_value까지</a:t>
            </a:r>
          </a:p>
          <a:p>
            <a:pPr marL="0" indent="0">
              <a:buNone/>
            </a:pPr>
            <a:r>
              <a:t>	 반복: count[value]</a:t>
            </a:r>
            <a:r>
              <a:rPr lang="ko-KR" altLang="en-US"/>
              <a:t>번</a:t>
            </a:r>
            <a:endParaRPr/>
          </a:p>
          <a:p>
            <a:pPr marL="0" indent="0">
              <a:buNone/>
            </a:pPr>
            <a:r>
              <a:t>		 </a:t>
            </a:r>
            <a:r>
              <a:rPr lang="en-US"/>
              <a:t>ALIST_PUSH(sorted, value)</a:t>
            </a:r>
            <a:endParaRPr/>
          </a:p>
          <a:p>
            <a:r>
              <a:t>삭제: </a:t>
            </a:r>
            <a:r>
              <a:rPr lang="en-US"/>
              <a:t>count, sorted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AF674-E81A-F32E-C37D-ADF75477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404A-BC3C-D4BD-A62F-C217A7B6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644" y="262442"/>
            <a:ext cx="7604831" cy="607653"/>
          </a:xfrm>
        </p:spPr>
        <p:txBody>
          <a:bodyPr>
            <a:spAutoFit/>
          </a:bodyPr>
          <a:lstStyle/>
          <a:p>
            <a:r>
              <a:rPr lang="en-US" altLang="ko-KR"/>
              <a:t>COUNTING_SORT</a:t>
            </a:r>
            <a:r>
              <a:rPr lang="ko-KR" altLang="en-US"/>
              <a:t>의 시간 복잡도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8B4A5-D7C7-1125-BD77-070E2159D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개수 배열 초기화의 시간복잡도</a:t>
            </a:r>
            <a:r>
              <a:rPr lang="en-US" altLang="ko-KR"/>
              <a:t>:</a:t>
            </a:r>
            <a:endParaRPr lang="ko-KR" altLang="en-US"/>
          </a:p>
          <a:p>
            <a:pPr>
              <a:lnSpc>
                <a:spcPct val="100000"/>
              </a:lnSpc>
            </a:pPr>
            <a:r>
              <a:rPr lang="en-US" altLang="ko-KR"/>
              <a:t>O(k)</a:t>
            </a:r>
            <a:endParaRPr lang="en-US" altLang="ko-KR"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데이터 개수 세기</a:t>
            </a:r>
            <a:r>
              <a:rPr lang="en-US" altLang="ko-KR"/>
              <a:t>:</a:t>
            </a:r>
            <a:endParaRPr lang="ko-KR" altLang="en-US"/>
          </a:p>
          <a:p>
            <a:pPr>
              <a:lnSpc>
                <a:spcPct val="100000"/>
              </a:lnSpc>
            </a:pPr>
            <a:r>
              <a:rPr lang="en-US" altLang="ko-KR"/>
              <a:t>O(n)</a:t>
            </a:r>
            <a:endParaRPr lang="en-US" altLang="ko-KR">
              <a:ea typeface="Cambria Math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총 </a:t>
            </a:r>
            <a:r>
              <a:rPr lang="en-US" altLang="ko-KR"/>
              <a:t>O(n + k)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54045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heap sort: O(n log n)</a:t>
            </a:r>
          </a:p>
          <a:p>
            <a:endParaRPr/>
          </a:p>
          <a:p>
            <a:r>
              <a:t>quick sort: 평균 O(n log n), 최악 O(n^2)</a:t>
            </a:r>
          </a:p>
          <a:p>
            <a:endParaRPr/>
          </a:p>
          <a:p>
            <a:r>
              <a:t>insertion sort: 최선 O(n), 평균 및 최악 O(n^2)</a:t>
            </a:r>
          </a:p>
          <a:p>
            <a:endParaRPr/>
          </a:p>
          <a:p>
            <a:r>
              <a:t>merge sort: O(n log n)</a:t>
            </a:r>
          </a:p>
          <a:p>
            <a:pPr marL="0" indent="0">
              <a:buNone/>
            </a:pPr>
            <a:endParaRPr/>
          </a:p>
          <a:p>
            <a:r>
              <a:t>counting sort: O(n + 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14716</TotalTime>
  <Words>2762</Words>
  <Application>Microsoft Office PowerPoint</Application>
  <PresentationFormat>화면 슬라이드 쇼(4:3)</PresentationFormat>
  <Paragraphs>368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8" baseType="lpstr">
      <vt:lpstr>맑은 고딕</vt:lpstr>
      <vt:lpstr>Aptos</vt:lpstr>
      <vt:lpstr>Aptos Display</vt:lpstr>
      <vt:lpstr>Arial</vt:lpstr>
      <vt:lpstr>Cambria Math</vt:lpstr>
      <vt:lpstr>Office 테마</vt:lpstr>
      <vt:lpstr>자료구조 (Data Structure) 7주차: 정렬</vt:lpstr>
      <vt:lpstr>오늘의 목차</vt:lpstr>
      <vt:lpstr>정렬 알고리즘의 필요성</vt:lpstr>
      <vt:lpstr>정렬의 정의</vt:lpstr>
      <vt:lpstr>HEAP_SORT</vt:lpstr>
      <vt:lpstr>HEAP_SORT 과정</vt:lpstr>
      <vt:lpstr>HEAP_SORT 시각화</vt:lpstr>
      <vt:lpstr>HEAP_SORT</vt:lpstr>
      <vt:lpstr>HEAP_SORT의 시간 복잡도</vt:lpstr>
      <vt:lpstr>HEAP_SORT의 시간 복잡도</vt:lpstr>
      <vt:lpstr>HEAP_SORT의 시간 복잡도</vt:lpstr>
      <vt:lpstr>SELECTION_SORT</vt:lpstr>
      <vt:lpstr>SELECTION_SORT 과정</vt:lpstr>
      <vt:lpstr>SELECTION_SORT 시각화</vt:lpstr>
      <vt:lpstr>SELECTION_SORT</vt:lpstr>
      <vt:lpstr>SELECTION_SORT</vt:lpstr>
      <vt:lpstr>SELECTION_SORT의 시간 복잡도</vt:lpstr>
      <vt:lpstr>HEAP_SORT와 SELECTION_SORT 비교</vt:lpstr>
      <vt:lpstr>QUICK_SORT</vt:lpstr>
      <vt:lpstr>QUICK_SORT 과정</vt:lpstr>
      <vt:lpstr>QUICK_SORT 시각화</vt:lpstr>
      <vt:lpstr>QUICK_SORT</vt:lpstr>
      <vt:lpstr>QUICK_SORT</vt:lpstr>
      <vt:lpstr>QUICK_SORT의 시간 복잡도</vt:lpstr>
      <vt:lpstr>QUICK_SORT의 시간 복잡도</vt:lpstr>
      <vt:lpstr>INSERTION_SORT</vt:lpstr>
      <vt:lpstr>INSERTION_SORT 과정</vt:lpstr>
      <vt:lpstr>INSERTION_SORT 시각화</vt:lpstr>
      <vt:lpstr>INSERTION_SORT</vt:lpstr>
      <vt:lpstr>INSERTION_SORT의 시간 복잡도</vt:lpstr>
      <vt:lpstr>QUICK_SORT vs HEAP_SORT</vt:lpstr>
      <vt:lpstr>하이브리드 정렬 (INTRO_SORT)</vt:lpstr>
      <vt:lpstr>INTRO_SORT 과정</vt:lpstr>
      <vt:lpstr>INTRO_SORT 시각화</vt:lpstr>
      <vt:lpstr>INTRO_SORT</vt:lpstr>
      <vt:lpstr>MERGE SORT</vt:lpstr>
      <vt:lpstr>MERGE SORT 과정</vt:lpstr>
      <vt:lpstr>MERGE SORT 시각화</vt:lpstr>
      <vt:lpstr>MERGE_SORT</vt:lpstr>
      <vt:lpstr>MERGE 1 / 4</vt:lpstr>
      <vt:lpstr>MERGE 2 / 4</vt:lpstr>
      <vt:lpstr>MERGE 3 / 4</vt:lpstr>
      <vt:lpstr>MERGE 4 / 4</vt:lpstr>
      <vt:lpstr>MERGE_SORT의 시간 복잡도</vt:lpstr>
      <vt:lpstr>MERGE_ vs QUICK_ and HEAP_SORT</vt:lpstr>
      <vt:lpstr>하이브리드 정렬(POWER_SORT)</vt:lpstr>
      <vt:lpstr>COUNTING_SORT</vt:lpstr>
      <vt:lpstr>COUNTING_SORT 과정</vt:lpstr>
      <vt:lpstr>COUNTING_SORT 시각화</vt:lpstr>
      <vt:lpstr>COUNTING_SORT</vt:lpstr>
      <vt:lpstr>COUNTING_SORT의 시간 복잡도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70</cp:revision>
  <dcterms:created xsi:type="dcterms:W3CDTF">2025-07-28T15:04:23Z</dcterms:created>
  <dcterms:modified xsi:type="dcterms:W3CDTF">2025-10-27T14:07:59Z</dcterms:modified>
</cp:coreProperties>
</file>